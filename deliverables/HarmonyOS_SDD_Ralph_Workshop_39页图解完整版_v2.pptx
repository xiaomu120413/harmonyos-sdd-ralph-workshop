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4b168aa8f64f7d" /><Relationship Type="http://schemas.openxmlformats.org/officeDocument/2006/relationships/extended-properties" Target="/docProps/app.xml" Id="R0e32ce8f0ee14e4f" /><Relationship Type="http://schemas.openxmlformats.org/officeDocument/2006/relationships/officeDocument" Target="/ppt/presentation.xml" Id="R4688de1328d34e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30c2527605469d"/>
  </p:sldMasterIdLst>
  <p:notesMasterIdLst>
    <p:notesMasterId xmlns:r="http://schemas.openxmlformats.org/officeDocument/2006/relationships" r:id="Rd547b8f2584e4731"/>
  </p:notesMasterIdLst>
  <p:sldIdLst>
    <p:sldId xmlns:r="http://schemas.openxmlformats.org/officeDocument/2006/relationships" id="256" r:id="Ra15b51d4cb8f45fc"/>
    <p:sldId xmlns:r="http://schemas.openxmlformats.org/officeDocument/2006/relationships" id="257" r:id="R4727900dac224dc0"/>
    <p:sldId xmlns:r="http://schemas.openxmlformats.org/officeDocument/2006/relationships" id="258" r:id="R32bbce12576e4d29"/>
    <p:sldId xmlns:r="http://schemas.openxmlformats.org/officeDocument/2006/relationships" id="259" r:id="R5503d05afbfe4b24"/>
    <p:sldId xmlns:r="http://schemas.openxmlformats.org/officeDocument/2006/relationships" id="260" r:id="R741ec7c335834dfe"/>
    <p:sldId xmlns:r="http://schemas.openxmlformats.org/officeDocument/2006/relationships" id="261" r:id="R20b156181cb64ce8"/>
    <p:sldId xmlns:r="http://schemas.openxmlformats.org/officeDocument/2006/relationships" id="262" r:id="R5597a287bc8b412a"/>
    <p:sldId xmlns:r="http://schemas.openxmlformats.org/officeDocument/2006/relationships" id="263" r:id="R5fe8a901e9154c77"/>
    <p:sldId xmlns:r="http://schemas.openxmlformats.org/officeDocument/2006/relationships" id="264" r:id="R4ff934c1ff1b455b"/>
    <p:sldId xmlns:r="http://schemas.openxmlformats.org/officeDocument/2006/relationships" id="265" r:id="R7b85f6eacc1b4123"/>
    <p:sldId xmlns:r="http://schemas.openxmlformats.org/officeDocument/2006/relationships" id="266" r:id="Re4da6e3c5add44c7"/>
    <p:sldId xmlns:r="http://schemas.openxmlformats.org/officeDocument/2006/relationships" id="267" r:id="R7d83d9a87a424f2b"/>
    <p:sldId xmlns:r="http://schemas.openxmlformats.org/officeDocument/2006/relationships" id="268" r:id="R1cb1336d1e044583"/>
    <p:sldId xmlns:r="http://schemas.openxmlformats.org/officeDocument/2006/relationships" id="269" r:id="Ra3aba15d5d6b4658"/>
    <p:sldId xmlns:r="http://schemas.openxmlformats.org/officeDocument/2006/relationships" id="270" r:id="R95e4a7e41be740a0"/>
    <p:sldId xmlns:r="http://schemas.openxmlformats.org/officeDocument/2006/relationships" id="271" r:id="R20bf232dcbd341b5"/>
    <p:sldId xmlns:r="http://schemas.openxmlformats.org/officeDocument/2006/relationships" id="272" r:id="R8e1727ebde6e4d6d"/>
    <p:sldId xmlns:r="http://schemas.openxmlformats.org/officeDocument/2006/relationships" id="273" r:id="R361d5ca8c5d94feb"/>
    <p:sldId xmlns:r="http://schemas.openxmlformats.org/officeDocument/2006/relationships" id="274" r:id="Rf2c738d015024f90"/>
    <p:sldId xmlns:r="http://schemas.openxmlformats.org/officeDocument/2006/relationships" id="275" r:id="Rb5f2822ef16e4956"/>
    <p:sldId xmlns:r="http://schemas.openxmlformats.org/officeDocument/2006/relationships" id="276" r:id="Reab7e0d76079435f"/>
    <p:sldId xmlns:r="http://schemas.openxmlformats.org/officeDocument/2006/relationships" id="277" r:id="R95b439461ecf4c40"/>
    <p:sldId xmlns:r="http://schemas.openxmlformats.org/officeDocument/2006/relationships" id="278" r:id="Rfeb144cc2d234f51"/>
    <p:sldId xmlns:r="http://schemas.openxmlformats.org/officeDocument/2006/relationships" id="279" r:id="R4dc55d1339dd4ba8"/>
    <p:sldId xmlns:r="http://schemas.openxmlformats.org/officeDocument/2006/relationships" id="280" r:id="Rf1bc1bb1159b4b6a"/>
    <p:sldId xmlns:r="http://schemas.openxmlformats.org/officeDocument/2006/relationships" id="281" r:id="R204ed753afeb4dca"/>
    <p:sldId xmlns:r="http://schemas.openxmlformats.org/officeDocument/2006/relationships" id="282" r:id="Rabaf832ee15745c7"/>
    <p:sldId xmlns:r="http://schemas.openxmlformats.org/officeDocument/2006/relationships" id="283" r:id="R370fe836e34b49c4"/>
    <p:sldId xmlns:r="http://schemas.openxmlformats.org/officeDocument/2006/relationships" id="284" r:id="R4ea4c57f22c84d31"/>
    <p:sldId xmlns:r="http://schemas.openxmlformats.org/officeDocument/2006/relationships" id="285" r:id="R240df4507cfd4edb"/>
    <p:sldId xmlns:r="http://schemas.openxmlformats.org/officeDocument/2006/relationships" id="286" r:id="R0d93296de1064038"/>
    <p:sldId xmlns:r="http://schemas.openxmlformats.org/officeDocument/2006/relationships" id="287" r:id="R35ea0d2506644fe0"/>
    <p:sldId xmlns:r="http://schemas.openxmlformats.org/officeDocument/2006/relationships" id="288" r:id="R8a50475ff0364e5f"/>
    <p:sldId xmlns:r="http://schemas.openxmlformats.org/officeDocument/2006/relationships" id="289" r:id="R195ba4d7790d4c56"/>
    <p:sldId xmlns:r="http://schemas.openxmlformats.org/officeDocument/2006/relationships" id="290" r:id="R49a40e7f90aa4c46"/>
    <p:sldId xmlns:r="http://schemas.openxmlformats.org/officeDocument/2006/relationships" id="291" r:id="Rb9d8eceff6c04d84"/>
    <p:sldId xmlns:r="http://schemas.openxmlformats.org/officeDocument/2006/relationships" id="292" r:id="Rae1af65c90d84263"/>
    <p:sldId xmlns:r="http://schemas.openxmlformats.org/officeDocument/2006/relationships" id="293" r:id="Rbc58a65e74754f6f"/>
    <p:sldId xmlns:r="http://schemas.openxmlformats.org/officeDocument/2006/relationships" id="294" r:id="R44eb351e7e5947e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89db9f0653847da" /><Relationship Type="http://schemas.openxmlformats.org/officeDocument/2006/relationships/slideMaster" Target="/ppt/slideMasters/slideMaster1.xml" Id="R5430c2527605469d" /><Relationship Type="http://schemas.openxmlformats.org/officeDocument/2006/relationships/notesMaster" Target="/ppt/notesMasters/notesMaster1.xml" Id="Rd547b8f2584e4731" /><Relationship Type="http://schemas.openxmlformats.org/officeDocument/2006/relationships/presProps" Target="/ppt/presProps.xml" Id="R1e523eb5f99a42f3" /><Relationship Type="http://schemas.openxmlformats.org/officeDocument/2006/relationships/tableStyles" Target="/ppt/tableStyles.xml" Id="R14d15f9580ae4cdd" /><Relationship Type="http://schemas.openxmlformats.org/officeDocument/2006/relationships/slide" Target="/ppt/slides/slide1.xml" Id="Ra15b51d4cb8f45fc" /><Relationship Type="http://schemas.openxmlformats.org/officeDocument/2006/relationships/slide" Target="/ppt/slides/slide2.xml" Id="R4727900dac224dc0" /><Relationship Type="http://schemas.openxmlformats.org/officeDocument/2006/relationships/slide" Target="/ppt/slides/slide3.xml" Id="R32bbce12576e4d29" /><Relationship Type="http://schemas.openxmlformats.org/officeDocument/2006/relationships/slide" Target="/ppt/slides/slide4.xml" Id="R5503d05afbfe4b24" /><Relationship Type="http://schemas.openxmlformats.org/officeDocument/2006/relationships/slide" Target="/ppt/slides/slide5.xml" Id="R741ec7c335834dfe" /><Relationship Type="http://schemas.openxmlformats.org/officeDocument/2006/relationships/slide" Target="/ppt/slides/slide6.xml" Id="R20b156181cb64ce8" /><Relationship Type="http://schemas.openxmlformats.org/officeDocument/2006/relationships/slide" Target="/ppt/slides/slide7.xml" Id="R5597a287bc8b412a" /><Relationship Type="http://schemas.openxmlformats.org/officeDocument/2006/relationships/slide" Target="/ppt/slides/slide8.xml" Id="R5fe8a901e9154c77" /><Relationship Type="http://schemas.openxmlformats.org/officeDocument/2006/relationships/slide" Target="/ppt/slides/slide9.xml" Id="R4ff934c1ff1b455b" /><Relationship Type="http://schemas.openxmlformats.org/officeDocument/2006/relationships/slide" Target="/ppt/slides/slide10.xml" Id="R7b85f6eacc1b4123" /><Relationship Type="http://schemas.openxmlformats.org/officeDocument/2006/relationships/slide" Target="/ppt/slides/slide11.xml" Id="Re4da6e3c5add44c7" /><Relationship Type="http://schemas.openxmlformats.org/officeDocument/2006/relationships/slide" Target="/ppt/slides/slide12.xml" Id="R7d83d9a87a424f2b" /><Relationship Type="http://schemas.openxmlformats.org/officeDocument/2006/relationships/slide" Target="/ppt/slides/slide13.xml" Id="R1cb1336d1e044583" /><Relationship Type="http://schemas.openxmlformats.org/officeDocument/2006/relationships/slide" Target="/ppt/slides/slide14.xml" Id="Ra3aba15d5d6b4658" /><Relationship Type="http://schemas.openxmlformats.org/officeDocument/2006/relationships/slide" Target="/ppt/slides/slide15.xml" Id="R95e4a7e41be740a0" /><Relationship Type="http://schemas.openxmlformats.org/officeDocument/2006/relationships/slide" Target="/ppt/slides/slide16.xml" Id="R20bf232dcbd341b5" /><Relationship Type="http://schemas.openxmlformats.org/officeDocument/2006/relationships/slide" Target="/ppt/slides/slide17.xml" Id="R8e1727ebde6e4d6d" /><Relationship Type="http://schemas.openxmlformats.org/officeDocument/2006/relationships/slide" Target="/ppt/slides/slide18.xml" Id="R361d5ca8c5d94feb" /><Relationship Type="http://schemas.openxmlformats.org/officeDocument/2006/relationships/slide" Target="/ppt/slides/slide19.xml" Id="Rf2c738d015024f90" /><Relationship Type="http://schemas.openxmlformats.org/officeDocument/2006/relationships/slide" Target="/ppt/slides/slide20.xml" Id="Rb5f2822ef16e4956" /><Relationship Type="http://schemas.openxmlformats.org/officeDocument/2006/relationships/slide" Target="/ppt/slides/slide21.xml" Id="Reab7e0d76079435f" /><Relationship Type="http://schemas.openxmlformats.org/officeDocument/2006/relationships/slide" Target="/ppt/slides/slide22.xml" Id="R95b439461ecf4c40" /><Relationship Type="http://schemas.openxmlformats.org/officeDocument/2006/relationships/slide" Target="/ppt/slides/slide23.xml" Id="Rfeb144cc2d234f51" /><Relationship Type="http://schemas.openxmlformats.org/officeDocument/2006/relationships/slide" Target="/ppt/slides/slide24.xml" Id="R4dc55d1339dd4ba8" /><Relationship Type="http://schemas.openxmlformats.org/officeDocument/2006/relationships/slide" Target="/ppt/slides/slide25.xml" Id="Rf1bc1bb1159b4b6a" /><Relationship Type="http://schemas.openxmlformats.org/officeDocument/2006/relationships/slide" Target="/ppt/slides/slide26.xml" Id="R204ed753afeb4dca" /><Relationship Type="http://schemas.openxmlformats.org/officeDocument/2006/relationships/slide" Target="/ppt/slides/slide27.xml" Id="Rabaf832ee15745c7" /><Relationship Type="http://schemas.openxmlformats.org/officeDocument/2006/relationships/slide" Target="/ppt/slides/slide28.xml" Id="R370fe836e34b49c4" /><Relationship Type="http://schemas.openxmlformats.org/officeDocument/2006/relationships/slide" Target="/ppt/slides/slide29.xml" Id="R4ea4c57f22c84d31" /><Relationship Type="http://schemas.openxmlformats.org/officeDocument/2006/relationships/slide" Target="/ppt/slides/slide30.xml" Id="R240df4507cfd4edb" /><Relationship Type="http://schemas.openxmlformats.org/officeDocument/2006/relationships/slide" Target="/ppt/slides/slide31.xml" Id="R0d93296de1064038" /><Relationship Type="http://schemas.openxmlformats.org/officeDocument/2006/relationships/slide" Target="/ppt/slides/slide32.xml" Id="R35ea0d2506644fe0" /><Relationship Type="http://schemas.openxmlformats.org/officeDocument/2006/relationships/slide" Target="/ppt/slides/slide33.xml" Id="R8a50475ff0364e5f" /><Relationship Type="http://schemas.openxmlformats.org/officeDocument/2006/relationships/slide" Target="/ppt/slides/slide34.xml" Id="R195ba4d7790d4c56" /><Relationship Type="http://schemas.openxmlformats.org/officeDocument/2006/relationships/slide" Target="/ppt/slides/slide35.xml" Id="R49a40e7f90aa4c46" /><Relationship Type="http://schemas.openxmlformats.org/officeDocument/2006/relationships/slide" Target="/ppt/slides/slide36.xml" Id="Rb9d8eceff6c04d84" /><Relationship Type="http://schemas.openxmlformats.org/officeDocument/2006/relationships/slide" Target="/ppt/slides/slide37.xml" Id="Rae1af65c90d84263" /><Relationship Type="http://schemas.openxmlformats.org/officeDocument/2006/relationships/slide" Target="/ppt/slides/slide38.xml" Id="Rbc58a65e74754f6f" /><Relationship Type="http://schemas.openxmlformats.org/officeDocument/2006/relationships/slide" Target="/ppt/slides/slide39.xml" Id="R44eb351e7e5947e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c997a90b3b4fa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24ad0b8134461b" /><Relationship Type="http://schemas.openxmlformats.org/officeDocument/2006/relationships/notesMaster" Target="/ppt/notesMasters/notesMaster1.xml" Id="R704fb4b054bc43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b1aa35e58f4450" /><Relationship Type="http://schemas.openxmlformats.org/officeDocument/2006/relationships/notesMaster" Target="/ppt/notesMasters/notesMaster1.xml" Id="R81d4fb8c191140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2ab41b7b5b4689" /><Relationship Type="http://schemas.openxmlformats.org/officeDocument/2006/relationships/notesMaster" Target="/ppt/notesMasters/notesMaster1.xml" Id="Rd868b5285dd14f6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e5d9315d3946f5" /><Relationship Type="http://schemas.openxmlformats.org/officeDocument/2006/relationships/notesMaster" Target="/ppt/notesMasters/notesMaster1.xml" Id="Ra54fd0ca7a4b40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51861b855441e7" /><Relationship Type="http://schemas.openxmlformats.org/officeDocument/2006/relationships/notesMaster" Target="/ppt/notesMasters/notesMaster1.xml" Id="R03bac38f6be64bf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5dfb3c7c519457a" /><Relationship Type="http://schemas.openxmlformats.org/officeDocument/2006/relationships/notesMaster" Target="/ppt/notesMasters/notesMaster1.xml" Id="Re80558f4db204d5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287bd3561941d7" /><Relationship Type="http://schemas.openxmlformats.org/officeDocument/2006/relationships/notesMaster" Target="/ppt/notesMasters/notesMaster1.xml" Id="R206e5a60ece840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4bb58eeb7434d05" /><Relationship Type="http://schemas.openxmlformats.org/officeDocument/2006/relationships/notesMaster" Target="/ppt/notesMasters/notesMaster1.xml" Id="Rd43681df024f4cd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8c94e3cb6854d98" /><Relationship Type="http://schemas.openxmlformats.org/officeDocument/2006/relationships/notesMaster" Target="/ppt/notesMasters/notesMaster1.xml" Id="Reda4cb6a87ca405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b685fdffe3142d6" /><Relationship Type="http://schemas.openxmlformats.org/officeDocument/2006/relationships/notesMaster" Target="/ppt/notesMasters/notesMaster1.xml" Id="Rdcabeeb71d9a436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e6a3989e3547e9" /><Relationship Type="http://schemas.openxmlformats.org/officeDocument/2006/relationships/notesMaster" Target="/ppt/notesMasters/notesMaster1.xml" Id="R056c09cf3e474a8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f4b9000a3e4575" /><Relationship Type="http://schemas.openxmlformats.org/officeDocument/2006/relationships/notesMaster" Target="/ppt/notesMasters/notesMaster1.xml" Id="R3b667fe998894c6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b23d3471dba4d88" /><Relationship Type="http://schemas.openxmlformats.org/officeDocument/2006/relationships/notesMaster" Target="/ppt/notesMasters/notesMaster1.xml" Id="R61b8f1743a784a8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b7cc07ad4dc43d2" /><Relationship Type="http://schemas.openxmlformats.org/officeDocument/2006/relationships/notesMaster" Target="/ppt/notesMasters/notesMaster1.xml" Id="R072fb97fdbeb4ef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9d38f4a53d54ca4" /><Relationship Type="http://schemas.openxmlformats.org/officeDocument/2006/relationships/notesMaster" Target="/ppt/notesMasters/notesMaster1.xml" Id="R607ae36af3004ca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4cc0526077e4c95" /><Relationship Type="http://schemas.openxmlformats.org/officeDocument/2006/relationships/notesMaster" Target="/ppt/notesMasters/notesMaster1.xml" Id="R464acab37343477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77fca5a7e9f40b7" /><Relationship Type="http://schemas.openxmlformats.org/officeDocument/2006/relationships/notesMaster" Target="/ppt/notesMasters/notesMaster1.xml" Id="R2d6ef1534d73406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346a94d619941ab" /><Relationship Type="http://schemas.openxmlformats.org/officeDocument/2006/relationships/notesMaster" Target="/ppt/notesMasters/notesMaster1.xml" Id="R9c6e912279fe437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b01bf35c18a42ae" /><Relationship Type="http://schemas.openxmlformats.org/officeDocument/2006/relationships/notesMaster" Target="/ppt/notesMasters/notesMaster1.xml" Id="R8966d64ba2f345c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24f1f3d6db24b36" /><Relationship Type="http://schemas.openxmlformats.org/officeDocument/2006/relationships/notesMaster" Target="/ppt/notesMasters/notesMaster1.xml" Id="R9a463bbf81d7452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2c4ae0d4b774abb" /><Relationship Type="http://schemas.openxmlformats.org/officeDocument/2006/relationships/notesMaster" Target="/ppt/notesMasters/notesMaster1.xml" Id="R9ff41a99fbda488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cc1e0746fda4447" /><Relationship Type="http://schemas.openxmlformats.org/officeDocument/2006/relationships/notesMaster" Target="/ppt/notesMasters/notesMaster1.xml" Id="R23d81b532c684a6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4492a9031a7419a" /><Relationship Type="http://schemas.openxmlformats.org/officeDocument/2006/relationships/notesMaster" Target="/ppt/notesMasters/notesMaster1.xml" Id="Re99a4a666ab441d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d40b38dc48e343f2" /><Relationship Type="http://schemas.openxmlformats.org/officeDocument/2006/relationships/notesMaster" Target="/ppt/notesMasters/notesMaster1.xml" Id="R633727f6f46c489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8c61b993e8f48dd" /><Relationship Type="http://schemas.openxmlformats.org/officeDocument/2006/relationships/notesMaster" Target="/ppt/notesMasters/notesMaster1.xml" Id="R6794798543b24a5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a91fff7891b04218" /><Relationship Type="http://schemas.openxmlformats.org/officeDocument/2006/relationships/notesMaster" Target="/ppt/notesMasters/notesMaster1.xml" Id="R2117795942974e0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eb75b0412454db2" /><Relationship Type="http://schemas.openxmlformats.org/officeDocument/2006/relationships/notesMaster" Target="/ppt/notesMasters/notesMaster1.xml" Id="Rae6d6bb7207b4d7d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14d0bcb46a84d01" /><Relationship Type="http://schemas.openxmlformats.org/officeDocument/2006/relationships/notesMaster" Target="/ppt/notesMasters/notesMaster1.xml" Id="R4b67dcd47c984a90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2aef6e05b744160" /><Relationship Type="http://schemas.openxmlformats.org/officeDocument/2006/relationships/notesMaster" Target="/ppt/notesMasters/notesMaster1.xml" Id="Reafecff9e41b42f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07de6d136f1b4757" /><Relationship Type="http://schemas.openxmlformats.org/officeDocument/2006/relationships/notesMaster" Target="/ppt/notesMasters/notesMaster1.xml" Id="R95b98c9ca7624e9f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d11958bc76b452d" /><Relationship Type="http://schemas.openxmlformats.org/officeDocument/2006/relationships/notesMaster" Target="/ppt/notesMasters/notesMaster1.xml" Id="R5d3d54f54896479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53c0b081e9344b3" /><Relationship Type="http://schemas.openxmlformats.org/officeDocument/2006/relationships/notesMaster" Target="/ppt/notesMasters/notesMaster1.xml" Id="R376538ba50bc4b38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7de42aca97f54486" /><Relationship Type="http://schemas.openxmlformats.org/officeDocument/2006/relationships/notesMaster" Target="/ppt/notesMasters/notesMaster1.xml" Id="R6031d4157bf9419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8425b4f13d004062" /><Relationship Type="http://schemas.openxmlformats.org/officeDocument/2006/relationships/notesMaster" Target="/ppt/notesMasters/notesMaster1.xml" Id="R607a3343b246435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2d6b92fde57f43b3" /><Relationship Type="http://schemas.openxmlformats.org/officeDocument/2006/relationships/notesMaster" Target="/ppt/notesMasters/notesMaster1.xml" Id="Rb54c5b572c2d47e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5d62d9e09f04e0e" /><Relationship Type="http://schemas.openxmlformats.org/officeDocument/2006/relationships/notesMaster" Target="/ppt/notesMasters/notesMaster1.xml" Id="R1b810ae532a7455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fe7406204b444250" /><Relationship Type="http://schemas.openxmlformats.org/officeDocument/2006/relationships/notesMaster" Target="/ppt/notesMasters/notesMaster1.xml" Id="Rabbf95f8e8664059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a1b28884e50045aa" /><Relationship Type="http://schemas.openxmlformats.org/officeDocument/2006/relationships/notesMaster" Target="/ppt/notesMasters/notesMaster1.xml" Id="R53544310ce5349a2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449bfd52f42d4d15" /><Relationship Type="http://schemas.openxmlformats.org/officeDocument/2006/relationships/notesMaster" Target="/ppt/notesMasters/notesMaster1.xml" Id="Re48fcd6ac9e84f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>- C:/Users/mu/Desktop/code/ppt/harmonyos-sdd-ralph-workshop/harmonyos-sdd-workshop-media/methodology/ai-fluency-neutral.png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# 使用 AI 进阶能力实现较为复杂的需求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**从需求拆解、开发、验证，到问题定位与协同闭环**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需求 → 规格 → 任务 → 代码 → 调试 → 证据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主视觉建议：左侧是一句模糊需求，中央是紫色受控 AI 循环，右侧是绿色设备证据包；背景只保留真实设备、测试结果和日志的低透明度拼贴。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![真实 SecurityTool 防火墙域名规则页面](harmonyos-sdd-workshop-media/mdm/firewall-domain-rule-created.jpeg)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&lt;sub&gt;这张真机图只能证明规则已出现在 UI；它不能单独证明每个账号的系统 policy/rules 已正确下发。开场让学员先说“它能证明什么、不能证明什么”。&lt;/sub&gt;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**MDM 主闭环｜TEACHING COMPOSITE**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设备当前处于 `public` 且防火墙已开启，已覆盖账号 `[100,112]`。系统收到 `account-added(123)` 后，先等待账号事实稳定，再把 public policy / preset rules 补到最新账号集合。若账号 123 的第 2 条规则下发失败，必须恢复旧状态，不得保存目标 signature，并留下可回读证据。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```mermaid</a:t>
            </a:r>
          </a:p>
          <a:p xmlns:a="http://schemas.openxmlformats.org/drawingml/2006/main">
            <a:r>
              <a:t>flowchart LR</a:t>
            </a:r>
          </a:p>
          <a:p xmlns:a="http://schemas.openxmlformats.org/drawingml/2006/main">
            <a:r>
              <a:t>    A[账号 123 新增] --&gt; B[稳定快照]</a:t>
            </a:r>
          </a:p>
          <a:p xmlns:a="http://schemas.openxmlformats.org/drawingml/2006/main">
            <a:r>
              <a:t>    B --&gt; C[模式重放]</a:t>
            </a:r>
          </a:p>
          <a:p xmlns:a="http://schemas.openxmlformats.org/drawingml/2006/main">
            <a:r>
              <a:t>    C --&gt; D[故障注入]</a:t>
            </a:r>
          </a:p>
          <a:p xmlns:a="http://schemas.openxmlformats.org/drawingml/2006/main">
            <a:r>
              <a:t>    D --&gt; E[补偿与回读]</a:t>
            </a:r>
          </a:p>
          <a:p xmlns:a="http://schemas.openxmlformats.org/drawingml/2006/main">
            <a:r>
              <a:t>```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```mermaid</a:t>
            </a:r>
          </a:p>
          <a:p xmlns:a="http://schemas.openxmlformats.org/drawingml/2006/main">
            <a:r>
              <a:t>flowchart TD</a:t>
            </a:r>
          </a:p>
          <a:p xmlns:a="http://schemas.openxmlformats.org/drawingml/2006/main">
            <a:r>
              <a:t>    A[Task：本轮唯一结果] --&gt; B[RED：制造可解释失败]</a:t>
            </a:r>
          </a:p>
          <a:p xmlns:a="http://schemas.openxmlformats.org/drawingml/2006/main">
            <a:r>
              <a:t>    B --&gt; C[AI：最小 Diff]</a:t>
            </a:r>
          </a:p>
          <a:p xmlns:a="http://schemas.openxmlformats.org/drawingml/2006/main">
            <a:r>
              <a:t>    C --&gt; D[Verify：窄测与回归]</a:t>
            </a:r>
          </a:p>
          <a:p xmlns:a="http://schemas.openxmlformats.org/drawingml/2006/main">
            <a:r>
              <a:t>    D --&gt; E[Evidence：日志与系统事实]</a:t>
            </a:r>
          </a:p>
          <a:p xmlns:a="http://schemas.openxmlformats.org/drawingml/2006/main">
            <a:r>
              <a:t>    E --&gt; F{停止条件满足？}</a:t>
            </a:r>
          </a:p>
          <a:p xmlns:a="http://schemas.openxmlformats.org/drawingml/2006/main">
            <a:r>
              <a:t>    F -- 否 --&gt; A</a:t>
            </a:r>
          </a:p>
          <a:p xmlns:a="http://schemas.openxmlformats.org/drawingml/2006/main">
            <a:r>
              <a:t>    F -- 是 --&gt; G[提交结果]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**可选对照图（PPT 制作时与上方 Mermaid 二选一）**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![Autonomous Agent：Human、LLM、Environment、Feedback 与 Stop](harmonyos-sdd-workshop-media/anthropic/autonomous-agent-loop.png)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&lt;sub&gt;讲师读图：Agent 不是“连续生成代码”，而是在环境反馈中行动，并在检查点接受人类判断或满足停止条件。图源：Anthropic《Building Effective Agents》。&lt;/sub&gt;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每轮写入 `progress.md`：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`假设 / RED 命令与输出 / 修改文件 / GREEN 输出 / 新事实 / 剩余风险 / Stop 或 Next`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触发事实 → 稳定快照 → 目标状态 → 执行结果 → 系统证据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层 | 必须回答的问题 | 可验证对象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触发事实 | 这轮变化由什么事件或操作开始？ | 事件源、时间戳、参数 |</a:t>
            </a:r>
          </a:p>
          <a:p xmlns:a="http://schemas.openxmlformats.org/drawingml/2006/main">
            <a:r>
              <a:t>| 稳定快照 | 执行前的完整事实是什么？ | 系统 getter、列表、版本号 |</a:t>
            </a:r>
          </a:p>
          <a:p xmlns:a="http://schemas.openxmlformats.org/drawingml/2006/main">
            <a:r>
              <a:t>| 目标状态 | 需求冻结后的期望结果是什么？ | `spec.md`、ADR、不变量 |</a:t>
            </a:r>
          </a:p>
          <a:p xmlns:a="http://schemas.openxmlformats.org/drawingml/2006/main">
            <a:r>
              <a:t>| 执行结果 | 哪些写入成功、失败或需要补偿？ | 返回值、映射、事务边界 |</a:t>
            </a:r>
          </a:p>
          <a:p xmlns:a="http://schemas.openxmlformats.org/drawingml/2006/main">
            <a:r>
              <a:t>| 系统证据 | 最终事实是否与目标一致？ | 回读、日志、截图/视频、性能 |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“权限页面第一次进入为空，退出后第二次进入正常。”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这句话只描述了现象，没有告诉我们下面四个事实：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**数据来自哪里**：页面缓存、ViewModel 内存、业务 API，还是系统 getter？</a:t>
            </a:r>
          </a:p>
          <a:p xmlns:a="http://schemas.openxmlformats.org/drawingml/2006/main">
            <a:r>
              <a:t>2. **什么时候开始监听**：页面创建前后、首次读取前后，哪一个边界会丢事件？</a:t>
            </a:r>
          </a:p>
          <a:p xmlns:a="http://schemas.openxmlformats.org/drawingml/2006/main">
            <a:r>
              <a:t>3. **什么时候算完成**：调用返回、本地状态更新，还是系统回读与页面一致？</a:t>
            </a:r>
          </a:p>
          <a:p xmlns:a="http://schemas.openxmlformats.org/drawingml/2006/main">
            <a:r>
              <a:t>4. **失败时展示什么**：空列表、旧状态、加载态，还是可重试错误？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**四个答案会同时改变监听顺序、状态模型、回归测试和最终证据。**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的职责是列出互斥答案、工程影响和危险假设；人的职责是关闭高影响 `OPEN`，冻结业务语义。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待决策项 | AI 列出的互斥答案 | 本轮冻结答案 | 直接影响 |</a:t>
            </a:r>
          </a:p>
          <a:p xmlns:a="http://schemas.openxmlformats.org/drawingml/2006/main">
            <a:r>
              <a:t>|---|---|---|---|</a:t>
            </a:r>
          </a:p>
          <a:p xmlns:a="http://schemas.openxmlformats.org/drawingml/2006/main">
            <a:r>
              <a:t>| 最终事实源 | 缓存 / ViewModel / API / 系统 getter | 系统 getter；ViewModel 只缓存 | 状态所有权 |</a:t>
            </a:r>
          </a:p>
          <a:p xmlns:a="http://schemas.openxmlformats.org/drawingml/2006/main">
            <a:r>
              <a:t>| 监听与首读顺序 | 先读后监听 / 先监听后读取 | 先建立监听，再发起首读 | 是否丢失首次事件 |</a:t>
            </a:r>
          </a:p>
          <a:p xmlns:a="http://schemas.openxmlformats.org/drawingml/2006/main">
            <a:r>
              <a:t>| 未返回时的状态 | 空列表 / 加载中 / 沿用旧值 | 显示加载中，不把空当完成 | 首次进入体验与测试 |</a:t>
            </a:r>
          </a:p>
          <a:p xmlns:a="http://schemas.openxmlformats.org/drawingml/2006/main">
            <a:r>
              <a:t>| 完成判定 | 调用返回 / 本地更新 / 系统回读一致 | 系统事实返回并刷新当前页面 | 验收证据与停止条件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**仍然是 OPEN 的高影响问题不能交给 AI 开发。**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**Before：只有现象，无法验收**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第一次进入为空，第二次进入正常。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**After：教学用 EARS 规格**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WHEN 首次进入权限页面，</a:t>
            </a:r>
          </a:p>
          <a:p xmlns:a="http://schemas.openxmlformats.org/drawingml/2006/main">
            <a:r>
              <a:t>WHILE 系统事实尚未返回，</a:t>
            </a:r>
          </a:p>
          <a:p xmlns:a="http://schemas.openxmlformats.org/drawingml/2006/main">
            <a:r>
              <a:t>THE SYSTEM SHALL 显示加载态，不得把空列表提交为完成状态；</a:t>
            </a:r>
          </a:p>
          <a:p xmlns:a="http://schemas.openxmlformats.org/drawingml/2006/main">
            <a:r>
              <a:t>WHEN 系统事实返回，</a:t>
            </a:r>
          </a:p>
          <a:p xmlns:a="http://schemas.openxmlformats.org/drawingml/2006/main">
            <a:r>
              <a:t>THE SYSTEM SHALL 在当前页面刷新，不要求退出后再次进入；</a:t>
            </a:r>
          </a:p>
          <a:p xmlns:a="http://schemas.openxmlformats.org/drawingml/2006/main">
            <a:r>
              <a:t>IF 超时或读取失败，</a:t>
            </a:r>
          </a:p>
          <a:p xmlns:a="http://schemas.openxmlformats.org/drawingml/2006/main">
            <a:r>
              <a:t>THEN SHALL 显示可重试错误，并保留诊断证据。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由规格直接导出三条测试：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测试 | 条件 | 可观察结果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T01 | 数据延迟返回 | 当前页面自动更新 |</a:t>
            </a:r>
          </a:p>
          <a:p xmlns:a="http://schemas.openxmlformats.org/drawingml/2006/main">
            <a:r>
              <a:t>| T02 | 事件早于首读完成 | 首次刷新不丢失 |</a:t>
            </a:r>
          </a:p>
          <a:p xmlns:a="http://schemas.openxmlformats.org/drawingml/2006/main">
            <a:r>
              <a:t>| T03 | 读取超时 | 错误态 + 诊断证据，不显示“空成功” |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进入真实工程案例前，必须交付下面四项可复查产物：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准入条件 | 必须回答 | 产物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事实时间线 | 首次进入、事件到达、数据返回、页面更新分别发生在什么时候？ | 只读勘察记录 |</a:t>
            </a:r>
          </a:p>
          <a:p xmlns:a="http://schemas.openxmlformats.org/drawingml/2006/main">
            <a:r>
              <a:t>| 最终事实源 | 哪个 API / getter 能证明系统状态？UI 与缓存只属于哪一层？ | truth-source 表 |</a:t>
            </a:r>
          </a:p>
          <a:p xmlns:a="http://schemas.openxmlformats.org/drawingml/2006/main">
            <a:r>
              <a:t>| 可执行规格 | `WHEN / WHILE / SHALL / IF / THEN` 是否完整？高影响 `OPEN` 是否关闭？ | `spec.md` |</a:t>
            </a:r>
          </a:p>
          <a:p xmlns:a="http://schemas.openxmlformats.org/drawingml/2006/main">
            <a:r>
              <a:t>| 第一张任务卡 | 唯一结果、Allowed / Forbidden、RED、Verify 与 Stop 是否明确？ | Task Card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**下一页开始进入真实案例：不再讨论“应该怎么猜”，而是用真实文档、代码、测试和设备证据验证这四项。**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主视觉是一条六阶段证据链：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1 资产同步</a:t>
            </a:r>
          </a:p>
          <a:p xmlns:a="http://schemas.openxmlformats.org/drawingml/2006/main">
            <a:r>
              <a:t>→ 2 方案推导</a:t>
            </a:r>
          </a:p>
          <a:p xmlns:a="http://schemas.openxmlformats.org/drawingml/2006/main">
            <a:r>
              <a:t>→ 3 架构 RFC</a:t>
            </a:r>
          </a:p>
          <a:p xmlns:a="http://schemas.openxmlformats.org/drawingml/2006/main">
            <a:r>
              <a:t>→ 4 Story 拆分</a:t>
            </a:r>
          </a:p>
          <a:p xmlns:a="http://schemas.openxmlformats.org/drawingml/2006/main">
            <a:r>
              <a:t>→ 5 Ralph 迭代</a:t>
            </a:r>
          </a:p>
          <a:p xmlns:a="http://schemas.openxmlformats.org/drawingml/2006/main">
            <a:r>
              <a:t>→ 6 测试验收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每一步都生成一个可检查文档：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阶段 | 生成文档 | 解决的问题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资产同步 | 资产清单、术语表、冲突矩阵 | 输入是否完整、一致 |</a:t>
            </a:r>
          </a:p>
          <a:p xmlns:a="http://schemas.openxmlformats.org/drawingml/2006/main">
            <a:r>
              <a:t>| 方案推导 | 备选方案表、ADR、穿刺报告 | 为什么选这个方案 |</a:t>
            </a:r>
          </a:p>
          <a:p xmlns:a="http://schemas.openxmlformats.org/drawingml/2006/main">
            <a:r>
              <a:t>| RFC | 架构、状态、不变量、失败语义 | 系统应该怎样工作 |</a:t>
            </a:r>
          </a:p>
          <a:p xmlns:a="http://schemas.openxmlformats.org/drawingml/2006/main">
            <a:r>
              <a:t>| Story | Feature Map、Worker Packet | AI 每轮只做什么 |</a:t>
            </a:r>
          </a:p>
          <a:p xmlns:a="http://schemas.openxmlformats.org/drawingml/2006/main">
            <a:r>
              <a:t>| Ralph | progress、evidence、iteration ledger | 多轮如何不断线、不漂移 |</a:t>
            </a:r>
          </a:p>
          <a:p xmlns:a="http://schemas.openxmlformats.org/drawingml/2006/main">
            <a:r>
              <a:t>| 验收 | acceptance report | 凭什么给 PASS |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展示本项目真实资产层级：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docs/00-原始输入/</a:t>
            </a:r>
          </a:p>
          <a:p xmlns:a="http://schemas.openxmlformats.org/drawingml/2006/main">
            <a:r>
              <a:t>  信创工具需求清单.xlsx</a:t>
            </a:r>
          </a:p>
          <a:p xmlns:a="http://schemas.openxmlformats.org/drawingml/2006/main">
            <a:r>
              <a:t>  信创工具需求清单_AI修正版.xlsx</a:t>
            </a:r>
          </a:p>
          <a:p xmlns:a="http://schemas.openxmlformats.org/drawingml/2006/main">
            <a:r>
              <a:t>docs/01-UX设计/</a:t>
            </a:r>
          </a:p>
          <a:p xmlns:a="http://schemas.openxmlformats.org/drawingml/2006/main">
            <a:r>
              <a:t>  index.html / script.js / styles.css</a:t>
            </a:r>
          </a:p>
          <a:p xmlns:a="http://schemas.openxmlformats.org/drawingml/2006/main">
            <a:r>
              <a:t>docs/02-总体设计/</a:t>
            </a:r>
          </a:p>
          <a:p xmlns:a="http://schemas.openxmlformats.org/drawingml/2006/main">
            <a:r>
              <a:t>  PRD.md / 总体设计RFC.md</a:t>
            </a:r>
          </a:p>
          <a:p xmlns:a="http://schemas.openxmlformats.org/drawingml/2006/main">
            <a:r>
              <a:t>docs/03-模块设计/</a:t>
            </a:r>
          </a:p>
          <a:p xmlns:a="http://schemas.openxmlformats.org/drawingml/2006/main">
            <a:r>
              <a:t>  防火墙管理组件设计说明.md</a:t>
            </a:r>
          </a:p>
          <a:p xmlns:a="http://schemas.openxmlformats.org/drawingml/2006/main">
            <a:r>
              <a:t>entry/src/main/ets/...</a:t>
            </a:r>
          </a:p>
          <a:p xmlns:a="http://schemas.openxmlformats.org/drawingml/2006/main">
            <a:r>
              <a:t>entry/src/test/...</a:t>
            </a:r>
          </a:p>
          <a:p xmlns:a="http://schemas.openxmlformats.org/drawingml/2006/main">
            <a:r>
              <a:t>scripts/e2e/cases/firewall/...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AI 对每类资产只做对应工作：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原始 Excel：抽取需求原文，不做技术裁决。</a:t>
            </a:r>
          </a:p>
          <a:p xmlns:a="http://schemas.openxmlformats.org/drawingml/2006/main">
            <a:r>
              <a:t>- AI 修正版：作为候选平台映射，不自动视为真相。</a:t>
            </a:r>
          </a:p>
          <a:p xmlns:a="http://schemas.openxmlformats.org/drawingml/2006/main">
            <a:r>
              <a:t>- UX：抽取页面和交互，不证明业务生效。</a:t>
            </a:r>
          </a:p>
          <a:p xmlns:a="http://schemas.openxmlformats.org/drawingml/2006/main">
            <a:r>
              <a:t>- PRD/RFC/模块设计：分别管理产品范围、架构、模块状态与异常。</a:t>
            </a:r>
          </a:p>
          <a:p xmlns:a="http://schemas.openxmlformats.org/drawingml/2006/main">
            <a:r>
              <a:t>- 代码/测试：验证当前实现事实，不决定未来产品取舍。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展示真实冲突：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来源 | 对同一需求的表达 |</a:t>
            </a:r>
          </a:p>
          <a:p xmlns:a="http://schemas.openxmlformats.org/drawingml/2006/main">
            <a:r>
              <a:t>|---|---|</a:t>
            </a:r>
          </a:p>
          <a:p xmlns:a="http://schemas.openxmlformats.org/drawingml/2006/main">
            <a:r>
              <a:t>| 原始 Excel C4 | 公共、专用、自定义三种缺省配置 |</a:t>
            </a:r>
          </a:p>
          <a:p xmlns:a="http://schemas.openxmlformats.org/drawingml/2006/main">
            <a:r>
              <a:t>| AI 修正版 C4:E4 | 认为这是 Windows 概念，改成 IP/域名/DNS 三种规则类型 |</a:t>
            </a:r>
          </a:p>
          <a:p xmlns:a="http://schemas.openxmlformats.org/drawingml/2006/main">
            <a:r>
              <a:t>| 当前 PRD | 要求 `public/private/custom` 三种主模式 |</a:t>
            </a:r>
          </a:p>
          <a:p xmlns:a="http://schemas.openxmlformats.org/drawingml/2006/main">
            <a:r>
              <a:t>| 当前模块设计/代码 | 同时存在主模式和 IP/DOMAIN/DNS 规则类型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最终决策：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主模式：public / private / custom</a:t>
            </a:r>
          </a:p>
          <a:p xmlns:a="http://schemas.openxmlformats.org/drawingml/2006/main">
            <a:r>
              <a:t>规则类型：IP / DOMAIN / DNS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结论：平台接口没有“公共网络模式”枚举，不代表产品不能用预置规则组合出公共/私有模式。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代码事实必须在同页出现：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```ts</a:t>
            </a:r>
          </a:p>
          <a:p xmlns:a="http://schemas.openxmlformats.org/drawingml/2006/main">
            <a:r>
              <a:t>// FirewallModels.ets</a:t>
            </a:r>
          </a:p>
          <a:p xmlns:a="http://schemas.openxmlformats.org/drawingml/2006/main">
            <a:r>
              <a:t>export type FirewallPresetMode = 'public' | 'private' | 'custom'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同一模型文件中的规则类型集合</a:t>
            </a:r>
          </a:p>
          <a:p xmlns:a="http://schemas.openxmlformats.org/drawingml/2006/main">
            <a:r>
              <a:t>RULE_IP / RULE_DOMAIN / RULE_DNS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// FirewallModeStrategy.buildRulesForMode</a:t>
            </a:r>
          </a:p>
          <a:p xmlns:a="http://schemas.openxmlformats.org/drawingml/2006/main">
            <a:r>
              <a:t>public  → buildPublicRules → 预置模板 × 当前账号集合</a:t>
            </a:r>
          </a:p>
          <a:p xmlns:a="http://schemas.openxmlformats.org/drawingml/2006/main">
            <a:r>
              <a:t>private → buildPrivateRules → 私网配置模板 × 当前账号集合</a:t>
            </a:r>
          </a:p>
          <a:p xmlns:a="http://schemas.openxmlformats.org/drawingml/2006/main">
            <a:r>
              <a:t>custom  → buildCustomRules → 既有 intent.targetUserIds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这三段代码说明两个维度不是同义词：`mode` 决定规则生成策略，`rule type` 决定单条规则的数据形态。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展示 `FW-MODE-001` 需求卡：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```yaml</a:t>
            </a:r>
          </a:p>
          <a:p xmlns:a="http://schemas.openxmlformats.org/drawingml/2006/main">
            <a:r>
              <a:t>requirement_id: FW-MODE-001</a:t>
            </a:r>
          </a:p>
          <a:p xmlns:a="http://schemas.openxmlformats.org/drawingml/2006/main">
            <a:r>
              <a:t>source:</a:t>
            </a:r>
          </a:p>
          <a:p xmlns:a="http://schemas.openxmlformats.org/drawingml/2006/main">
            <a:r>
              <a:t>  - 原始需求清单.xlsx!Sheet1:C4</a:t>
            </a:r>
          </a:p>
          <a:p xmlns:a="http://schemas.openxmlformats.org/drawingml/2006/main">
            <a:r>
              <a:t>  - PRD.md#7.2</a:t>
            </a:r>
          </a:p>
          <a:p xmlns:a="http://schemas.openxmlformats.org/drawingml/2006/main">
            <a:r>
              <a:t>decision: 保留 public/private/custom 产品模式</a:t>
            </a:r>
          </a:p>
          <a:p xmlns:a="http://schemas.openxmlformats.org/drawingml/2006/main">
            <a:r>
              <a:t>implementation:</a:t>
            </a:r>
          </a:p>
          <a:p xmlns:a="http://schemas.openxmlformats.org/drawingml/2006/main">
            <a:r>
              <a:t>  - FirewallPage.ets</a:t>
            </a:r>
          </a:p>
          <a:p xmlns:a="http://schemas.openxmlformats.org/drawingml/2006/main">
            <a:r>
              <a:t>  - FirewallModeStrategy.ets</a:t>
            </a:r>
          </a:p>
          <a:p xmlns:a="http://schemas.openxmlformats.org/drawingml/2006/main">
            <a:r>
              <a:t>tests:</a:t>
            </a:r>
          </a:p>
          <a:p xmlns:a="http://schemas.openxmlformats.org/drawingml/2006/main">
            <a:r>
              <a:t>  - mode-strategy.test.ets</a:t>
            </a:r>
          </a:p>
          <a:p xmlns:a="http://schemas.openxmlformats.org/drawingml/2006/main">
            <a:r>
              <a:t>  - e2e/cases/firewall/mode_cards.json</a:t>
            </a:r>
          </a:p>
          <a:p xmlns:a="http://schemas.openxmlformats.org/drawingml/2006/main">
            <a:r>
              <a:t>conflict:</a:t>
            </a:r>
          </a:p>
          <a:p xmlns:a="http://schemas.openxmlformats.org/drawingml/2006/main">
            <a:r>
              <a:t>  source: AI修正版.xlsx!Sheet1:C4:E4</a:t>
            </a:r>
          </a:p>
          <a:p xmlns:a="http://schemas.openxmlformats.org/drawingml/2006/main">
            <a:r>
              <a:t>  resolution: 规则类型与主模式是两个维度</a:t>
            </a:r>
          </a:p>
          <a:p xmlns:a="http://schemas.openxmlformats.org/drawingml/2006/main">
            <a:r>
              <a:t>status: RESOLVED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资产同步的出口门：来源可追溯、术语有定义、冲突有状态、缺口有负责人、代码和测试有初步落点。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需求卡必须通过四个机器可检查项：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source 坐标可回读      Excel/Markdown 位置存在</a:t>
            </a:r>
          </a:p>
          <a:p xmlns:a="http://schemas.openxmlformats.org/drawingml/2006/main">
            <a:r>
              <a:t>implementation 可定位  文件存在，并能找到目标类型/函数</a:t>
            </a:r>
          </a:p>
          <a:p xmlns:a="http://schemas.openxmlformats.org/drawingml/2006/main">
            <a:r>
              <a:t>tests 可执行            UT 文件或 Case JSON 存在</a:t>
            </a:r>
          </a:p>
          <a:p xmlns:a="http://schemas.openxmlformats.org/drawingml/2006/main">
            <a:r>
              <a:t>claim 不越过证据        mode_cards 只证明模式卡可见，不证明策略已下发</a:t>
            </a:r>
          </a:p>
          <a:p xmlns:a="http://schemas.openxmlformats.org/drawingml/2006/main">
            <a:r>
              <a:t>```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以“账号变化后同步防火墙”为 Feature，展示四个方案：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方案 | 主要问题 | 决策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Provider 读取后直接同步防火墙 | 真相源和副作用耦合，其他模块无法复用 | 拒绝 |</a:t>
            </a:r>
          </a:p>
          <a:p xmlns:a="http://schemas.openxmlformats.org/drawingml/2006/main">
            <a:r>
              <a:t>| 直接使用事件里的账号 ID | 不是完整集合，删除/并发语义不完整 | 拒绝 |</a:t>
            </a:r>
          </a:p>
          <a:p xmlns:a="http://schemas.openxmlformats.org/drawingml/2006/main">
            <a:r>
              <a:t>| MainPage/页面重进强刷 | UI 看似更新，系统 policy 仍可能错误 | 拒绝 |</a:t>
            </a:r>
          </a:p>
          <a:p xmlns:a="http://schemas.openxmlformats.org/drawingml/2006/main">
            <a:r>
              <a:t>| Coordinator + 全量快照 + Handler | 真相源单一、可扩展、可测试 | 选择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方案不是因为“结构优雅”被选择，而是因为它能同时满足：完整账号真相、模块可扩展、失败不误删、UI 不承担修复。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选中方案落实到现有代码责任：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决策问题 | 选中的代码责任 | 为什么不放到别处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谁接事件 | `EnterpriseAdminAbility.onAccountAdded/Removed` | 这里只拿触发信号，不知道防火墙语义 |</a:t>
            </a:r>
          </a:p>
          <a:p xmlns:a="http://schemas.openxmlformats.org/drawingml/2006/main">
            <a:r>
              <a:t>| 谁读完整集合 | `SystemUserProvider.loadAvailableUserIds` | Provider 只读取事实，不产生副作用 |</a:t>
            </a:r>
          </a:p>
          <a:p xmlns:a="http://schemas.openxmlformats.org/drawingml/2006/main">
            <a:r>
              <a:t>| 谁处理时序/并发 | `AccountChangeCoordinator.schedule/runPending/loadStableSnapshot` | 公共协调逻辑可复用，不绑定页面 |</a:t>
            </a:r>
          </a:p>
          <a:p xmlns:a="http://schemas.openxmlformats.org/drawingml/2006/main">
            <a:r>
              <a:t>| 谁决定防火墙分支 | `FirewallAccountChangeHandler.handle` | public/private/custom 是模块业务 |</a:t>
            </a:r>
          </a:p>
          <a:p xmlns:a="http://schemas.openxmlformats.org/drawingml/2006/main">
            <a:r>
              <a:t>| 谁写系统状态 | `FirewallSystemRepository` | 把 MDM API 和错误封装在系统边界 |</a:t>
            </a:r>
          </a:p>
          <a:p xmlns:a="http://schemas.openxmlformats.org/drawingml/2006/main">
            <a:r>
              <a:t>| 谁刷新 UI | `ApplicationRuntimeManager → ViewModel` | 只消费稳定事实，不承担修复 |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穿刺只验证一个关键假设：账号新增回调与账号列表是否在同一时刻一致。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真实时间线：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onAccountAdded(accountId=123)</a:t>
            </a:r>
          </a:p>
          <a:p xmlns:a="http://schemas.openxmlformats.org/drawingml/2006/main">
            <a:r>
              <a:t>→ 首次 loadAvailableUserIds() = [100,112,122]</a:t>
            </a:r>
          </a:p>
          <a:p xmlns:a="http://schemas.openxmlformats.org/drawingml/2006/main">
            <a:r>
              <a:t>→ lastApplied signature 仍为 100,112,122</a:t>
            </a:r>
          </a:p>
          <a:p xmlns:a="http://schemas.openxmlformats.org/drawingml/2006/main">
            <a:r>
              <a:t>→ 旧逻辑判断集合没有变化，跳过模式补下发</a:t>
            </a:r>
          </a:p>
          <a:p xmlns:a="http://schemas.openxmlformats.org/drawingml/2006/main">
            <a:r>
              <a:t>→ 账号 123 没有获得当前 policy/预置规则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这条证据否定“事件后读一次就够”，并引出稳定快照条件：只有完整集合包含 `triggerAccountId` 才能继续。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页面右侧放真实函数链，不只放时间线：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EnterpriseAdminAbility.onAccountAdded(123)</a:t>
            </a:r>
          </a:p>
          <a:p xmlns:a="http://schemas.openxmlformats.org/drawingml/2006/main">
            <a:r>
              <a:t>→ scheduleAccountReconcile('account-added', 123)</a:t>
            </a:r>
          </a:p>
          <a:p xmlns:a="http://schemas.openxmlformats.org/drawingml/2006/main">
            <a:r>
              <a:t>→ AccountChangeCoordinator.schedule(...)</a:t>
            </a:r>
          </a:p>
          <a:p xmlns:a="http://schemas.openxmlformats.org/drawingml/2006/main">
            <a:r>
              <a:t>→ runPending() / runOnce(request)</a:t>
            </a:r>
          </a:p>
          <a:p xmlns:a="http://schemas.openxmlformats.org/drawingml/2006/main">
            <a:r>
              <a:t>→ loadStableSnapshot(request)</a:t>
            </a:r>
          </a:p>
          <a:p xmlns:a="http://schemas.openxmlformats.org/drawingml/2006/main">
            <a:r>
              <a:t>→ SystemUserProvider.loadAvailableUserIds()</a:t>
            </a:r>
          </a:p>
          <a:p xmlns:a="http://schemas.openxmlformats.org/drawingml/2006/main">
            <a:r>
              <a:t>→ getOsAccountLocalIds()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稳定条件对应当前代码：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source == account-added</a:t>
            </a:r>
          </a:p>
          <a:p xmlns:a="http://schemas.openxmlformats.org/drawingml/2006/main">
            <a:r>
              <a:t>AND triggerAccountId 已定义</a:t>
            </a:r>
          </a:p>
          <a:p xmlns:a="http://schemas.openxmlformats.org/drawingml/2006/main">
            <a:r>
              <a:t>AND currentUserIds 不包含 triggerAccountId</a:t>
            </a:r>
          </a:p>
          <a:p xmlns:a="http://schemas.openxmlformats.org/drawingml/2006/main">
            <a:r>
              <a:t>→ wait 200ms and retry，最多 5 次</a:t>
            </a:r>
          </a:p>
          <a:p xmlns:a="http://schemas.openxmlformats.org/drawingml/2006/main">
            <a:r>
              <a:t>```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展示 `ADR-FW-ACCOUNT-001` 的核心字段：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```yaml</a:t>
            </a:r>
          </a:p>
          <a:p xmlns:a="http://schemas.openxmlformats.org/drawingml/2006/main">
            <a:r>
              <a:t>question: 账号事件后以什么作为同步输入</a:t>
            </a:r>
          </a:p>
          <a:p xmlns:a="http://schemas.openxmlformats.org/drawingml/2006/main">
            <a:r>
              <a:t>selected: 稳定的完整账号快照</a:t>
            </a:r>
          </a:p>
          <a:p xmlns:a="http://schemas.openxmlformats.org/drawingml/2006/main">
            <a:r>
              <a:t>truth_source: SystemUserProvider.loadAvailableUserIds</a:t>
            </a:r>
          </a:p>
          <a:p xmlns:a="http://schemas.openxmlformats.org/drawingml/2006/main">
            <a:r>
              <a:t>trigger: EnterpriseAdminAbility account event</a:t>
            </a:r>
          </a:p>
          <a:p xmlns:a="http://schemas.openxmlformats.org/drawingml/2006/main">
            <a:r>
              <a:t>rejected:</a:t>
            </a:r>
          </a:p>
          <a:p xmlns:a="http://schemas.openxmlformats.org/drawingml/2006/main">
            <a:r>
              <a:t>  - 直接使用事件 ID</a:t>
            </a:r>
          </a:p>
          <a:p xmlns:a="http://schemas.openxmlformats.org/drawingml/2006/main">
            <a:r>
              <a:t>  - Provider 内执行业务副作用</a:t>
            </a:r>
          </a:p>
          <a:p xmlns:a="http://schemas.openxmlformats.org/drawingml/2006/main">
            <a:r>
              <a:t>  - UI 强刷作为修复</a:t>
            </a:r>
          </a:p>
          <a:p xmlns:a="http://schemas.openxmlformats.org/drawingml/2006/main">
            <a:r>
              <a:t>failure_semantics:</a:t>
            </a:r>
          </a:p>
          <a:p xmlns:a="http://schemas.openxmlformats.org/drawingml/2006/main">
            <a:r>
              <a:t>  empty_or_error: preserve local truth</a:t>
            </a:r>
          </a:p>
          <a:p xmlns:a="http://schemas.openxmlformats.org/drawingml/2006/main">
            <a:r>
              <a:t>  added_not_visible: bounded retry, then incomplete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ADR 的作用：让 RFC 不再重新讨论已解决的问题，让实现 Session 不再偷偷选择另一套方案。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ADR 还要记录重新打开条件，避免把历史决定永久冻结：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```yaml</a:t>
            </a:r>
          </a:p>
          <a:p xmlns:a="http://schemas.openxmlformats.org/drawingml/2006/main">
            <a:r>
              <a:t>reopen_when:</a:t>
            </a:r>
          </a:p>
          <a:p xmlns:a="http://schemas.openxmlformats.org/drawingml/2006/main">
            <a:r>
              <a:t>  - getOsAccountLocalIds 在目标设备上长期不包含新增 ID</a:t>
            </a:r>
          </a:p>
          <a:p xmlns:a="http://schemas.openxmlformats.org/drawingml/2006/main">
            <a:r>
              <a:t>  - handler failure 需要自动重试或补偿队列</a:t>
            </a:r>
          </a:p>
          <a:p xmlns:a="http://schemas.openxmlformats.org/drawingml/2006/main">
            <a:r>
              <a:t>  - 新模块需要与防火墙共享同一账号快照</a:t>
            </a:r>
          </a:p>
          <a:p xmlns:a="http://schemas.openxmlformats.org/drawingml/2006/main">
            <a:r>
              <a:t>  - 设备证据证明 400/200/5 不满足稳定窗口</a:t>
            </a:r>
          </a:p>
          <a:p xmlns:a="http://schemas.openxmlformats.org/drawingml/2006/main">
            <a:r>
              <a:t>verification:</a:t>
            </a:r>
          </a:p>
          <a:p xmlns:a="http://schemas.openxmlformats.org/drawingml/2006/main">
            <a:r>
              <a:t>  - coordinator protocol UT</a:t>
            </a:r>
          </a:p>
          <a:p xmlns:a="http://schemas.openxmlformats.org/drawingml/2006/main">
            <a:r>
              <a:t>  - same-timeline device trace</a:t>
            </a:r>
          </a:p>
          <a:p xmlns:a="http://schemas.openxmlformats.org/drawingml/2006/main">
            <a:r>
              <a:t>  - policy/rules readback</a:t>
            </a:r>
          </a:p>
          <a:p xmlns:a="http://schemas.openxmlformats.org/drawingml/2006/main">
            <a:r>
              <a:t>```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RFC 必须至少包含六块：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目标与非目标。</a:t>
            </a:r>
          </a:p>
          <a:p xmlns:a="http://schemas.openxmlformats.org/drawingml/2006/main">
            <a:r>
              <a:t>2. 上下游边界与代码责任。</a:t>
            </a:r>
          </a:p>
          <a:p xmlns:a="http://schemas.openxmlformats.org/drawingml/2006/main">
            <a:r>
              <a:t>3. 状态字段、所有者和写入时机。</a:t>
            </a:r>
          </a:p>
          <a:p xmlns:a="http://schemas.openxmlformats.org/drawingml/2006/main">
            <a:r>
              <a:t>4. 正常/失败/并发场景。</a:t>
            </a:r>
          </a:p>
          <a:p xmlns:a="http://schemas.openxmlformats.org/drawingml/2006/main">
            <a:r>
              <a:t>5. 系统能力、权限和跨进程依赖。</a:t>
            </a:r>
          </a:p>
          <a:p xmlns:a="http://schemas.openxmlformats.org/drawingml/2006/main">
            <a:r>
              <a:t>6. 测试边界与验收信号。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 RFC 的关键不变量：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事件只触发，不作为完整账号真相。</a:t>
            </a:r>
          </a:p>
          <a:p xmlns:a="http://schemas.openxmlformats.org/drawingml/2006/main">
            <a:r>
              <a:t>- 空/失败账号集合不 prune、不重放。</a:t>
            </a:r>
          </a:p>
          <a:p xmlns:a="http://schemas.openxmlformats.org/drawingml/2006/main">
            <a:r>
              <a:t>- public/private 对最新集合生效。</a:t>
            </a:r>
          </a:p>
          <a:p xmlns:a="http://schemas.openxmlformats.org/drawingml/2006/main">
            <a:r>
              <a:t>- custom 同步默认 policy，但不扩历史规则作用域。</a:t>
            </a:r>
          </a:p>
          <a:p xmlns:a="http://schemas.openxmlformats.org/drawingml/2006/main">
            <a:r>
              <a:t>- 失败不能保存新签名。</a:t>
            </a:r>
          </a:p>
          <a:p xmlns:a="http://schemas.openxmlformats.org/drawingml/2006/main">
            <a:r>
              <a:t>- UI 只消费稳定结果，不承担修复。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将不变量变成代码审查问题：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RFC 不变量 | 应检查的函数 | 反例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事件不是完整真相 | `onAccountAdded`、`loadStableSnapshot` | 直接 append trigger ID |</a:t>
            </a:r>
          </a:p>
          <a:p xmlns:a="http://schemas.openxmlformats.org/drawingml/2006/main">
            <a:r>
              <a:t>| 空集合不 prune | `FirewallAccountChangeHandler.handle` | `users=[]` 仍清理 intent |</a:t>
            </a:r>
          </a:p>
          <a:p xmlns:a="http://schemas.openxmlformats.org/drawingml/2006/main">
            <a:r>
              <a:t>| public/private 对最新集合生效 | `applyModeToUsers`、`buildRulesForMode` | 新 ID 未进入模板展开 |</a:t>
            </a:r>
          </a:p>
          <a:p xmlns:a="http://schemas.openxmlformats.org/drawingml/2006/main">
            <a:r>
              <a:t>| custom 不扩历史规则 | `buildCustomRules` | 把新增 ID 注入旧 targetUserIds |</a:t>
            </a:r>
          </a:p>
          <a:p xmlns:a="http://schemas.openxmlformats.org/drawingml/2006/main">
            <a:r>
              <a:t>| 失败不保存成功签名 | `saveModeApplyState`、`rollbackToSnapshot` | 部分写后 signature 残留 |</a:t>
            </a:r>
          </a:p>
          <a:p xmlns:a="http://schemas.openxmlformats.org/drawingml/2006/main">
            <a:r>
              <a:t>| UI 不承担修复 | `ApplicationRuntimeManager`、ViewModel | 页面 onShow 触发业务下发 |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展示两个真实闭环，避免把业务同步和 UI 刷新画成一条模糊直线：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后台业务闭环</a:t>
            </a:r>
          </a:p>
          <a:p xmlns:a="http://schemas.openxmlformats.org/drawingml/2006/main">
            <a:r>
              <a:t>onAccountAdded</a:t>
            </a:r>
          </a:p>
          <a:p xmlns:a="http://schemas.openxmlformats.org/drawingml/2006/main">
            <a:r>
              <a:t>→ schedule / loadStableSnapshot</a:t>
            </a:r>
          </a:p>
          <a:p xmlns:a="http://schemas.openxmlformats.org/drawingml/2006/main">
            <a:r>
              <a:t>→ getOsAccountLocalIds</a:t>
            </a:r>
          </a:p>
          <a:p xmlns:a="http://schemas.openxmlformats.org/drawingml/2006/main">
            <a:r>
              <a:t>→ dispatchHandlers</a:t>
            </a:r>
          </a:p>
          <a:p xmlns:a="http://schemas.openxmlformats.org/drawingml/2006/main">
            <a:r>
              <a:t>→ FirewallAccountChangeHandler.handle</a:t>
            </a:r>
          </a:p>
          <a:p xmlns:a="http://schemas.openxmlformats.org/drawingml/2006/main">
            <a:r>
              <a:t>→ pruneUnavailableUsers</a:t>
            </a:r>
          </a:p>
          <a:p xmlns:a="http://schemas.openxmlformats.org/drawingml/2006/main">
            <a:r>
              <a:t>→ custom: applyPolicyForMode + saveModeApplyState</a:t>
            </a:r>
          </a:p>
          <a:p xmlns:a="http://schemas.openxmlformats.org/drawingml/2006/main">
            <a:r>
              <a:t>  public/private: applyModeToUsers + rollback on failure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前台展示闭环</a:t>
            </a:r>
          </a:p>
          <a:p xmlns:a="http://schemas.openxmlformats.org/drawingml/2006/main">
            <a:r>
              <a:t>publishSnapshot</a:t>
            </a:r>
          </a:p>
          <a:p xmlns:a="http://schemas.openxmlformats.org/drawingml/2006/main">
            <a:r>
              <a:t>→ commonEventManager.publish/subscribe</a:t>
            </a:r>
          </a:p>
          <a:p xmlns:a="http://schemas.openxmlformats.org/drawingml/2006/main">
            <a:r>
              <a:t>→ AccountRuntimeService</a:t>
            </a:r>
          </a:p>
          <a:p xmlns:a="http://schemas.openxmlformats.org/drawingml/2006/main">
            <a:r>
              <a:t>→ ApplicationRuntimeManager</a:t>
            </a:r>
          </a:p>
          <a:p xmlns:a="http://schemas.openxmlformats.org/drawingml/2006/main">
            <a:r>
              <a:t>→ FirewallRulesViewModel.refreshForAccountChange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页脚用四个函数锚点连接到系统 API：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getPolicy  → netFirewall.getNetFirewallPolicy</a:t>
            </a:r>
          </a:p>
          <a:p xmlns:a="http://schemas.openxmlformats.org/drawingml/2006/main">
            <a:r>
              <a:t>setPolicy  → netFirewall.setNetFirewallPolicy</a:t>
            </a:r>
          </a:p>
          <a:p xmlns:a="http://schemas.openxmlformats.org/drawingml/2006/main">
            <a:r>
              <a:t>listRules  → netFirewall.getNetFirewallRules</a:t>
            </a:r>
          </a:p>
          <a:p xmlns:a="http://schemas.openxmlformats.org/drawingml/2006/main">
            <a:r>
              <a:t>addRule    → netFirewall.addNetFirewallRule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同时展示关键状态及写入门：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字段 | 所有者 | 什么时候更新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`previousUserIds` | Coordinator | 快照稳定后、Handler 分发前 |</a:t>
            </a:r>
          </a:p>
          <a:p xmlns:a="http://schemas.openxmlformats.org/drawingml/2006/main">
            <a:r>
              <a:t>| `desiredEnabled` | LocalRepository | 总开关成功后 |</a:t>
            </a:r>
          </a:p>
          <a:p xmlns:a="http://schemas.openxmlformats.org/drawingml/2006/main">
            <a:r>
              <a:t>| `lastAppliedMode` | LocalRepository | 本地提交阶段写入；当前非原子 |</a:t>
            </a:r>
          </a:p>
          <a:p xmlns:a="http://schemas.openxmlformats.org/drawingml/2006/main">
            <a:r>
              <a:t>| `lastAppliedUserIdsSignature` | LocalRepository | 幂等门；当前需检查部分写风险 |</a:t>
            </a:r>
          </a:p>
          <a:p xmlns:a="http://schemas.openxmlformats.org/drawingml/2006/main">
            <a:r>
              <a:t>| intents/deployments | LocalRepository | 系统规则成功建立并保存映射后 |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展示 Story 依赖图：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S1 账号真相源与资产对齐</a:t>
            </a:r>
          </a:p>
          <a:p xmlns:a="http://schemas.openxmlformats.org/drawingml/2006/main">
            <a:r>
              <a:t>  ↓</a:t>
            </a:r>
          </a:p>
          <a:p xmlns:a="http://schemas.openxmlformats.org/drawingml/2006/main">
            <a:r>
              <a:t>S2 删除账号的本地数据清理</a:t>
            </a:r>
          </a:p>
          <a:p xmlns:a="http://schemas.openxmlformats.org/drawingml/2006/main">
            <a:r>
              <a:t>  ↓</a:t>
            </a:r>
          </a:p>
          <a:p xmlns:a="http://schemas.openxmlformats.org/drawingml/2006/main">
            <a:r>
              <a:t>S3 Coordinator + Handler</a:t>
            </a:r>
          </a:p>
          <a:p xmlns:a="http://schemas.openxmlformats.org/drawingml/2006/main">
            <a:r>
              <a:t>  ↓</a:t>
            </a:r>
          </a:p>
          <a:p xmlns:a="http://schemas.openxmlformats.org/drawingml/2006/main">
            <a:r>
              <a:t>S4 跨进程稳定事实与 UI 运行时消费</a:t>
            </a:r>
          </a:p>
          <a:p xmlns:a="http://schemas.openxmlformats.org/drawingml/2006/main">
            <a:r>
              <a:t>  ↓</a:t>
            </a:r>
          </a:p>
          <a:p xmlns:a="http://schemas.openxmlformats.org/drawingml/2006/main">
            <a:r>
              <a:t>S5 新增账号稳定快照门</a:t>
            </a:r>
          </a:p>
          <a:p xmlns:a="http://schemas.openxmlformats.org/drawingml/2006/main">
            <a:r>
              <a:t>  ↓</a:t>
            </a:r>
          </a:p>
          <a:p xmlns:a="http://schemas.openxmlformats.org/drawingml/2006/main">
            <a:r>
              <a:t>S6 custom 模式签名与全链验收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拆分依据：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每个 Story 有独立职责和 oracle。</a:t>
            </a:r>
          </a:p>
          <a:p xmlns:a="http://schemas.openxmlformats.org/drawingml/2006/main">
            <a:r>
              <a:t>- 高风险平台假设先证明。</a:t>
            </a:r>
          </a:p>
          <a:p xmlns:a="http://schemas.openxmlformats.org/drawingml/2006/main">
            <a:r>
              <a:t>- 一轮只需要读取有限文件。</a:t>
            </a:r>
          </a:p>
          <a:p xmlns:a="http://schemas.openxmlformats.org/drawingml/2006/main">
            <a:r>
              <a:t>- 失败能回到明确层级。</a:t>
            </a:r>
          </a:p>
          <a:p xmlns:a="http://schemas.openxmlformats.org/drawingml/2006/main">
            <a:r>
              <a:t>- 后续 Story 复用前一 Story 已证明的事实。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每个 Story 必须落到函数和 oracle，而不是只落到文件：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Story | 主要函数 | 独立 oracle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S1 Provider | `loadAvailableUserIds / normalizeUserIds` | 去重、排序、前台标识、失败空态 |</a:t>
            </a:r>
          </a:p>
          <a:p xmlns:a="http://schemas.openxmlformats.org/drawingml/2006/main">
            <a:r>
              <a:t>| S2 本地清理 | `pruneUnavailableUsers` | intent/deployment/policy history 同步删失效 ID |</a:t>
            </a:r>
          </a:p>
          <a:p xmlns:a="http://schemas.openxmlformats.org/drawingml/2006/main">
            <a:r>
              <a:t>| S3 协调与 Handler | `schedule / runPending / dispatchHandlers / handle` | 防抖、串行、模块分支与失败汇总 |</a:t>
            </a:r>
          </a:p>
          <a:p xmlns:a="http://schemas.openxmlformats.org/drawingml/2006/main">
            <a:r>
              <a:t>| S4 跨进程消费 | `publishSnapshot / subscribe / refreshForAccountChange` | 稳定事实只经一条运行时链消费 |</a:t>
            </a:r>
          </a:p>
          <a:p xmlns:a="http://schemas.openxmlformats.org/drawingml/2006/main">
            <a:r>
              <a:t>| S5 稳定快照 | `loadStableSnapshot / shouldWaitForAddedAccount` | old→new、never-visible、removed 三组计数 |</a:t>
            </a:r>
          </a:p>
          <a:p xmlns:a="http://schemas.openxmlformats.org/drawingml/2006/main">
            <a:r>
              <a:t>| S6 custom 签名 | `applyPolicyForMode / saveModeApplyState` | 不重放旧规则；保存失败返回 false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代码审阅产生的新 Story 候选：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S7 apply-state 原子提交与完整回滚</a:t>
            </a:r>
          </a:p>
          <a:p xmlns:a="http://schemas.openxmlformats.org/drawingml/2006/main">
            <a:r>
              <a:t>S8 rule snapshot 区分 read failure 与 empty</a:t>
            </a:r>
          </a:p>
          <a:p xmlns:a="http://schemas.openxmlformats.org/drawingml/2006/main">
            <a:r>
              <a:t>S9 handler failure 的重试/可观测性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这些不是为了让范围无限增长，而是展示：Reviewer 发现新风险后，应创建独立 Story，不偷偷塞回 S5。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展示 S5 Worker Packet 的关键字段：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```yaml</a:t>
            </a:r>
          </a:p>
          <a:p xmlns:a="http://schemas.openxmlformats.org/drawingml/2006/main">
            <a:r>
              <a:t>story_id: FW-ACCOUNT-S5-STABLE-SNAPSHOT</a:t>
            </a:r>
          </a:p>
          <a:p xmlns:a="http://schemas.openxmlformats.org/drawingml/2006/main">
            <a:r>
              <a:t>goal: 只分发包含 triggerAccountId 的稳定快照</a:t>
            </a:r>
          </a:p>
          <a:p xmlns:a="http://schemas.openxmlformats.org/drawingml/2006/main">
            <a:r>
              <a:t>allowed_paths:</a:t>
            </a:r>
          </a:p>
          <a:p xmlns:a="http://schemas.openxmlformats.org/drawingml/2006/main">
            <a:r>
              <a:t>  - 防火墙模块设计</a:t>
            </a:r>
          </a:p>
          <a:p xmlns:a="http://schemas.openxmlformats.org/drawingml/2006/main">
            <a:r>
              <a:t>  - AccountChangeCoordinator.ets::loadStableSnapshot/shouldWaitForAddedAccount</a:t>
            </a:r>
          </a:p>
          <a:p xmlns:a="http://schemas.openxmlformats.org/drawingml/2006/main">
            <a:r>
              <a:t>  - account-change-coordinator.test.ets::old→new/never-visible/removed</a:t>
            </a:r>
          </a:p>
          <a:p xmlns:a="http://schemas.openxmlformats.org/drawingml/2006/main">
            <a:r>
              <a:t>forbidden:</a:t>
            </a:r>
          </a:p>
          <a:p xmlns:a="http://schemas.openxmlformats.org/drawingml/2006/main">
            <a:r>
              <a:t>  - FirewallPage.ets</a:t>
            </a:r>
          </a:p>
          <a:p xmlns:a="http://schemas.openxmlformats.org/drawingml/2006/main">
            <a:r>
              <a:t>  - Provider 内业务副作用</a:t>
            </a:r>
          </a:p>
          <a:p xmlns:a="http://schemas.openxmlformats.org/drawingml/2006/main">
            <a:r>
              <a:t>acceptance:</a:t>
            </a:r>
          </a:p>
          <a:p xmlns:a="http://schemas.openxmlformats.org/drawingml/2006/main">
            <a:r>
              <a:t>  - old_then_new: query=2, handler=1, publish=1, signature=100,122,123</a:t>
            </a:r>
          </a:p>
          <a:p xmlns:a="http://schemas.openxmlformats.org/drawingml/2006/main">
            <a:r>
              <a:t>  - never_visible: query=6, handler=0, publish=0, success=false</a:t>
            </a:r>
          </a:p>
          <a:p xmlns:a="http://schemas.openxmlformats.org/drawingml/2006/main">
            <a:r>
              <a:t>  - removed: query=1, handler=1, publish=1</a:t>
            </a:r>
          </a:p>
          <a:p xmlns:a="http://schemas.openxmlformats.org/drawingml/2006/main">
            <a:r>
              <a:t>stop:</a:t>
            </a:r>
          </a:p>
          <a:p xmlns:a="http://schemas.openxmlformats.org/drawingml/2006/main">
            <a:r>
              <a:t>  - repeated_failure_without_new_evidence</a:t>
            </a:r>
          </a:p>
          <a:p xmlns:a="http://schemas.openxmlformats.org/drawingml/2006/main">
            <a:r>
              <a:t>  - need_to_modify_forbidden_path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Worker Packet 同时写验证命令和证据目录，不允许 AI 用“我已修复”作为完成条件。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本案例的受控循环：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取一个 Ready Story</a:t>
            </a:r>
          </a:p>
          <a:p xmlns:a="http://schemas.openxmlformats.org/drawingml/2006/main">
            <a:r>
              <a:t>→ 读取 AGENTS + RFC + Worker Packet + progress</a:t>
            </a:r>
          </a:p>
          <a:p xmlns:a="http://schemas.openxmlformats.org/drawingml/2006/main">
            <a:r>
              <a:t>→ 只在 allowed paths 内执行</a:t>
            </a:r>
          </a:p>
          <a:p xmlns:a="http://schemas.openxmlformats.org/drawingml/2006/main">
            <a:r>
              <a:t>→ 运行该 Story 的测试/检查</a:t>
            </a:r>
          </a:p>
          <a:p xmlns:a="http://schemas.openxmlformats.org/drawingml/2006/main">
            <a:r>
              <a:t>→ Reviewer 对照 AC、Diff、证据</a:t>
            </a:r>
          </a:p>
          <a:p xmlns:a="http://schemas.openxmlformats.org/drawingml/2006/main">
            <a:r>
              <a:t>→ 写回 PASS / FAIL / UNKNOWN 和下一步</a:t>
            </a:r>
          </a:p>
          <a:p xmlns:a="http://schemas.openxmlformats.org/drawingml/2006/main">
            <a:r>
              <a:t>→ 新上下文开始下一 Story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外部记忆：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- RFC：不能重新猜的业务/架构契约。</a:t>
            </a:r>
          </a:p>
          <a:p xmlns:a="http://schemas.openxmlformats.org/drawingml/2006/main">
            <a:r>
              <a:t>- Story：本轮目标和范围。</a:t>
            </a:r>
          </a:p>
          <a:p xmlns:a="http://schemas.openxmlformats.org/drawingml/2006/main">
            <a:r>
              <a:t>- progress：已证明、已否定、下一步。</a:t>
            </a:r>
          </a:p>
          <a:p xmlns:a="http://schemas.openxmlformats.org/drawingml/2006/main">
            <a:r>
              <a:t>- evidence：RED/GREEN、命令输出、设备证据。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一轮 S5 的真实执行脚本：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1 Read</a:t>
            </a:r>
          </a:p>
          <a:p xmlns:a="http://schemas.openxmlformats.org/drawingml/2006/main">
            <a:r>
              <a:t>  AGENTS.md</a:t>
            </a:r>
          </a:p>
          <a:p xmlns:a="http://schemas.openxmlformats.org/drawingml/2006/main">
            <a:r>
              <a:t>  03-防火墙账号同步RFC.md#核心不变量</a:t>
            </a:r>
          </a:p>
          <a:p xmlns:a="http://schemas.openxmlformats.org/drawingml/2006/main">
            <a:r>
              <a:t>  Worker Packet S5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 Inspect</a:t>
            </a:r>
          </a:p>
          <a:p xmlns:a="http://schemas.openxmlformats.org/drawingml/2006/main">
            <a:r>
              <a:t>  git show 4b372d0d</a:t>
            </a:r>
          </a:p>
          <a:p xmlns:a="http://schemas.openxmlformats.org/drawingml/2006/main">
            <a:r>
              <a:t>  AccountChangeCoordinator.loadStableSnapshot</a:t>
            </a:r>
          </a:p>
          <a:p xmlns:a="http://schemas.openxmlformats.org/drawingml/2006/main">
            <a:r>
              <a:t>  account-change-coordinator.test.ets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 Verify</a:t>
            </a:r>
          </a:p>
          <a:p xmlns:a="http://schemas.openxmlformats.org/drawingml/2006/main">
            <a:r>
              <a:t>  python scripts/check_docs_consistency.py</a:t>
            </a:r>
          </a:p>
          <a:p xmlns:a="http://schemas.openxmlformats.org/drawingml/2006/main">
            <a:r>
              <a:t>  hvigorw test --mode module -p product=default -p module=entry@default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 Review</a:t>
            </a:r>
          </a:p>
          <a:p xmlns:a="http://schemas.openxmlformats.org/drawingml/2006/main">
            <a:r>
              <a:t>  allowed paths 是否越界</a:t>
            </a:r>
          </a:p>
          <a:p xmlns:a="http://schemas.openxmlformats.org/drawingml/2006/main">
            <a:r>
              <a:t>  old→new / never-visible / removed 是否逐条满足</a:t>
            </a:r>
          </a:p>
          <a:p xmlns:a="http://schemas.openxmlformats.org/drawingml/2006/main">
            <a:r>
              <a:t>  是否发现新的 RFC 缺口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5 Write back</a:t>
            </a:r>
          </a:p>
          <a:p xmlns:a="http://schemas.openxmlformats.org/drawingml/2006/main">
            <a:r>
              <a:t>  status / evidence / discovered_gaps / next_story / stop_reason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`progress.yaml` 不写“已优化”“基本完成”，只写可复现事实：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```yaml</a:t>
            </a:r>
          </a:p>
          <a:p xmlns:a="http://schemas.openxmlformats.org/drawingml/2006/main">
            <a:r>
              <a:t>status: PASS_WITH_GAPS</a:t>
            </a:r>
          </a:p>
          <a:p xmlns:a="http://schemas.openxmlformats.org/drawingml/2006/main">
            <a:r>
              <a:t>verified:</a:t>
            </a:r>
          </a:p>
          <a:p xmlns:a="http://schemas.openxmlformats.org/drawingml/2006/main">
            <a:r>
              <a:t>  - stable snapshot protocol UT PASS</a:t>
            </a:r>
          </a:p>
          <a:p xmlns:a="http://schemas.openxmlformats.org/drawingml/2006/main">
            <a:r>
              <a:t>evidence:</a:t>
            </a:r>
          </a:p>
          <a:p xmlns:a="http://schemas.openxmlformats.org/drawingml/2006/main">
            <a:r>
              <a:t>  - test_result.txt: 816/816</a:t>
            </a:r>
          </a:p>
          <a:p xmlns:a="http://schemas.openxmlformats.org/drawingml/2006/main">
            <a:r>
              <a:t>discovered_gaps:</a:t>
            </a:r>
          </a:p>
          <a:p xmlns:a="http://schemas.openxmlformats.org/drawingml/2006/main">
            <a:r>
              <a:t>  - apply-state commit is not atomic</a:t>
            </a:r>
          </a:p>
          <a:p xmlns:a="http://schemas.openxmlformats.org/drawingml/2006/main">
            <a:r>
              <a:t>next_story: S7-APPLY-STATE-ATOMICITY</a:t>
            </a:r>
          </a:p>
          <a:p xmlns:a="http://schemas.openxmlformats.org/drawingml/2006/main">
            <a:r>
              <a:t>device_truth: UNKNOWN</a:t>
            </a:r>
          </a:p>
          <a:p xmlns:a="http://schemas.openxmlformats.org/drawingml/2006/main">
            <a:r>
              <a:t>```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展示真实 Git 迭代：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轮次 | 提交 | 本轮结果 | 新暴露的问题 |</a:t>
            </a:r>
          </a:p>
          <a:p xmlns:a="http://schemas.openxmlformats.org/drawingml/2006/main">
            <a:r>
              <a:t>|---:|---|---|---|</a:t>
            </a:r>
          </a:p>
          <a:p xmlns:a="http://schemas.openxmlformats.org/drawingml/2006/main">
            <a:r>
              <a:t>| R1 | `9ea957d2` | 账号枚举统一 | 还没有事件同步 |</a:t>
            </a:r>
          </a:p>
          <a:p xmlns:a="http://schemas.openxmlformats.org/drawingml/2006/main">
            <a:r>
              <a:t>| R2 | `09209bb9` | 本地清理 | 缺统一协调入口 |</a:t>
            </a:r>
          </a:p>
          <a:p xmlns:a="http://schemas.openxmlformats.org/drawingml/2006/main">
            <a:r>
              <a:t>| R3 | `94ff17e7` | Coordinator/Handler | 跨进程消费不完整 |</a:t>
            </a:r>
          </a:p>
          <a:p xmlns:a="http://schemas.openxmlformats.org/drawingml/2006/main">
            <a:r>
              <a:t>| R4 | `53751b2e` | 发布稳定账号事实 | 规则展示仍需收敛 |</a:t>
            </a:r>
          </a:p>
          <a:p xmlns:a="http://schemas.openxmlformats.org/drawingml/2006/main">
            <a:r>
              <a:t>| R5 | `586880a3` | 规则从快照 reconcile | 发现新增事件时序差 |</a:t>
            </a:r>
          </a:p>
          <a:p xmlns:a="http://schemas.openxmlformats.org/drawingml/2006/main">
            <a:r>
              <a:t>| R6 | `4b372d0d` | 先定义稳定快照 | 等待实现和反证测试 |</a:t>
            </a:r>
          </a:p>
          <a:p xmlns:a="http://schemas.openxmlformats.org/drawingml/2006/main">
            <a:r>
              <a:t>| R7 | `c0c1bc9f` | 等待触发 ID 可见 | custom 签名仍缺 |</a:t>
            </a:r>
          </a:p>
          <a:p xmlns:a="http://schemas.openxmlformats.org/drawingml/2006/main">
            <a:r>
              <a:t>| R8 | `9c7fb186` | custom 保存签名 | 运行时职责仍可收口 |</a:t>
            </a:r>
          </a:p>
          <a:p xmlns:a="http://schemas.openxmlformats.org/drawingml/2006/main">
            <a:r>
              <a:t>| R9 | `cecf6d17` | 收口 RuntimeManager | 进入整体验收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时间线下方补一条“代码责任如何逐轮长出来”：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Provider(getOsAccountLocalIds)</a:t>
            </a:r>
          </a:p>
          <a:p xmlns:a="http://schemas.openxmlformats.org/drawingml/2006/main">
            <a:r>
              <a:t>→ Repository(pruneUnavailableUsers)</a:t>
            </a:r>
          </a:p>
          <a:p xmlns:a="http://schemas.openxmlformats.org/drawingml/2006/main">
            <a:r>
              <a:t>→ Coordinator(schedule/loadSnapshot/dispatch)</a:t>
            </a:r>
          </a:p>
          <a:p xmlns:a="http://schemas.openxmlformats.org/drawingml/2006/main">
            <a:r>
              <a:t>→ EventBus(common event)</a:t>
            </a:r>
          </a:p>
          <a:p xmlns:a="http://schemas.openxmlformats.org/drawingml/2006/main">
            <a:r>
              <a:t>→ ViewModel(refreshForAccountChange)</a:t>
            </a:r>
          </a:p>
          <a:p xmlns:a="http://schemas.openxmlformats.org/drawingml/2006/main">
            <a:r>
              <a:t>→ Stable Gate(loadStableSnapshot)</a:t>
            </a:r>
          </a:p>
          <a:p xmlns:a="http://schemas.openxmlformats.org/drawingml/2006/main">
            <a:r>
              <a:t>→ Custom Signature(saveModeApplyState)</a:t>
            </a:r>
          </a:p>
          <a:p xmlns:a="http://schemas.openxmlformats.org/drawingml/2006/main">
            <a:r>
              <a:t>```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展开 R6 → R7：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21:58:55  4b372d0d</a:t>
            </a:r>
          </a:p>
          <a:p xmlns:a="http://schemas.openxmlformats.org/drawingml/2006/main">
            <a:r>
              <a:t>docs: 定义账号新增的稳定快照同步</a:t>
            </a:r>
          </a:p>
          <a:p xmlns:a="http://schemas.openxmlformats.org/drawingml/2006/main">
            <a:r>
              <a:t>  - 更新模块设计</a:t>
            </a:r>
          </a:p>
          <a:p xmlns:a="http://schemas.openxmlformats.org/drawingml/2006/main">
            <a:r>
              <a:t>  - 新增专项方案</a:t>
            </a:r>
          </a:p>
          <a:p xmlns:a="http://schemas.openxmlformats.org/drawingml/2006/main">
            <a:r>
              <a:t>  - 冻结等待条件、重试上限和失败保持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22:03:53  c0c1bc9f</a:t>
            </a:r>
          </a:p>
          <a:p xmlns:a="http://schemas.openxmlformats.org/drawingml/2006/main">
            <a:r>
              <a:t>fix: 等待新增账号快照再 reconcile</a:t>
            </a:r>
          </a:p>
          <a:p xmlns:a="http://schemas.openxmlformats.org/drawingml/2006/main">
            <a:r>
              <a:t>  - 修改 Coordinator</a:t>
            </a:r>
          </a:p>
          <a:p xmlns:a="http://schemas.openxmlformats.org/drawingml/2006/main">
            <a:r>
              <a:t>  - 新增先旧后新、一直旧、removed 单读测试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约五分钟不是重点；重点是顺序：先让行为可审查，再让 AI 执行。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把文档规则和实现逐项对齐：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文档契约 | 代码位置 | 可执行断言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新增账号必须等触发 ID 可见 | `shouldWaitForAddedAccount()` | 第一次旧集合不能 dispatch |</a:t>
            </a:r>
          </a:p>
          <a:p xmlns:a="http://schemas.openxmlformats.org/drawingml/2006/main">
            <a:r>
              <a:t>| 重试有上限 | `MAX_RETRIES=5` + 首次读取 | 总 query 次数为 6 |</a:t>
            </a:r>
          </a:p>
          <a:p xmlns:a="http://schemas.openxmlformats.org/drawingml/2006/main">
            <a:r>
              <a:t>| 超时不能伪成功 | `stable=false → return false` | Handler=0、publish=0 |</a:t>
            </a:r>
          </a:p>
          <a:p xmlns:a="http://schemas.openxmlformats.org/drawingml/2006/main">
            <a:r>
              <a:t>| 删除不等待被删 ID | source 判断仅命中 added | removed query=1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再增加一张 Reviewer 缺口卡：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设计要求：失败不能保存新 signature</a:t>
            </a:r>
          </a:p>
          <a:p xmlns:a="http://schemas.openxmlformats.org/drawingml/2006/main">
            <a:r>
              <a:t>代码事实：saveCurrentMode 失败后仍可能调用 saveModeApplyState</a:t>
            </a:r>
          </a:p>
          <a:p xmlns:a="http://schemas.openxmlformats.org/drawingml/2006/main">
            <a:r>
              <a:t>回滚事实：rollbackToSnapshot 不恢复 last-applied signature</a:t>
            </a:r>
          </a:p>
          <a:p xmlns:a="http://schemas.openxmlformats.org/drawingml/2006/main">
            <a:r>
              <a:t>当前判定：核心协议 PASS；事务原子性 INCOMPLETE</a:t>
            </a:r>
          </a:p>
          <a:p xmlns:a="http://schemas.openxmlformats.org/drawingml/2006/main">
            <a:r>
              <a:t>下一 Story：本地 apply-state 原子提交 + 回滚断言</a:t>
            </a:r>
          </a:p>
          <a:p xmlns:a="http://schemas.openxmlformats.org/drawingml/2006/main">
            <a:r>
              <a:t>```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**【补充素材｜MCP 介绍页】**</a:t>
            </a:r>
          </a:p>
          <a:p xmlns:a="http://schemas.openxmlformats.org/drawingml/2006/main">
            <a:r>
              <a:t>此页正文、示意图和讲解内容由讲师使用已有 MCP 材料替换，本稿不重复编写。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建议本页只完成一个转场：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前面已经定义“验什么”</a:t>
            </a:r>
          </a:p>
          <a:p xmlns:a="http://schemas.openxmlformats.org/drawingml/2006/main">
            <a:r>
              <a:t>→ MCP / HDC 负责把 Build、Install、Operate、Observe 接到真实环境</a:t>
            </a:r>
          </a:p>
          <a:p xmlns:a="http://schemas.openxmlformats.org/drawingml/2006/main">
            <a:r>
              <a:t>→ 下一页进入 E2E Runner 怎样调用这些能力</a:t>
            </a:r>
          </a:p>
          <a:p xmlns:a="http://schemas.openxmlformats.org/drawingml/2006/main">
            <a:r>
              <a:t>```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>- C:\Users\mu\AppData\Local\Temp\codex-clipboard-6778939b-3ce1-44ae-baf5-06a00b13fb43.jpg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主视觉使用用户提供的 E2E 架构图：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![SecurityTool E2E Runner 架构](C:/Users/mu/AppData/Local/Temp/codex-clipboard-6778939b-3ce1-44ae-baf5-06a00b13fb43.jpg)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图下保留一条真实路由，不再只写三句抽象结论：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rule_create.json</a:t>
            </a:r>
          </a:p>
          <a:p xmlns:a="http://schemas.openxmlformats.org/drawingml/2006/main">
            <a:r>
              <a:t>→ validate_case_contract</a:t>
            </a:r>
          </a:p>
          <a:p xmlns:a="http://schemas.openxmlformats.org/drawingml/2006/main">
            <a:r>
              <a:t>→ normalize_case_definition(flow/assertions → execution_steps)</a:t>
            </a:r>
          </a:p>
          <a:p xmlns:a="http://schemas.openxmlformats.org/drawingml/2006/main">
            <a:r>
              <a:t>→ E2ERunner.run_case / run_step</a:t>
            </a:r>
          </a:p>
          <a:p xmlns:a="http://schemas.openxmlformats.org/drawingml/2006/main">
            <a:r>
              <a:t>→ SecurityToolFlowExecutor.execute</a:t>
            </a:r>
          </a:p>
          <a:p xmlns:a="http://schemas.openxmlformats.org/drawingml/2006/main">
            <a:r>
              <a:t>→ resolve_operation_binding(entity.create)</a:t>
            </a:r>
          </a:p>
          <a:p xmlns:a="http://schemas.openxmlformats.org/drawingml/2006/main">
            <a:r>
              <a:t>→ template_key=firewall.rule.create.domain</a:t>
            </a:r>
          </a:p>
          <a:p xmlns:a="http://schemas.openxmlformats.org/drawingml/2006/main">
            <a:r>
              <a:t>→ execute_template_action</a:t>
            </a:r>
          </a:p>
          <a:p xmlns:a="http://schemas.openxmlformats.org/drawingml/2006/main">
            <a:r>
              <a:t>→ MCP Driver / Bridge / Backend</a:t>
            </a:r>
          </a:p>
          <a:p xmlns:a="http://schemas.openxmlformats.org/drawingml/2006/main">
            <a:r>
              <a:t>→ AssertionExecutor.assert_text_presence</a:t>
            </a:r>
          </a:p>
          <a:p xmlns:a="http://schemas.openxmlformats.org/drawingml/2006/main">
            <a:r>
              <a:t>→ CaseResult(primary + secondary evidence)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读图结论：Case 描述业务动作；Adapter/Template 决定怎么操作；Driver 只执行；Assertion 和 `result_policy` 才决定 PASS/FAIL/UNKNOWN。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建议使用真实用例 `FW-STATUS-001`：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launch_app</a:t>
            </a:r>
          </a:p>
          <a:p xmlns:a="http://schemas.openxmlformats.org/drawingml/2006/main">
            <a:r>
              <a:t>→ reset_previous_page / relaunch_app</a:t>
            </a:r>
          </a:p>
          <a:p xmlns:a="http://schemas.openxmlformats.org/drawingml/2006/main">
            <a:r>
              <a:t>→ open_firewall_page</a:t>
            </a:r>
          </a:p>
          <a:p xmlns:a="http://schemas.openxmlformats.org/drawingml/2006/main">
            <a:r>
              <a:t>→ toggle_firewall(require_auth_prompt=true)</a:t>
            </a:r>
          </a:p>
          <a:p xmlns:a="http://schemas.openxmlformats.org/drawingml/2006/main">
            <a:r>
              <a:t>→ assert “公共网络模式”仍可见</a:t>
            </a:r>
          </a:p>
          <a:p xmlns:a="http://schemas.openxmlformats.org/drawingml/2006/main">
            <a:r>
              <a:t>→ reporter 输出 result + artifacts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用例状态的代码级判定：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flow_action PASS/FAIL/UNKNOWN</a:t>
            </a:r>
          </a:p>
          <a:p xmlns:a="http://schemas.openxmlformats.org/drawingml/2006/main">
            <a:r>
              <a:t>→ assertion_action PASS/FAIL/UNKNOWN</a:t>
            </a:r>
          </a:p>
          <a:p xmlns:a="http://schemas.openxmlformats.org/drawingml/2006/main">
            <a:r>
              <a:t>→ FAIL：记录 failure_stage，默认 stop_on_failure</a:t>
            </a:r>
          </a:p>
          <a:p xmlns:a="http://schemas.openxmlformats.org/drawingml/2006/main">
            <a:r>
              <a:t>→ UNKNOWN：保留 UNKNOWN；allow_unknown=false 时升级 FAIL</a:t>
            </a:r>
          </a:p>
          <a:p xmlns:a="http://schemas.openxmlformats.org/drawingml/2006/main">
            <a:r>
              <a:t>→ evidence：primary_evidence + secondary_evidence</a:t>
            </a:r>
          </a:p>
          <a:p xmlns:a="http://schemas.openxmlformats.org/drawingml/2006/main">
            <a:r>
              <a:t>→ validate_result_contract(CaseResult)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现场执行分两档：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**有设备**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```bash</a:t>
            </a:r>
          </a:p>
          <a:p xmlns:a="http://schemas.openxmlformats.org/drawingml/2006/main">
            <a:r>
              <a:t>python scripts/e2e/tools/validate_test_assets.py</a:t>
            </a:r>
          </a:p>
          <a:p xmlns:a="http://schemas.openxmlformats.org/drawingml/2006/main">
            <a:r>
              <a:t>python scripts/e2e/run_e2e.py --adapter security_tool --case scripts/e2e/cases/firewall/status_toggle.json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**无设备**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```text</a:t>
            </a:r>
          </a:p>
          <a:p xmlns:a="http://schemas.openxmlformats.org/drawingml/2006/main">
            <a:r>
              <a:t>运行测试资产校验</a:t>
            </a:r>
          </a:p>
          <a:p xmlns:a="http://schemas.openxmlformats.org/drawingml/2006/main">
            <a:r>
              <a:t>→ 静态展开 action plan / resolver</a:t>
            </a:r>
          </a:p>
          <a:p xmlns:a="http://schemas.openxmlformats.org/drawingml/2006/main">
            <a:r>
              <a:t>→ 人工给出预期 Tool、Assertion、Artifact</a:t>
            </a:r>
          </a:p>
          <a:p xmlns:a="http://schemas.openxmlformats.org/drawingml/2006/main">
            <a:r>
              <a:t>→ 设备相关结果标 UNKNOWN</a:t>
            </a:r>
          </a:p>
          <a:p xmlns:a="http://schemas.openxmlformats.org/drawingml/2006/main">
            <a:r>
              <a:t>```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**T03 / Structured Acceptance Readback — TARGET**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```json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"result": "PASS|FAIL|UNKNOWN",</a:t>
            </a:r>
          </a:p>
          <a:p xmlns:a="http://schemas.openxmlformats.org/drawingml/2006/main">
            <a:r>
              <a:t>  "accounts": [100, 112, 123],</a:t>
            </a:r>
          </a:p>
          <a:p xmlns:a="http://schemas.openxmlformats.org/drawingml/2006/main">
            <a:r>
              <a:t>  "mode": "public",</a:t>
            </a:r>
          </a:p>
          <a:p xmlns:a="http://schemas.openxmlformats.org/drawingml/2006/main">
            <a:r>
              <a:t>  "signature": "100,112,123",</a:t>
            </a:r>
          </a:p>
          <a:p xmlns:a="http://schemas.openxmlformats.org/drawingml/2006/main">
            <a:r>
              <a:t>  "users": [{"id": 123, "isOpen": true, "ruleCount": 4}],</a:t>
            </a:r>
          </a:p>
          <a:p xmlns:a="http://schemas.openxmlformats.org/drawingml/2006/main">
            <a:r>
              <a:t>  "failures": [],</a:t>
            </a:r>
          </a:p>
          <a:p xmlns:a="http://schemas.openxmlformats.org/drawingml/2006/main">
            <a:r>
              <a:t>  "evidence": {"device": "...", "timestamp": "..."}</a:t>
            </a:r>
          </a:p>
          <a:p xmlns:a="http://schemas.openxmlformats.org/drawingml/2006/main">
            <a:r>
              <a:t>}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操作链：`build → install → activate admin → trigger → logs → getter → screenshot`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**课堂任务不是 5 分钟现场开发 getter，而是先冻结证据契约和 PASS 规则。**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>- C:\Users\mu\Desktop\code\ppt\harmonyos-sdd-ralph-workshop\harmonyos-sdd-workshop-media\anthropic\evaluator-optimizer.png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**同伴验收只问六件事**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`spec.md` 是否冻结账号事实、失败语义与提交点？</a:t>
            </a:r>
          </a:p>
          <a:p xmlns:a="http://schemas.openxmlformats.org/drawingml/2006/main">
            <a:r>
              <a:t>2. `design.md` 是否区分 intent、local apply、system truth、UI？</a:t>
            </a:r>
          </a:p>
          <a:p xmlns:a="http://schemas.openxmlformats.org/drawingml/2006/main">
            <a:r>
              <a:t>3. T01 是否真的出现过可解释 RED 与 GREEN？</a:t>
            </a:r>
          </a:p>
          <a:p xmlns:a="http://schemas.openxmlformats.org/drawingml/2006/main">
            <a:r>
              <a:t>4. T02 故障后是否恢复 identity，而非只恢复数量？</a:t>
            </a:r>
          </a:p>
          <a:p xmlns:a="http://schemas.openxmlformats.org/drawingml/2006/main">
            <a:r>
              <a:t>5. 设备证据是否来自真机，UNKNOWN 是否被诚实保留？</a:t>
            </a:r>
          </a:p>
          <a:p xmlns:a="http://schemas.openxmlformats.org/drawingml/2006/main">
            <a:r>
              <a:t>6. diff 是否完全落在任务允许边界？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结果只允许：`PASS / FAIL / UNKNOWN`。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| Eval 层 | 检查什么 | 反例 |</a:t>
            </a:r>
          </a:p>
          <a:p xmlns:a="http://schemas.openxmlformats.org/drawingml/2006/main">
            <a:r>
              <a:t>|---|---|---|</a:t>
            </a:r>
          </a:p>
          <a:p xmlns:a="http://schemas.openxmlformats.org/drawingml/2006/main">
            <a:r>
              <a:t>| Trace | Prompt、工具调用、diff、测试、是否越界 | 过程规范，但底层调用仍失败 |</a:t>
            </a:r>
          </a:p>
          <a:p xmlns:a="http://schemas.openxmlformats.org/drawingml/2006/main">
            <a:r>
              <a:t>| Outcome | 系统账号、policy、rules、signature、mapping | 页面偶然正确，但 AI 伪造账号事实 |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最终结论由 Outcome 决定；Trace 用于解释可信度、复现过程和发现越界行为。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![Evaluator–Optimizer：生成、独立评估、拒绝反馈与接受](harmonyos-sdd-workshop-media/anthropic/evaluator-optimizer.png)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&lt;sub&gt;讲师读图：Implementer 不能独自给自己打分。Reviewer 返回的必须是可执行反馈与缺失证据；只有达到预先冻结的 AC 才接受。图源：Anthropic《Building Effective Agents》。&lt;/sub&gt;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C:/Users/mu/Desktop/harmonyos-sdd-ralph-workshop/case-materials/gpu/01-问题与基线.md</a:t>
            </a:r>
          </a:p>
          <a:p xmlns:a="http://schemas.openxmlformats.org/drawingml/2006/main">
            <a:r>
              <a:t>- C:/Users/mu/Desktop/harmonyos-sdd-ralph-workshop/harmonyos-sdd-workshop-media/freerdp-stutter-scenario.jpeg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本页只介绍背景和证据缺口；当前 before 视频仍为空。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C:/Users/mu/Desktop/harmonyos-sdd-ralph-workshop/case-materials/gpu/02-大代码库认知地图.md</a:t>
            </a:r>
          </a:p>
          <a:p xmlns:a="http://schemas.openxmlformats.org/drawingml/2006/main">
            <a:r>
              <a:t>- C:/Users/mu/Desktop/harmonyos-sdd-ralph-workshop/case-materials/gpu/09-源码调用链与任务拆解.md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讲解顺序：先读五个问题，再指认四个源码入口。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C:/Users/mu/Desktop/harmonyos-sdd-ralph-workshop/case-materials/gpu/03-跨平台实现调研.md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本页所有平台入口来自本地源码；AI 概括不是最终证据。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C:/Users/mu/Desktop/harmonyos-sdd-ralph-workshop/case-materials/gpu/04-ADR-GPU-001-HarmonyOS硬解方案.md</a:t>
            </a:r>
          </a:p>
          <a:p xmlns:a="http://schemas.openxmlformats.org/drawingml/2006/main">
            <a:r>
              <a:t>- C:/Users/mu/Desktop/harmonyos-sdd-ralph-workshop/case-materials/gpu/09-源码调用链与任务拆解.md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ADR 是方向与边界，不是运行结果；性能和长稳仍待验证。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C:/Users/mu/Desktop/harmonyos-sdd-ralph-workshop/case-materials/gpu/05-最小能力穿刺计划.md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穿刺 PASS 只证明对接方向成立，不能外推连续性能或长稳。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C:/Users/mu/Desktop/harmonyos-sdd-ralph-workshop/case-materials/gpu/tasks/README.md</a:t>
            </a:r>
          </a:p>
          <a:p xmlns:a="http://schemas.openxmlformats.org/drawingml/2006/main">
            <a:r>
              <a:t>- C:/Users/mu/Desktop/harmonyos-sdd-ralph-workshop/case-materials/gpu/tasks/T-GPU-03.md</a:t>
            </a:r>
          </a:p>
          <a:p xmlns:a="http://schemas.openxmlformats.org/drawingml/2006/main">
            <a:r>
              <a:t>- C:/Users/mu/Desktop/harmonyos-sdd-ralph-workshop/case-materials/gpu/09-源码调用链与任务拆解.md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展示一张完整任务卡，强调 Source Scope / Verify / Stop / Exit Gate。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C:/Users/mu/Desktop/harmonyos-sdd-ralph-workshop/case-materials/gpu/08-PPT第28-38页内容映射.md</a:t>
            </a:r>
          </a:p>
          <a:p xmlns:a="http://schemas.openxmlformats.org/drawingml/2006/main">
            <a:r>
              <a:t>- C:/Users/mu/Desktop/harmonyos-sdd-ralph-workshop/case-materials/gpu/tasks/README.md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本页用于解释怎么协同，不再重复技术方案。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C:/Users/mu/Desktop/harmonyos-sdd-ralph-workshop/case-materials/gpu/07-开发排障复盘.md</a:t>
            </a:r>
          </a:p>
          <a:p xmlns:a="http://schemas.openxmlformats.org/drawingml/2006/main">
            <a:r>
              <a:t>- C:/Users/mu/Desktop/harmonyos-sdd-ralph-workshop/harmonyos-sdd-workshop-media/gpu-failure-black-screen-contact.jpg</a:t>
            </a:r>
          </a:p>
          <a:p xmlns:a="http://schemas.openxmlformats.org/drawingml/2006/main">
            <a:r>
              <a:t>- C:/Users/mu/Desktop/harmonyos-sdd-ralph-workshop/harmonyos-sdd-workshop-media/gpu-failure-black-screen-13s.mp4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黑屏素材属于媒体事实，不绑定源码 commit、decoder path 或 frame trace。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C:/Users/mu/Desktop/harmonyos-sdd-ralph-workshop/case-materials/gpu/07-开发排障复盘.md</a:t>
            </a:r>
          </a:p>
          <a:p xmlns:a="http://schemas.openxmlformats.org/drawingml/2006/main">
            <a:r>
              <a:t>- C:/Users/mu/Desktop/harmonyos-sdd-ralph-workshop/case-materials/gpu/00-证据状态总表.md</a:t>
            </a:r>
          </a:p>
          <a:p xmlns:a="http://schemas.openxmlformats.org/drawingml/2006/main">
            <a:r>
              <a:t>- C:/Users/mu/Desktop/harmonyos-sdd-ralph-workshop/case-materials/gpu/09-源码调用链与任务拆解.md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课堂演示时把同一 run 的日志逐项贴进空白列；未采集前保持 PENDING。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C:/Users/mu/Desktop/harmonyos-sdd-ralph-workshop/case-materials/gpu/tasks/T-GPU-03.md</a:t>
            </a:r>
          </a:p>
          <a:p xmlns:a="http://schemas.openxmlformats.org/drawingml/2006/main">
            <a:r>
              <a:t>- C:/Users/mu/Desktop/harmonyos-sdd-ralph-workshop/case-materials/gpu/tasks/T-GPU-05.md</a:t>
            </a:r>
          </a:p>
          <a:p xmlns:a="http://schemas.openxmlformats.org/drawingml/2006/main">
            <a:r>
              <a:t>- C:/Users/mu/Desktop/harmonyos-sdd-ralph-workshop/case-materials/gpu/07-开发排障复盘.md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这是解决问题的方法与任务边界，不是虚构的成功结论。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C:/Users/mu/Desktop/harmonyos-sdd-ralph-workshop/case-materials/gpu/06-工程验收计划.md</a:t>
            </a:r>
          </a:p>
          <a:p xmlns:a="http://schemas.openxmlformats.org/drawingml/2006/main">
            <a:r>
              <a:t>- C:/Users/mu/Desktop/harmonyos-sdd-ralph-workshop/case-materials/gpu/00-证据状态总表.md</a:t>
            </a:r>
          </a:p>
          <a:p xmlns:a="http://schemas.openxmlformats.org/drawingml/2006/main">
            <a:r>
              <a:t>- C:/Users/mu/Desktop/harmonyos-sdd-ralph-workshop/harmonyos-sdd-workshop-media/gpu-validation-video-playback-contact.jpg</a:t>
            </a:r>
          </a:p>
          <a:p xmlns:a="http://schemas.openxmlformats.org/drawingml/2006/main">
            <a:r>
              <a:t>- C:/Users/mu/Desktop/harmonyos-sdd-ralph-workshop/harmonyos-sdd-workshop-media/gpu-validation-video-playback-16s.mp4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本页按要求只保留视频位与验收矩阵。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C:/Users/mu/Desktop/code/ppt/harmonyos-sdd-ralph-workshop/harmonyos-sdd-ralph-workshop.md</a:t>
            </a:r>
          </a:p>
          <a:p xmlns:a="http://schemas.openxmlformats.org/drawingml/2006/main">
            <a:r>
              <a:t>- C:\Users\mu\Desktop\code\ppt\harmonyos-sdd-ralph-workshop\harmonyos-sdd-workshop-media\anthropic\eval-quality-layers.png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```mermaid</a:t>
            </a:r>
          </a:p>
          <a:p xmlns:a="http://schemas.openxmlformats.org/drawingml/2006/main">
            <a:r>
              <a:t>flowchart TD</a:t>
            </a:r>
          </a:p>
          <a:p xmlns:a="http://schemas.openxmlformats.org/drawingml/2006/main">
            <a:r>
              <a:t>    A[事实] --&gt; B[规格]</a:t>
            </a:r>
          </a:p>
          <a:p xmlns:a="http://schemas.openxmlformats.org/drawingml/2006/main">
            <a:r>
              <a:t>    B --&gt; C[任务]</a:t>
            </a:r>
          </a:p>
          <a:p xmlns:a="http://schemas.openxmlformats.org/drawingml/2006/main">
            <a:r>
              <a:t>    C --&gt; D[RED]</a:t>
            </a:r>
          </a:p>
          <a:p xmlns:a="http://schemas.openxmlformats.org/drawingml/2006/main">
            <a:r>
              <a:t>    D --&gt; E[最小 Diff]</a:t>
            </a:r>
          </a:p>
          <a:p xmlns:a="http://schemas.openxmlformats.org/drawingml/2006/main">
            <a:r>
              <a:t>    E --&gt; F[系统证据]</a:t>
            </a:r>
          </a:p>
          <a:p xmlns:a="http://schemas.openxmlformats.org/drawingml/2006/main">
            <a:r>
              <a:t>```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**可选收束主视觉（PPT 制作时与上方 Mermaid 二选一）**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![质量的瑞士奶酪模型：自动评估、人工审阅和真实运行共同拦截缺陷](harmonyos-sdd-workshop-media/anthropic/eval-quality-layers.png)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&lt;sub&gt;讲师读图：任何单层检查都有孔洞。映射到本课就是测试、构建、日志、getter、截图/视频与同伴 Reviewer 叠加；只有多层证据对齐，才允许 PASS。图源：Anthropic《Demystifying Evals for AI Agents》。&lt;/sub&gt;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下一次拿到复杂需求，只问七个问题：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1. 哪些词会让实现分叉？</a:t>
            </a:r>
          </a:p>
          <a:p xmlns:a="http://schemas.openxmlformats.org/drawingml/2006/main">
            <a:r>
              <a:t>2. 最终真相在哪一层？</a:t>
            </a:r>
          </a:p>
          <a:p xmlns:a="http://schemas.openxmlformats.org/drawingml/2006/main">
            <a:r>
              <a:t>3. 哪些不变量绝不能破坏？</a:t>
            </a:r>
          </a:p>
          <a:p xmlns:a="http://schemas.openxmlformats.org/drawingml/2006/main">
            <a:r>
              <a:t>4. 本轮只允许 AI 改哪个边界？</a:t>
            </a:r>
          </a:p>
          <a:p xmlns:a="http://schemas.openxmlformats.org/drawingml/2006/main">
            <a:r>
              <a:t>5. 怎样先制造一个可解释的 RED？</a:t>
            </a:r>
          </a:p>
          <a:p xmlns:a="http://schemas.openxmlformats.org/drawingml/2006/main">
            <a:r>
              <a:t>6. 最早异常证据在哪里？</a:t>
            </a:r>
          </a:p>
          <a:p xmlns:a="http://schemas.openxmlformats.org/drawingml/2006/main">
            <a:r>
              <a:t>7. 什么证据满足后，本轮必须停止？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**一分钟迁移题**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&gt; 权限页面第一次进入数据为空，第二次进入正常。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每组必须用七问给出：一个最小只读勘察任务、一条可证伪假设、一项禁止修改范围和一个最终事实来源。不得直接回答“加延迟”或“页面初始化问题”。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6efadd361c40b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67652f33e4433d" /><Relationship Type="http://schemas.openxmlformats.org/officeDocument/2006/relationships/slideLayout" Target="/ppt/slideLayouts/slideLayout1.xml" Id="R822dda77a23549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2dda77a23549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c7d7213fec4711" /><Relationship Type="http://schemas.openxmlformats.org/officeDocument/2006/relationships/image" Target="/ppt/media/image.png" Id="R553c5bf9de604a11" /><Relationship Type="http://schemas.openxmlformats.org/officeDocument/2006/relationships/notesSlide" Target="/ppt/notesSlides/notesSlide1.xml" Id="R9c03f932895f4c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55316c1514df9" /><Relationship Type="http://schemas.openxmlformats.org/officeDocument/2006/relationships/notesSlide" Target="/ppt/notesSlides/notesSlide2.xml" Id="Rc957b3fef3464a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5e3f2648734b43" /><Relationship Type="http://schemas.openxmlformats.org/officeDocument/2006/relationships/image" Target="/ppt/media/image2.png" Id="Re80e608a287a40d0" /><Relationship Type="http://schemas.openxmlformats.org/officeDocument/2006/relationships/notesSlide" Target="/ppt/notesSlides/notesSlide3.xml" Id="Rb363f913e3b249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808704c8ce41aa" /><Relationship Type="http://schemas.openxmlformats.org/officeDocument/2006/relationships/notesSlide" Target="/ppt/notesSlides/notesSlide4.xml" Id="R967315b57321420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06a75ab624e44" /><Relationship Type="http://schemas.openxmlformats.org/officeDocument/2006/relationships/notesSlide" Target="/ppt/notesSlides/notesSlide5.xml" Id="R77047edc006442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2c368632947f6" /><Relationship Type="http://schemas.openxmlformats.org/officeDocument/2006/relationships/notesSlide" Target="/ppt/notesSlides/notesSlide6.xml" Id="R93aac88c49b143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5d9d286404ced" /><Relationship Type="http://schemas.openxmlformats.org/officeDocument/2006/relationships/notesSlide" Target="/ppt/notesSlides/notesSlide7.xml" Id="Rd253df9cbba64e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eea4bf51e4184" /><Relationship Type="http://schemas.openxmlformats.org/officeDocument/2006/relationships/notesSlide" Target="/ppt/notesSlides/notesSlide8.xml" Id="R3646c3306803495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a7cdcc75e4b23" /><Relationship Type="http://schemas.openxmlformats.org/officeDocument/2006/relationships/notesSlide" Target="/ppt/notesSlides/notesSlide9.xml" Id="R3605afb5fbf648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386a4f8cf48f7" /><Relationship Type="http://schemas.openxmlformats.org/officeDocument/2006/relationships/notesSlide" Target="/ppt/notesSlides/notesSlide10.xml" Id="Rbbdd03fd507a4c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17cd43401547a1" /><Relationship Type="http://schemas.openxmlformats.org/officeDocument/2006/relationships/notesSlide" Target="/ppt/notesSlides/notesSlide11.xml" Id="R5bac8981a7f34b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8e786fb894ea8" /><Relationship Type="http://schemas.openxmlformats.org/officeDocument/2006/relationships/notesSlide" Target="/ppt/notesSlides/notesSlide12.xml" Id="R3276830f7bcd4d6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522a3224a4194" /><Relationship Type="http://schemas.openxmlformats.org/officeDocument/2006/relationships/notesSlide" Target="/ppt/notesSlides/notesSlide13.xml" Id="R1da095f54ef0492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2c01a6d59445ad" /><Relationship Type="http://schemas.openxmlformats.org/officeDocument/2006/relationships/notesSlide" Target="/ppt/notesSlides/notesSlide14.xml" Id="R71a315dccb4e477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9123462004867" /><Relationship Type="http://schemas.openxmlformats.org/officeDocument/2006/relationships/notesSlide" Target="/ppt/notesSlides/notesSlide15.xml" Id="R5b0b66742a464c6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49b6a6a4049e8" /><Relationship Type="http://schemas.openxmlformats.org/officeDocument/2006/relationships/notesSlide" Target="/ppt/notesSlides/notesSlide16.xml" Id="R1be7e72f82224a5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8ff07f725464c" /><Relationship Type="http://schemas.openxmlformats.org/officeDocument/2006/relationships/notesSlide" Target="/ppt/notesSlides/notesSlide17.xml" Id="R2de194317fa4407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8ba1ef378046aa" /><Relationship Type="http://schemas.openxmlformats.org/officeDocument/2006/relationships/notesSlide" Target="/ppt/notesSlides/notesSlide18.xml" Id="Ra12eef03c7ca4de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d029775c3455f" /><Relationship Type="http://schemas.openxmlformats.org/officeDocument/2006/relationships/notesSlide" Target="/ppt/notesSlides/notesSlide19.xml" Id="Rfd6fa4833c524e4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41207a5dd4dc8" /><Relationship Type="http://schemas.openxmlformats.org/officeDocument/2006/relationships/image" Target="/ppt/media/image3.png" Id="Rc0bab7f50e6847bf" /><Relationship Type="http://schemas.openxmlformats.org/officeDocument/2006/relationships/notesSlide" Target="/ppt/notesSlides/notesSlide20.xml" Id="R4c2004b49d05423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082178d024049" /><Relationship Type="http://schemas.openxmlformats.org/officeDocument/2006/relationships/notesSlide" Target="/ppt/notesSlides/notesSlide21.xml" Id="R102cef8d4ffb47e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ee166eb2f4105" /><Relationship Type="http://schemas.openxmlformats.org/officeDocument/2006/relationships/image" Target="/ppt/media/image4.png" Id="R50c30d5946044d41" /><Relationship Type="http://schemas.openxmlformats.org/officeDocument/2006/relationships/notesSlide" Target="/ppt/notesSlides/notesSlide22.xml" Id="Rc2bea8a024e74bc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a27061c4094787" /><Relationship Type="http://schemas.openxmlformats.org/officeDocument/2006/relationships/image" Target="/ppt/media/image5.png" Id="R56a5eb70012342e8" /><Relationship Type="http://schemas.openxmlformats.org/officeDocument/2006/relationships/notesSlide" Target="/ppt/notesSlides/notesSlide23.xml" Id="R0541447f0ea2445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1aa51f4534b00" /><Relationship Type="http://schemas.openxmlformats.org/officeDocument/2006/relationships/image" Target="/ppt/media/image.jpeg" Id="Re1ac1fb0318b440c" /><Relationship Type="http://schemas.openxmlformats.org/officeDocument/2006/relationships/notesSlide" Target="/ppt/notesSlides/notesSlide24.xml" Id="R6d8a065b23604d0f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1533ee7fa249a4" /><Relationship Type="http://schemas.openxmlformats.org/officeDocument/2006/relationships/notesSlide" Target="/ppt/notesSlides/notesSlide25.xml" Id="R6d12550614544c9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2e9e090a17438f" /><Relationship Type="http://schemas.openxmlformats.org/officeDocument/2006/relationships/notesSlide" Target="/ppt/notesSlides/notesSlide26.xml" Id="R835ffcacca4d484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7b982b170b421c" /><Relationship Type="http://schemas.openxmlformats.org/officeDocument/2006/relationships/image" Target="/ppt/media/image6.png" Id="R7e876d62dec246a6" /><Relationship Type="http://schemas.openxmlformats.org/officeDocument/2006/relationships/notesSlide" Target="/ppt/notesSlides/notesSlide27.xml" Id="R11e5e2724f9249c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4beb2c5ad43d7" /><Relationship Type="http://schemas.openxmlformats.org/officeDocument/2006/relationships/image" Target="/ppt/media/image2.jpeg" Id="R8353e554d7fc4a43" /><Relationship Type="http://schemas.openxmlformats.org/officeDocument/2006/relationships/notesSlide" Target="/ppt/notesSlides/notesSlide28.xml" Id="Re6ea7bc849304bc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ba74476d6e472c" /><Relationship Type="http://schemas.openxmlformats.org/officeDocument/2006/relationships/notesSlide" Target="/ppt/notesSlides/notesSlide29.xml" Id="Rb2ed0ea4225a4a2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8585b4dcea4c20" /><Relationship Type="http://schemas.openxmlformats.org/officeDocument/2006/relationships/notesSlide" Target="/ppt/notesSlides/notesSlide30.xml" Id="R8a638e201eb14d19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42af91e134aee" /><Relationship Type="http://schemas.openxmlformats.org/officeDocument/2006/relationships/notesSlide" Target="/ppt/notesSlides/notesSlide31.xml" Id="R4aaaf054a87d42e1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6b12ce0b144e8" /><Relationship Type="http://schemas.openxmlformats.org/officeDocument/2006/relationships/notesSlide" Target="/ppt/notesSlides/notesSlide32.xml" Id="R5336207d6a6247c7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3634c962d14240" /><Relationship Type="http://schemas.openxmlformats.org/officeDocument/2006/relationships/notesSlide" Target="/ppt/notesSlides/notesSlide33.xml" Id="R576b4e68a05b456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f85f5d3a244923" /><Relationship Type="http://schemas.openxmlformats.org/officeDocument/2006/relationships/notesSlide" Target="/ppt/notesSlides/notesSlide34.xml" Id="R05f21654f82d4817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9f14d8cae141e8" /><Relationship Type="http://schemas.openxmlformats.org/officeDocument/2006/relationships/image" Target="/ppt/media/image3.jpeg" Id="R1daa3ef3d4894096" /><Relationship Type="http://schemas.openxmlformats.org/officeDocument/2006/relationships/notesSlide" Target="/ppt/notesSlides/notesSlide35.xml" Id="Rdfae3bd5d9f942e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7ce3f06e9c4dc8" /><Relationship Type="http://schemas.openxmlformats.org/officeDocument/2006/relationships/notesSlide" Target="/ppt/notesSlides/notesSlide36.xml" Id="R649a18374b394af0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0f19fa9a344401" /><Relationship Type="http://schemas.openxmlformats.org/officeDocument/2006/relationships/notesSlide" Target="/ppt/notesSlides/notesSlide37.xml" Id="R04b09d72b8a24be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ede6956a54e2b" /><Relationship Type="http://schemas.openxmlformats.org/officeDocument/2006/relationships/image" Target="/ppt/media/image4.jpeg" Id="Rf492102b5aa5429d" /><Relationship Type="http://schemas.openxmlformats.org/officeDocument/2006/relationships/notesSlide" Target="/ppt/notesSlides/notesSlide38.xml" Id="Rb5c06bad66454e61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c8d05f6434cd3" /><Relationship Type="http://schemas.openxmlformats.org/officeDocument/2006/relationships/image" Target="/ppt/media/image7.png" Id="R784ff6fd84724f19" /><Relationship Type="http://schemas.openxmlformats.org/officeDocument/2006/relationships/notesSlide" Target="/ppt/notesSlides/notesSlide39.xml" Id="Rf45b22bf2cee44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EC8434-1B67-40A2-B36F-CFA30B36E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000125"/>
            <a:ext cx="5143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97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HarmonyOS 复杂需求工程化实践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DB87D6-21BA-41D5-82E4-0E1ED5A3C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0250"/>
            <a:ext cx="4953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让 AI 不只是“写出代码”，而是完成可解释、可验证、可停止的一轮工程闭环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F99B43-3AE3-42B4-8501-8C45D121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CA64C-C85F-455A-AF43-DEE11C171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81350"/>
            <a:ext cx="47815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课程从一个人人都见过的现象开始：页面第一次进入为空，第二次却正常。先学会找事实，再进入两个真实工程案例。</a:t>
            </a:r>
          </a:p>
        </p:txBody>
      </p:sp>
      <p:pic>
        <p:nvPicPr>
          <p:cNvPr id="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3c5bf9de604a11"/>
          <a:srcRect xmlns:a="http://schemas.openxmlformats.org/drawingml/2006/main" l="10625" t="0" r="106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3125" y="952500"/>
            <a:ext cx="5667375" cy="4048125"/>
          </a:xfrm>
          <a:prstGeom xmlns:a="http://schemas.openxmlformats.org/drawingml/2006/main" prst="roundRect">
            <a:avLst>
              <a:gd name="adj" fmla="val 282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39DA9E-AF96-4D38-87A7-91A9B16A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952500"/>
            <a:ext cx="5667375" cy="4048125"/>
          </a:xfrm>
          <a:prstGeom xmlns:a="http://schemas.openxmlformats.org/drawingml/2006/main" prst="roundRect">
            <a:avLst>
              <a:gd name="adj" fmla="val 28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650D4-06CB-4FC8-BD62-2DD005649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67300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核心不是一次 Prompt，而是持续澄清目标、约束边界，并让每一步都能被证据推翻。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9528E1-DE34-4134-88FF-AB389430D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714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DDADE-B1BB-4010-B201-158C3354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现象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1F5DB9-2255-4496-9071-E7466C14E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5715000"/>
            <a:ext cx="1714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447DE6-CFA1-43B8-92F6-E6682309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77215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事实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228999-97A3-4A57-9F08-9DEC3528F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715000"/>
            <a:ext cx="1714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536962-2A7C-4B77-B116-385361E9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77215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规格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6CD4F4-8ACB-4B3A-8064-3A4C0042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715000"/>
            <a:ext cx="1714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2E8A8B-75D9-49B5-B027-31CF18C40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77215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7929AD-4847-4FFE-A11D-F507A960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715000"/>
            <a:ext cx="1714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2F6364-4920-4938-B241-0A12BCA7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77215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改动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38585D-81E1-442A-84A0-12B04EDAC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5715000"/>
            <a:ext cx="1714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6E6A5B-E2EA-4EAB-B4EB-FBAE4894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772150"/>
            <a:ext cx="1562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cxnSp>
        <p:nvCxnSpPr>
          <p:cNvPr id="95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286000" y="5976938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96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152900" y="5976938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97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6019800" y="5976938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98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886700" y="5976938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99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9753600" y="5976938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847C25-73E3-4C42-8640-759F7BECE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9407857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78DD79-F953-4189-BF16-8E0F34B5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01 课程地图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6982A-408F-4DCF-AF0B-ACFAD785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别急着改代码：先解释“第一次为空，第二次正常”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B087AC-C4D1-4B46-8E4A-8C05D2B4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AD58DE-04FE-4288-BA01-0B5DE9F92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C7B3BB-7B48-495D-AB58-8E56BA328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F06F1C-6CC8-44DD-B7DC-49C8D92D5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6BAAF0-0972-41A6-B357-C3DA3C43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28725"/>
            <a:ext cx="10687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“权限页面第一次进入数据为空，退出后第二次进入却正常。”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C8035D-C139-4F31-9CB3-3A6C1F1C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这句话只描述了现象，至少存在四种完全不同的实现原因：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032C66-B677-49B7-A6C3-1A9153D1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19375"/>
            <a:ext cx="495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A87CC6-9AC0-43F1-8F39-E6EC5A724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76525"/>
            <a:ext cx="480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  数据尚未返回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页面先渲染，异步结果稍后到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27FAEA-88CC-4BA2-8DCE-739AF5090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619375"/>
            <a:ext cx="495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28369A-627D-45D7-A3D7-9E2DE715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676525"/>
            <a:ext cx="480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  监听注册太晚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第一次事件已错过，第二次复用状态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C8E97E-81E3-4D76-ADB9-F9C0C4851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495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3436BB-EDEF-4F4E-BD54-ADEF1863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71900"/>
            <a:ext cx="480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3  缓存或单例残留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第二次读取的是上一轮结果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3007F2-9BDB-4EB2-8DC8-C5007A2D3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714750"/>
            <a:ext cx="4953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E373AE-3128-48C4-B846-19964099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3771900"/>
            <a:ext cx="480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4  刷新链没有触发</a:t>
            </a:r>
          </a:p>
          <a:p xmlns:a="http://schemas.openxmlformats.org/drawingml/2006/main">
            <a:pPr algn="l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事实已存在，但 ViewModel 没收到通知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D1B75E-981A-4C95-B437-B8AA39CE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197739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A55767-FE99-459D-B125-5F476373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53025"/>
            <a:ext cx="182499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稳定复现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C17ED1-F278-4F73-A010-6BF1D752B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" y="5095875"/>
            <a:ext cx="197739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C7E08E-3799-4488-A6E7-BD778EBB2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4665" y="5153025"/>
            <a:ext cx="182499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画时间线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0E02DB-0581-4DA6-A4B7-2C785698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7305" y="5095875"/>
            <a:ext cx="197739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7157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1472CD-34CA-417B-A2C3-763F7B73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05" y="5153025"/>
            <a:ext cx="182499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确认事实源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3211D7-3696-42AA-B263-9B083660E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6145" y="5095875"/>
            <a:ext cx="197739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1C8E9C-F6AE-4913-9496-7121A28C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2345" y="5153025"/>
            <a:ext cx="182499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定位最早异常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E45831-9DB5-4648-9A3C-7DA92F2C4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4985" y="5095875"/>
            <a:ext cx="1977390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BF8F1"/>
          </a:solidFill>
          <a:ln xmlns:a="http://schemas.openxmlformats.org/drawingml/2006/main" w="9525">
            <a:solidFill>
              <a:srgbClr val="2F8F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A450B5-6ECE-4AE9-8C8B-1ACBB8A0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1185" y="5153025"/>
            <a:ext cx="182499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只改一个边界</a:t>
            </a:r>
          </a:p>
        </p:txBody>
      </p:sp>
      <p:cxnSp>
        <p:nvCxnSpPr>
          <p:cNvPr id="120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787015" y="54197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21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4935855" y="54197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22" name=""/>
          <p:cNvCxnSpPr>
            <a:stCxn xmlns:a="http://schemas.openxmlformats.org/drawingml/2006/main" id="21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7084695" y="54197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23" name=""/>
          <p:cNvCxnSpPr>
            <a:stCxn xmlns:a="http://schemas.openxmlformats.org/drawingml/2006/main" id="23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233535" y="54197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543D873-6773-455F-B404-DA32777D8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953125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BF0083-0751-4224-A54A-80055298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991225"/>
            <a:ext cx="8496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不能直接回答“加延迟”。先证明第一次和第二次究竟差在哪一个事实。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C809D8C-7311-490D-9C63-0985F9B7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2487504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A3DF3D-55F8-4FC9-88E2-F7D20CACC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01 课程地图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9A9CAC-8B78-41CD-AC96-7703221D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AI 每轮只做一个可证伪闭环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F17BC8-7CDF-45F4-8F18-00B2A04B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729208-2606-4A09-A7C5-FB685E2D5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49C29-EC75-4CB8-B20D-53EBB916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3215F0-6538-4E30-B21A-57277920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161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45A85-3856-411E-BC31-E2D6FE85E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19275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Task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本轮唯一结果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19108B-C93D-4F8B-AB78-68B5A3354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62125"/>
            <a:ext cx="161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C84B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9AC33-E605-439D-B695-A9EB9220B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19275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RED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可解释失败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035F71-C71A-414C-9B43-2FE8DDE25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62125"/>
            <a:ext cx="161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7157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A90C79-7575-4F32-B949-249195F0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819275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最小 Diff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2F4AAB-001C-4FAA-90F2-5B70BC48A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762125"/>
            <a:ext cx="16192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C7A108-B093-4269-88FD-06637929B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819275"/>
            <a:ext cx="1466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Verify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窄测与回归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5B3FA2-3DAC-4C9C-B8FE-B0DCAF5C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762125"/>
            <a:ext cx="18097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BF8F1"/>
          </a:solidFill>
          <a:ln xmlns:a="http://schemas.openxmlformats.org/drawingml/2006/main" w="9525">
            <a:solidFill>
              <a:srgbClr val="2F8F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89F7E6-AE8C-4326-98F2-239A00D44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819275"/>
            <a:ext cx="1657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日志与系统事实</a:t>
            </a:r>
          </a:p>
        </p:txBody>
      </p:sp>
      <p:cxnSp>
        <p:nvCxnSpPr>
          <p:cNvPr id="96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81250" y="21050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97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476750" y="21050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98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572250" y="21050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99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8667750" y="21050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E6924CC-4FBD-4D2E-84CB-5810E6BB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43250"/>
            <a:ext cx="200025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923528-8783-4E6A-B8CF-C60B1808E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200400"/>
            <a:ext cx="18478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停止条件满足？</a:t>
            </a:r>
          </a:p>
        </p:txBody>
      </p:sp>
      <p:cxnSp>
        <p:nvCxnSpPr>
          <p:cNvPr id="102" name=""/>
          <p:cNvCxnSpPr>
            <a:stCxn xmlns:a="http://schemas.openxmlformats.org/drawingml/2006/main" id="14" idx="2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9239250" y="2447925"/>
            <a:ext cx="809625" cy="1057275"/>
          </a:xfrm>
          <a:prstGeom xmlns:a="http://schemas.openxmlformats.org/drawingml/2006/main" prst="bentConnector5">
            <a:avLst>
              <a:gd name="adj1" fmla="val 0"/>
              <a:gd name="adj2" fmla="val 21622"/>
              <a:gd name="adj3" fmla="val 71765"/>
            </a:avLst>
          </a:prstGeom>
          <a:ln xmlns:a="http://schemas.openxmlformats.org/drawingml/2006/main" w="19050">
            <a:solidFill>
              <a:srgbClr val="E26852"/>
            </a:solidFill>
            <a:prstDash val="solid"/>
            <a:tailEnd type="arrow" w="med" len="med"/>
          </a:ln>
        </p:spPr>
      </p:cxnSp>
      <p:cxnSp>
        <p:nvCxnSpPr>
          <p:cNvPr id="103" name=""/>
          <p:cNvCxnSpPr>
            <a:stCxn xmlns:a="http://schemas.openxmlformats.org/drawingml/2006/main" id="20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571625" y="2447925"/>
            <a:ext cx="5667375" cy="1057275"/>
          </a:xfrm>
          <a:prstGeom xmlns:a="http://schemas.openxmlformats.org/drawingml/2006/main" prst="bentConnector4">
            <a:avLst>
              <a:gd name="adj1" fmla="val 4034"/>
              <a:gd name="adj2" fmla="val 78378"/>
            </a:avLst>
          </a:prstGeom>
          <a:ln xmlns:a="http://schemas.openxmlformats.org/drawingml/2006/main" w="19050">
            <a:solidFill>
              <a:srgbClr val="E26852"/>
            </a:solidFill>
            <a:prstDash val="dash"/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91AAD0-C149-4866-A062-6F864A0C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否：回到 Task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77045A-2361-4165-8A54-2E7ED01D7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3528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是：提交结果</a:t>
            </a:r>
          </a:p>
        </p:txBody>
      </p:sp>
      <p:pic>
        <p:nvPicPr>
          <p:cNvPr id="1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0e608a287a40d0"/>
          <a:stretch xmlns:a="http://schemas.openxmlformats.org/drawingml/2006/main"/>
        </p:blipFill>
        <p:spPr>
          <a:xfrm xmlns:a="http://schemas.openxmlformats.org/drawingml/2006/main">
            <a:off x="666750" y="4429472"/>
            <a:ext cx="4000500" cy="1666181"/>
          </a:xfrm>
          <a:prstGeom xmlns:a="http://schemas.openxmlformats.org/drawingml/2006/main" prst="roundRect">
            <a:avLst>
              <a:gd name="adj" fmla="val 6486"/>
            </a:avLst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DDFB9C-0C7D-4BCB-85D7-CE58900D4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4000500" cy="1762125"/>
          </a:xfrm>
          <a:prstGeom xmlns:a="http://schemas.openxmlformats.org/drawingml/2006/main" prst="roundRect">
            <a:avLst>
              <a:gd name="adj" fmla="val 648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C5E21A-6FBD-418B-A32A-798BC397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381500"/>
            <a:ext cx="6286500" cy="1762125"/>
          </a:xfrm>
          <a:prstGeom xmlns:a="http://schemas.openxmlformats.org/drawingml/2006/main" prst="roundRect">
            <a:avLst>
              <a:gd name="adj" fmla="val 756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5491532-864B-4941-B680-5A6574C6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95800"/>
            <a:ext cx="598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rPr>
              <a:t>progress.md（外部记忆）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74B84E-F748-4EEE-B386-03F4937D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7815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CD0B9F-E616-4C9B-AF54-2EB4F1CD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857750"/>
            <a:ext cx="5981700" cy="1171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task_id / red_reason / diff_scope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verify_commands / evidence / verdict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4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4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next_task / stop_reason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DBF9BA8-CC90-4F17-837F-C91B74E5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9287767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A1B2D26-9B67-4443-8350-C1F93ABA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01 课程地图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0A57C5-AFB0-46E6-A6A1-5C441E321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复杂问题先拆成五层，两个案例都沿这条链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740C5-B268-45A2-85BF-1F83005A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924BF5-51D2-4EED-A219-1880D5F29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A4285-8168-4583-89C6-C41166D1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2E60AC-42C8-4818-8EFA-3C5E7649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38250"/>
            <a:ext cx="206883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A7468-7B7B-46AB-A9AA-E1A97EA0D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95400"/>
            <a:ext cx="191643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触发事实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发生了什么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366701-4C40-4B0F-98AD-E9A7B25F2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0355" y="1238250"/>
            <a:ext cx="206883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A4124A-10EB-4144-9CB5-BBA1DB83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555" y="1295400"/>
            <a:ext cx="191643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稳定快照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此刻真实状态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EEB94-26F9-4B72-9672-9D11FF49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1585" y="1238250"/>
            <a:ext cx="206883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7157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F6EE2D-9AD8-449F-93E1-F00ED76A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7785" y="1295400"/>
            <a:ext cx="191643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目标状态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应该变成什么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518173-7226-43F3-9BA7-D3DF5229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2815" y="1238250"/>
            <a:ext cx="206883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445A9A-F7C7-40C0-964A-75924F81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9015" y="1295400"/>
            <a:ext cx="191643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系统实际做了什么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A3D7F-D524-415D-AB7C-B33EC5D53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4045" y="1238250"/>
            <a:ext cx="206883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BF8F1"/>
          </a:solidFill>
          <a:ln xmlns:a="http://schemas.openxmlformats.org/drawingml/2006/main" w="9525">
            <a:solidFill>
              <a:srgbClr val="2F8F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9C42C4-2650-4CD5-A8A8-08F4EB964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0245" y="1295400"/>
            <a:ext cx="191643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系统证据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最终是否一致</a:t>
            </a:r>
          </a:p>
        </p:txBody>
      </p:sp>
      <p:cxnSp>
        <p:nvCxnSpPr>
          <p:cNvPr id="114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87955" y="1657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15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909185" y="1657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16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130415" y="1657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17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351645" y="1657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E50674-3F3B-4374-812E-FDDC39EE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24125"/>
            <a:ext cx="17373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0AAA0A-04BF-4DC1-A197-F5CC1AEA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15849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DEE8FF-69F1-4D51-9E76-95CDA5206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110" y="2524125"/>
            <a:ext cx="521208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8517E9-3733-42E7-A306-9CA53195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310" y="2571750"/>
            <a:ext cx="50596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必须回答的问题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BAF332-E105-4CDA-B196-73E4A97A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190" y="2524125"/>
            <a:ext cx="39090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18ECB1-6E7A-4452-9691-BF69F918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2571750"/>
            <a:ext cx="37566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可验证对象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A11FC2-8334-4703-B19C-E961F30A9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24175"/>
            <a:ext cx="173736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52D32EA-073A-4CAF-88B3-4935974EF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158496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触发事实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39580F-7F40-45EA-B8CA-B38467F5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110" y="2924175"/>
            <a:ext cx="521208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B87CA8-FBBD-41D6-9043-A36F7AB7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310" y="2971800"/>
            <a:ext cx="505968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这轮变化由什么事件或操作开始？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4E1960-B085-4E9F-94FF-7B31FE446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190" y="2924175"/>
            <a:ext cx="390906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CBFAEA-E261-40B8-92A3-98C94EE9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2971800"/>
            <a:ext cx="375666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事件源、时间戳、参数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A20588-F65B-4881-921F-8F34643F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7090"/>
            <a:ext cx="173736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9E57BD-0B42-40FC-B87B-87B18984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34715"/>
            <a:ext cx="158496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稳定快照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BAFC56-0C92-48FB-B4F7-6BA732147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110" y="3387090"/>
            <a:ext cx="521208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6EC77B1-B914-44E9-B112-7B2140BA7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310" y="3434715"/>
            <a:ext cx="505968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执行前的完整事实是什么？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B896B0-D810-44BE-8E52-E75A8A46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190" y="3387090"/>
            <a:ext cx="390906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6F0E705-9700-453D-8203-45FFB66C4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3434715"/>
            <a:ext cx="375666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 getter、列表、版本号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B58C8CC-E4A5-409B-A689-C179D4DB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0005"/>
            <a:ext cx="173736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C73CB34-C911-47DE-B258-E3DFB277F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97630"/>
            <a:ext cx="158496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目标状态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2FDFE2-F51A-4B66-A977-46A13A12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110" y="3850005"/>
            <a:ext cx="521208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7162112-80B6-422E-BEDC-28636DD91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310" y="3897630"/>
            <a:ext cx="505968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需求冻结后的期望结果是什么？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5335C6B-E90C-4D7B-B1AB-33C2E6C2F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190" y="3850005"/>
            <a:ext cx="390906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3B8205-71EF-4E89-9A6B-FC5745FC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3897630"/>
            <a:ext cx="375666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spec / ADR / 不变量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C1532B5-DA6E-40A9-BBCC-6EE5F9829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12920"/>
            <a:ext cx="173736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DFABC1-E8F3-442E-9663-DA094261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60545"/>
            <a:ext cx="158496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执行结果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951922E-3802-40EE-8F8D-C5540DD5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110" y="4312920"/>
            <a:ext cx="521208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B278FCE-2F8A-4AC0-AFAE-1F847DD1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310" y="4360545"/>
            <a:ext cx="505968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哪些写入成功、失败或需要补偿？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C37DF77-7A3A-4C13-879B-625AE7533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190" y="4312920"/>
            <a:ext cx="390906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ED840F9-F80F-4129-82F9-02BB10CE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4360545"/>
            <a:ext cx="375666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返回值、映射、事务边界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07F18D-6C4B-4352-BC9F-FC6336B2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75835"/>
            <a:ext cx="173736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6DEC916-603D-4A44-9F17-81DDC2F1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23460"/>
            <a:ext cx="158496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系统证据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68D6D2-AB0B-4E38-B29F-D96BDC1C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110" y="4775835"/>
            <a:ext cx="521208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3A839D7-85C2-4D0E-8DF0-A31D5F32A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0310" y="4823460"/>
            <a:ext cx="505968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最终事实是否与目标一致？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734F199-67ED-4FD1-83BB-CE5BE59E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6190" y="4775835"/>
            <a:ext cx="3909060" cy="4629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E3B1AD1-2C37-48A6-97A9-74FBE75C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2390" y="4823460"/>
            <a:ext cx="3756660" cy="3676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回读、日志、截图/视频、性能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2480EC-C345-47B7-B727-A3547787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76875"/>
            <a:ext cx="51435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07AEE6B-DB48-426A-AF76-A942BCC7D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38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案例一：多账号状态同步、失败补偿与 UI 事实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64F8829-7BD6-43C5-83AE-1671ABE66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76875"/>
            <a:ext cx="5143500" cy="60960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A38A494-E9D5-4E17-A112-3C506038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38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案例二：FreeRDP 卡顿路径、硬解穿刺与同帧证据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3B5EE64-2678-4D01-90A7-3EC40DBDE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6913083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8DF607-3D11-4793-B561-E673269B1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02 需求与规格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2B41C6-E241-4720-8291-3A6E72ACE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同一个现象，至少有四个事实边界不能靠猜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1BE2CA-5DBF-4365-BEE1-C1BE63C0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BFF93-F2DC-48D7-BB31-D35EBD713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5222DB-5966-4735-AFAE-4C0793E8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EDB58-672C-4A37-95EA-7E9CD629C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84F84-DE06-4665-BCA9-89437551C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228725"/>
            <a:ext cx="10687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“权限页面第一次进入为空，退出后第二次进入正常。”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C7EAD-DC04-4554-998B-20897D6BB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这句话只描述了现象，没有告诉我们下面四个事实。任何一项靠猜，都会走向不同实现。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FF707-86D8-43B8-92CD-EDF7FA1B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2476500" cy="2238375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3B1216-3B05-4F9C-A3F3-9A7426FC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1  数据来自哪里？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621B8C-D988-4D05-8DE6-D5E23D124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9D82F4-057D-44A2-AD73-9000EA99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页面缓存 / ViewModel 内存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业务 API / 系统 getter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0225FA-340B-4FC8-AC7B-89B9973C6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67000"/>
            <a:ext cx="2476500" cy="2238375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C9D5CE-2C9E-454B-9268-8606E8A09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7813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2  什么时候开始监听？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5168CF-531B-4639-A256-FC831950D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067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AE5307-94C8-48DB-AA9E-DF77A0CF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337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页面创建前 / 页面创建后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首次读取前 / 首次读取后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A241F1-DE7A-4A21-918C-A4F37008A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67000"/>
            <a:ext cx="2476500" cy="2238375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D500D8-3E1A-467D-9CD0-1BFD39D00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rPr>
              <a:t>3  什么时候算完成？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7E7F97-0047-46B4-92E2-A9D2BEA4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67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5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E755E5-806A-40D7-96E5-CE2E2354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337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调用返回 / 本地状态更新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系统回读与页面一致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6F35FE-2887-4A2B-A8E5-F201294EE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667000"/>
            <a:ext cx="2476500" cy="2238375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7157B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9B4858-AB5D-45CE-98E9-6D00C63A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78130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rPr>
              <a:t>4  失败时页面展示什么？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F7CFA4-A5DA-4091-AACD-49463D2A5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67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75CE687-E724-4471-A73F-117A4AE0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3337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空列表 / 旧状态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加载态 / 可重试错误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0BBCAD-F082-42AD-8FFB-74A836D0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381625"/>
            <a:ext cx="571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F2D11F-6D16-48E0-AF13-1A16A3C7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419725"/>
            <a:ext cx="9639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四个答案会同时改变监听顺序、状态模型、回归测试和最终证据。所以下一步不是设计，而是先把分叉变成选择题。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028686-2EFE-4951-BFBA-2F3E8F168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91210453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0895FC1-CEAD-43A7-9F6D-5C3392BCC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02 需求与规格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269DB-D4DA-480B-8328-8ED49D8A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AI 先把分叉列完整，人再冻结本轮语义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59CAA4-C863-4F46-86DB-EEC0D305C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7BCB20-EF02-406B-9F0A-99DC2D28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240F55-E635-4FB3-82DA-8907BE0A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2254A-EE8E-4587-ABD0-20CA7A97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AI 的职责：列出互斥答案、工程影响和危险假设。人的职责：关闭高影响 OPEN，冻结业务语义。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E76EE-D9C9-4B2E-8ACA-CA79183B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17678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62AA3A-46ED-4595-B45C-DEA20E8A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161544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待决策项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B6DBE-E293-4012-ABE8-5CFAF1A8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340" y="1809750"/>
            <a:ext cx="320421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8F62DB-674C-4072-A42D-FDB40C71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540" y="1857375"/>
            <a:ext cx="30518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列出的互斥答案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1E5B1-2358-489F-86BA-4E0DA0A2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809750"/>
            <a:ext cx="342519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F7301-DC7C-484B-BDFA-243604E8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57375"/>
            <a:ext cx="32727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本轮冻结答案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878947-8FD0-4363-84A1-2FE831F5D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740" y="1809750"/>
            <a:ext cx="265176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2D34BF-CC97-46F8-A298-1A1986D3D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4940" y="1857375"/>
            <a:ext cx="249936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直接影响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DE2EC9-5AA9-420E-AF3E-E4895FDB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176784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9817AC-5BF2-49CC-8740-0C1E8122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257425"/>
            <a:ext cx="161544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最终事实源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F37F30-2AB8-4250-B5C6-7C98B5E72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340" y="2209800"/>
            <a:ext cx="320421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65F0BC-49FE-4176-BE39-71F92420F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540" y="2257425"/>
            <a:ext cx="305181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缓存 / ViewModel / API / 系统 getter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99F218-F74D-4B20-8654-51A0249B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209800"/>
            <a:ext cx="342519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96E972-162D-496F-ADB8-169700161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57425"/>
            <a:ext cx="327279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 getter；ViewModel 只缓存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23EB13-BEAC-462A-88BB-4C2AE27E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740" y="2209800"/>
            <a:ext cx="265176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054ECC-1A2B-485E-BBF6-CFB05A17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4940" y="2257425"/>
            <a:ext cx="249936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状态所有权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09D1C7-6339-452B-8ABB-0B574DEBE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67038"/>
            <a:ext cx="176784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02E3AF-B249-44E1-9E5B-57D150E4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14663"/>
            <a:ext cx="161544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监听与首读顺序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6621AC-CF86-47EE-B6D4-8E86E156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340" y="2967038"/>
            <a:ext cx="320421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A55B014-387D-4E0D-97DD-293A26F4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540" y="3014663"/>
            <a:ext cx="305181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先读后监听 / 先监听后读取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A8818B5-F6C1-47B8-977F-F4AABCFF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967038"/>
            <a:ext cx="342519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760A1AA-C6A2-43F2-973A-117C640B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14663"/>
            <a:ext cx="327279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先建立监听，再发起首读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244F0D-1C35-40EB-BAA1-10FA2E59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740" y="2967038"/>
            <a:ext cx="265176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C5C33EB-4B76-4E49-92B3-9B58CFBC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4940" y="3014663"/>
            <a:ext cx="249936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是否丢失首次事件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5C7094-0B3F-4A96-8727-6748DE92D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24275"/>
            <a:ext cx="176784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EE20C1-43BB-4969-A343-5832A035A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71900"/>
            <a:ext cx="161544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未返回时的状态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7AA3B3-6BEF-4FD1-98DD-13160E4E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340" y="3724275"/>
            <a:ext cx="320421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A0A6CB-3B45-469D-939B-59FE4E14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540" y="3771900"/>
            <a:ext cx="305181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空列表 / 加载中 / 沿用旧值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315301-B9F4-4036-B48B-4B1EA8B8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724275"/>
            <a:ext cx="342519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1A9C62-EC33-4C8F-8BBD-8ED3E077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771900"/>
            <a:ext cx="327279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显示加载中，不把空当完成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14DE36-5A7E-4EF3-B66A-18144DF1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740" y="3724275"/>
            <a:ext cx="265176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D21F9E-AEBC-41C6-A6B9-2E9C225D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4940" y="3771900"/>
            <a:ext cx="249936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首次进入体验与测试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112246-5524-46DC-95B6-8F9C34BBE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81513"/>
            <a:ext cx="176784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95743C7-09F4-48D3-8D78-8B4F10E10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29138"/>
            <a:ext cx="161544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完成判定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EBA998-3139-4828-BCA5-3B5730420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340" y="4481513"/>
            <a:ext cx="320421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F99C607-B88B-4441-A1AE-9BA7B6C1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540" y="4529138"/>
            <a:ext cx="305181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调用返回 / 本地更新 / 系统回读一致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AAB3AA1-9CF1-4D04-9C89-0C2F67946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481513"/>
            <a:ext cx="342519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39E81BF-B249-4CD8-A4E0-96FE95EE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529138"/>
            <a:ext cx="327279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系统事实返回并刷新当前页面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9685072-ABFA-4E2B-B383-346B88C0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740" y="4481513"/>
            <a:ext cx="2651760" cy="75723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374DB7E-B96D-44BE-BF24-0BC02F8AA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4940" y="4529138"/>
            <a:ext cx="2499360" cy="661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验收证据与停止条件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A7F9502-46D2-4B4A-9BBA-6BE1DB46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72125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9A1985-4375-4039-85F5-DE1536D2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5610225"/>
            <a:ext cx="9163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仍然是 OPEN 的高影响问题不能交给 AI 开发；“AI 给了一个答案”不等于“产品语义已经决定”。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675CD5-DD3D-499A-B067-C813654B0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4927375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E01E60-0CD8-465D-BAD1-1190E23C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02 需求与规格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7907A7-4740-47C7-818D-C279C2B6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冻结后的答案，要改写成可以直接生成测试的规格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51E54-9F54-4171-B1B6-279697066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005A1-2F3C-48BB-B40E-F4D3D5E1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E2BD9-829B-4438-BABE-7AA770DEF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433B5-1419-4D0E-9B1C-7166FCDBD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3143250" cy="342900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55061-E05A-4930-9E65-A9F541B8D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304925"/>
            <a:ext cx="2838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rPr>
              <a:t>Before：只有现象，无法验收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508765-DF3D-4053-AA7A-449E5E4D3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906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B5CB0-09B5-4459-8BD0-E19698FC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955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第一次进入为空</a:t>
            </a:r>
          </a:p>
          <a:p xmlns:a="http://schemas.openxmlformats.org/drawingml/2006/main">
            <a:pPr algn="ctr">
              <a:buNone/>
              <a:def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第二次进入正常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7DB291-244D-4DEC-BD54-1B40224E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86125"/>
            <a:ext cx="2000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9074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缺少：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触发条件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等待状态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完成标准</a:t>
            </a:r>
          </a:p>
          <a:p xmlns:a="http://schemas.openxmlformats.org/drawingml/2006/main">
            <a:pPr algn="ctr">
              <a:buNone/>
              <a:def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失败分支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E7AEC-5056-463B-AEC0-D703B9D8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190625"/>
            <a:ext cx="733425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CE422-6BAC-4565-AD5B-0CDCF5D5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04925"/>
            <a:ext cx="702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After：教学用 EARS 规格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92C9E5-E87F-4597-9830-0B6E3E0BC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5906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5A93B2-2A12-46BF-93B9-97923D49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6668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WHEN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D34DB4-4A01-4907-940C-9106A86DF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668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首次进入权限页面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49B75C-E9F7-4A7E-AAAE-1B12F23E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240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WHILE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54AD9F-C66F-4321-8E9C-28435DCC0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240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系统事实尚未返回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4AD3EC-A0CF-4B84-A800-C0A6D93A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812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SHALL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7A1E3-36A8-4104-A062-3682243BF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812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显示加载态，不得把空列表提交为完成状态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CCB81E-5A42-430F-8A74-168D70AF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384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WHEN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31A5322-7D4A-4D02-9075-924D9C1E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384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系统事实返回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4CABC6-F8BA-4747-BECB-9F838F1F4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4956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SHALL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4DECA0-648F-4299-A2A6-5B4FBB0DE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956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在当前页面刷新，不要求退出后再次进入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38DA56-7434-4BEB-A76B-F260DED2D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52875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rPr>
              <a:t>IF / THEN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AFAD00-8063-4370-AB1C-8378D1BE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528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rPr>
              <a:t>超时或读取失败 → 显示可重试错误，并保留诊断证据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C5AFCF-CCD8-47B3-A2C7-217F41D33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3143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BF8F1"/>
          </a:solidFill>
          <a:ln xmlns:a="http://schemas.openxmlformats.org/drawingml/2006/main" w="9525">
            <a:solidFill>
              <a:srgbClr val="2F8F5B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64BC66-2E8F-4308-8968-7DA014FF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248275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T01  延迟返回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当前页面自动更新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931FFF-DC02-44BC-8069-60CCAF165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191125"/>
            <a:ext cx="3143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3782D4-13EF-4D6D-B03A-C98DA1E5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5248275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T02  事件先到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首次刷新不丢失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BF82095-5AB2-4CA8-A176-FAEC7FE9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191125"/>
            <a:ext cx="31432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C84B4B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380AB5-9B64-45C3-8CCC-F45D385FE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248275"/>
            <a:ext cx="2990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T03  读取超时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错误态 + 诊断证据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417C53-C3D8-4F28-B5E5-51595D382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91770169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DA7017-32C1-431B-BDAD-564D688D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02 需求与规格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3329E6-51B3-48F2-97F3-FE3652F3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满足四个准入条件后，才进入真实工程案例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CEE147-B2B8-49B1-B3B4-7CB49DFD9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BA516F-4A3E-4B6D-AB40-7E566162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4E0F1D-E3F5-4999-A1C6-CC3C42E7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FC69D1-731A-4F59-AB97-86072EAE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62050"/>
            <a:ext cx="1085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前四页建立方法，第 5–7 页完成澄清。进入真实案例前，必须交付下面四项可复查产物。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D49DA-0F9E-4F8E-A482-11749875E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476500" cy="2619375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01ACB-8879-4B1E-AA92-B9495D22D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145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1  事实时间线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F7802-0589-426E-B85C-2936E96C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830CE1-6E9F-4C09-86F2-006D980D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9875"/>
            <a:ext cx="2057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首次进入、事件到达、数据返回、页面更新分别发生在什么时候？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F7581B-4A2E-4E00-B918-814F84F7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00250"/>
            <a:ext cx="2476500" cy="2619375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F03652-2066-43D8-A022-9506EAF4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145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2  最终事实源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05871B-85E0-47FE-8053-53E236FC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003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E2F4B4-92DB-432F-BC80-0F2BB2D3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09875"/>
            <a:ext cx="2057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哪个 API / getter 能证明系统状态？UI 与缓存只属于哪一层？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A8C947-DF6D-4652-9AD9-3841444CF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476500" cy="2619375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7157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99F209-06DC-46DA-B192-A108F431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145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rPr>
              <a:t>3  可执行规格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8B9F7-4F54-488E-AD69-77FCD84C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003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8DEE6A-82AF-425C-82B8-A64DCA6B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09875"/>
            <a:ext cx="2057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WHEN / WHILE / SHALL / IF / THEN 已写清；高影响 OPEN 已关闭。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981A45-74D5-4E95-951A-0B813249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00250"/>
            <a:ext cx="2476500" cy="2619375"/>
          </a:xfrm>
          <a:prstGeom xmlns:a="http://schemas.openxmlformats.org/drawingml/2006/main" prst="roundRect">
            <a:avLst>
              <a:gd name="adj" fmla="val 5385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59D9FA-4816-46D7-A03B-79FDD856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114550"/>
            <a:ext cx="217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rPr>
              <a:t>4  第一张任务卡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891B97-AEDE-4EDE-9D84-1E13A9CE1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003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5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3F2025-ABFE-4230-85A8-6ADCBB56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09875"/>
            <a:ext cx="20574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唯一结果、Allowed / Forbidden、RED、Verify 与 Stop 已明确。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88E381-D5BE-48D3-A7C4-B7A1C739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286375"/>
            <a:ext cx="57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D4ECA2-261B-4077-B2CA-DB81AEF6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324475"/>
            <a:ext cx="9448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下一页开始进入真实案例：不再讨论“应该怎么猜”，而是用真实文档、代码、测试和设备证据验证这四项。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B8D52B-6516-4442-847E-0D1EF395B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74811482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6F7028B-8BF3-43C0-9BEE-1D97EEAF6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02 需求与规格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963AC-7A97-4670-A407-70931EEDF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MDM 案例要走完六个阶段，不能从需求图直接跳到代码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6395DE-1661-4D52-B110-8C129650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906B8A-FFD3-4788-8954-95451263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6B0B1-8B58-4B43-8D37-EC372A44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10B953-C270-4246-9088-09AC0CA89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38250"/>
            <a:ext cx="1746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64D7A-F84E-421B-B28D-C60AEEF02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95400"/>
            <a:ext cx="1593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 资产同步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58EDCE-E635-4AAC-B3CC-8953E3CF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2050" y="1238250"/>
            <a:ext cx="1746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C33730-9137-40B8-A29C-0EAB0C8B6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8250" y="1295400"/>
            <a:ext cx="1593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 方案推导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02328-3285-49A9-92D7-602C5EC2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600" y="1238250"/>
            <a:ext cx="1746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26380E-B849-4D7C-A619-5445367ED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800" y="1295400"/>
            <a:ext cx="1593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3 架构 RFC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F9F939-CEF9-4E5D-9F22-2091686D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238250"/>
            <a:ext cx="1746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2CAD6B-51AD-4D88-BE94-E474D3EDF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95400"/>
            <a:ext cx="1593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4 Story 拆分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27F70F-E672-4DBD-BDCA-37C1DEE8B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1238250"/>
            <a:ext cx="1746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4D3F9-2230-49E7-97A5-2F2E1718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900" y="1295400"/>
            <a:ext cx="1593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5 Ralph 迭代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29C02E-902D-465C-B43E-D2803FA8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4250" y="1238250"/>
            <a:ext cx="174625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DA254D-5A78-4E2A-9FA4-8305EF6E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0450" y="1295400"/>
            <a:ext cx="1593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6 测试验收</a:t>
            </a:r>
          </a:p>
        </p:txBody>
      </p:sp>
      <p:cxnSp>
        <p:nvCxnSpPr>
          <p:cNvPr id="128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17750" y="15525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29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178300" y="15525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30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038850" y="15525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31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899400" y="15525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32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759950" y="155257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EAB35F-E4CF-4014-B68A-BD0F5E82F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21717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87D2BE1-91E0-4361-BC6B-6C046DED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EF5AD1-CEC9-4331-9BAD-20C9FE922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304038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D32F612-F35C-4507-9E9E-5ADEB649A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86000"/>
            <a:ext cx="28879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生成文档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D21F85-DC8C-430B-AF86-9A0440B5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830" y="2238375"/>
            <a:ext cx="56464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F61265-408B-44BB-8DFC-531DCE8B4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030" y="2286000"/>
            <a:ext cx="549402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解决的问题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E80BBE-FE73-4B21-BAC4-2F2439913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38425"/>
            <a:ext cx="2171700" cy="52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DA9475-1C7E-43BE-B47E-06F68BC8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2019300" cy="4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资产同步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49AC3F-D1E4-478A-9BBB-A8D3555E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638425"/>
            <a:ext cx="3040380" cy="52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9A00DD-F031-434A-86CB-FB72F852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686050"/>
            <a:ext cx="2887980" cy="4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资产清单、术语表、冲突矩阵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27C4573-40B4-46D7-B0A4-1D6D73A3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830" y="2638425"/>
            <a:ext cx="5646420" cy="52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DB23A5C-5F93-4EC3-8A0D-6F9FA95E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030" y="2686050"/>
            <a:ext cx="5494020" cy="4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输入是否完整、一致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6B41D9D-0CB7-465C-9A76-1EDE60D1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59125"/>
            <a:ext cx="2171700" cy="52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51444A-E6D8-41E8-B238-1A020612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6750"/>
            <a:ext cx="2019300" cy="4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方案推导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B623BE-4149-4A4C-895C-C49089AE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159125"/>
            <a:ext cx="3040380" cy="52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62EBFE-0F36-4050-B663-F70601E4D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06750"/>
            <a:ext cx="2887980" cy="4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备选方案表、ADR、穿刺报告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ACDC42-EC7D-45E4-ACB2-3EF9FE85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830" y="3159125"/>
            <a:ext cx="5646420" cy="52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6821D81-06D2-4172-BB64-C38D4C2C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030" y="3206750"/>
            <a:ext cx="5494020" cy="4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为什么选这个方案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EF149A-0940-49C7-9497-6A2C5FAA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79825"/>
            <a:ext cx="2171700" cy="52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F16D71-D1FD-4667-9D2D-58046446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27450"/>
            <a:ext cx="2019300" cy="4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RFC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D7C981A-8178-4173-9D7D-45BA8C5E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79825"/>
            <a:ext cx="3040380" cy="52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C211A5-1865-42AF-84A4-C28E1939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27450"/>
            <a:ext cx="2887980" cy="4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架构、状态、不变量、失败语义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629B8DC-0E69-4950-8FE0-60722111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830" y="3679825"/>
            <a:ext cx="5646420" cy="52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04A893-6343-4A95-AAFE-12E063120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030" y="3727450"/>
            <a:ext cx="5494020" cy="4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系统应该怎样工作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AF7E0D6-4C9B-4F50-B171-AA410887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00525"/>
            <a:ext cx="2171700" cy="52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073B4D9-21F9-4BE3-A2BA-77EDC73C8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48150"/>
            <a:ext cx="2019300" cy="4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Story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3170A9-864D-43C9-8BF7-B381E521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200525"/>
            <a:ext cx="3040380" cy="52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42E75E-62F6-40CE-96EC-3CC3C7AF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48150"/>
            <a:ext cx="2887980" cy="4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Feature Map、Worker Packet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410693B-C5F0-4A75-8361-3CB2342AE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830" y="4200525"/>
            <a:ext cx="5646420" cy="52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8B9C826-74B8-4E13-BFBB-3F1B5ED9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030" y="4248150"/>
            <a:ext cx="5494020" cy="4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AI 每轮只做什么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05C4B9A-7403-4014-8DD7-C5206AF1E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1225"/>
            <a:ext cx="2171700" cy="52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FA1B1E1-DC7B-4E29-B452-378328FC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8850"/>
            <a:ext cx="2019300" cy="4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Ralph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7E9F752-402B-48CA-9909-9367A9AF0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721225"/>
            <a:ext cx="3040380" cy="52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5671A0E-124E-400C-929E-FD705A79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768850"/>
            <a:ext cx="2887980" cy="4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progress、evidence、iteration ledger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7783760-B1FA-4D95-A97E-500E2185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830" y="4721225"/>
            <a:ext cx="5646420" cy="52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D0FF3B1-A85F-44B8-8C42-013EAE94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030" y="4768850"/>
            <a:ext cx="5494020" cy="4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多轮如何不断线、不漂移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9DD5FED-C161-460E-9947-4D067A01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41925"/>
            <a:ext cx="2171700" cy="52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C7854E2-6C08-4838-B49C-8A823F40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89550"/>
            <a:ext cx="2019300" cy="4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验收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51439C6-03F8-4999-A4A4-120BEB4E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241925"/>
            <a:ext cx="3040380" cy="52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08147FA-424A-4A22-BF2A-5CADEEB4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289550"/>
            <a:ext cx="2887980" cy="4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acceptance report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D017F94-453F-4E4A-885A-665B6817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830" y="5241925"/>
            <a:ext cx="5646420" cy="52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53BBA97-D4CE-42E9-A4DB-4546EDD89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5030" y="5289550"/>
            <a:ext cx="5494020" cy="42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凭什么给 PASS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366E2C2-84CC-42D4-9358-8725DE31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53125"/>
            <a:ext cx="876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每一阶段都留下可复查文档，下一阶段只能引用已经冻结的事实。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B0B1F7A-75E2-4EC4-8E0C-43C9E8CC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0527411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EF2F71-A5D4-4C29-A383-5B7E3D6A0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03 架构与任务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E78898-BF48-4F00-94BF-CE2657F5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资产同步先建立来源和可信边界，不是把所有文件塞进上下文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1E29D-365C-4C17-A919-C0338B7F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BAD09-4A4F-4A57-81F6-0F358761B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29043D-EDA3-4397-9273-6D8299C4F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493814-8221-4DE9-A7DD-29ABCB926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2095500" cy="523875"/>
          </a:xfrm>
          <a:prstGeom xmlns:a="http://schemas.openxmlformats.org/drawingml/2006/main" prst="roundRect">
            <a:avLst>
              <a:gd name="adj" fmla="val 2181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C48F2-0202-473A-8D64-CFF666C5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43025"/>
            <a:ext cx="19431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项目真实资产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37A322-E05A-4C52-B7BB-41FB1E04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190625"/>
            <a:ext cx="3143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6B6EB2-8065-47E9-8DF4-471B0E17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247775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docs/00 原始 xlsx</a:t>
            </a:r>
          </a:p>
        </p:txBody>
      </p:sp>
      <p:cxnSp>
        <p:nvCxnSpPr>
          <p:cNvPr id="90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2762250" y="1457325"/>
            <a:ext cx="952500" cy="9048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F5966F-4194-4B0D-BE9F-72948A877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71675"/>
            <a:ext cx="3143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5271F0-5CFC-4FDA-877E-CA7980A7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028825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docs/01 UX</a:t>
            </a:r>
          </a:p>
        </p:txBody>
      </p:sp>
      <p:cxnSp>
        <p:nvCxnSpPr>
          <p:cNvPr id="93" name=""/>
          <p:cNvCxnSpPr>
            <a:stCxn xmlns:a="http://schemas.openxmlformats.org/drawingml/2006/main" id="6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762250" y="1547813"/>
            <a:ext cx="952500" cy="6905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0F9906-006C-49AB-8095-354CF5E5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752725"/>
            <a:ext cx="3143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C55D8-4A7D-4310-87F9-90208AF19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09875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docs/02 PRD / RFC</a:t>
            </a:r>
          </a:p>
        </p:txBody>
      </p:sp>
      <p:cxnSp>
        <p:nvCxnSpPr>
          <p:cNvPr id="96" name=""/>
          <p:cNvCxnSpPr>
            <a:stCxn xmlns:a="http://schemas.openxmlformats.org/drawingml/2006/main" id="6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2762250" y="1547813"/>
            <a:ext cx="952500" cy="14716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994C42-F931-4BE2-9E70-0A28F55E6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33775"/>
            <a:ext cx="3143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1A3DF9-712A-4537-A658-5284F40C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590925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docs/03 模块设计</a:t>
            </a:r>
          </a:p>
        </p:txBody>
      </p:sp>
      <p:cxnSp>
        <p:nvCxnSpPr>
          <p:cNvPr id="99" name=""/>
          <p:cNvCxnSpPr>
            <a:stCxn xmlns:a="http://schemas.openxmlformats.org/drawingml/2006/main" id="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2762250" y="1547813"/>
            <a:ext cx="952500" cy="22526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88DF76-DE35-4E1E-865D-6BCE8032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14825"/>
            <a:ext cx="3143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3CFC0B-D5B7-4C1C-8C04-EC90680B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71975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entry/src/main + test</a:t>
            </a:r>
          </a:p>
        </p:txBody>
      </p:sp>
      <p:cxnSp>
        <p:nvCxnSpPr>
          <p:cNvPr id="102" name=""/>
          <p:cNvCxnSpPr>
            <a:stCxn xmlns:a="http://schemas.openxmlformats.org/drawingml/2006/main" id="6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2762250" y="1547813"/>
            <a:ext cx="952500" cy="30337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2F4900-095B-4FC7-A9C4-6658BE97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95875"/>
            <a:ext cx="314325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8F1A62-7473-4D15-8CFF-26B035B8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153025"/>
            <a:ext cx="2990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scripts/e2e/cases/firewall</a:t>
            </a:r>
          </a:p>
        </p:txBody>
      </p:sp>
      <p:cxnSp>
        <p:nvCxnSpPr>
          <p:cNvPr id="105" name=""/>
          <p:cNvCxnSpPr>
            <a:stCxn xmlns:a="http://schemas.openxmlformats.org/drawingml/2006/main" id="6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2762250" y="1547813"/>
            <a:ext cx="952500" cy="381476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D70304-79F4-4F6F-B010-99D49DD8B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190625"/>
            <a:ext cx="3429000" cy="4953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FAFB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6B809C-176C-41D4-9DFF-DB7F044F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04925"/>
            <a:ext cx="312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rPr>
              <a:t>AI 对每类资产的工作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417866-F65D-488D-95D8-02FF424A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5906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C558B2-4422-42AF-B4CD-8BB1CCFE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809750"/>
            <a:ext cx="2857500" cy="3905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• 提取可定位事实与冲突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• 建立需求—设计—实现—测试追踪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• 只在证据不足处提出问题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• 不把 UI 截图冒充系统事实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• 不把旧文档直接当最终规格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AEA6E2-3FDA-43A7-8FA1-B3E16032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21551122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542B6A-99F5-4847-82A0-D50D36DC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03 架构与任务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07B28-153B-43E2-86FF-CF0BE29A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资产同步最有价值的产物，是把“AI 修正错了”也保留下来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A71C6E-EBA9-4CFA-B3B4-A2E0A051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943A9-C7A5-4948-BB57-AEFC36369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44180D-D8A8-48EC-A158-8D7C0588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77142D-3C3A-4BDD-AE9C-83E240F39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22098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6D4684-5520-47C2-8126-F89DE473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2057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来源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07FFE1-DEB6-42BD-AB61-6FB39611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1430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32E349-10ED-4102-B43D-1257EC663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190625"/>
            <a:ext cx="2609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对同一需求的表达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E8A903-846E-42EE-921A-1EDE66C7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2209800" cy="461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80972-5DD7-44A5-9066-2BE46B7C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90675"/>
            <a:ext cx="2057400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原始 Excel C4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7E253E-92FA-4EF3-ACA9-2F59C5C89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543050"/>
            <a:ext cx="2762250" cy="461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E47D3-07BD-42EB-B6EF-7B4D47D4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90675"/>
            <a:ext cx="2609850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公共、专用、自定义三种缺省配置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D19138-FC86-4682-808D-BE51E2F52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5013"/>
            <a:ext cx="2209800" cy="461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CD0172-768E-41FD-95A8-752DAC90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2638"/>
            <a:ext cx="2057400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AI 修正版 C4:E4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7B1527-FCA8-401B-A3A2-5DFDB0EE3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005013"/>
            <a:ext cx="2762250" cy="461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8A8D81-29E8-444D-9BC9-C7519D1C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52638"/>
            <a:ext cx="2609850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认为这是 Windows 概念，改成 IP/域名/DNS 三种规则类型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F772BF-4922-4293-A967-95784F128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66975"/>
            <a:ext cx="2209800" cy="461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A46AC8-CE5B-4802-8768-355639B2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14600"/>
            <a:ext cx="2057400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当前 PRD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273365-3A60-46C3-B5AF-F703CF44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66975"/>
            <a:ext cx="2762250" cy="461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7F8251-A49F-42EA-B22A-0EB036D8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514600"/>
            <a:ext cx="2609850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要求 public/private/custom 三种主模式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760C15-D57D-49D4-AB34-E1CF51FA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28938"/>
            <a:ext cx="2209800" cy="461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19C515-E700-4FBC-9040-ACA3C459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76563"/>
            <a:ext cx="2057400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当前模块设计/代码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D3BAB7-CEE6-4FDF-8F3D-776F3B39C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28938"/>
            <a:ext cx="2762250" cy="4619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15E125-0B96-45B2-BD34-ABCB309DF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76563"/>
            <a:ext cx="2609850" cy="366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同时存在主模式和 IP/DOMAIN/DNS 规则类型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F395974-6CA4-4FBE-981C-65B284CF5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0"/>
            <a:ext cx="3714750" cy="2190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BF29E9-E8BE-4DFE-B2C5-99F21099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3409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最终冻结：两个正交维度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F0EC3A-DA3F-444B-B80A-247E08BC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195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8EF819F-D0D2-464C-9D85-3B3EE6D5D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33875"/>
            <a:ext cx="1428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4982F7-ED00-43EA-B737-8D35179F6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91025"/>
            <a:ext cx="1276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957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模式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public / private / custom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D7C7C8-3D4F-4AD6-B004-A225CAC9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33875"/>
            <a:ext cx="1428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38B30A-DDCB-4322-9817-43610A99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391025"/>
            <a:ext cx="12763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规则类型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IP / DOMAIN / DNS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3AF7A5E-1850-46D4-907F-F2E33B29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19500"/>
            <a:ext cx="7048500" cy="2190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AF16D2-1E4D-4B32-913C-098D710DC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33800"/>
            <a:ext cx="6743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rPr>
              <a:t>代码锚点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448B73-F84F-4382-8850-71EDC693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195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21A13F-6D84-4DCF-9BA4-181403D1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95750"/>
            <a:ext cx="67437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51B0E98-EB68-4225-9DBE-BDDD82E9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4095750"/>
            <a:ext cx="67437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8037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主模式：public / private / custom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规则类型：IP / DOMAIN / DNS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97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// FirewallModels.ets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export type FirewallPresetMode = 'public' | 'private' | 'custom'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97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// 同一模型文件中的规则类型集合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RULE_IP / RULE_DOMAIN / RULE_DNS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97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// FirewallModeStrategy.buildRulesForMode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public  → buildPublicRules → 预置模板 × 当前账号集合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private → buildPrivateRules → 私网配置模板 × 当前账号集合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custom  → buildCustomRules → 既有 intent.targetUserIds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9998B8-DD2F-4D34-AE30-9111E9C6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72038147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1CBD48-0760-4A52-A006-80E2126D2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03 架构与任务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2E277-1ED3-42C8-ACF0-1BABF835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资产同步结束时，要生成一张能追到代码和测试的需求卡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996515-AE98-4A55-9CE9-21418380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6B8D9-F641-47D8-863D-58E14BF1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385CEE-7369-4742-88F4-DC2E409C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782367-1AAB-4CAD-B4C0-96024540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6667500" cy="4953000"/>
          </a:xfrm>
          <a:prstGeom xmlns:a="http://schemas.openxmlformats.org/drawingml/2006/main" prst="roundRect">
            <a:avLst>
              <a:gd name="adj" fmla="val 269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3F647-1072-41B5-9EF1-C25B238F8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636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rPr>
              <a:t>Requirement Card（YAML）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3A13D-4FA7-47CB-B00E-6D5100704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9F486-23BB-44CE-A0C3-DE0975B4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6362700" cy="436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requirement_id: FW-MODE-001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source: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原始需求清单.xlsx!Sheet1:C4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PRD.md#7.2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decision: 保留 public/private/custom 产品模式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implementation: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FirewallPage.ets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FirewallModeStrategy.ets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tests: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mode-strategy.test.ets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e2e/cases/firewall/mode_cards.json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conflict: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source: AI修正版.xlsx!Sheet1:C4:E4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resolution: 规则类型与主模式是两个维度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status: RESOLVED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110E75-DE83-49FE-B58C-3E1B32B9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143000"/>
            <a:ext cx="3810000" cy="4953000"/>
          </a:xfrm>
          <a:prstGeom xmlns:a="http://schemas.openxmlformats.org/drawingml/2006/main" prst="roundRect">
            <a:avLst>
              <a:gd name="adj" fmla="val 3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D9BF32-9C4F-4655-90A2-19D6BA783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2573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机器可检查的四道门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11373-A1A9-4984-B2DB-19193215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543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4BCC84-7AC8-4EC6-A0DB-EADAD4B3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09750"/>
            <a:ext cx="3143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FBDBDA-771A-4B55-8801-651ECDCA4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86690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  来源是否有坐标？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0A48BE-21F2-435D-94B2-828622B2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686050"/>
            <a:ext cx="3143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F40C67-D619-49B8-A548-CB82113F4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74320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  实现是否有代码锚点？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055E35-90A8-482F-87DA-31E065DDF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562350"/>
            <a:ext cx="3143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5FABA-D0D4-4EDA-B80E-E8A85D8B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361950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3  测试是否覆盖关键语义？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3D043F-2E0D-448D-97F6-5C82A9615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4438650"/>
            <a:ext cx="3143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1F0482-FC3A-4562-A60B-263BA2311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4495800"/>
            <a:ext cx="2990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4  结论是否超过证据？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4346B7-56B8-44B3-92B0-33DF9C62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53597347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72636A1-5EC4-4AFB-949F-B20E8FD4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03 架构与任务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C81F46-83DC-404F-9AC1-DE46CA0B5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方案推导先比较失败模式，再决定类和接口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81B35-CC42-4EA9-AB4F-AF63B0F8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2EEB1C-3C2D-4B0D-BA03-A9F241E9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5A9088-BD33-4E8A-B199-4AEEED565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E4B0A-6CCD-4F63-8A6D-DEFDC768D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88392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41B85-F865-435A-866B-6703789F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90625"/>
            <a:ext cx="73152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FDC16B-01FC-4291-97CE-D633862C9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" y="1143000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673A88-74CE-4EE1-9F45-D15F37F3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" y="1190625"/>
            <a:ext cx="2609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主要问题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6C6DBC-246B-4201-A2DB-2918162E2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670" y="1143000"/>
            <a:ext cx="320421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DB0BFD-2CE5-4165-B7F7-BE56D1BC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870" y="1190625"/>
            <a:ext cx="30518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BE480F-FDD6-4D9A-BC3F-5359EF22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43050"/>
            <a:ext cx="883920" cy="423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431131-EF96-4F7A-ABEB-5385638A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90675"/>
            <a:ext cx="73152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6944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Provider 读取后直接同步防火墙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47FB07-28F2-4231-817A-1FD192A6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" y="1543050"/>
            <a:ext cx="2762250" cy="423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560B1-7849-4035-B331-41DE42C79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" y="1590675"/>
            <a:ext cx="26098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真相源和副作用耦合，其他模块无法复用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D8FF6F-35AD-4309-8474-0A4D841E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670" y="1543050"/>
            <a:ext cx="3204210" cy="423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885A6B-1685-42C8-BA5C-7586EBC7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870" y="1590675"/>
            <a:ext cx="305181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拒绝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852C04-FA0C-41AA-8D8C-0CCEA1B8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66913"/>
            <a:ext cx="883920" cy="423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8F10CB-040B-4506-B066-739B65266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14538"/>
            <a:ext cx="73152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2981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直接使用事件里的账号 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38E559-40F6-4683-8EBB-3F74E5392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" y="1966913"/>
            <a:ext cx="2762250" cy="423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631404-353D-4D26-B6DD-AE2981358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" y="2014538"/>
            <a:ext cx="26098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不是完整集合，删除/并发语义不完整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295D7C-A84A-4F84-A042-79067BC5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670" y="1966913"/>
            <a:ext cx="3204210" cy="423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91BF7C-4725-4FD4-9820-2CDB2494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870" y="2014538"/>
            <a:ext cx="305181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拒绝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6AB0825-D497-41CF-97F7-513722268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90775"/>
            <a:ext cx="883920" cy="423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FF0E73-30A8-4B2E-B622-D5CC678B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38400"/>
            <a:ext cx="73152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2981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MainPage/页面重进强刷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3AF502-37BD-4B58-BD05-224F19B26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" y="2390775"/>
            <a:ext cx="2762250" cy="423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06612B-6129-4DFE-AE0D-63FB009F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" y="2438400"/>
            <a:ext cx="26098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UI 看似更新，系统 policy 仍可能错误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D39969-6794-4415-84F6-3F315692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670" y="2390775"/>
            <a:ext cx="3204210" cy="423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A92CD2-58B2-4E62-AA82-86789E9B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870" y="2438400"/>
            <a:ext cx="305181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拒绝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1B4D22-2E86-4542-BF00-83E59149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14638"/>
            <a:ext cx="883920" cy="423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1E36053-5057-4BA2-88AC-7708C72C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62263"/>
            <a:ext cx="73152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6944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Coordinator + 全量快照 + Handler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79605AC-C8F8-4F0E-B462-C53D4BA83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" y="2814638"/>
            <a:ext cx="2762250" cy="423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5B662BD-0AC6-4744-AB8F-BCB23D2B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1620" y="2862263"/>
            <a:ext cx="260985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真相源单一、可扩展、可测试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2B1737-EC96-4497-92BA-58E3F16BB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7670" y="2814638"/>
            <a:ext cx="3204210" cy="42386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B55427-A1DF-46D4-8F63-E1CAFB85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870" y="2862263"/>
            <a:ext cx="3051810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选择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DA7860C-7902-4D42-B323-4CF87666D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1085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选择：Coordinator + 全量快照 + Handler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7D0E93-4BE5-418E-9223-15F8EA44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62375"/>
            <a:ext cx="3314700" cy="3755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966774-89BE-40CC-BAB2-AC376015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0"/>
            <a:ext cx="3162300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决策问题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3A684F-B27B-49DC-A68D-F2FBFFA9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62375"/>
            <a:ext cx="3535680" cy="3755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2AA465-69E0-4AF1-9B47-DE3D715E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3810000"/>
            <a:ext cx="3383280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选中的代码责任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413BF1-0CD4-4594-A65F-66717269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3762375"/>
            <a:ext cx="4198620" cy="3755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AC2C594-8BEA-4FA1-9D5E-64EE93F3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810000"/>
            <a:ext cx="4046220" cy="280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为什么不放到别处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F2C159-058C-4631-A1FA-711381F4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137932"/>
            <a:ext cx="3314700" cy="3184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3398A2-3699-4173-8F76-774013CE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185557"/>
            <a:ext cx="3162300" cy="223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谁接事件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82BBC5C-4B9D-43AF-A0F1-E990F615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137932"/>
            <a:ext cx="3535680" cy="3184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C2E0C7-D29A-4B90-B18C-C73820B8C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185557"/>
            <a:ext cx="3383280" cy="223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EnterpriseAdminAbility.onAccountAdded/Removed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015CAF5-A8B5-442A-B78F-C22B8482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4137932"/>
            <a:ext cx="4198620" cy="3184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03366E2-E35D-42EB-AFB8-DA7A78056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185557"/>
            <a:ext cx="4046220" cy="223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这里只拿触发信号，不知道防火墙语义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C53F018-A56A-4EFA-B075-854BE2A15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56339"/>
            <a:ext cx="3314700" cy="3184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A5FF1A-BD6D-4761-9D33-BEBBFA7FC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03964"/>
            <a:ext cx="3162300" cy="223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谁读完整集合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7AAB766-F419-44EB-9371-D865BEF69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56339"/>
            <a:ext cx="3535680" cy="3184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52F0C5-A618-4182-A2CC-2D55553A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503964"/>
            <a:ext cx="3383280" cy="223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SystemUserProvider.loadAvailableUserIds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4F904D-1060-4822-B823-78E88F7F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4456339"/>
            <a:ext cx="4198620" cy="3184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7EC876-23EF-4B1F-AB9D-13C98B47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503964"/>
            <a:ext cx="4046220" cy="223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Provider 只读取事实，不产生副作用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59EB1A4-2F93-489B-A19A-EE6BA0A66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74746"/>
            <a:ext cx="3314700" cy="3184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849666D-4F4D-4803-A234-23A9AC75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22371"/>
            <a:ext cx="3162300" cy="223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谁处理时序/并发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C02AE5C-7EE0-4904-9907-155ACBDB8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774746"/>
            <a:ext cx="3535680" cy="3184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7DA00D5-C82A-49E0-81EF-26196250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4822371"/>
            <a:ext cx="3383280" cy="223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80119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AccountChangeCoordinator.schedule/runPending/loadStableSnapshot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B761F59-EE8A-40C1-96B6-0D7CBCF6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4774746"/>
            <a:ext cx="4198620" cy="3184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071DC35-7BC4-4714-A25E-DD38C43E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822371"/>
            <a:ext cx="4046220" cy="223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公共协调逻辑可复用，不绑定页面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9A2AC6-7ECD-4EDE-B065-982B001D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3154"/>
            <a:ext cx="3314700" cy="3184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B8A1718-EFA9-4EAE-B9E1-C5BF34B6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40779"/>
            <a:ext cx="3162300" cy="223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谁决定防火墙分支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99C181F-4D44-4B87-BA48-5BB701D40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093154"/>
            <a:ext cx="3535680" cy="3184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C3F53F9-B44C-431C-B32C-1A8A2CF0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140779"/>
            <a:ext cx="3383280" cy="223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FirewallAccountChangeHandler.handle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F6CDE07-893E-47B8-B777-993C9C3F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5093154"/>
            <a:ext cx="4198620" cy="3184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93B71AD-E86A-4CF0-B8AB-A5F419682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5140779"/>
            <a:ext cx="4046220" cy="223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public/private/custom 是模块业务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0E09556-7379-4E9E-85AB-365954046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11561"/>
            <a:ext cx="3314700" cy="3184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5C505A5-C467-4A90-ADBD-B7F5192E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59186"/>
            <a:ext cx="3162300" cy="223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谁写系统状态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22B1646-597B-4D26-93F5-02D4E2CDA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411561"/>
            <a:ext cx="3535680" cy="3184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A41FC24-6474-4DDE-BAD3-0CEB301ED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459186"/>
            <a:ext cx="3383280" cy="223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FirewallSystemRepository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05AB47C-BF60-4707-B48A-7DF9C4F7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5411561"/>
            <a:ext cx="4198620" cy="3184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DCA8E32B-7821-44AB-AD02-F494058E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5459186"/>
            <a:ext cx="4046220" cy="223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 MDM API 和错误封装在系统边界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FC60F53-B9A4-4E8B-96C5-B45A6B80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29968"/>
            <a:ext cx="3314700" cy="3184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52896F0-24AF-4237-ACD4-FE12BB7F5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7593"/>
            <a:ext cx="3162300" cy="223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谁刷新 UI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3CAD5A3-E43B-4F88-8889-1D8BFF27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729968"/>
            <a:ext cx="3535680" cy="3184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66FB06A-922D-4A5D-A870-810E48B1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5777593"/>
            <a:ext cx="3383280" cy="223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ApplicationRuntimeManager → ViewModel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94D485F-77F3-429B-A0F5-A8305A36C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1880" y="5729968"/>
            <a:ext cx="4198620" cy="3184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AD9975E-D28F-4631-871B-7AFDA59D0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5777593"/>
            <a:ext cx="4046220" cy="2231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只消费稳定事实，不承担修复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693B2CA-C6CF-43E4-BC91-0B5EEE215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5115205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E1716C3-4B98-453B-B2A6-94C09393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03 架构与任务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BAD634-32CF-4293-B689-60CBBA410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最小穿刺发现：事件已经到达，完整账号列表却仍是旧的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FBE412-FEFA-4F5E-95E4-420B8DA0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9405F1-B8D2-4185-82C2-645E8EBC4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2C03C-E67E-47B1-94BF-D914DB58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3333C-345D-4E8E-9C69-F21DF1FE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1285875"/>
          </a:xfrm>
          <a:prstGeom xmlns:a="http://schemas.openxmlformats.org/drawingml/2006/main" prst="roundRect">
            <a:avLst>
              <a:gd name="adj" fmla="val 10370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8941A-428F-40DB-A62D-3B36AB21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rPr>
              <a:t>失败时间线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9133E7-A1B9-4854-91E3-397ACAF5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950D07-4C81-4230-9FEA-E285A8D4B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19250"/>
            <a:ext cx="202311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4B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DFCB09-189A-4AAD-8721-538E5FB0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676400"/>
            <a:ext cx="18707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onAccountAdded(123)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247A40-9E5F-4383-9275-A40C1761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035" y="1619250"/>
            <a:ext cx="202311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4B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6E4AF0-D0CA-4F6B-88D9-D534FB9C2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3235" y="1676400"/>
            <a:ext cx="18707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首次 load [100,112,122]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7C5CB4-CF48-4A07-A5EE-9E8432490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4445" y="1619250"/>
            <a:ext cx="202311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4B4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36DE75-68B9-42DC-8AFF-6F5FF934F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0645" y="1676400"/>
            <a:ext cx="18707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signature unchanged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A7FD88-7502-44F2-8217-A335FBEF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855" y="1619250"/>
            <a:ext cx="202311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4B4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B8186C-EBF0-400B-AB03-BD49EF9F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8055" y="1676400"/>
            <a:ext cx="18707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旧逻辑 skip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CDCE56-4EE2-4C14-ABAB-00EA76F87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9265" y="1619250"/>
            <a:ext cx="202311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4B4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EB0BD5-274C-4E34-8742-AA96691FA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5465" y="1676400"/>
            <a:ext cx="18707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123 无 policy / rules</a:t>
            </a:r>
          </a:p>
        </p:txBody>
      </p:sp>
      <p:cxnSp>
        <p:nvCxnSpPr>
          <p:cNvPr id="143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832735" y="18764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44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970145" y="18764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45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107555" y="18764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46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244965" y="18764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4CD64F-1383-47E8-AD00-DF88EBCEE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110490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320E1C-EADB-4181-AFB0-D228E070B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真实函数链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7BD523-1973-4AC7-B2B7-818041101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943750-99FD-40E2-8A43-7ABB0DC8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190875"/>
            <a:ext cx="200787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8E5121-3097-40A5-B18D-1D82BE81F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48025"/>
            <a:ext cx="185547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EnterpriseAdminAbility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onAccountAdded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E6C851-A293-45BC-95CE-A4815EAF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0845" y="3190875"/>
            <a:ext cx="200787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A8203C-50F3-4EE0-ABD9-96B17B3CE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7045" y="3248025"/>
            <a:ext cx="185547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scheduleAccountReconcile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F9699E-55EF-4432-B75B-05CF817D9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2065" y="3190875"/>
            <a:ext cx="200787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4E4F78C-BD60-448D-8CA9-4404424F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8265" y="3248025"/>
            <a:ext cx="185547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Coordinator.schedule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runPending / runOnce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607EE3-923A-425C-8179-8341A8C5D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3285" y="3190875"/>
            <a:ext cx="200787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DF0625-A2E9-47CB-A3A6-4967E5F1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9485" y="3248025"/>
            <a:ext cx="185547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loadStableSnapshot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5A1352C-48BF-4E24-9339-50891629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4505" y="3190875"/>
            <a:ext cx="200787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0521E05-14E8-433C-953B-A1DD543CF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0705" y="3248025"/>
            <a:ext cx="185547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SystemUserProvider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getOsAccountLocalIds</a:t>
            </a:r>
          </a:p>
        </p:txBody>
      </p:sp>
      <p:cxnSp>
        <p:nvCxnSpPr>
          <p:cNvPr id="160" name=""/>
          <p:cNvCxnSpPr>
            <a:stCxn xmlns:a="http://schemas.openxmlformats.org/drawingml/2006/main" id="26" idx="3"/>
            <a:endCxn xmlns:a="http://schemas.openxmlformats.org/drawingml/2006/main" id="28" idx="1"/>
          </p:cNvCxnSpPr>
          <p:nvPr/>
        </p:nvCxnSpPr>
        <p:spPr>
          <a:xfrm xmlns:a="http://schemas.openxmlformats.org/drawingml/2006/main">
            <a:off x="2817495" y="35433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61" name=""/>
          <p:cNvCxnSpPr>
            <a:stCxn xmlns:a="http://schemas.openxmlformats.org/drawingml/2006/main" id="28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4958715" y="35433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62" name=""/>
          <p:cNvCxnSpPr>
            <a:stCxn xmlns:a="http://schemas.openxmlformats.org/drawingml/2006/main" id="30" idx="3"/>
            <a:endCxn xmlns:a="http://schemas.openxmlformats.org/drawingml/2006/main" id="32" idx="1"/>
          </p:cNvCxnSpPr>
          <p:nvPr/>
        </p:nvCxnSpPr>
        <p:spPr>
          <a:xfrm xmlns:a="http://schemas.openxmlformats.org/drawingml/2006/main">
            <a:off x="7099935" y="35433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63" name=""/>
          <p:cNvCxnSpPr>
            <a:stCxn xmlns:a="http://schemas.openxmlformats.org/drawingml/2006/main" id="32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9241155" y="35433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EF06CB-AAB3-44D1-857F-2FBCFDCB2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11049000" cy="1476375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45D05F-06DE-4AF5-8C0C-5F83A2F93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8630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rPr>
              <a:t>稳定门槛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7394069-FE26-4617-96A9-937F2F07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5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F96CA3E-3E9E-495B-A8B9-9EE0234E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95875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account-added  AND  trigger 已定义  AND  当前 IDs 不含 trigger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2281FC-F35E-4393-8C49-EFCD8E4B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000625"/>
            <a:ext cx="29527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4FF2D3B-C7F3-4C7D-8737-DBFEFDC4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57775"/>
            <a:ext cx="2800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等待 200 ms → 重试，最多 5 次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BC1B50-17C8-42E9-A5A9-372E3969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92894486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40581D-1030-4752-88F0-F57E414AB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03 架构与任务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F6960B-4807-4E68-8C75-11E61506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穿刺结束要形成 ADR：真相源、所有权和失败语义一次写清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B6560-6EFD-41E2-9F72-B2EA9D66A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7D9967-B506-4262-81EE-07779BFE6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5264A4-C566-495C-87AB-105CC938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0D5E1-C4A7-4D70-9CC3-2EC893151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90625"/>
            <a:ext cx="5000625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BD7AE7-2A57-4261-8DD5-AF7155CEA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04925"/>
            <a:ext cx="4695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ADR：首次冻结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7F6E7-7774-4BA7-B18F-D5A648FF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906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4861B-08C7-4C23-86CC-A0A9D875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4695825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question: 账号事件后以什么作为同步输入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selected: 稳定的完整账号快照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truth_source: SystemUserProvider.loadAvailableUserIds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trigger: EnterpriseAdminAbility account event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rejected: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直接使用事件 ID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Provider 内执行业务副作用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UI 强刷作为修复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failure_semantics: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empty_or_error: preserve local truth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added_not_visible: bounded retry, then incomplete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A042B-2BF4-4AC5-A33A-6848357AA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190625"/>
            <a:ext cx="5000625" cy="4762500"/>
          </a:xfrm>
          <a:prstGeom xmlns:a="http://schemas.openxmlformats.org/drawingml/2006/main" prst="roundRect">
            <a:avLst>
              <a:gd name="adj" fmla="val 28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7146F3-E648-49CB-BA9F-1A669D09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304925"/>
            <a:ext cx="46958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Reopen：新证据触发重开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65E4E-88F4-4D7A-8A0B-291658FCD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5906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7D1CE-5DEE-472A-ADD7-F136759FA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666875"/>
            <a:ext cx="4695825" cy="417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reopen_when: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getOsAccountLocalIds 在目标设备上长期不包含新增 ID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handler failure 需要自动重试或补偿队列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新模块需要与防火墙共享同一账号快照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设备证据证明 400/200/5 不满足稳定窗口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verification: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coordinator protocol UT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same-timeline device trace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policy/rules readback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451F23-424A-47D0-B6B2-091A1DBA8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334000"/>
            <a:ext cx="8477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4B4E60-C8BF-43A8-A6C5-445B8893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91150"/>
            <a:ext cx="695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冻结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3AB1B8-3F29-4CF3-8AAD-8E0235FC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5334000"/>
            <a:ext cx="8477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2A29BD-7992-4942-BBD3-870BB392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391150"/>
            <a:ext cx="695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发现反例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A1C502-48A9-4E0D-87A4-2A622EF66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334000"/>
            <a:ext cx="8477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0B007E-2F68-40B1-884A-BCD392E28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391150"/>
            <a:ext cx="695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记录影响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E32CB7-A9B6-4D28-B02C-90B5D550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334000"/>
            <a:ext cx="8477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BF8F1"/>
          </a:solidFill>
          <a:ln xmlns:a="http://schemas.openxmlformats.org/drawingml/2006/main" w="9525">
            <a:solidFill>
              <a:srgbClr val="2F8F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6349F9-5C9F-492C-98FA-0B3BFA79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5391150"/>
            <a:ext cx="6953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重开决策</a:t>
            </a:r>
          </a:p>
        </p:txBody>
      </p:sp>
      <p:cxnSp>
        <p:nvCxnSpPr>
          <p:cNvPr id="95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133975" y="558165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96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057900" y="558165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97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6981825" y="5581650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745B8E-E254-4208-872C-B16E21A4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36379224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7490539-2336-4C52-B00B-698F371F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03 架构与任务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FF5BE3-CF0E-439F-846E-55BE0451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RFC 不是一张架构图，而是范围、状态、不变量和失败语义的共同契约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947690-AF83-4DDC-9EE2-86C9238E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9FD7B-833F-4246-91A2-C76D58F0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6478A1-EAEA-4F59-B24D-A18D2EBF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3EC681-E81A-4457-ADCC-A6828588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7303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B017D4-224D-4A5D-B485-D36586C8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19200"/>
            <a:ext cx="1577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事实源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88F828-4B88-42C8-B428-EE16BD52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800" y="1162050"/>
            <a:ext cx="17303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A5F891-648B-47F6-9D51-D86A81C96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1219200"/>
            <a:ext cx="1577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状态模型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4DE9FF-0ADC-4F75-85AC-88B1D26A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162050"/>
            <a:ext cx="17303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7157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110DD6-DB1C-4C3E-8EAA-746630A41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675" y="1219200"/>
            <a:ext cx="1577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并发/时序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368DE-3240-4A5E-9159-3CC160A0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162050"/>
            <a:ext cx="17303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A0DF2-10CB-4CE0-9D84-08F76869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19200"/>
            <a:ext cx="1577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事务/补偿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EF09B4-E3C5-4B01-8795-89737B02E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825" y="1162050"/>
            <a:ext cx="17303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BF8F1"/>
          </a:solidFill>
          <a:ln xmlns:a="http://schemas.openxmlformats.org/drawingml/2006/main" w="9525">
            <a:solidFill>
              <a:srgbClr val="2F8F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D198F-9AB8-46C9-8B1A-2293CBEB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025" y="1219200"/>
            <a:ext cx="1577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可观测性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531B6E-45D4-473C-8FBE-2139558A3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1162050"/>
            <a:ext cx="1730375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8007C6-0B29-4CA3-AE76-48D8A793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1219200"/>
            <a:ext cx="15779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测试策略</a:t>
            </a:r>
          </a:p>
        </p:txBody>
      </p:sp>
      <p:cxnSp>
        <p:nvCxnSpPr>
          <p:cNvPr id="127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49500" y="144780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28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194175" y="144780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29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038850" y="144780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30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883525" y="144780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31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728200" y="144780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264B0E-3379-4242-A3FC-70D26C97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E183F1C-FC29-4032-8997-A47115B0D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2609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RFC 不变量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3F0F12-E9B5-474C-98A2-1F44386C6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43125"/>
            <a:ext cx="552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E9E162-1098-4180-B922-D30CA0D97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90750"/>
            <a:ext cx="5372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应检查的函数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EF093E-D1C4-4593-85E7-D0B99CEED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143125"/>
            <a:ext cx="2762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8F5CF0-EBDB-4FB1-821B-11709CD1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90750"/>
            <a:ext cx="2609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EBF87B-CB9D-485E-B073-40D62255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2762250" cy="56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3C61A1-A7AC-4B03-8D48-ADC13BDC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2609850" cy="47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事件不是完整真相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5627B4-231C-4CE5-8D39-E1C49E73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43175"/>
            <a:ext cx="5524500" cy="56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A6599B-5EC3-4806-8492-580E632E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90800"/>
            <a:ext cx="5372100" cy="47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onAccountAdded、loadStableSnapshot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068B81-B806-4AB7-A926-05861E8A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43175"/>
            <a:ext cx="2762250" cy="56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2214573-9788-4655-A8E6-1AB0C011C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590800"/>
            <a:ext cx="2609850" cy="47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直接 append trigger ID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2B77DF-A641-4CBA-AEE6-5478A9736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11500"/>
            <a:ext cx="2762250" cy="56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A0ECD6-4C02-4360-A4C0-0ADFE285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59125"/>
            <a:ext cx="2609850" cy="47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空集合不 prune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430C44-9AA7-4927-BF0A-8B11E789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11500"/>
            <a:ext cx="5524500" cy="56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42D7E4A-EFA4-4ED7-9EAA-CC34DB95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59125"/>
            <a:ext cx="5372100" cy="47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FirewallAccountChangeHandler.handle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482325-AAB9-4C07-8461-5689B8D1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11500"/>
            <a:ext cx="2762250" cy="56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33E712-A2CE-493E-ADA1-F6A57B6B1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159125"/>
            <a:ext cx="2609850" cy="47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users=[] 仍清理 intent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30ED06C-BD71-4842-BD41-D0BE82CB9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9825"/>
            <a:ext cx="2762250" cy="56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455ACA-2471-4BCC-8230-4CE780D71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7450"/>
            <a:ext cx="2609850" cy="47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public/private 对最新集合生效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EC42A0D-D029-4551-81A5-D9D8745B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79825"/>
            <a:ext cx="5524500" cy="56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549893-13DC-42A7-8E4A-36E5E780C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727450"/>
            <a:ext cx="5372100" cy="47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applyModeToUsers、buildRulesForMode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B004380-DEE7-4476-A1FC-801CA58F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79825"/>
            <a:ext cx="2762250" cy="56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8517D04-A1E3-459A-9A50-E72837CC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727450"/>
            <a:ext cx="2609850" cy="47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新 ID 未进入模板展开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9C567CC-3352-40B7-9388-EC5DF050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48150"/>
            <a:ext cx="2762250" cy="56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79FEFFA-42A4-47D6-8A88-89EB38911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95775"/>
            <a:ext cx="2609850" cy="47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custom 不扩历史规则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93B639-B554-4C57-AD53-9CBE641E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248150"/>
            <a:ext cx="5524500" cy="56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C49120-11AC-4F3C-9923-11220958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95775"/>
            <a:ext cx="5372100" cy="47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buildCustomRules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C81771E-69D4-43F1-8C8D-2EE914926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48150"/>
            <a:ext cx="2762250" cy="56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2C4C0D-D230-4E38-84F1-D8B11162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295775"/>
            <a:ext cx="2609850" cy="47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把新增 ID 注入旧 targetUserIds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D1649FE-1020-4EC6-8C7D-6187B0B0A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16475"/>
            <a:ext cx="2762250" cy="56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930A2D-DC2E-4A1D-A259-013DD021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64100"/>
            <a:ext cx="2609850" cy="47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失败不保存成功签名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D400C18-4A9F-4C76-B327-CBEF7D7CB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816475"/>
            <a:ext cx="5524500" cy="56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8C6925D-9F7D-47C3-9C24-BCEFA8331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864100"/>
            <a:ext cx="5372100" cy="47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saveModeApplyState、rollbackToSnapshot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28AD48E-F825-4238-8219-A99F6D64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16475"/>
            <a:ext cx="2762250" cy="56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8B198DB-059C-4C30-BBC8-61D4FE15C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864100"/>
            <a:ext cx="2609850" cy="47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部分写后 signature 残留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0760A29-71A3-4B47-8DDE-81DFD746E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4800"/>
            <a:ext cx="2762250" cy="56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8F06D58-A8B4-41E0-8E84-CC1778265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32425"/>
            <a:ext cx="2609850" cy="47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UI 不承担修复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E0E1996-6E39-4187-A56C-BC11E59D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384800"/>
            <a:ext cx="5524500" cy="56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D370E2F-B7E5-4AFA-8ABA-EBF6C01B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432425"/>
            <a:ext cx="5372100" cy="47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ApplicationRuntimeManager、ViewModel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9E7E40F-B697-4184-9019-4AC801ABB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384800"/>
            <a:ext cx="2762250" cy="568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039311B-EBCF-4BF6-AEC3-4A2F97368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5432425"/>
            <a:ext cx="2609850" cy="473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页面 onShow 触发业务下发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807597E-9801-4F14-9058-0E3536FAB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7581579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D20D464-ACC3-486D-A2C1-A13D3DE18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03 架构与任务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9BCA5-44AE-4C72-A2EF-FB8B11B1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RFC 要把抽象责任映射到真实文件，AI 才知道在哪一层修改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0F5AA-2BF5-4972-BF5C-189B6E8F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033C3-B850-42E7-BA58-5E68FEFE0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CAD6A7-6D53-46F6-9C33-16AC1E88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98EF7A-E715-4114-98F0-4504F359B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11049000" cy="166687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6F9278-B995-4BB1-87E3-5CDC9640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后台业务闭环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B039E-492A-4D0E-9B87-F41454678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E3D385-A586-40E9-9A54-DFE614FB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14500"/>
            <a:ext cx="1458686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25714-1D01-48C1-B71A-51A2E72FD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71650"/>
            <a:ext cx="1306286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onAccountAdded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0E1F2F-1324-4E45-9F79-2FB6EE5D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6886" y="1714500"/>
            <a:ext cx="1458686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1D0591-7834-4637-BC90-C0658FD2F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3086" y="1771650"/>
            <a:ext cx="1306286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schedule /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loadStableSnapshot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B4C488-4D44-4F6B-87E6-3C21E946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1771" y="1714500"/>
            <a:ext cx="1458686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4DFC54-B657-4B81-903E-34B848155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7971" y="1771650"/>
            <a:ext cx="1306286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getOsAccountLocalIds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3C16C1-A46A-475A-9252-4AB107DC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6657" y="1714500"/>
            <a:ext cx="1458686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94B3F-FA39-4E0D-95C5-EE3FEBEBD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2857" y="1771650"/>
            <a:ext cx="1306286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dispatchHandlers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1D619D-7581-4C0C-AC36-D94A4D4D3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1543" y="1714500"/>
            <a:ext cx="1458686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A8F3375-F088-4647-9AB0-FD533C801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7743" y="1771650"/>
            <a:ext cx="1306286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Firewall...Handler.handle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298BD8-06CD-4FBA-992E-F66D79B7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6429" y="1714500"/>
            <a:ext cx="1458686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66BB37-D987-4C81-90EE-1BA95609C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2629" y="1771650"/>
            <a:ext cx="1306286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pruneUnavailableUsers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FD3E01-301C-490E-8C6A-EC11B082D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1314" y="1714500"/>
            <a:ext cx="1458686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9E8293-B016-44E0-B668-F1A2EA8C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7514" y="1771650"/>
            <a:ext cx="1306286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custom：apply + save</a:t>
            </a:r>
          </a:p>
          <a:p xmlns:a="http://schemas.openxmlformats.org/drawingml/2006/main">
            <a:pPr algn="ctr">
              <a:buNone/>
              <a:defRPr sz="8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public/private：apply + rollback</a:t>
            </a:r>
          </a:p>
        </p:txBody>
      </p:sp>
      <p:cxnSp>
        <p:nvCxnSpPr>
          <p:cNvPr id="196" name=""/>
          <p:cNvCxnSpPr>
            <a:stCxn xmlns:a="http://schemas.openxmlformats.org/drawingml/2006/main" id="9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2220686" y="2047875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97" name=""/>
          <p:cNvCxnSpPr>
            <a:stCxn xmlns:a="http://schemas.openxmlformats.org/drawingml/2006/main" id="11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755572" y="2047875"/>
            <a:ext cx="7619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98" name=""/>
          <p:cNvCxnSpPr>
            <a:stCxn xmlns:a="http://schemas.openxmlformats.org/drawingml/2006/main" id="13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5290457" y="2047875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99" name=""/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825343" y="2047875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200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8360229" y="2047875"/>
            <a:ext cx="762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201" name=""/>
          <p:cNvCxnSpPr>
            <a:stCxn xmlns:a="http://schemas.openxmlformats.org/drawingml/2006/main" id="19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9895115" y="2047875"/>
            <a:ext cx="7619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5FF334-B12B-4B31-A63B-FD58F380B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11049000" cy="1381125"/>
          </a:xfrm>
          <a:prstGeom xmlns:a="http://schemas.openxmlformats.org/drawingml/2006/main" prst="roundRect">
            <a:avLst>
              <a:gd name="adj" fmla="val 9655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BB05E3-DA41-46EE-B8CD-1E860F1C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14675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前台 UI 闭环（跨进程事实）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A1D827A-107C-4371-85BB-51845C29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0042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5D374AC-8064-4B63-AE17-33911533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76625"/>
            <a:ext cx="198501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7B799B7-2931-48B1-8AD9-BC5F74E8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3533775"/>
            <a:ext cx="18326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publishSnapshot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FE8BD38-61EA-41FA-8646-747C17AE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4185" y="3476625"/>
            <a:ext cx="198501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D358075-F713-4ED2-8732-94B41453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0385" y="3533775"/>
            <a:ext cx="18326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commonEventManager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publish / subscribe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1779A3E-273B-4D82-99DD-FACE61464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3495" y="3476625"/>
            <a:ext cx="198501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24D010-7BE8-4A21-9FC2-D06CA634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9695" y="3533775"/>
            <a:ext cx="18326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AccountRuntimeService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A7C595-3A73-4B8A-ABEE-7BBAE4C4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805" y="3476625"/>
            <a:ext cx="198501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958DB68-7A8A-4F77-B5D4-E517A8B4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9005" y="3533775"/>
            <a:ext cx="18326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ApplicationRuntimeManager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63646AF-54C3-4791-80CE-2D9D6F08A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2115" y="3476625"/>
            <a:ext cx="198501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3BE0F1E-1DE8-4A6D-8AF0-5BB33163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8315" y="3533775"/>
            <a:ext cx="183261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FirewallRulesViewModel</a:t>
            </a:r>
          </a:p>
          <a:p xmlns:a="http://schemas.openxmlformats.org/drawingml/2006/main">
            <a:pPr algn="ctr">
              <a:buNone/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refreshForAccountChange</a:t>
            </a:r>
          </a:p>
        </p:txBody>
      </p:sp>
      <p:cxnSp>
        <p:nvCxnSpPr>
          <p:cNvPr id="215" name=""/>
          <p:cNvCxnSpPr>
            <a:stCxn xmlns:a="http://schemas.openxmlformats.org/drawingml/2006/main" id="32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2889885" y="373380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216" name=""/>
          <p:cNvCxnSpPr>
            <a:stCxn xmlns:a="http://schemas.openxmlformats.org/drawingml/2006/main" id="34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4989195" y="373380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217" name=""/>
          <p:cNvCxnSpPr>
            <a:stCxn xmlns:a="http://schemas.openxmlformats.org/drawingml/2006/main" id="36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7088505" y="373380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218" name=""/>
          <p:cNvCxnSpPr>
            <a:stCxn xmlns:a="http://schemas.openxmlformats.org/drawingml/2006/main" id="38" idx="3"/>
            <a:endCxn xmlns:a="http://schemas.openxmlformats.org/drawingml/2006/main" id="40" idx="1"/>
          </p:cNvCxnSpPr>
          <p:nvPr/>
        </p:nvCxnSpPr>
        <p:spPr>
          <a:xfrm xmlns:a="http://schemas.openxmlformats.org/drawingml/2006/main">
            <a:off x="9187815" y="3733800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2F50B0-F6EB-4528-87AF-BE106606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114800"/>
            <a:ext cx="1057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API 锚点：getPolicy → getNetFirewallPolicy   ·   setPolicy → setNetFirewallPolicy   ·   listRules → getNetFirewallRules   ·   addRule → addNetFirewallRule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18F30D-D0BE-42F6-B20E-E8025ED65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9625"/>
            <a:ext cx="3683000" cy="282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218716B-CFDB-4BB2-BDC9-FC77D059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67250"/>
            <a:ext cx="3530600" cy="187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310870-C689-4F16-A5C9-BE0F68C6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4619625"/>
            <a:ext cx="3683000" cy="282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12CE8A6-BF30-4C7B-8505-366DFE85E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4667250"/>
            <a:ext cx="3530600" cy="187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所有者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360C615-8ECF-429B-94D6-FA6B0C159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500" y="4619625"/>
            <a:ext cx="3683000" cy="28297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C6AB405-2FA8-405E-B44A-7863B61B0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4667250"/>
            <a:ext cx="3530600" cy="187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什么时候更新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2D0498D-2FF5-4E85-B7B5-79E5DDA8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02597"/>
            <a:ext cx="3683000" cy="238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E133D99-0645-4065-A2FF-E64F6943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950222"/>
            <a:ext cx="3530600" cy="143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8370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previousUserIds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89864AB-F677-4140-8630-E877596E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4902597"/>
            <a:ext cx="3683000" cy="238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6C986D1-E9DC-4DA0-86D8-523750B17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4950222"/>
            <a:ext cx="3530600" cy="143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8370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Coordinator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6933229-3953-4D4D-92CB-93662FEB0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500" y="4902597"/>
            <a:ext cx="3683000" cy="238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DE5F054-AA60-4069-BD6D-105B3BBE9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4950222"/>
            <a:ext cx="3530600" cy="143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8370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快照稳定后、Handler 分发前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EADF2FA-DC48-4963-A734-02FC75C95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141278"/>
            <a:ext cx="3683000" cy="238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3F7E0F2-FDFE-4EF9-9EF4-40E18BA5B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8903"/>
            <a:ext cx="3530600" cy="143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8370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desiredEnabled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BE9D168-D872-48AA-A3C1-CBF8D689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5141278"/>
            <a:ext cx="3683000" cy="238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4B80F56-DB8C-4DAA-B48B-3C827CA2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5188903"/>
            <a:ext cx="3530600" cy="143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8370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LocalRepository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FC445F2-2571-40DC-9C66-4E4A5791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500" y="5141278"/>
            <a:ext cx="3683000" cy="238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AE86229-2869-471F-958C-5F77BECF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188903"/>
            <a:ext cx="3530600" cy="143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8370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总开关成功后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4406B40-3709-4E4D-9D52-F78AC9C94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79958"/>
            <a:ext cx="3683000" cy="238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9412817-F8F3-4AA9-BFE2-202FFF233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7583"/>
            <a:ext cx="3530600" cy="143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8370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lastAppliedMode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F95DE71-DAF0-472E-B923-C72D35E5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5379958"/>
            <a:ext cx="3683000" cy="238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E87A89C-E959-4AC3-A86E-2D52D5D8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5427583"/>
            <a:ext cx="3530600" cy="143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8370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LocalRepository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F64B4E8-C297-4EC9-9458-DCD63B9EB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500" y="5379958"/>
            <a:ext cx="3683000" cy="238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BCCBE91-F511-4F2E-A8E3-61463F4B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427583"/>
            <a:ext cx="3530600" cy="143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8370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本地提交阶段写入；当前非原子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0924733-99F1-46DF-A832-42637803D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8639"/>
            <a:ext cx="3683000" cy="238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570EEF4-FE33-489B-A8E8-921D0EAD3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6264"/>
            <a:ext cx="3530600" cy="143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8370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lastAppliedUserIdsSignature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09085AB-7823-4D85-9F1D-890BB6782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5618639"/>
            <a:ext cx="3683000" cy="238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4FE1CA6-ECBA-46B6-AF3C-51F0B0A89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5666264"/>
            <a:ext cx="3530600" cy="143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8370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LocalRepository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C1D63DB-AEFE-4E53-89F9-3CCE7757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500" y="5618639"/>
            <a:ext cx="3683000" cy="238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F8FAACD-BF51-4234-9ED9-FDA7670D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666264"/>
            <a:ext cx="3530600" cy="143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8370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幂等门；当前需检查部分写风险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C7A0081-0B7A-4587-AC1C-43638005B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57319"/>
            <a:ext cx="3683000" cy="238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4B2D021-0364-4827-8667-C5711793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04944"/>
            <a:ext cx="3530600" cy="143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8370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intents/deployments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048757F-DD82-4888-B221-0FA64D4F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4500" y="5857319"/>
            <a:ext cx="3683000" cy="238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7D5D3D4-55BF-499C-8A4C-E0BE4206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0700" y="5904944"/>
            <a:ext cx="3530600" cy="143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8370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LocalRepository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F738A84-CD8A-48E9-8B99-3FEDFCB9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7500" y="5857319"/>
            <a:ext cx="3683000" cy="23868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C1467DB5-1962-4D72-8136-61D46277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3700" y="5904944"/>
            <a:ext cx="3530600" cy="1434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8370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系统规则成功建立并保存映射后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D2C24E26-8DE4-49CD-BE66-5FA406E9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33946520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4DAB080-2922-4FFB-B31F-A525F18A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03 架构与任务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AFE1D-FB3F-411E-9018-3F9CFDD9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Feature 按“可独立证明的能力”拆成六个 Story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FB6748-FBEB-4948-9094-E4705819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F0543-A33D-48F1-88EC-E3085DD1D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67041-6262-4249-B6BF-166CA3802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209108-971D-4279-B795-AFEEB7514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162050"/>
            <a:ext cx="1730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2EB9B-F418-4F38-8A59-A441543A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1219200"/>
            <a:ext cx="1577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S1 事实源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03B423-E833-4E08-BA95-063C8264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800" y="1162050"/>
            <a:ext cx="1730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6F6565-C695-4095-9D19-3CE833AC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000" y="1219200"/>
            <a:ext cx="1577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S2 状态模型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9AB6F-3830-4DB9-B18D-F9DA36A0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75" y="1162050"/>
            <a:ext cx="1730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E3EE48-52F8-40F6-A7A9-A2EFBB55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4675" y="1219200"/>
            <a:ext cx="1577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S3 协调器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6FDA4C-CC49-41F2-8B0A-7004AD83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162050"/>
            <a:ext cx="1730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90873B-F27E-40BF-AB66-190D0AB3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219200"/>
            <a:ext cx="1577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S4 签名/幂等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5BFBDB-B60E-47D7-B5C6-BEEC1602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7825" y="1162050"/>
            <a:ext cx="1730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50F924-8B4A-445E-8C5E-C4DD6D1F0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025" y="1219200"/>
            <a:ext cx="1577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S5 补偿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0E62AB-188E-44EB-B2A8-C1E6580F6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2500" y="1162050"/>
            <a:ext cx="173037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936B80-A5F1-423B-B9C0-0678FAAB6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8700" y="1219200"/>
            <a:ext cx="15779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S6 UI 事实</a:t>
            </a:r>
          </a:p>
        </p:txBody>
      </p:sp>
      <p:cxnSp>
        <p:nvCxnSpPr>
          <p:cNvPr id="129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349500" y="1457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30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194175" y="1457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31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038850" y="1457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32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883525" y="1457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33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728200" y="1457325"/>
            <a:ext cx="1143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EE641B-56E5-4B1C-8DEF-B724039B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43125"/>
            <a:ext cx="132588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80AF7E-21B8-4B1E-A42E-3ADFC0A9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90750"/>
            <a:ext cx="117348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Story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87A06D-B56F-4B26-8682-206331D5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380" y="2143125"/>
            <a:ext cx="408813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855FAB-37FF-48C3-814D-A25783C7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580" y="2190750"/>
            <a:ext cx="393573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主要函数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249522-B824-431A-AEE3-4178A5B3A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10" y="2143125"/>
            <a:ext cx="563499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9A81C1C-19C0-43EE-9BF3-CF8C011FB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710" y="2190750"/>
            <a:ext cx="548259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独立 oracle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21176D-7D52-4DF0-A028-CA32C502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43175"/>
            <a:ext cx="13258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060A445-721B-4D76-9C4E-4291FC941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90800"/>
            <a:ext cx="11734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S1 Provider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E87060-29FF-4C5D-A866-8817D81F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380" y="2543175"/>
            <a:ext cx="408813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5EA518-CF21-413E-8459-15CAC45A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580" y="2590800"/>
            <a:ext cx="393573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loadAvailableUserIds / normalizeUserIds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F1DD5A7-AB11-493F-980C-71CF4F7A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10" y="2543175"/>
            <a:ext cx="56349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C952F70-0E4F-40A2-89AE-19CA7ABBF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710" y="2590800"/>
            <a:ext cx="54825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去重、排序、前台标识、失败空态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02F020-39E1-42AD-9EA8-2F06319CC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0375"/>
            <a:ext cx="13258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DADEC6-039C-4F0B-ACEF-C2BF7571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48000"/>
            <a:ext cx="11734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S2 本地清理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CD9AA5-DBE0-4D0E-9719-C228F6025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380" y="3000375"/>
            <a:ext cx="408813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20EABB6-09E9-45DC-B875-46533CCAA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580" y="3048000"/>
            <a:ext cx="393573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pruneUnavailableUsers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DDB0130-F43E-4A42-96E4-8DE32C214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10" y="3000375"/>
            <a:ext cx="56349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B435067-16E7-4259-9B66-4F3266774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710" y="3048000"/>
            <a:ext cx="54825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intent/deployment/policy history 同步删失效 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167EF10-B9A5-4AD0-950D-47D21CEB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57575"/>
            <a:ext cx="13258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C597E6-2185-4250-AFE3-AFFF07561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05200"/>
            <a:ext cx="11734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S3 协调与 Handler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FC745C-4212-456E-9984-B0A789D8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380" y="3457575"/>
            <a:ext cx="408813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DD2450E-491F-49D3-804B-BB5F5BA3E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580" y="3505200"/>
            <a:ext cx="393573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schedule / runPending / dispatchHandlers / handle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CE3E46-E01F-4A5E-9B02-63387A87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10" y="3457575"/>
            <a:ext cx="56349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1B0D388-DB05-435A-A1F4-5274EA95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710" y="3505200"/>
            <a:ext cx="54825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防抖、串行、模块分支与失败汇总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367C3A7-82C2-4387-AFCD-EF3E07ED8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14775"/>
            <a:ext cx="13258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41810B-8B41-4F50-9E50-86D78E23F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962400"/>
            <a:ext cx="11734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S4 跨进程消费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5AA43FF-A3E9-4E11-9E42-313C2217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380" y="3914775"/>
            <a:ext cx="408813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B3904C-0565-45AE-8839-25D6F8F85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580" y="3962400"/>
            <a:ext cx="393573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publishSnapshot / subscribe / refreshForAccountChange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8F2CDDB-E964-40BF-A3BE-3BA0FB4A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10" y="3914775"/>
            <a:ext cx="56349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F08159B-735E-40C5-9B66-E6F16187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710" y="3962400"/>
            <a:ext cx="54825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稳定事实只经一条运行时链消费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FD4AEC-A292-422A-A09F-58F8DB79C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13258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61DF08-B780-4ECF-B5F1-255A38A39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19600"/>
            <a:ext cx="11734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S5 稳定快照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40551F-51FE-4495-846E-311BCCD8A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380" y="4371975"/>
            <a:ext cx="408813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D734753-3B85-41B2-A293-ACA35B485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580" y="4419600"/>
            <a:ext cx="393573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loadStableSnapshot / shouldWaitForAddedAccount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65BD9F4-7B10-4655-823F-41798B07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10" y="4371975"/>
            <a:ext cx="56349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C9C8344-25D1-4EBF-873F-C1444676D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710" y="4419600"/>
            <a:ext cx="54825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old→new、never-visible、removed 三组计数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15EAD5D-9242-4363-A735-EE3DF1F7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132588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2739DC9-D2A8-42B0-9EE4-0ABA3EFD1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76800"/>
            <a:ext cx="11734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S6 custom 签名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622CC5D-09B3-483E-808D-1F2C3FE38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7380" y="4829175"/>
            <a:ext cx="408813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ADA1927-E3FF-4FFD-94F8-34F34385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3580" y="4876800"/>
            <a:ext cx="393573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applyPolicyForMode / saveModeApplyState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7DAA7E4-DC0E-4B08-B525-AE70D918F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10" y="4829175"/>
            <a:ext cx="563499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D078DE5-067F-4B20-B948-4BE42F51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1710" y="4876800"/>
            <a:ext cx="54825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不重放旧规则；保存失败返回 false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138AD53-BF26-47C9-9F59-119CD41B7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72125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047C68F-DCFC-46CF-AC1A-D131CAD9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610225"/>
            <a:ext cx="992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Reviewer 只把真实缺口拆成下一轮候选：S7 事务原子性 / S8 真机证据 / S9 长稳回归。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561C299-A369-431A-BD86-1A658E769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2337165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0DCCB1-0AE4-41E4-9953-1B31CD42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04 Ralph 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8E8B5E-A692-4407-9804-DE6C4C5C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Worker Packet 把一个 Story 变成新 Session 可以直接执行的任务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49F5A-3BF1-48FC-81AB-94564E78E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C4818-B41A-4D0A-AB3D-15C20CF8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AD0ADB-D693-455E-9FD3-62D4D925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41C57E-5359-44E1-A5E9-805891632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43000"/>
            <a:ext cx="9906000" cy="4953000"/>
          </a:xfrm>
          <a:prstGeom xmlns:a="http://schemas.openxmlformats.org/drawingml/2006/main" prst="roundRect">
            <a:avLst>
              <a:gd name="adj" fmla="val 269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7C8635-09C9-467E-905C-D81DE6DCC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257300"/>
            <a:ext cx="9601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S5 Worker Packet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EF1C9A-453E-42F1-9EBF-25148091C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543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E9A28-6C70-4A67-8AAE-64E87C57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1619250"/>
            <a:ext cx="9601200" cy="436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story_id: FW-ACCOUNT-S5-STABLE-SNAPSHOT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goal: 只分发包含 triggerAccountId 的稳定快照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allowed_paths: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防火墙模块设计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AccountChangeCoordinator.ets::loadStableSnapshot/shouldWaitForAddedAccount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account-change-coordinator.test.ets::old→new/never-visible/removed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forbidden: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FirewallPage.ets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Provider 内业务副作用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acceptance: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old_then_new: query=2, handler=1, publish=1, signature=100,122,123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never_visible: query=6, handler=0, publish=0, success=false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removed: query=1, handler=1, publish=1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stop: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repeated_failure_without_new_evidence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- need_to_modify_forbidden_path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BBC5F-6716-41E3-B1FF-4565D3D5E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3200315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082AD6-A33C-459E-9176-65E054E9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04 Ralph 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8865BC-9006-4486-AF13-9127D447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Ralph 不是无限循环，而是“一个 Story、一份外部记忆、一组停止条件”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C79075-4970-4440-BB29-C4EC1415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F0A356-AF7F-4426-8C39-84FAE7C1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34BC94-654F-46F6-880A-1CB53005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40252A-A34B-421D-B76F-227FC489D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24000"/>
            <a:ext cx="1619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590D86-B131-4391-95BB-CAC44B78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811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读取 Task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04A25-A128-4B33-89E2-1C114F866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524000"/>
            <a:ext cx="1619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C84B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FE958-4AA5-4513-BF78-121AF672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5811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制造 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002AC-2E54-47B0-8FA8-B68DFC7D7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524000"/>
            <a:ext cx="1619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7157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1AEC7-3A46-4343-927B-7470E7EF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5811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最小 Diff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98B5BA-3010-4BC0-AA33-AC16875E7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524000"/>
            <a:ext cx="1619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DD74F5-427D-443D-8173-EFCBE2B5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5811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窄测 / 回归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92589F-F572-4DAE-B460-9224CBD6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161925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BF8F1"/>
          </a:solidFill>
          <a:ln xmlns:a="http://schemas.openxmlformats.org/drawingml/2006/main" w="9525">
            <a:solidFill>
              <a:srgbClr val="2F8F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0F1F43-5935-4592-85F5-C6328DB7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2415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写 progress</a:t>
            </a:r>
          </a:p>
        </p:txBody>
      </p:sp>
      <p:cxnSp>
        <p:nvCxnSpPr>
          <p:cNvPr id="85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76500" y="18097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7C8"/>
            </a:solidFill>
            <a:prstDash val="solid"/>
            <a:tailEnd type="arrow" w="med" len="med"/>
          </a:ln>
        </p:spPr>
      </p:cxnSp>
      <p:cxnSp>
        <p:nvCxnSpPr>
          <p:cNvPr id="86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762500" y="18097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7C8"/>
            </a:solidFill>
            <a:prstDash val="solid"/>
            <a:tailEnd type="arrow" w="med" len="med"/>
          </a:ln>
        </p:spPr>
      </p:cxnSp>
      <p:cxnSp>
        <p:nvCxnSpPr>
          <p:cNvPr id="87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048500" y="180975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677C8"/>
            </a:solidFill>
            <a:prstDash val="solid"/>
            <a:tailEnd type="arrow" w="med" len="med"/>
          </a:ln>
        </p:spPr>
      </p:cxnSp>
      <p:cxnSp>
        <p:nvCxnSpPr>
          <p:cNvPr id="88" name=""/>
          <p:cNvCxnSpPr>
            <a:stCxn xmlns:a="http://schemas.openxmlformats.org/drawingml/2006/main" id="12" idx="2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7048500" y="2095500"/>
            <a:ext cx="1476375" cy="857250"/>
          </a:xfrm>
          <a:prstGeom xmlns:a="http://schemas.openxmlformats.org/drawingml/2006/main" prst="bentConnector5">
            <a:avLst>
              <a:gd name="adj1" fmla="val 0"/>
              <a:gd name="adj2" fmla="val 26667"/>
              <a:gd name="adj3" fmla="val 84516"/>
            </a:avLst>
          </a:prstGeom>
          <a:ln xmlns:a="http://schemas.openxmlformats.org/drawingml/2006/main" w="19050">
            <a:solidFill>
              <a:srgbClr val="1677C8"/>
            </a:solidFill>
            <a:prstDash val="solid"/>
            <a:tailEnd type="arrow" w="med" len="med"/>
          </a:ln>
        </p:spPr>
      </p:cxnSp>
      <p:cxnSp>
        <p:nvCxnSpPr>
          <p:cNvPr id="89" name=""/>
          <p:cNvCxnSpPr>
            <a:stCxn xmlns:a="http://schemas.openxmlformats.org/drawingml/2006/main" id="14" idx="1"/>
            <a:endCxn xmlns:a="http://schemas.openxmlformats.org/drawingml/2006/main" id="6" idx="2"/>
          </p:cNvCxnSpPr>
          <p:nvPr/>
        </p:nvCxnSpPr>
        <p:spPr>
          <a:xfrm xmlns:a="http://schemas.openxmlformats.org/drawingml/2006/main" flipH="1" flipV="1">
            <a:off x="1666875" y="2095500"/>
            <a:ext cx="3762375" cy="85725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E26852"/>
            </a:solidFill>
            <a:prstDash val="dash"/>
            <a:tailEnd type="arrow" w="med" len="med"/>
          </a:ln>
        </p:spPr>
      </p:cxn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bab7f50e6847bf"/>
          <a:stretch xmlns:a="http://schemas.openxmlformats.org/drawingml/2006/main"/>
        </p:blipFill>
        <p:spPr>
          <a:xfrm xmlns:a="http://schemas.openxmlformats.org/drawingml/2006/main">
            <a:off x="1054725" y="3667125"/>
            <a:ext cx="3224550" cy="2238375"/>
          </a:xfrm>
          <a:prstGeom xmlns:a="http://schemas.openxmlformats.org/drawingml/2006/main" prst="roundRect">
            <a:avLst>
              <a:gd name="adj" fmla="val 5106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D4DECF-45D3-461B-97EC-E2CAEBDE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67125"/>
            <a:ext cx="4191000" cy="2238375"/>
          </a:xfrm>
          <a:prstGeom xmlns:a="http://schemas.openxmlformats.org/drawingml/2006/main" prst="roundRect">
            <a:avLst>
              <a:gd name="adj" fmla="val 510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20AE93-5F3D-4704-B290-AB91AF28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667125"/>
            <a:ext cx="6572250" cy="2238375"/>
          </a:xfrm>
          <a:prstGeom xmlns:a="http://schemas.openxmlformats.org/drawingml/2006/main" prst="roundRect">
            <a:avLst>
              <a:gd name="adj" fmla="val 595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D78884-01AC-4B34-BA7F-F40E91255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81425"/>
            <a:ext cx="6267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真实执行脚本 + progress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F49F36-DC11-4837-8D45-9DCEC324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0671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6E2848-9656-4560-8378-88828D5E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143375"/>
            <a:ext cx="626745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350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取一个 Ready Story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读取 AGENTS + RFC + Worker Packet + progress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只在 allowed paths 内执行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运行该 Story 的测试/检查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Reviewer 对照 AC、Diff、证据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写回 PASS / FAIL / UNKNOWN 和下一步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新上下文开始下一 Story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1 Read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AGENTS.md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03-防火墙账号同步RFC.md#核心不变量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Worker Packet S5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2 Inspect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git show 4b372d0d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AccountChangeCoordinator.loadStableSnapshot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account-change-coordinator.test.ets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3 Verify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python scripts/check_docs_consistency.py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hvigorw test --mode module -p product=default -p module=entry@default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4 Review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allowed paths 是否越界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old→new / never-visible / removed 是否逐条满足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是否发现新的 RFC 缺口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5 Write back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status / evidence / discovered_gaps / next_story / stop_reason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100836-1F38-4931-A3CB-07D83209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14301125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9A81DB68-97B0-42B2-A71F-CA869DD9F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04 Ralph 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9AF0D-1497-484B-9EBA-AD3C7982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真实项目经历了九轮收敛，每一轮都暴露下一层未知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5D7BAD-419E-4BC9-8083-B6766F65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DB58B-A83D-42F3-8957-59F1095D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7FCE7E-9A33-4808-B2A9-167C41E3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75E6A0-EDB0-4578-BDC2-7CD531B65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04900"/>
            <a:ext cx="89154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0B10BC-DC1F-4125-BBEF-9321B1C3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152525"/>
            <a:ext cx="73914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轮次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387A6-3826-43D7-AE80-6A5CADC6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" y="1104900"/>
            <a:ext cx="133731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897DA6-991B-4685-B02B-37888051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" y="1152525"/>
            <a:ext cx="118491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6172D7-470D-4AD3-BE84-82E460CD3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104900"/>
            <a:ext cx="200596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0CEF17-2252-4FD2-B387-1FC707FA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152525"/>
            <a:ext cx="185356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本轮结果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4B4843-E2AC-46E6-8F80-EFCC83CE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8690" y="1104900"/>
            <a:ext cx="690943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F064B-F301-4E2F-B393-701CA3AE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890" y="1152525"/>
            <a:ext cx="675703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新暴露的问题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E6FCA8-9F8D-40AF-B8C6-61C8DE08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04950"/>
            <a:ext cx="891540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E29FC9-9974-4A65-B08C-64DDD68BC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552575"/>
            <a:ext cx="739140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71940-F54E-4413-9C70-8A3B9E522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" y="1504950"/>
            <a:ext cx="1337310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1D79A8-E24D-4C92-B962-F2D46E9A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" y="1552575"/>
            <a:ext cx="1184910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9ea957d2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E7E1D6-8D08-4A5F-8C85-432EA58B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504950"/>
            <a:ext cx="200596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3A15FC-2965-4813-9297-144BAD76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552575"/>
            <a:ext cx="1853565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账号枚举统一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ECDC6B-7F23-4738-AE5E-37013067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8690" y="1504950"/>
            <a:ext cx="690943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9E877C9-D361-4AA2-908D-3D465164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890" y="1552575"/>
            <a:ext cx="6757035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还没有事件同步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252C9A-307C-4AB2-998E-9BD8D9678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15583"/>
            <a:ext cx="891540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424AFC-3074-43B5-95D8-43D93EA34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63208"/>
            <a:ext cx="739140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1CBC68-4B75-4DCD-9C3D-8F9B959F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" y="1915583"/>
            <a:ext cx="1337310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C60750-6443-4EE2-969C-B9C7D165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" y="1963208"/>
            <a:ext cx="1184910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09209bb9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CD355D-5BF7-4CDD-847F-B25392C2D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1915583"/>
            <a:ext cx="200596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DCCAE6-A2A9-4D90-85F7-B0E155539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1963208"/>
            <a:ext cx="1853565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本地清理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FBE32A-E92E-4D35-BDB2-DB88B1BBC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8690" y="1915583"/>
            <a:ext cx="690943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516F55A-4FFC-473B-A558-58150BC3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890" y="1963208"/>
            <a:ext cx="6757035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缺统一协调入口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0B6341-6662-4BE0-BE84-967814E6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26217"/>
            <a:ext cx="891540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8A2C443-DFF4-4B9F-9357-27C23AB9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373842"/>
            <a:ext cx="739140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26DBBF-EC81-4D5C-A51D-007BB4001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" y="2326217"/>
            <a:ext cx="1337310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099849-21D8-455C-B217-60AE6E9A5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" y="2373842"/>
            <a:ext cx="1184910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94ff17e7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EED2C01-B556-4077-A085-A289721D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326217"/>
            <a:ext cx="200596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59F88B-5749-4C80-B81A-2668660EE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373842"/>
            <a:ext cx="1853565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Coordinator/Handler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11BB66A-B743-4AB1-A5C4-075C3A804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8690" y="2326217"/>
            <a:ext cx="690943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8A1F3A-EC27-44B4-B4BE-3397BA5F4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890" y="2373842"/>
            <a:ext cx="6757035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跨进程消费不完整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9A769F4-D498-490B-B09E-46F6FEF7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736850"/>
            <a:ext cx="891540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8FABD5-DBBC-43D7-BA10-98AFCC318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2784475"/>
            <a:ext cx="739140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39D08C-EA5E-4678-B448-4AF95BA38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" y="2736850"/>
            <a:ext cx="1337310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D7048A6-F13A-47A9-B938-35C9EDDC2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" y="2784475"/>
            <a:ext cx="1184910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53751b2e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90A9B24-220E-4E79-9378-4F7032845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736850"/>
            <a:ext cx="200596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4DE7BC0-5FDF-4185-9EFD-25CD2EFA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2784475"/>
            <a:ext cx="1853565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发布稳定账号事实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07AFDC-CE86-4480-B2EE-7C7920B1A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8690" y="2736850"/>
            <a:ext cx="690943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D1F5832-7844-4A73-98D8-1E1F961DA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890" y="2784475"/>
            <a:ext cx="6757035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规则展示仍需收敛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B09E58E-1A80-46FF-BDCB-5984D391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147483"/>
            <a:ext cx="891540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F52EBB2-5F02-45EC-B091-25DDC30F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195108"/>
            <a:ext cx="739140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R5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040D8C7-1D08-4C90-9824-53982CD5B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" y="3147483"/>
            <a:ext cx="1337310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A59E168-A53F-4473-A124-506B4A86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" y="3195108"/>
            <a:ext cx="1184910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586880a3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C3FC129-27CE-4479-97D4-5C93863D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147483"/>
            <a:ext cx="200596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EC7D113-7C84-4B11-AC61-38BE1E70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195108"/>
            <a:ext cx="1853565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规则从快照 reconcile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E3885CC-7BD6-48FF-A30E-B70A69E75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8690" y="3147483"/>
            <a:ext cx="690943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4B53107-BC61-4BE8-88C8-D54A66DA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890" y="3195108"/>
            <a:ext cx="6757035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发现新增事件时序差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7179F8-FFFC-401B-B9B9-B91C4B0C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558117"/>
            <a:ext cx="891540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502FD54-C34B-4337-9CCF-E8148A23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3605742"/>
            <a:ext cx="739140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R6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5A15B51-8B35-4042-8986-52E58955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" y="3558117"/>
            <a:ext cx="1337310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F2C59EA-C85E-48D7-A2BB-FC4C4F02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" y="3605742"/>
            <a:ext cx="1184910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4b372d0d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DB295B0-9392-44C2-AA69-372EF407F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558117"/>
            <a:ext cx="200596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E839C6D-F281-4B2C-A93B-38A2CD00D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3605742"/>
            <a:ext cx="1853565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先定义稳定快照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8DA9691-89C9-451F-9A2F-4D5D97044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8690" y="3558117"/>
            <a:ext cx="690943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085B359-F8E6-4437-9641-BE5086EF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890" y="3605742"/>
            <a:ext cx="6757035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等待实现和反证测试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F0E90F2-B99A-4D88-8964-4F317CA2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68750"/>
            <a:ext cx="891540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2B13565-0B48-4F01-B0CF-C1939BB1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016375"/>
            <a:ext cx="739140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192696A-1547-48D8-985A-D17465C2A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" y="3968750"/>
            <a:ext cx="1337310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ADDE14A-17B0-481B-8DCC-A34ED86B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" y="4016375"/>
            <a:ext cx="1184910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c0c1bc9f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5991A45-319F-4584-9442-33261CE0B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3968750"/>
            <a:ext cx="200596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6B3E941-9C12-464A-88AD-20E13D95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016375"/>
            <a:ext cx="1853565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等待触发 ID 可见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A2F3DB7-E6E4-4233-82F6-C7106A23C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8690" y="3968750"/>
            <a:ext cx="690943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496DAF8-6FEC-46A9-A5CE-3F15F80A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890" y="4016375"/>
            <a:ext cx="6757035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custom 签名仍缺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766B1D7-7CFD-4CD0-B21D-FF4F28DE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379383"/>
            <a:ext cx="891540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75657C1-86A1-459D-A7A7-3AA1FA63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427008"/>
            <a:ext cx="739140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R8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215B07C-18EB-4A07-A681-05AE36D6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" y="4379383"/>
            <a:ext cx="1337310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D69073E-557D-47D2-B719-C49AB7DC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" y="4427008"/>
            <a:ext cx="1184910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9c7fb186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D83EC70-3CB2-473A-8A8D-983932996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379383"/>
            <a:ext cx="200596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7E8E7FE-60ED-45A1-AFBC-15FE7D36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427008"/>
            <a:ext cx="1853565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custom 保存签名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104C96D-BB91-4AA3-9771-79E8C746C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8690" y="4379383"/>
            <a:ext cx="690943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131D9FD-C802-423C-8087-1D1900E2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890" y="4427008"/>
            <a:ext cx="6757035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运行时职责仍可收口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A0DBD50-04E8-4BFE-812C-C9C629F8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90017"/>
            <a:ext cx="891540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292A6B7-DC40-4D4A-8280-CE87B7EF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837642"/>
            <a:ext cx="739140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R9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692F9F3-1D6B-41B6-B9F5-3CFE7CB9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" y="4790017"/>
            <a:ext cx="1337310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B5D2B07-1094-456E-8FF7-2CD46E3F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615" y="4837642"/>
            <a:ext cx="1184910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cecf6d17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8D3AF9F-42E5-4E65-832F-233AE8C21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4790017"/>
            <a:ext cx="200596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3CCFDB23-8D39-4D26-A447-FEA3E7964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837642"/>
            <a:ext cx="1853565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收口 RuntimeManager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370D089-1457-4E0F-AF34-01C881A80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8690" y="4790017"/>
            <a:ext cx="6909435" cy="41063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5D437D45-E534-4D55-B42F-BAAB29C3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4890" y="4837642"/>
            <a:ext cx="6757035" cy="3153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进入整体验收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8194D6AA-CF43-4017-9EEE-C69B6743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76875"/>
            <a:ext cx="1455964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19BAA506-E9C2-42F9-986B-DCAAA026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534025"/>
            <a:ext cx="130356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Provider(getOsAccountLocalIds)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DDFD185D-5EED-40AF-974A-EDBEC5CA0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5589" y="5476875"/>
            <a:ext cx="1455964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2B196B0F-DDCF-4E6A-88AA-136F0EB6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789" y="5534025"/>
            <a:ext cx="130356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Repository(pruneUnavailableUsers)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73D7D4A0-4E21-4D78-9C0D-1AC65CE0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6804" y="5476875"/>
            <a:ext cx="1455964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5DA665C-F010-4D21-9460-77C0F434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3004" y="5534025"/>
            <a:ext cx="130356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40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Coordinator(schedule/loadSnapshot/dispatch)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DE496D0-DEAE-4E50-869D-391D728F0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8018" y="5476875"/>
            <a:ext cx="1455964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552DD077-C96B-4B00-AC8A-63C93885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4218" y="5534025"/>
            <a:ext cx="130356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EventBus(common event)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9C8E3B05-9EB9-4C43-845F-20CA604D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9232" y="5476875"/>
            <a:ext cx="1455964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5571DEC-977B-4E7E-80E3-5D907992A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5432" y="5534025"/>
            <a:ext cx="130356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ViewModel(refreshForAccountChange)</a:t>
            </a:r>
          </a:p>
        </p:txBody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92DAD4E-DDE4-4309-9EF1-6A85963FE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0446" y="5476875"/>
            <a:ext cx="1455964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8DCBCF8-AC0C-4218-872F-A07A919C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6646" y="5534025"/>
            <a:ext cx="130356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40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Stable Gate(loadStableSnapshot)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976A060-C37F-4BA5-8845-93F671D0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1661" y="5476875"/>
            <a:ext cx="1455964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97339013-A0E4-4CBE-927F-09994EE7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7861" y="5534025"/>
            <a:ext cx="130356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40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Custom Signature(saveModeApplyState)</a:t>
            </a:r>
          </a:p>
        </p:txBody>
      </p:sp>
      <p:cxnSp>
        <p:nvCxnSpPr>
          <p:cNvPr id="416" name=""/>
          <p:cNvCxnSpPr>
            <a:stCxn xmlns:a="http://schemas.openxmlformats.org/drawingml/2006/main" id="86" idx="3"/>
            <a:endCxn xmlns:a="http://schemas.openxmlformats.org/drawingml/2006/main" id="88" idx="1"/>
          </p:cNvCxnSpPr>
          <p:nvPr/>
        </p:nvCxnSpPr>
        <p:spPr>
          <a:xfrm xmlns:a="http://schemas.openxmlformats.org/drawingml/2006/main">
            <a:off x="2170339" y="57531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417" name=""/>
          <p:cNvCxnSpPr>
            <a:stCxn xmlns:a="http://schemas.openxmlformats.org/drawingml/2006/main" id="88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3721553" y="5753100"/>
            <a:ext cx="95251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418" name=""/>
          <p:cNvCxnSpPr>
            <a:stCxn xmlns:a="http://schemas.openxmlformats.org/drawingml/2006/main" id="90" idx="3"/>
            <a:endCxn xmlns:a="http://schemas.openxmlformats.org/drawingml/2006/main" id="92" idx="1"/>
          </p:cNvCxnSpPr>
          <p:nvPr/>
        </p:nvCxnSpPr>
        <p:spPr>
          <a:xfrm xmlns:a="http://schemas.openxmlformats.org/drawingml/2006/main">
            <a:off x="5272768" y="57531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419" name=""/>
          <p:cNvCxnSpPr>
            <a:stCxn xmlns:a="http://schemas.openxmlformats.org/drawingml/2006/main" id="92" idx="3"/>
            <a:endCxn xmlns:a="http://schemas.openxmlformats.org/drawingml/2006/main" id="94" idx="1"/>
          </p:cNvCxnSpPr>
          <p:nvPr/>
        </p:nvCxnSpPr>
        <p:spPr>
          <a:xfrm xmlns:a="http://schemas.openxmlformats.org/drawingml/2006/main">
            <a:off x="6823982" y="57531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420" name=""/>
          <p:cNvCxnSpPr>
            <a:stCxn xmlns:a="http://schemas.openxmlformats.org/drawingml/2006/main" id="94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8375196" y="5753100"/>
            <a:ext cx="9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421" name=""/>
          <p:cNvCxnSpPr>
            <a:stCxn xmlns:a="http://schemas.openxmlformats.org/drawingml/2006/main" id="96" idx="3"/>
            <a:endCxn xmlns:a="http://schemas.openxmlformats.org/drawingml/2006/main" id="98" idx="1"/>
          </p:cNvCxnSpPr>
          <p:nvPr/>
        </p:nvCxnSpPr>
        <p:spPr>
          <a:xfrm xmlns:a="http://schemas.openxmlformats.org/drawingml/2006/main">
            <a:off x="9926410" y="5753100"/>
            <a:ext cx="95251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B727BA2-7241-443E-B70D-A056EDCF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22743301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37700A7-B297-43CB-A9BA-482BDE01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04 Ralph 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8BC52D-8DAB-4E8A-A656-D25D466C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文档先行能把一次错误假设变成五分钟后可验证的实现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6A6A27-339C-42DF-A37C-19303B18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3FED0-0D0B-42AC-A554-476E4E28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8E368D-7CA0-4B1A-A91C-EED0D87CC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F9272-053C-4792-A30F-890B1BC5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36195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769AA-D9D9-49CC-8BA9-D27956D8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3314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R6 → R7：为什么重开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5DB39E-9777-42A8-8073-B588FCC6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004332-EC54-47E9-B464-19EC55CB0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32004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8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21:58:55  4b372d0d</a:t>
            </a:r>
          </a:p>
          <a:p xmlns:a="http://schemas.openxmlformats.org/drawingml/2006/main">
            <a:pPr algn="l">
              <a:buNone/>
              <a:defRPr sz="75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docs: 定义账号新增的稳定快照同步</a:t>
            </a:r>
          </a:p>
          <a:p xmlns:a="http://schemas.openxmlformats.org/drawingml/2006/main">
            <a:pPr algn="l">
              <a:buNone/>
              <a:defRPr sz="75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- 更新模块设计</a:t>
            </a:r>
          </a:p>
          <a:p xmlns:a="http://schemas.openxmlformats.org/drawingml/2006/main">
            <a:pPr algn="l">
              <a:buNone/>
              <a:defRPr sz="75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- 新增专项方案</a:t>
            </a:r>
          </a:p>
          <a:p xmlns:a="http://schemas.openxmlformats.org/drawingml/2006/main">
            <a:pPr algn="l">
              <a:buNone/>
              <a:defRPr sz="75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- 冻结等待条件、重试上限和失败保持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75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22:03:53  c0c1bc9f</a:t>
            </a:r>
          </a:p>
          <a:p xmlns:a="http://schemas.openxmlformats.org/drawingml/2006/main">
            <a:pPr algn="l">
              <a:buNone/>
              <a:defRPr sz="75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fix: 等待新增账号快照再 reconcile</a:t>
            </a:r>
          </a:p>
          <a:p xmlns:a="http://schemas.openxmlformats.org/drawingml/2006/main">
            <a:pPr algn="l">
              <a:buNone/>
              <a:defRPr sz="75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- 修改 Coordinator</a:t>
            </a:r>
          </a:p>
          <a:p xmlns:a="http://schemas.openxmlformats.org/drawingml/2006/main">
            <a:pPr algn="l">
              <a:buNone/>
              <a:defRPr sz="750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750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  - 新增先旧后新、一直旧、removed 单读测试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CC454D-853A-4E29-8804-23B97A48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1430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90B158-E8FE-40F7-8A17-8FB898E9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190625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文档契约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5F9E9F-83AC-4FD0-97FF-27E7F3D2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1430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C2F606-9965-4D8E-A8E3-2BA1BBB1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190625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2E1545-0301-4C34-98C9-A8E43A2DB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1430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F2F61F-4792-4400-9ACB-04D2AEB9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190625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可执行断言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111988-104C-4D61-BF91-FFDB3D66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430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380098-B52D-4CC9-A5DF-A86DE87B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590675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新增账号必须等触发 ID 可见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0BA7A6-7151-421A-9C0C-747D8216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430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2EE1F1-B01B-4EFF-8BED-FFA55E01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590675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shouldWaitForAddedAccount()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F35AE4-8857-4898-95BA-7CA7061C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430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1EFCAF-195F-4387-9685-1BF6E549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590675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第一次旧集合不能 dispatch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0BFDFE-B66B-4F79-B24A-A8744FA4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431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B3C992-C88B-4013-94B0-ED60D36D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90725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重试有上限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6FB35A-182A-4B10-8AA7-7F588639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431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6C0920-8249-4ACC-AAC2-6DC78E818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90725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MAX_RETRIES=5 + 首次读取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83427C-69B8-4D7D-A8D0-9E0C5AFC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9431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7A81C2-B54A-487C-AEBD-92067302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90725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总 query 次数为 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A0704B-83ED-437D-B6AF-275F3249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4315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3FDE1D-D6C3-4144-A1B8-67EAECD3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90775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超时不能伪成功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CB1EFB-0D5D-4033-955C-4416EF77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3431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3AD056-0015-47D1-AA7D-077D27C71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90775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stable=false → return false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003A49-EC8F-499D-9241-1178EA696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34315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746975-40AF-4048-9366-9A885942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390775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Handler=0、publish=0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0D93239-A91A-49AD-899E-25AC0D5A1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2000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178009-06A3-4D51-8014-7519BED4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90825"/>
            <a:ext cx="1847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删除不等待被删 ID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0C7BFE4-7220-450C-BE18-FA2750AC5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432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16A788B-3C1C-44B9-ABCB-895C10093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90825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source 判断仅命中 added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01DCA2A-8C2C-4C34-8BA7-95BF5C79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43200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A731BD-1790-412F-B3D4-073DFC8B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790825"/>
            <a:ext cx="2419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removed query=1</a:t>
            </a: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c30d5946044d41"/>
          <a:stretch xmlns:a="http://schemas.openxmlformats.org/drawingml/2006/main"/>
        </p:blipFill>
        <p:spPr>
          <a:xfrm xmlns:a="http://schemas.openxmlformats.org/drawingml/2006/main">
            <a:off x="571500" y="3446205"/>
            <a:ext cx="4000500" cy="2251590"/>
          </a:xfrm>
          <a:prstGeom xmlns:a="http://schemas.openxmlformats.org/drawingml/2006/main" prst="roundRect">
            <a:avLst>
              <a:gd name="adj" fmla="val 4800"/>
            </a:avLst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7F1247-AD5C-468B-BD76-64B9D66C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4000500" cy="2381250"/>
          </a:xfrm>
          <a:prstGeom xmlns:a="http://schemas.openxmlformats.org/drawingml/2006/main" prst="roundRect">
            <a:avLst>
              <a:gd name="adj" fmla="val 48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7B34AC-7E0A-42EC-96EC-9077BA6B2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81375"/>
            <a:ext cx="676275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350F24-34F5-4742-A0D0-C9806DA0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95675"/>
            <a:ext cx="6457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89518"/>
                </a:solidFill>
                <a:latin typeface="Microsoft YaHei"/>
                <a:ea typeface="Microsoft YaHei"/>
                <a:cs typeface="Microsoft YaHei"/>
              </a:rPr>
              <a:t>Reviewer Gap Card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6EA080-C3E4-4AC5-8B14-78BD62C4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78142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95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8A44696-91AE-4020-8BBE-09ACA2AB6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92430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设计要求：失败后不能留下新 signature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代码风险：仍可能调用 saveModeApplyState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补偿缺口：rollback 未恢复 signature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当前：核心协议 PASS；事务原子性 INCOMPLETE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下一任务：S7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F4B799-163F-4E50-A07E-90C0D695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58728541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BA3D49-98A3-4553-8065-CBE8A0C5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04 Ralph 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0CCAB2-D594-4DDE-B55E-D7BE80469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MCP 把 AI 接到真实环境：本页使用讲师已有材料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6FC9F-0392-4A15-83F3-84C8A5DB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7EF805-33F7-4C5C-B826-3921DDA7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C5D40-B340-499B-BB64-75DD0E5F4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a5eb70012342e8"/>
          <a:stretch xmlns:a="http://schemas.openxmlformats.org/drawingml/2006/main"/>
        </p:blipFill>
        <p:spPr>
          <a:xfrm xmlns:a="http://schemas.openxmlformats.org/drawingml/2006/main">
            <a:off x="666750" y="2131640"/>
            <a:ext cx="4857750" cy="202321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77AD80-8EE5-4425-A4BF-F6657B2A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85875"/>
            <a:ext cx="4857750" cy="3714750"/>
          </a:xfrm>
          <a:prstGeom xmlns:a="http://schemas.openxmlformats.org/drawingml/2006/main" prst="roundRect">
            <a:avLst>
              <a:gd name="adj" fmla="val 307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BB5D02-5031-45EA-88C5-01843C36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课程转场：讲师将在此替换为既有 MCP 材料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17A93-52F8-4C33-B92A-1AA081FA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33625"/>
            <a:ext cx="4000500" cy="8128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E3CDFF-3244-43DB-91DD-9926C47D8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90775"/>
            <a:ext cx="38481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前面：已经定义“验什么”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4EB5B-8895-43EB-B491-AE96FA2D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60725"/>
            <a:ext cx="4000500" cy="8128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7157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8EDC4-CE85-48B1-9F87-BD19062E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317875"/>
            <a:ext cx="38481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MCP / HDC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Connect → Build → Install → Operate → Observe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CC531B-5A40-4EEC-B27B-BBDF69D5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87825"/>
            <a:ext cx="4000500" cy="812800"/>
          </a:xfrm>
          <a:prstGeom xmlns:a="http://schemas.openxmlformats.org/drawingml/2006/main" prst="roundRect">
            <a:avLst>
              <a:gd name="adj" fmla="val 14063"/>
            </a:avLst>
          </a:prstGeom>
          <a:solidFill xmlns:a="http://schemas.openxmlformats.org/drawingml/2006/main">
            <a:srgbClr val="EBF8F1"/>
          </a:solidFill>
          <a:ln xmlns:a="http://schemas.openxmlformats.org/drawingml/2006/main" w="9525">
            <a:solidFill>
              <a:srgbClr val="2F8F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0282A-318F-447F-9D0D-AFE083F2C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244975"/>
            <a:ext cx="38481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下一页：E2E Runner 把验收变成可执行链</a:t>
            </a:r>
          </a:p>
        </p:txBody>
      </p:sp>
      <p:cxnSp>
        <p:nvCxnSpPr>
          <p:cNvPr id="68" name=""/>
          <p:cNvCxnSpPr>
            <a:stCxn xmlns:a="http://schemas.openxmlformats.org/drawingml/2006/main" id="9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8572500" y="3146425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69" name=""/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8572500" y="4073525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A8E0E3E-F4FD-4B22-962E-9164A0BA4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72125"/>
            <a:ext cx="57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3AC353-D3DF-42E8-94B4-72FCB8D9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610225"/>
            <a:ext cx="8591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本页是有意保留的教学转场，不把工具能力和业务验收混为一谈。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8B1A94-EA4D-465D-8784-E667F97E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97439430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27658C-27A3-4BBD-8324-857C79B8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04 Ralph 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55B6DE-0865-4B21-BF4B-F605E49D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E2E 第一页：一个 Case JSON 如何走到 MCP/HDC，再留下结果与证据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749D8-20D8-4F92-8AF5-CED4B04F3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A91202-3225-4578-AF5D-B2040024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C07D4B-2238-466F-B337-66FB8263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6BF48A-F93F-4138-A113-FD383CFD3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1144250" cy="2143125"/>
          </a:xfrm>
          <a:prstGeom xmlns:a="http://schemas.openxmlformats.org/drawingml/2006/main" prst="roundRect">
            <a:avLst>
              <a:gd name="adj" fmla="val 6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459F1B-2F9A-4963-A675-C74747E1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238250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rPr>
              <a:t>原始 E2E 架构图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C1B04C-C740-4ADB-BED7-6A6E0B951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240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7B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ac1fb0318b440c"/>
          <a:stretch xmlns:a="http://schemas.openxmlformats.org/drawingml/2006/main"/>
        </p:blipFill>
        <p:spPr>
          <a:xfrm xmlns:a="http://schemas.openxmlformats.org/drawingml/2006/main">
            <a:off x="2259507" y="1504950"/>
            <a:ext cx="7672986" cy="1571625"/>
          </a:xfrm>
          <a:prstGeom xmlns:a="http://schemas.openxmlformats.org/drawingml/2006/main" prst="roundRect">
            <a:avLst>
              <a:gd name="adj" fmla="val 7273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AB31EA-25EB-48F1-9CEC-86EB00FD2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10668000" cy="1571625"/>
          </a:xfrm>
          <a:prstGeom xmlns:a="http://schemas.openxmlformats.org/drawingml/2006/main" prst="roundRect">
            <a:avLst>
              <a:gd name="adj" fmla="val 727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AF71F7A-2D49-4785-B90B-C9292FB1E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76625"/>
            <a:ext cx="11144250" cy="2619375"/>
          </a:xfrm>
          <a:prstGeom xmlns:a="http://schemas.openxmlformats.org/drawingml/2006/main" prst="roundRect">
            <a:avLst>
              <a:gd name="adj" fmla="val 5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D02F68-9F46-4388-9F2A-926CE673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90925"/>
            <a:ext cx="1083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真实 E2E 调用路线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58C734-54DE-49E8-BB63-2CD8DB7A3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87667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467928-4AAF-45FC-BC56-485ADCF3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00500"/>
            <a:ext cx="2528888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2222CF-4ED3-4DE7-A795-63C1A2FD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057650"/>
            <a:ext cx="237648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 rule_create.json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B987FB-2F78-4826-A2B4-8C56EE3B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4000500"/>
            <a:ext cx="2528888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840BEE-3D23-46C9-B1EA-7BBE6A13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4057650"/>
            <a:ext cx="237648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 validate_case_contract</a:t>
            </a:r>
          </a:p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normalize_case_definition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845AE7-67F7-4A61-B4CD-CD780AA2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00500"/>
            <a:ext cx="2528888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CE796B-E905-4DBA-A382-95B9D616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57650"/>
            <a:ext cx="237648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 E2ERunner.run_case / run_step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56CC8C-9CCE-486B-8A79-C27ED246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4000500"/>
            <a:ext cx="2528888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F3535A-3577-45F0-BC20-13801BE3B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4057650"/>
            <a:ext cx="237648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04  SecurityToolFlowExecutor.execute</a:t>
            </a:r>
          </a:p>
        </p:txBody>
      </p:sp>
      <p:cxnSp>
        <p:nvCxnSpPr>
          <p:cNvPr id="133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3338513" y="4324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34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019801" y="4324350"/>
            <a:ext cx="15239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35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701088" y="4324350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3400EB-594F-4C3C-B074-0FDC7692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2528888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7157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75F443-45FB-4D45-AC72-5FD9791B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53025"/>
            <a:ext cx="237648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05  resolve_operation_binding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template_key=firewall.rule.create.domain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076386-0CDF-4FD3-B266-4108FA50A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5095875"/>
            <a:ext cx="2528888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E90077-377C-4DB9-9657-C7440035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7113" y="5153025"/>
            <a:ext cx="237648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06  MCP Driver / Bridge / Backend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BB77FF-D4D4-46B7-A291-E3424B35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095875"/>
            <a:ext cx="2528888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C2FBC6-5D88-475A-BB62-F5BD2C03F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53025"/>
            <a:ext cx="237648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07  AssertionExecutor.assert_text_presence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AD4129-0DBA-4942-98A5-750C2E25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3488" y="5095875"/>
            <a:ext cx="2528888" cy="64770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BF8F1"/>
          </a:solidFill>
          <a:ln xmlns:a="http://schemas.openxmlformats.org/drawingml/2006/main" w="9525">
            <a:solidFill>
              <a:srgbClr val="2F8F5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E6CD72-0021-4A79-B59A-5C796F4D3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688" y="5153025"/>
            <a:ext cx="2376488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08  CaseResult</a:t>
            </a:r>
          </a:p>
          <a:p xmlns:a="http://schemas.openxmlformats.org/drawingml/2006/main">
            <a:pPr algn="ctr">
              <a:buNone/>
              <a:def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primary + secondary evidence</a:t>
            </a:r>
          </a:p>
        </p:txBody>
      </p:sp>
      <p:cxnSp>
        <p:nvCxnSpPr>
          <p:cNvPr id="144" name=""/>
          <p:cNvCxnSpPr>
            <a:stCxn xmlns:a="http://schemas.openxmlformats.org/drawingml/2006/main" id="25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3338513" y="54197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45" name=""/>
          <p:cNvCxnSpPr>
            <a:stCxn xmlns:a="http://schemas.openxmlformats.org/drawingml/2006/main" id="27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6019801" y="5419725"/>
            <a:ext cx="15239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46" name=""/>
          <p:cNvCxnSpPr>
            <a:stCxn xmlns:a="http://schemas.openxmlformats.org/drawingml/2006/main" id="29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8701088" y="5419725"/>
            <a:ext cx="1524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47" name=""/>
          <p:cNvCxnSpPr>
            <a:stCxn xmlns:a="http://schemas.openxmlformats.org/drawingml/2006/main" id="20" idx="2"/>
            <a:endCxn xmlns:a="http://schemas.openxmlformats.org/drawingml/2006/main" id="25" idx="0"/>
          </p:cNvCxnSpPr>
          <p:nvPr/>
        </p:nvCxnSpPr>
        <p:spPr>
          <a:xfrm xmlns:a="http://schemas.openxmlformats.org/drawingml/2006/main" flipH="1">
            <a:off x="2074069" y="4648200"/>
            <a:ext cx="8043863" cy="4476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26852"/>
            </a:solidFill>
            <a:prstDash val="solid"/>
            <a:tailEnd type="arrow" w="med" len="med"/>
          </a:ln>
        </p:spPr>
      </p:cxn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35500D-2129-4F8C-AEDE-997F162C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93510622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E60668-B171-44B1-BD71-94A54A351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04 Ralph 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DF5C82-87DC-4CA7-8AE8-C48EF90F6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E2E 第二页：现场跑一个用例，再判断它证明了什么、还缺什么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0C1CD4-9E20-4113-9504-8B9BCD3A9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16CD46-91A1-4213-9BD9-5B3F80B4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C88684-11E2-4B8E-BF9A-80A00363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6493D4-79DF-495A-87D9-5084392C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2586038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FFBADA-78A1-43A5-87DC-EEC4130C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47775"/>
            <a:ext cx="24336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创建 DOMAIN rule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1A7A0E-5733-4FE1-86E4-28EF431B7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238" y="1190625"/>
            <a:ext cx="2586038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2547C-338A-4B0F-8CF4-3051012F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0438" y="1247775"/>
            <a:ext cx="24336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读取系统事实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53600B-05BE-4830-90B7-4293F926B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190625"/>
            <a:ext cx="2586038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7157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C39D18-DC46-4C94-90BD-13C1A1715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1247775"/>
            <a:ext cx="24336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UI 文本断言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66F04C-0895-4339-8BD2-04E61E2D5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213" y="1190625"/>
            <a:ext cx="2586038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BF8F1"/>
          </a:solidFill>
          <a:ln xmlns:a="http://schemas.openxmlformats.org/drawingml/2006/main" w="9525">
            <a:solidFill>
              <a:srgbClr val="2F8F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1E4A9-005A-418B-8CDE-2CBB78B78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5413" y="1247775"/>
            <a:ext cx="2433638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CaseResult</a:t>
            </a:r>
          </a:p>
        </p:txBody>
      </p:sp>
      <p:cxnSp>
        <p:nvCxnSpPr>
          <p:cNvPr id="102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252788" y="15049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03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10276" y="1504950"/>
            <a:ext cx="171449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04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67763" y="1504950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41DF2F-2C52-4666-A333-93D9E5CB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38375"/>
            <a:ext cx="514350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311B0A-8DE7-4983-A766-299794336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52675"/>
            <a:ext cx="4838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代码级三态判断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951752-A855-4A13-994C-FD0F8283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999C09-FBD5-4786-87EE-F21EA3F0A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14097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BF8F1"/>
          </a:solidFill>
          <a:ln xmlns:a="http://schemas.openxmlformats.org/drawingml/2006/main" w="9525">
            <a:solidFill>
              <a:srgbClr val="2F8F5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E61BDE-8649-483D-B52A-D31F46D5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62275"/>
            <a:ext cx="1257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事实一致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5637F4-BC5E-4CAF-9C6F-66078419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905125"/>
            <a:ext cx="14097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C84B4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4075EA-4E91-4749-9195-A44AA45C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962275"/>
            <a:ext cx="1257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FAIL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事实冲突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F336C3-CBFD-4447-8F8B-2F3BBECE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05125"/>
            <a:ext cx="14097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5231F9-28D2-4C16-98E8-8AB365814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62275"/>
            <a:ext cx="1257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证据缺失</a:t>
            </a:r>
          </a:p>
        </p:txBody>
      </p:sp>
      <p:cxnSp>
        <p:nvCxnSpPr>
          <p:cNvPr id="114" name="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2266950" y="32861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15" name=""/>
          <p:cNvCxnSpPr>
            <a:stCxn xmlns:a="http://schemas.openxmlformats.org/drawingml/2006/main" id="22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3848100" y="3286125"/>
            <a:ext cx="1714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E6FCE2-28D0-40F3-83DF-4F2A245C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38375"/>
            <a:ext cx="56197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8220E4-A8C4-4DE9-BE79-6E63733A0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52675"/>
            <a:ext cx="531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rPr>
              <a:t>用例流程 / 三态判定 / 有设备 / 无设备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45E8CF5-3A19-439D-BBE0-ADA479945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38425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DE7A86-CE3D-4CA7-9AF9-A877AB74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714625"/>
            <a:ext cx="531495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508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launch_app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reset_previous_page / relaunch_app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open_firewall_page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toggle_firewall(require_auth_prompt=true)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assert “公共网络模式”仍可见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reporter 输出 result + artifacts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flow_action PASS/FAIL/UNKNOWN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assertion_action PASS/FAIL/UNKNOWN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FAIL：记录 failure_stage，默认 stop_on_failure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UNKNOWN：保留 UNKNOWN；allow_unknown=false 时升级 FAIL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evidence：primary_evidence + secondary_evidence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validate_result_contract(CaseResult)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python scripts/e2e/tools/validate_test_assets.py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python scripts/e2e/run_e2e.py --adapter security_tool --case scripts/e2e/cases/firewall/status_toggle.json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运行测试资产校验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静态展开 action plan / resolver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人工给出预期 Tool、Assertion、Artifact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8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8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设备相关结果标 UNKNOWN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90C930-1ECF-49CD-9F83-FDDCAE70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762500"/>
            <a:ext cx="571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D475B3-BB76-4B6F-9A95-6DDB2994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800600"/>
            <a:ext cx="9258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无设备时保留 UNKNOWN，绝不把脚本跑通或截图存在伪装成设备 PASS。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DF8925-2AAE-433B-83BF-FBF9D2D1C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207424255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1D1118-1096-44BB-A676-69FABCBAD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04 Ralph 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21EDC-A302-43C6-8153-55ED04D2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实践：把验收写成可执行的系统契约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7C770-BA04-4A64-9EC8-4C56169C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545817-96E7-43D2-94BB-940A8258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D31A2-B8ED-4160-B751-F06207F83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BAAC24-0D24-42D8-A2DA-021D2AB5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143000"/>
            <a:ext cx="6858000" cy="4953000"/>
          </a:xfrm>
          <a:prstGeom xmlns:a="http://schemas.openxmlformats.org/drawingml/2006/main" prst="roundRect">
            <a:avLst>
              <a:gd name="adj" fmla="val 2692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E7D8F4-388D-4E14-A23C-769C8660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57300"/>
            <a:ext cx="6553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rPr>
              <a:t>Acceptance Case JSON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97C89B-731F-404C-A208-BDC559B55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157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CA7D30-79A8-4517-83BD-C8259779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6553200" cy="436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"result": "PASS|FAIL|UNKNOWN",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"accounts": [100, 112, 123],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"mode": "public",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"signature": "100,112,123",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"users": [{"id": 123, "isOpen": true, "ruleCount": 4}],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"failures": [],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"evidence": {"device": "...", "timestamp": "..."}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95A7C-D77E-429A-A05B-EFEED047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81125"/>
            <a:ext cx="31432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69BAB5-12D8-4506-B08A-67742546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38275"/>
            <a:ext cx="2990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Case Contract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E52E4C-66CA-4FC1-8739-5BCF1C0E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14550"/>
            <a:ext cx="31432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7063D-5E03-4136-A806-C7A7F617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71700"/>
            <a:ext cx="2990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Action Binding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9492B-E62D-4E50-89A9-8557D3AA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47975"/>
            <a:ext cx="31432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7157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5D195-7971-4078-B760-945D22A3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05125"/>
            <a:ext cx="2990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MCP / HDC 操作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A5A3E0-2A86-4EAA-A21B-69A59E46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81400"/>
            <a:ext cx="31432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007B44-DF53-48DD-A43C-41D6D13D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38550"/>
            <a:ext cx="2990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 getter / 日志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0B2187-5747-43BA-A784-89C50A34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14825"/>
            <a:ext cx="31432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EBF8F1"/>
          </a:solidFill>
          <a:ln xmlns:a="http://schemas.openxmlformats.org/drawingml/2006/main" w="9525">
            <a:solidFill>
              <a:srgbClr val="2F8F5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16F469-ED36-4FA5-B35D-E7488BC9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71975"/>
            <a:ext cx="2990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Primary + Secondary Evidence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6C61D3-8D90-45DD-B3F9-55BBDF2D8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048250"/>
            <a:ext cx="3143250" cy="619125"/>
          </a:xfrm>
          <a:prstGeom xmlns:a="http://schemas.openxmlformats.org/drawingml/2006/main" prst="roundRect">
            <a:avLst>
              <a:gd name="adj" fmla="val 18462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E2685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87D002-A8BF-4CAA-A81C-C345A67C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105400"/>
            <a:ext cx="29908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PASS / FAIL / UNKNOWN</a:t>
            </a:r>
          </a:p>
        </p:txBody>
      </p:sp>
      <p:cxnSp>
        <p:nvCxnSpPr>
          <p:cNvPr id="101" name=""/>
          <p:cNvCxnSpPr>
            <a:stCxn xmlns:a="http://schemas.openxmlformats.org/drawingml/2006/main" id="10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572625" y="200025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02" name=""/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9572625" y="2733675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03" name=""/>
          <p:cNvCxnSpPr>
            <a:stCxn xmlns:a="http://schemas.openxmlformats.org/drawingml/2006/main" id="14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9572625" y="346710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04" name=""/>
          <p:cNvCxnSpPr>
            <a:stCxn xmlns:a="http://schemas.openxmlformats.org/drawingml/2006/main" id="1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9572625" y="4200525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105" name=""/>
          <p:cNvCxnSpPr>
            <a:stCxn xmlns:a="http://schemas.openxmlformats.org/drawingml/2006/main" id="18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9572625" y="4933950"/>
            <a:ext cx="0" cy="114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24D968-03E7-4A3B-8278-B6630D079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58583850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7F3CC4-5EB6-4202-B597-35A23852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04 Ralph 与验收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1142FC-1FFF-477B-A3CA-930BBC144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MDM Checkpoint：交付一条完整证据链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F8529-6D71-4FBD-8042-0E4E5F0D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C2ED35-0BBF-4847-BE5D-8B53B98AA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BB4865-9AC3-4BBB-A3BD-5679CF8E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7DBC32-0D24-4982-A577-6C76C9AB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43000"/>
            <a:ext cx="47625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E46E6D-F1A3-4352-945A-F1C1A22CC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257300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同伴验收：只问六件事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FD9EA-808B-4B99-B6A9-3969C0765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154305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BEE93-9DEB-446C-9F90-6882D32BB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19250"/>
            <a:ext cx="4381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1. spec.md 是否冻结账号事实、失败语义与提交点？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2. design.md 是否区分 intent、local apply、system truth、UI？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3. T01 是否真的出现过可解释 RED 与 GREEN？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4. T02 故障后是否恢复 identity，而非只恢复数量？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5. 设备证据是否来自真机，UNKNOWN 是否被诚实保留？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6. diff 是否完全落在任务允许边界？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D39517-66F4-4D1A-8C36-6DF5869E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24300"/>
            <a:ext cx="4333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唯一结果：PASS / FAIL / UNKNOWN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687D0E-B00F-4362-A4D0-1CDBEEBC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767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4CF072-CBCD-4298-BC71-8FCD8A37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524375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Eval 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F0782E-CB02-4A64-ADF9-5E8B8129F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76750"/>
            <a:ext cx="2047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633D5B-C85F-4BBA-8E05-BFB266B3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524375"/>
            <a:ext cx="18954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检查什么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0B03C5-8638-4684-83F7-5D20E068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76750"/>
            <a:ext cx="18573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91D0DA-F090-4488-93A0-A14638A6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524375"/>
            <a:ext cx="1704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反例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6747DA-7C0E-4E32-B45A-025A75E3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76800"/>
            <a:ext cx="857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065A3D-C8BE-414A-B909-A11A3FEF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4924425"/>
            <a:ext cx="704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Trace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5174B9-1966-45A0-9062-C2EC3154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76800"/>
            <a:ext cx="20478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B11B5A-1384-46AF-A0FA-E22684B7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4924425"/>
            <a:ext cx="1895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Prompt、工具调用、diff、测试、是否越界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7AA3F6-3CCA-4F68-82AD-9CC60186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76800"/>
            <a:ext cx="18573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A64CF8C-0B4D-4533-8FF1-55AF49AD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924425"/>
            <a:ext cx="17049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过程规范，但底层调用仍失败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F1A085-7020-4B3F-8D8E-5AA4306F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438775"/>
            <a:ext cx="8572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D09F7A-7CAB-406D-8893-24E2BE4E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5486400"/>
            <a:ext cx="7048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Outcome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64F2788-1110-4741-AB61-E211235F2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438775"/>
            <a:ext cx="20478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1FBCC0-5B31-4199-8331-0C73F94A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486400"/>
            <a:ext cx="18954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系统账号、policy、rules、signature、mapping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549B61-7D55-4D2C-A0F4-96B9B746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38775"/>
            <a:ext cx="1857375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747F7D-3B66-429F-A223-2E0A110A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486400"/>
            <a:ext cx="17049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页面偶然正确，但 AI 伪造账号事实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876d62dec246a6"/>
          <a:stretch xmlns:a="http://schemas.openxmlformats.org/drawingml/2006/main"/>
        </p:blipFill>
        <p:spPr>
          <a:xfrm xmlns:a="http://schemas.openxmlformats.org/drawingml/2006/main">
            <a:off x="5619750" y="1798364"/>
            <a:ext cx="6000750" cy="2499271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EB08632-3A1F-4536-9E3B-E21BFE53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190625"/>
            <a:ext cx="6000750" cy="3714750"/>
          </a:xfrm>
          <a:prstGeom xmlns:a="http://schemas.openxmlformats.org/drawingml/2006/main" prst="roundRect">
            <a:avLst>
              <a:gd name="adj" fmla="val 307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0DEC27-136A-4643-B1A8-D108D5BB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571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4A2B9E-3CFD-4093-9C15-C1464F05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76850"/>
            <a:ext cx="4591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最终结论由 Outcome 决定；Trace 用于解释可信度、复现过程与发现越界。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6640578-79F8-44B9-8135-B560865BF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63975782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10D5CDB-4339-44CD-BF8B-CBA3D97A3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05 FreeRDP 实战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8ABE1A-A0D7-47EE-A77A-A5104FDE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案例二背景：30 万行级开源库上的远控视频卡顿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0E24C-5474-4D92-A6E5-2CDE226A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47742-AB48-499B-B900-3E66AC89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53e554d7fc4a43"/>
          <a:srcRect xmlns:a="http://schemas.openxmlformats.org/drawingml/2006/main" l="0" t="7951" r="0" b="79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143000"/>
            <a:ext cx="5810250" cy="3257550"/>
          </a:xfrm>
          <a:prstGeom xmlns:a="http://schemas.openxmlformats.org/drawingml/2006/main" prst="roundRect">
            <a:avLst>
              <a:gd name="adj" fmla="val 2924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20C4E4-E50E-4234-AA90-0088F95C0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43000"/>
            <a:ext cx="5810250" cy="3257550"/>
          </a:xfrm>
          <a:prstGeom xmlns:a="http://schemas.openxmlformats.org/drawingml/2006/main" prst="roundRect">
            <a:avLst>
              <a:gd name="adj" fmla="val 2924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FEF290-887D-44E2-B794-04C915AD7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2952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5882F4-8AD1-4496-837C-0F78B6ED4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2800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场景素材｜只证明远控页面与任务背景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C75FC0-ABA3-4675-9155-CC8311C4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91050"/>
            <a:ext cx="58102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4DEC4B-354F-44CC-B9C6-117DED34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rPr>
              <a:t>Before 基线契约（来自 01-问题与基线.md）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04F21-4A36-4C1D-9C59-95AB16277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05400"/>
            <a:ext cx="533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device: ______    server: ______    network: ______</a:t>
            </a:r>
          </a:p>
          <a:p xmlns:a="http://schemas.openxmlformats.org/drawingml/2006/main">
            <a:pPr algn="l">
              <a:defRPr sz="10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resolution: ______    codec_negotiated: ______</a:t>
            </a:r>
          </a:p>
          <a:p xmlns:a="http://schemas.openxmlformats.org/drawingml/2006/main">
            <a:pPr algn="l">
              <a:defRPr sz="10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decoder_selected: ______    clip: ______    duration_s: ______</a:t>
            </a:r>
          </a:p>
          <a:p xmlns:a="http://schemas.openxmlformats.org/drawingml/2006/main">
            <a:pPr algn="l">
              <a:defRPr sz="1013" b="0">
                <a:solidFill>
                  <a:srgbClr val="172033"/>
                </a:solidFill>
                <a:latin typeface="Consolas"/>
                <a:ea typeface="Consolas"/>
                <a:cs typeface="Consolas"/>
              </a:defRPr>
            </a:pPr>
            <a:r>
              <a:rPr sz="1013" b="0">
                <a:solidFill>
                  <a:srgbClr val="172033"/>
                </a:solidFill>
                <a:latin typeface="Consolas"/>
                <a:ea typeface="Consolas"/>
                <a:cs typeface="Consolas"/>
              </a:rPr>
              <a:t>cpu_process_avg: ______    fps_avg: ______    frame_time_p95_ms: ______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123BF2-4C92-4B89-A34D-D308FC9B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143000"/>
            <a:ext cx="5010150" cy="4895850"/>
          </a:xfrm>
          <a:prstGeom xmlns:a="http://schemas.openxmlformats.org/drawingml/2006/main" prst="roundRect">
            <a:avLst>
              <a:gd name="adj" fmla="val 1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575F68-B190-4FCC-95A5-AEA70EC1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35255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任务背景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B9F10-8F16-43FB-A8EC-081E3CFF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695450"/>
            <a:ext cx="44386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基于 FreeRDP 等大型开源库实现 HarmonyOS 远控应用。用户报告：远端播放视频时出现卡顿，希望评估硬件解码与 GPU 合成方案。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29860E-704D-4BAE-841F-8E759E22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19375"/>
            <a:ext cx="12192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872077-C12F-44BB-A20C-7D5493E3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657475"/>
            <a:ext cx="1066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559,355 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961D93-B898-42FB-9873-D28F8BE0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4795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2014 个相关源码文件；规模只说明搜索空间大，不代表 AI 要读取全库。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0B3B1FF-0E73-41A9-8E89-BDD85B115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33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先分开事实与假设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AD9A34-73FB-4999-95B8-B31A91AE3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76650"/>
            <a:ext cx="2929509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BF6C5E-9F2A-4116-978B-549F3EA8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14750"/>
            <a:ext cx="279615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陈述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9A3768-C9E5-4961-ADEC-D563E82BF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709" y="3676650"/>
            <a:ext cx="1509141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2C101F-A4F5-4D81-A007-2900638B8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3714750"/>
            <a:ext cx="1375791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7778CA-50A8-40AB-B38A-3B1433A6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019550"/>
            <a:ext cx="2929509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D64238-1F0A-49BE-8E9F-2E2041BB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57650"/>
            <a:ext cx="2796159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用户报告播放卡顿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004B9D-124F-41D2-8D18-25B86770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709" y="4019550"/>
            <a:ext cx="1509141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9A1720-CD80-4FA4-B4EE-D05E20532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057650"/>
            <a:ext cx="1375791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USER REPORT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37A0E6-D5F6-4C92-A6FF-37D9549B5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386263"/>
            <a:ext cx="2929509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745D53-5DA5-4A05-B632-97D74731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24363"/>
            <a:ext cx="2796159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当前走 CPU/软件 H.264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18669C-95FD-473B-BCBB-98B4BC351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709" y="4386263"/>
            <a:ext cx="1509141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4EDC3C-F92E-4FD2-B831-3120856BE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424363"/>
            <a:ext cx="1375791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DEA092B-E3BD-4ED4-A5E1-9234AEDE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752975"/>
            <a:ext cx="2929509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ADD9D7-E7D4-4CA6-BD62-B8822BF0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91075"/>
            <a:ext cx="2796159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CPU 是卡顿主因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F88163-D2CC-4531-BC93-BF3904DE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709" y="4752975"/>
            <a:ext cx="1509141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469405-5332-4295-AC32-CB77CACF7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91075"/>
            <a:ext cx="1375791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8EBD9E-8D45-4676-8AD7-13B76F75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119688"/>
            <a:ext cx="2929509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022DB5-F3BF-4854-BEEE-C2977C9B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157788"/>
            <a:ext cx="2796159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硬解一定能解决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BA3BB4-83B2-4280-B60E-AF14B722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3709" y="5119688"/>
            <a:ext cx="1509141" cy="36671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894A41-86A5-4974-B1C3-148D463A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5157788"/>
            <a:ext cx="1375791" cy="2905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45012A-C6DD-4D9C-8CF8-E35F52FC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5638800"/>
            <a:ext cx="57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140F3A5-60B6-4EE8-BC1B-93E635DE0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5657850"/>
            <a:ext cx="426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495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先绑定同一 runId 的视频、路径日志和性能采样，再谈“优化成功”。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CE6A499-A624-4941-9EDB-0C4CBB71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69542098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B59D311-FCCD-4AC6-8D60-5A8674C0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05 FreeRDP 实战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317B9-BA09-422A-BA7E-A177947E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 1 份文档：用五个问题建立大代码库认知地图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A406B-E672-4C91-9329-7E817F9C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21F8D0-AEB1-4DEE-99C5-12BBD31A3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560924-58F5-43E7-B6F8-C87F5D90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200150"/>
            <a:ext cx="11163300" cy="504825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1375B2-F67D-4B40-B57D-1E1B7A45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504825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7AF219-6CF1-4C84-BBC4-933C7B5B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4775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B4934-F142-40BE-ACBE-51F88CB2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76350"/>
            <a:ext cx="916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C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677C8"/>
                </a:solidFill>
                <a:latin typeface="Consolas"/>
                <a:ea typeface="Consolas"/>
                <a:cs typeface="Consolas"/>
              </a:rPr>
              <a:t>case-materials/gpu/02-大代码库认知地图.md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405A85-7B22-4451-9ABC-F90E7BB94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257300"/>
            <a:ext cx="1285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F715F1-F5D2-4BAA-A098-14B5BD01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29540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阶段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901C9-83C8-44E3-9EE1-C4ADBCA2C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74AAC-D663-4F66-A5B4-D80945967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五个导航问题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F996C0-B5FB-45BB-84C3-DCFB6ED4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44767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1. H.264 命令从哪里进入？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2. command 进入 GPU compositor，还是回到 GDI/H.264 subsystem？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3. 输出格式、stride、plane 是什么？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4. 谁拥有显示 Surface，何时 present？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5. 如何证明没有走软件/GDI fallback？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62E0DD-56FA-491B-A6DB-EC059B49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386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上下文控制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949347-91AA-42F2-B403-23B70AF5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72000"/>
            <a:ext cx="4476750" cy="131445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EC7367-C417-4E31-83A0-690DBB6A7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67250"/>
            <a:ext cx="421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rPr>
              <a:t>每轮只保留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FA5544-43A5-4182-88E9-95903AA2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24425"/>
            <a:ext cx="4210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B5E032-4D9F-405D-8C38-7489AD798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29200"/>
            <a:ext cx="4210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703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1 个任务问题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1 条当前调用链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3–7 个接口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5–10 条已证实事实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1 个可证伪假设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1 条下一步命令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1A8C17-A8B7-41D9-8F14-78299D14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源码级入口（文档必须能落到这里）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EAAC8A-900D-49EF-BC0F-62F9F18C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71700"/>
            <a:ext cx="81724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52A566-E7C4-4ADD-953F-8E9DE4B8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209800"/>
            <a:ext cx="68389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9F408E-6AC8-4458-89B0-A65EDC860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7495" y="2171700"/>
            <a:ext cx="266966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E71311-7F65-463F-8CCC-21381844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170" y="2209800"/>
            <a:ext cx="253631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文件 / 函数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1C73F6D-D8EE-4A5C-8C87-FEF34A08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7162" y="2171700"/>
            <a:ext cx="19613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6B0ACD9-19E3-4291-8396-6F545672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837" y="2209800"/>
            <a:ext cx="18280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本轮结论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1A57DD-B0DA-4726-A876-751B708C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14600"/>
            <a:ext cx="81724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303AF9-8ED9-4530-89BF-18E83772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2552700"/>
            <a:ext cx="68389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Hook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A77F7A9-9487-4C07-80F0-09E3C071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7495" y="2514600"/>
            <a:ext cx="2669667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049EC41-F6E4-41AA-852E-828519BC5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170" y="2552700"/>
            <a:ext cx="2536317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ohos_rdpgfx_bridge.c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freerdp_ohos_rdpgfx_bridge_attach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D06EEAC-2845-4A71-AC1D-4C1E00F5C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7162" y="2514600"/>
            <a:ext cx="1961388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667D98-9291-4234-8A8D-799D8FB6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837" y="2552700"/>
            <a:ext cx="1828038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保存并替换 StartFrame / SurfaceCommand / EndFrame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48A264-0865-45D6-BD94-D67AA2F2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52775"/>
            <a:ext cx="81724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73CA8F-FB6D-40D6-806D-8C4EE1B3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190875"/>
            <a:ext cx="68389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Policy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E26075-97E7-44F2-B019-98172D68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7495" y="3152775"/>
            <a:ext cx="2669667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A315BB-0D74-4BD3-A059-02BB4D34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170" y="3190875"/>
            <a:ext cx="2536317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ohos_rdpgfx_surface.c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ohos_rdpgfx_surface_command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1E5467D-AA27-4023-B242-8A7ACA22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7162" y="3152775"/>
            <a:ext cx="1961388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064B6E9-949F-4617-847B-834C3AAF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837" y="3190875"/>
            <a:ext cx="1828038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AVC420/444 尝试；未 consumed 则 original callback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90167B5-CD2B-4B57-A155-60CE0510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90950"/>
            <a:ext cx="81724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AFFB4C-08F2-4D99-9A37-6CB038DE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3829050"/>
            <a:ext cx="68389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Compositor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48D92F0-5A9B-4E6F-897F-E0C0799C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7495" y="3790950"/>
            <a:ext cx="2669667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A5D571-3EAF-4DED-9D02-35A2C268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170" y="3829050"/>
            <a:ext cx="2536317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avc420_gpu_compositor.cpp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OnSurfaceCommand / EnqueueSurfaceCommand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E98A2EA-88D3-4588-AC71-222C31D9E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7162" y="3790950"/>
            <a:ext cx="1961388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3763EF-3A72-4366-AEA4-F75F5750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837" y="3829050"/>
            <a:ext cx="1828038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worker、owner、pending present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EE35BA-62E0-48E2-ABF8-4245EC0E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29125"/>
            <a:ext cx="81724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E0E218-A67B-454A-9ED2-9E2AFED4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925" y="4467225"/>
            <a:ext cx="68389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Present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7A61186-5E83-4A0C-997F-59357689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7495" y="4429125"/>
            <a:ext cx="2669667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C6481F9-ED47-463F-A9BA-EA2DF50FD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4170" y="4467225"/>
            <a:ext cx="2536317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avc420_gpu_compositor_internal.cpp</a:t>
            </a:r>
          </a:p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PresentQueuedUpdate / PresentEndFrame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9B0F55C-2662-4EFC-8F43-48DD5D88E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7162" y="4429125"/>
            <a:ext cx="1961388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8F9DF7B-E1B7-43A6-B0CF-789E7416F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837" y="4467225"/>
            <a:ext cx="1828038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matched frameId 后才能 present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FD7DA94-6E41-496C-BBCA-5C8D76C7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14950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1A88D3-B4D9-4BD8-BA1B-85561568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5334000"/>
            <a:ext cx="5276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Reviewer：代码锚点可定位 = PASS；当前运行实际经过哪条 decoder 仍需 runtime evidence。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BAE74BF-4A6F-4D94-8146-E64932E8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22169807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BF6D599-F9D8-4DFF-B040-5F24C7BC5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05 FreeRDP 实战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0EC20-FA65-4412-9769-3A27A57A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 2 份文档：跨平台调研只迁移契约，不照抄平台实现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8E49F2-4772-4418-9FBF-DCF735A9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5AFC4-A1D2-488C-A833-B3CC82DE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B2A29A-249C-4BFC-B965-407C1F69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200150"/>
            <a:ext cx="11163300" cy="504825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7FAFA-8634-403D-AFD7-F86CEBB5C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504825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ED818-19F0-4186-B334-60C2739E7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4775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CA8E1A-A40F-4A56-B412-47AE2527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76350"/>
            <a:ext cx="916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C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677C8"/>
                </a:solidFill>
                <a:latin typeface="Consolas"/>
                <a:ea typeface="Consolas"/>
                <a:cs typeface="Consolas"/>
              </a:rPr>
              <a:t>case-materials/gpu/03-跨平台实现调研.md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D87416-B564-4255-BAC0-A85E07167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257300"/>
            <a:ext cx="1285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72E835-D922-4EA9-8DA9-C519971B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29540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阶段 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93325B-5695-4492-AFC0-D9A36A69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668076-8A1D-4EB1-9EFF-8F03DA66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代码事实对照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D00C38-2512-4028-BF2B-50A3DB58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156591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6B7F9D-FD8B-4126-81A4-7EB406C1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209800"/>
            <a:ext cx="143256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05F84D-2B6F-4696-B177-4B29B40B1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060" y="2171700"/>
            <a:ext cx="2401062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EE45B1-07B3-426A-AE8E-449DA6F1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735" y="2209800"/>
            <a:ext cx="226771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3088E6-1733-4993-B0B6-0ED57C454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122" y="2171700"/>
            <a:ext cx="323621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D7E948-BDCB-47C4-A9DC-9D0F63E0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797" y="2209800"/>
            <a:ext cx="3102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可以迁移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417413C-E79C-4181-8FF4-3F0219E7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336" y="2171700"/>
            <a:ext cx="323621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A99224-F6FF-4B0B-A14D-B72ABE3B4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011" y="2209800"/>
            <a:ext cx="310286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不能照抄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BCB306-907D-43E9-B19F-F26240A0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14600"/>
            <a:ext cx="1565910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C782BC-6B0B-46FD-BE08-2D38D4E6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52700"/>
            <a:ext cx="1432560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FFmpeg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CA6BE8-A73C-441F-A36D-9EBDE63B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060" y="2514600"/>
            <a:ext cx="2401062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935D6F-49CC-48EF-A1CD-52EFCCF8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735" y="2552700"/>
            <a:ext cx="2267712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h264_ffmpeg.c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92DF9E-7645-4424-9BD3-0961A3D6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122" y="2514600"/>
            <a:ext cx="3236214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DE0D85-09D9-4BC1-B52B-32A96A16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797" y="2552700"/>
            <a:ext cx="3102864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fallback、I420/YUV 语义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EC1DD8-08C2-4DAF-9F2C-DDBD8175E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336" y="2514600"/>
            <a:ext cx="3236214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9AD8B6-2ABA-49D5-B986-9A6D48746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011" y="2552700"/>
            <a:ext cx="3102864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软件线程与性能模型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7F0DC6-34F2-4686-A4A5-F783EC51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41320"/>
            <a:ext cx="1565910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AE39D0-1EF4-4649-A799-9DE9F14E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79420"/>
            <a:ext cx="1432560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OpenH264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10CE29-8888-44A7-AEAF-EE5C6DEF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060" y="2941320"/>
            <a:ext cx="2401062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3BED36-9528-4939-94C1-82A486AA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735" y="2979420"/>
            <a:ext cx="2267712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h264_openh264.c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BE5E18D-03D8-4E91-8233-43E0FE41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122" y="2941320"/>
            <a:ext cx="3236214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156573-F88E-4C42-A8DE-92E046EA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797" y="2979420"/>
            <a:ext cx="3102864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正确性基线、解码状态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CCE2B92-E47E-49DF-AFF4-88FB90450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336" y="2941320"/>
            <a:ext cx="3236214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4BB0463-E407-4834-9EFB-F7C5B5B7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011" y="2979420"/>
            <a:ext cx="3102864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输出格式与资源模型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D6DA8A-563D-4545-A66E-9F21C7D2A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68040"/>
            <a:ext cx="1565910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6FBB717-E2E8-4CBE-B0B8-68E9E3AB9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406140"/>
            <a:ext cx="1432560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Media Foundation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C59D46-3BA8-46E2-9B9C-D84684E4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060" y="3368040"/>
            <a:ext cx="2401062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8335BC7-0E50-4052-92BE-7D3A9840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735" y="3406140"/>
            <a:ext cx="2267712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h264_mf.c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16519FA-0EF4-4D62-A6EC-92D13E56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122" y="3368040"/>
            <a:ext cx="3236214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5D29D9-5DF6-447B-991C-56F66C1E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797" y="3406140"/>
            <a:ext cx="3102864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硬解创建、输入、输出、释放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79E3E1-7436-4920-97F4-054777D2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336" y="3368040"/>
            <a:ext cx="3236214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6202AC-C411-4AA8-A36F-0631447A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011" y="3406140"/>
            <a:ext cx="3102864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COM 与 Windows surface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3D9331-5EA9-4093-920F-0253260C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4760"/>
            <a:ext cx="1565910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C379E1-3051-4054-8A83-45D142934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832860"/>
            <a:ext cx="1432560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MediaCodec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DC6D67-428A-41EC-A1D3-BC54D391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060" y="3794760"/>
            <a:ext cx="2401062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19FC5B1-860C-46C7-B466-8722CF86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735" y="3832860"/>
            <a:ext cx="2267712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h264_mediacodec.c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D3B5F08-8391-40B9-8EF1-E7CBBB6F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122" y="3794760"/>
            <a:ext cx="3236214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AA96755-F5B6-4CA6-890A-F6CE368C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797" y="3832860"/>
            <a:ext cx="3102864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移动 buffer 生命周期、format change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9E03471-BDCC-460D-A54F-4FFB640BF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336" y="3794760"/>
            <a:ext cx="3236214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36A81D-C4F7-4372-8B96-3DF5AE24D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011" y="3832860"/>
            <a:ext cx="3102864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Android buffer ID / API 时序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3DCD21A-3066-4B3E-8D48-64DA7856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1480"/>
            <a:ext cx="1565910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EF0896-E06E-48B9-ADD1-7BF81852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259580"/>
            <a:ext cx="1432560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HarmonyOS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610CFD1-1543-4BEF-AB8E-915AD9CD1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060" y="4221480"/>
            <a:ext cx="2401062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15FF387-6347-455E-A618-ACED352B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1735" y="4259580"/>
            <a:ext cx="2267712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h264_ohos_decoder*.c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1283901-9219-4678-830B-64E2FD4D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6122" y="4221480"/>
            <a:ext cx="3236214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B28E2CC-BF9C-4044-9DD1-B60FEF5A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2797" y="4259580"/>
            <a:ext cx="3102864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capability、AVBuffer、stride/plane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2746F5C-4A48-4742-BECC-A0FF7348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2336" y="4221480"/>
            <a:ext cx="3236214" cy="4267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DC04CBC-87D0-4BE6-93DE-7CF14278F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9011" y="4259580"/>
            <a:ext cx="3102864" cy="350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不能替代 owner / dirty rect / EndFrame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9054F45-E0CC-4FA1-A85D-5D8459BA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14900"/>
            <a:ext cx="104394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9E8AA1F-45EF-4262-AC06-ECC495151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017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两条路径必须分开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02778E0-022A-49AD-A4FB-E0171B24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6732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148E0F-5D61-476B-A6C9-B2229059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72100"/>
            <a:ext cx="10172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原生回退：gdi_SurfaceCommand → H264_CONTEXT_SUBSYSTEM → GDI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GPU 接管：OHOS RDPGFX bridge → App compositor → OH_AVCodec → retained composite → EndFrame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8BE6D2E-86B2-430A-84A8-D113CEAE0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206154974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AA50B92-FE61-4A78-8B9E-1E81A1AA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05 FreeRDP 实战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97CAB-2C82-4169-AB9B-017CE999F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 3 份文档：ADR 把接管、显示边界和回退规则写死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54776-D883-499A-82FB-99BABD23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10AEC8-D0DE-4A43-ABFA-28C2DE9E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9B75F2-242E-4F9D-8FDF-71C0FEBF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200150"/>
            <a:ext cx="11163300" cy="504825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1F1E47-B014-442F-8679-9716076E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504825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C9F91-89B1-4FE2-B83D-BF013820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4775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4C58E-90A8-4EEF-B49C-BCA2E38A3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76350"/>
            <a:ext cx="916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C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677C8"/>
                </a:solidFill>
                <a:latin typeface="Consolas"/>
                <a:ea typeface="Consolas"/>
                <a:cs typeface="Consolas"/>
              </a:rPr>
              <a:t>case-materials/gpu/04-ADR-GPU-001-HarmonyOS硬解方案.md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36F05-4B8C-4621-9A76-E09B7374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257300"/>
            <a:ext cx="1285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BA4825-2F64-4C98-A188-9ED29EFBA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29540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Accepted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A74164-5157-4E0B-B49A-F5753B22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2BCC3-AD84-4B90-A9EC-05E89DD9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Decision（摘录）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B9289F-4A6C-462F-8C2F-B720C4F5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1. OHOS RDPGFX bridge 保存并替换 StartFrame / SurfaceCommand / EndFrame，原回调保留为 GDI fallback。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2. App compositor 直接管理 OH_AVCodec、OH_NativeBuffer、retained composite、worker 与 owner。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3. 只有校验、target、decode/composite、pending present 全部成立，才允许 consumed 并 suppress GDI。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4. 真正交换只发生在 pendingFrameId 匹配的 EndFrame。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3B5C08-167D-4079-840C-3E6ED122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809750"/>
            <a:ext cx="4953000" cy="2647950"/>
          </a:xfrm>
          <a:prstGeom xmlns:a="http://schemas.openxmlformats.org/drawingml/2006/main" prst="roundRect">
            <a:avLst>
              <a:gd name="adj" fmla="val 2878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CECD44-B61C-4A92-90EB-830CE759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05000"/>
            <a:ext cx="4686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方案调用链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CE32EC-0F1F-491F-8D7F-723C42678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4686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72AE50-6224-4AB0-AF76-66F16B8A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66950"/>
            <a:ext cx="46863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RDPGFX SurfaceCommand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OHOS bridge 校验与 candidate policy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├─ GPU ready → App compositor → OH_AVCodec → OH_NativeBuffer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│  → retained composite → pendingFrameId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│  → matched EndFrame → RenderOutputOwner → EGL present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└─ not consumed / takeover 前失败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88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   → original SurfaceCommand → gdi_SurfaceCommand → H264 subsystem / GDI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EB1DA4-D93A-48DC-B024-AB7D9AD06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313182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686A31-2DB6-4740-93CA-DAA76FA4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705350"/>
            <a:ext cx="29984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Alternative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ADABFA-96DD-40E1-BAEB-1381215F0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970" y="4667250"/>
            <a:ext cx="1879092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AFB7DF-5889-4924-B209-A37EA3A3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645" y="4705350"/>
            <a:ext cx="174574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BD0031-3FCE-4CD4-B73C-1EE06A34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062" y="4667250"/>
            <a:ext cx="542848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BAB64A-CCE2-43B0-9FFD-4580FEED3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737" y="4705350"/>
            <a:ext cx="529513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原因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A2CE07-1A32-4A56-B4E3-BD6DFF92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10150"/>
            <a:ext cx="3131820" cy="29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4104C4-48C0-4276-B5C3-A4A2402B4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048250"/>
            <a:ext cx="299847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App 旁路字节直送 Surface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B36FEE-4D79-47B3-A2F5-51D4E90C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970" y="5010150"/>
            <a:ext cx="1879092" cy="29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9166A5-052F-432B-B300-A58C19C6D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645" y="5048250"/>
            <a:ext cx="1745742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Reject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B9F8AD-691A-4DCC-A9CE-EE737B7C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062" y="5010150"/>
            <a:ext cx="5428488" cy="29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82E580-7E84-4AA4-9EB9-75CB2B40C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737" y="5048250"/>
            <a:ext cx="5295138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绕开 dirty rect、AVC444 LC、EndFrame 与 fallback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773436-BAC1-4971-A74A-8F333011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2250"/>
            <a:ext cx="3131820" cy="29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6257414-83F9-456E-84DB-94A2A3BB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340350"/>
            <a:ext cx="299847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只替换 H264_CONTEXT_SUBSYSTEM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574DEF-F580-46DE-9BFA-A1084B47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970" y="5302250"/>
            <a:ext cx="1879092" cy="29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454B0D-485E-4DD5-84D4-F9B85BA9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645" y="5340350"/>
            <a:ext cx="1745742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Reject as complete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2A0C8A-8F3B-4C17-B809-47F168DF4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062" y="5302250"/>
            <a:ext cx="5428488" cy="29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4C8CEB-E11B-473A-B8ED-E7021BBF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737" y="5340350"/>
            <a:ext cx="5295138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解决 decoder backend，不解决 GPU owner / retained / present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A03A45-BE0B-4DFE-B8A0-CDF35BE2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94350"/>
            <a:ext cx="3131820" cy="29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860805-E322-48E1-968E-43C30F172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632450"/>
            <a:ext cx="2998470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完整 zero-copy AVC444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02630EC-6416-435E-B155-8D18A114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970" y="5594350"/>
            <a:ext cx="1879092" cy="29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A6FE61-6ED7-4AB5-BF52-D7093C3D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645" y="5632450"/>
            <a:ext cx="1745742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Defer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A283716-6172-4BC1-B84C-44A5A886E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0062" y="5594350"/>
            <a:ext cx="5428488" cy="29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A0CD85-9353-480F-8ED4-35BB23CD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6737" y="5632450"/>
            <a:ext cx="5295138" cy="21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同时引入 codec、plane、surface、shader 等变量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85B26EE-A9D0-4106-989F-4E4A61DF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205434612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62F8145-88E2-404D-A2DA-423BC40E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05 FreeRDP 实战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7CBBC6-1396-4760-90A8-9230695A2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 4 份文档：先用 SP-01..05 穿刺一帧，再决定是否展开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EC6DE-BE36-4A32-8B22-BEA024A3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3397A7-7A7B-49B1-91D2-0FC0B240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0F392-3D65-4A1C-B7B8-93B32C2FE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200150"/>
            <a:ext cx="11163300" cy="504825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BEE1D-D0D0-4427-93CB-4DA780E41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504825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21090B-1C17-48EF-99A9-7D558AAA2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4775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EB9E41-6B35-4D9D-A2D0-4599F740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76350"/>
            <a:ext cx="916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C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677C8"/>
                </a:solidFill>
                <a:latin typeface="Consolas"/>
                <a:ea typeface="Consolas"/>
                <a:cs typeface="Consolas"/>
              </a:rPr>
              <a:t>case-materials/gpu/05-最小能力穿刺计划.md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EF958-68F2-4E1D-A56A-1AAA017B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257300"/>
            <a:ext cx="1285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1DCA31-0795-4C8B-BB99-6D23C4B2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29540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阶段 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87F7B8-3F6D-4203-8769-2067D2646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A3C11C-1F0D-4646-8753-3BF77637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最小能力穿刺步骤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9DAFBA-8273-4CCB-841B-5C2B2D62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939546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5B32A9-ABB2-414E-9157-CA610741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190750"/>
            <a:ext cx="80619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609DD6-56ED-4883-8A8B-1230F3C85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696" y="2152650"/>
            <a:ext cx="313182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C9F56B-2954-46F2-94F4-B9FE7492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371" y="2190750"/>
            <a:ext cx="29984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动作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35EE51-BCB9-4355-913D-341F61AA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516" y="2152650"/>
            <a:ext cx="3445002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EFFEBF-56B8-42FE-858B-3B862ED0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191" y="2190750"/>
            <a:ext cx="331165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PASS 证据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11C04A-3C54-4699-AE62-1B221308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5518" y="2152650"/>
            <a:ext cx="2923032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1EE5E3-8BD0-4F5B-B710-8E5C72687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193" y="2190750"/>
            <a:ext cx="27896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FAIL / UNKNOWN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604462-908C-477D-A6DE-AA207311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939546" cy="461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B1415F-03B3-445E-9087-46B7E41D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33650"/>
            <a:ext cx="806196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SP-01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B1093EF-2380-42F3-9685-16CC72909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696" y="2495550"/>
            <a:ext cx="3131820" cy="461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320E63-88E7-41E4-8E38-FC9757C66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371" y="2533650"/>
            <a:ext cx="299847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bridge + compositor 进入 arm64 / HAP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B02C31-D860-47B5-8E98-3AFE82E86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516" y="2495550"/>
            <a:ext cx="3445002" cy="461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26D95A-66E5-4260-9B65-65A632B7E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191" y="2533650"/>
            <a:ext cx="3311652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build、symbol、产物身份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9941BF-06F8-459C-A2A6-73D4FCF6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5518" y="2495550"/>
            <a:ext cx="2923032" cy="461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40D54F-BDB7-4DFD-84D0-729A657C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193" y="2533650"/>
            <a:ext cx="2789682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旧库或 bridge 未入产物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DF2D68-6A60-429D-91B8-94DB946BF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6560"/>
            <a:ext cx="939546" cy="461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A5C654-DA3C-4BBE-A783-B24640EC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94660"/>
            <a:ext cx="806196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SP-02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5EB7D2-F388-4BEE-AE19-1B5AD8422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696" y="2956560"/>
            <a:ext cx="3131820" cy="461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97B288-0E21-49F1-BD7C-E7825EF3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371" y="2994660"/>
            <a:ext cx="299847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真机创建 hardware decoder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1252EEA-80FE-4DB1-B88A-20EA3B6BF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516" y="2956560"/>
            <a:ext cx="3445002" cy="461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E10C135-8F66-4B3A-B097-D5A20062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191" y="2994660"/>
            <a:ext cx="3311652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capability、decoder name、start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ABD0145-C444-4C0B-B2F2-987751E7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5518" y="2956560"/>
            <a:ext cx="2923032" cy="461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83E5F1D-31F2-4AA9-966C-99257D54B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193" y="2994660"/>
            <a:ext cx="2789682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仍选择软件路径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07D815-E710-4A3F-907D-AD14572D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17570"/>
            <a:ext cx="939546" cy="461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37132D-D337-49BF-ADA8-CAFD53667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455670"/>
            <a:ext cx="806196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SP-03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21270E3-1365-4E1C-BA45-FC0B3AF2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696" y="3417570"/>
            <a:ext cx="3131820" cy="461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638B99-DDFB-4AD4-98E8-87B28F69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371" y="3455670"/>
            <a:ext cx="299847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输入一个 AVC420 sample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F0A50CE-9327-4852-B786-B8B563E7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516" y="3417570"/>
            <a:ext cx="3445002" cy="461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C4FBAB-4EE9-48BA-BF69-C2306E603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191" y="3455670"/>
            <a:ext cx="3311652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frameId、bytes、queue result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4715B9D-7140-4A97-B8E6-2380869AF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5518" y="3417570"/>
            <a:ext cx="2923032" cy="461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00B1F33-FB0F-42CF-99C2-B6C5BF93C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193" y="3455670"/>
            <a:ext cx="2789682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输入拒绝或不可关联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8B6D1D7-4053-4FB7-859E-8AB3990A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78580"/>
            <a:ext cx="939546" cy="461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DB2C4A-B8BF-49F8-A7F4-58C3E548B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916680"/>
            <a:ext cx="806196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SP-04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C2F71A3-9D2A-4C3B-9708-06BBA94D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696" y="3878580"/>
            <a:ext cx="3131820" cy="461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042534-6CFF-4F5F-8A84-D227713D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371" y="3916680"/>
            <a:ext cx="299847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native output + matched EndFrame 显示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29B4737-E5A2-4E7F-8518-51DC7761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516" y="3878580"/>
            <a:ext cx="3445002" cy="461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06774AB-BFA4-4D07-9B81-9E2E42C8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191" y="3916680"/>
            <a:ext cx="3311652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format/stride/planes、owner、present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8A95F1-7C2D-4C59-9FF8-57599F22A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5518" y="3878580"/>
            <a:ext cx="2923032" cy="461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E11CBD-39CD-425C-B8E8-A9D8946D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193" y="3916680"/>
            <a:ext cx="2789682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只看到 callback 成功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FF80DD1-D88B-49E0-AF6A-DE69BEC8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39590"/>
            <a:ext cx="939546" cy="461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14743F-B5D8-4077-AE6A-FAC2779E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377690"/>
            <a:ext cx="806196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SP-05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07AFD97-B776-4A48-BC02-86B1A1A7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8696" y="4339590"/>
            <a:ext cx="3131820" cy="461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DA26957-C789-408A-81B6-EBA2AF2B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5371" y="4377690"/>
            <a:ext cx="2998470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takeover 前失败与恢复策略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AFFDDEB-C758-48A0-BE67-16F951937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0516" y="4339590"/>
            <a:ext cx="3445002" cy="461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13E3ED7-3803-4403-8E37-3ACE44B1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7191" y="4377690"/>
            <a:ext cx="3311652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reason、consumed=false、original callback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5F60CB9-8284-4D6F-B2AB-A6CF3FC3D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5518" y="4339590"/>
            <a:ext cx="2923032" cy="46101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3341A5-926E-487E-A717-08C38842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2193" y="4377690"/>
            <a:ext cx="2789682" cy="3848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吞错、双写或黑屏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A735C1F-A213-47F6-972C-B92117CE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67300"/>
            <a:ext cx="104394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A8C18EB-6806-45C5-B25A-F4CA3344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62550"/>
            <a:ext cx="1017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每次穿刺的证据包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090361C-1A47-45D1-8760-769ADD4E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972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3B2C93B-D155-45B0-854E-3825B636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24500"/>
            <a:ext cx="10172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8337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spike/&lt;runId&gt;/  identity.json · build.log · selected-decoder.log · input-output-frame.log · output-description.json · present.log · fallback-injection.log · verdict.md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CDF8E13-E4EE-4F82-8069-AF5D62E7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75790433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1474D85-C16C-4D17-83CB-26F5F9CF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05 FreeRDP 实战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78AB0-A5C7-49C1-AEBB-66D1817A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第 5 份文档：任务按风险闭环拆，不按模块或文件数平均分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77C6A5-1EBA-46B3-9A00-10D43DAE2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D01834-1F95-4FAE-90A6-525786D7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AF4282-EDE3-415B-B76B-3EC0A2BB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200150"/>
            <a:ext cx="11163300" cy="504825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5EE9FD-0AD5-4710-89D0-71DB3D14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504825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EE1F6-1F2A-471E-B032-EC41073C1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4775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139CE-F58E-4DB2-BC63-92A94AE9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76350"/>
            <a:ext cx="916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C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677C8"/>
                </a:solidFill>
                <a:latin typeface="Consolas"/>
                <a:ea typeface="Consolas"/>
                <a:cs typeface="Consolas"/>
              </a:rPr>
              <a:t>case-materials/gpu/tasks/README.md + T-GPU-03.md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D1B70-A540-4AF2-8A6B-A7809F6D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257300"/>
            <a:ext cx="1285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D8D436-6BEB-402E-8D8D-BD758AB6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29540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Task Cards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80BC3B-F69D-4035-96F1-55E91BEDE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1B8644-7C4B-4598-BB82-0302D7699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依赖顺序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A520CB-DE9D-4F38-82BA-1A1122AAB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33600"/>
            <a:ext cx="104394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C468A4-F33F-4D0E-A7B5-55925573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10172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1677C8"/>
                </a:solidFill>
                <a:latin typeface="Microsoft YaHei"/>
                <a:ea typeface="Microsoft YaHei"/>
                <a:cs typeface="Microsoft YaHei"/>
              </a:rPr>
              <a:t>tasks/README.md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E281B0-D03F-4EFF-8A64-4FBB6587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10172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0AE89B-EF9D-471F-BF46-929FB108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90800"/>
            <a:ext cx="10172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738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125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T00 baseline → T01 decoder selection → T02 one-frame output → T03 display owner → T04 continuous queue → T05 lifecycle recovery → T06 AVC444 semantics → T07 final acceptance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2AE16-BA31-49F1-81B5-D74279A31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194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示例任务卡：T-GPU-03｜一帧进入正确显示 Owner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D6889A-D929-4DA9-9A97-31964B573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208788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24B4EC-55B7-4C1E-AC40-2CB28C30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619500"/>
            <a:ext cx="195453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E64E5C-9504-41B6-A9E8-C8FBCA5B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3581400"/>
            <a:ext cx="835152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97CB54-3D9F-49E8-923D-DFF399D86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" y="3619500"/>
            <a:ext cx="821817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文档内容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BF30CF-5B91-49F7-9680-5C58B490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24300"/>
            <a:ext cx="2087880" cy="39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602A14-9F1C-40D5-B5F4-0D868BDA5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962400"/>
            <a:ext cx="1954530" cy="3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Source Scope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A59BBC-E92E-43C6-B14F-233FCE86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3924300"/>
            <a:ext cx="8351520" cy="39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B690EF-7414-4AE7-82BD-88004B382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" y="3962400"/>
            <a:ext cx="8218170" cy="3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candidate policy、OnSurfaceCommand、ProcessCommand、PresentEndFrame、PresentQueuedUpdate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D6163D-D309-4447-A11D-168B45FF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16730"/>
            <a:ext cx="2087880" cy="39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DAD070-E7FB-43F4-9F43-38DA0044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354830"/>
            <a:ext cx="1954530" cy="3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Requirement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CEBF5CE-E95A-410D-B49B-B857F9236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4316730"/>
            <a:ext cx="8351520" cy="39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6B474C-BC21-42EA-9EAC-C6387BA9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" y="4354830"/>
            <a:ext cx="8218170" cy="3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T02 输出沿 bridge 到达唯一 render owner，并在正确边界 present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387AE2-7B05-40BA-8C32-A3C65B5F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709160"/>
            <a:ext cx="2087880" cy="39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B2400E-0676-4EA8-A976-965504C9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747260"/>
            <a:ext cx="1954530" cy="3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Allowed / Forbidden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EC3294-C82D-4D37-AEBD-EBDCA95F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4709160"/>
            <a:ext cx="8351520" cy="39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8058C9-07FB-42BC-BE49-FF824A58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" y="4747260"/>
            <a:ext cx="8218170" cy="3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只允许 bridge、owner、present diagnostics 与最小接线；禁止性能优化、AVC444 LC、输入系统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04D0F2-04B0-4D5D-B1C7-C19548585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101590"/>
            <a:ext cx="2087880" cy="39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3D3DAE-BDF1-448D-BA8C-28001D56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139690"/>
            <a:ext cx="1954530" cy="3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Verify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E31812-924F-4DF9-AA1C-A844A1FD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5101590"/>
            <a:ext cx="8351520" cy="39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58AC2F-0ABD-49D2-B83C-56AE153AF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" y="5139690"/>
            <a:ext cx="8218170" cy="3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同一 frameId 的 decoder output、owner claim、target generation、EndFrame present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79D8933-7A76-4468-BF86-E3552DAC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94020"/>
            <a:ext cx="2087880" cy="39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8E362E-9226-4850-8F60-78AF06AE5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532120"/>
            <a:ext cx="1954530" cy="3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Stop / Exit Gate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B55C04-62D3-4BF1-ABF3-98FF531F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030" y="5494020"/>
            <a:ext cx="8351520" cy="392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F33B180-B799-45D7-96B2-02DFDCAD3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705" y="5532120"/>
            <a:ext cx="8218170" cy="3162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出现 GDI/GPU 双写或旧 target 未拒绝即 FAIL；decode 后直接 swap 不得判 PASS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CCAE3A-3EE7-4733-8EE8-5064F99B4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48875318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A0580E3-FF8B-47BD-AFDD-1A6ECFC1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05 FreeRDP 实战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3A7311-3B90-41CE-91A3-B5E19D85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文档怎样协同：每次交接都要留下可审查的下一步输入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FFEAE0-0C23-4ABE-BA76-810596AD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A74269-281B-4E91-976A-373B12F94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0E6FC6-89EC-4F6C-B113-4CDCB84C2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00150"/>
            <a:ext cx="286283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FFEB54-1E99-4AC3-BF6D-E7677E9CB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238250"/>
            <a:ext cx="272948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479FCE-5F04-4E4F-944B-BCF88E0A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384" y="1200150"/>
            <a:ext cx="2532507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6D1B54-4623-465E-96E9-5BCD3C3C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059" y="1238250"/>
            <a:ext cx="2399157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主要责任人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380A9A-6A1F-447E-A6AB-AF85068BF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891" y="1200150"/>
            <a:ext cx="5615559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E0FBF0-DF13-4D1F-BFD8-56B08C3F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566" y="1238250"/>
            <a:ext cx="5482209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交给下一步的可审查产物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DBBD02-94E9-4FFE-AE46-0952270F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43050"/>
            <a:ext cx="2862834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F9C4EF-CC65-499A-B45D-E9041927B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581150"/>
            <a:ext cx="2729484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01 问题与基线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7292A6-0224-4EF0-B8CC-8B50298D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384" y="1543050"/>
            <a:ext cx="2532507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880BB9-8560-4D00-B802-23C683F75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059" y="1581150"/>
            <a:ext cx="2399157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Human / Planner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D373AB-3810-40F1-A637-CFD68174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891" y="1543050"/>
            <a:ext cx="5615559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5A6EBF-17A3-4E5A-B9E1-EFBF829D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566" y="1581150"/>
            <a:ext cx="5482209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冻结事实、假设与 before 契约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805A24-F960-4E38-B9FC-3FA7E2B1A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2000"/>
            <a:ext cx="2862834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6CD3B0-F9F8-483A-A94D-023816FC9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070100"/>
            <a:ext cx="2729484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02 代码认知地图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7EFC3E-A8B7-4F98-A4C1-988935A31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384" y="2032000"/>
            <a:ext cx="2532507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52102D-E368-46C3-8AEE-61E926F4A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059" y="2070100"/>
            <a:ext cx="2399157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Explorer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464CF6-3737-4A21-B31F-7021A35FD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891" y="2032000"/>
            <a:ext cx="5615559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CC5F44-19DA-401C-9BF5-307A4B0C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566" y="2070100"/>
            <a:ext cx="5482209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给出文件、函数、调用链与上下文预算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A7281E-A368-42CF-8D6A-8928AAA5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0950"/>
            <a:ext cx="2862834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62F217-6633-4393-B54B-04B1493F2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559050"/>
            <a:ext cx="2729484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03 调研 + 04 ADR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758BF71-5CAF-4059-84B4-B9C86453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384" y="2520950"/>
            <a:ext cx="2532507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77A97B-2AD4-4016-9D36-35DCDEE5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059" y="2559050"/>
            <a:ext cx="2399157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Explorer + Reviewer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A97FD5-126D-4B23-84C9-7F25F933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891" y="2520950"/>
            <a:ext cx="5615559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8B7737-CC78-48DA-9A0C-6F52E05FC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566" y="2559050"/>
            <a:ext cx="5482209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对照成熟契约，冻结 Decision / Deferred / Fallback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37688D7-3C39-45CE-88D3-96DBEBA6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09900"/>
            <a:ext cx="2862834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3DC7A9A-98D6-47EC-89A0-C73EE5D6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048000"/>
            <a:ext cx="2729484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05 最小穿刺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D52121-145D-4267-96AE-F5A5679C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384" y="3009900"/>
            <a:ext cx="2532507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860DF3-15DF-47BD-8B44-CC4E030F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059" y="3048000"/>
            <a:ext cx="2399157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Implementer + Tool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478E14-9206-4880-90C5-61F09138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891" y="3009900"/>
            <a:ext cx="5615559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7A2E69A-77F2-444E-B9A9-338B0B59C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566" y="3048000"/>
            <a:ext cx="5482209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用一个 runId 验证最危险接口边界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71D3705-3005-4A66-93B7-9A9EDB36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98850"/>
            <a:ext cx="2862834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9799A5-FDBF-4A64-BD7E-1818B4A1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536950"/>
            <a:ext cx="2729484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tasks/T-GPU-*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158146-BFE0-45DB-9F41-D51DFA41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384" y="3498850"/>
            <a:ext cx="2532507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79A3F7-4082-44C1-8481-A3AB8EB0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059" y="3536950"/>
            <a:ext cx="2399157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Planner + Implementer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3CD550D-DD03-410B-8983-914D8409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891" y="3498850"/>
            <a:ext cx="5615559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4E4A6C-A089-404D-B885-083545484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566" y="3536950"/>
            <a:ext cx="5482209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把验证结果拆成可停止的任务卡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AAAAF3-7BD7-4589-9D33-3F0BAFAB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87800"/>
            <a:ext cx="2862834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3CFE4B5-FE15-43A1-B37B-BA959B7C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25900"/>
            <a:ext cx="2729484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06 验收 + 07 排障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38278A-38F3-423B-B70A-D666CE89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3384" y="3987800"/>
            <a:ext cx="2532507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98B65E2-C9BD-4A7A-96ED-0B2A4A8F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059" y="4025900"/>
            <a:ext cx="2399157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Reviewer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81C1B62-1928-4AD8-9949-19607963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891" y="3987800"/>
            <a:ext cx="5615559" cy="48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407E1A1-F0DB-402A-819A-D06CE49E4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2566" y="4025900"/>
            <a:ext cx="5482209" cy="41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独立判 PASS / FAIL / UNKNOWN，并写回下一轮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2BABE68-C23E-490F-A9F5-9EA0A726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57750"/>
            <a:ext cx="8953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964C0B6-92C7-43CA-A522-5965DFEB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868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rPr>
              <a:t>一次协同的最小交接包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09A7F0-635B-47E1-B58D-03C16231C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210175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7C276F1-C273-4966-A492-C05ACC18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314950"/>
            <a:ext cx="868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748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00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task.md + source scope + current call chain + falsifiable hypothesis + verify command + evidence path + verdict + next task / stop reason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18CDC0A-E7F6-4A17-A5F7-C768C42C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4F3DE89-87D4-4413-828E-D98C1F31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5924550"/>
            <a:ext cx="878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AI 的上下文不是“把仓库读完”，而是让文档承担长期记忆，让每个角色只拿到当前任务所需证据。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0DD8E0B-E773-46F3-BD25-6793FE8A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26666994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13CC53-DA50-43A8-B0CE-40F1447B6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05 FreeRDP 实战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303857-FE01-4BF8-A1C9-95FAEDDE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排障案例 1/3：先描述黑屏现象，不抢答根因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6BAF8-6FCF-4D64-85BA-9B290CC7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E8B9AB-169C-4EF1-95FB-356F4C1B3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aa3ef3d4894096"/>
          <a:srcRect xmlns:a="http://schemas.openxmlformats.org/drawingml/2006/main" l="22222" t="0" r="2222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1162050"/>
            <a:ext cx="5715000" cy="428625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3AE7E7-E8A7-429D-9598-4AABEB5E1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5715000" cy="4286250"/>
          </a:xfrm>
          <a:prstGeom xmlns:a="http://schemas.openxmlformats.org/drawingml/2006/main" prst="roundRect">
            <a:avLst>
              <a:gd name="adj" fmla="val 2222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71113B-8387-4A69-8463-B103CB2F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33500"/>
            <a:ext cx="2571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4B4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56A67-BD5D-4E41-B69B-5A78997B5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371600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rPr>
              <a:t>MEDIA FACT｜某次运行出现黑屏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3F6AD-83F3-4F87-B67C-7406005E8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57150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C84B4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B81F50-6B57-4FD7-90B0-E64EDF49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72150"/>
            <a:ext cx="5295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85984"/>
          </a:bodyPr>
          <a:lstStyle xmlns:a="http://schemas.openxmlformats.org/drawingml/2006/main"/>
          <a:p xmlns:a="http://schemas.openxmlformats.org/drawingml/2006/main">
            <a:pPr algn="ctr">
              <a:defRPr sz="1163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rPr>
              <a:t>这段视频不能单独证明：decoder 未输出、stride/plane 错误、owner 错误，或 EndFrame 未 present。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3AF531-D931-4C74-A804-AC267747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238250"/>
            <a:ext cx="5105400" cy="504825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0371F0-34A6-4A98-81AC-2FE9790E4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62050"/>
            <a:ext cx="5105400" cy="504825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A6101F-19BA-4265-A25C-680FA68A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162050"/>
            <a:ext cx="104775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99A0E8-CF7A-4C3F-BE30-4C2C21C4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314450"/>
            <a:ext cx="3105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90236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C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677C8"/>
                </a:solidFill>
                <a:latin typeface="Consolas"/>
                <a:ea typeface="Consolas"/>
                <a:cs typeface="Consolas"/>
              </a:rPr>
              <a:t>case-materials/gpu/07-开发排障复盘.md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EF94ED-AA41-40EA-BFAF-83E8618D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295400"/>
            <a:ext cx="1285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9C78B8-6334-41B2-B5BD-DD511B89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33350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现象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2BB3DE-E21E-4B23-8703-84EA5B72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676400"/>
            <a:ext cx="457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B15A05-4A3A-46B5-8CB2-0CD2E561D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90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早期判断为什么会误导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3A9F50-58C3-4648-BEB3-64A5FB9A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152650"/>
            <a:ext cx="215798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B1E081-F24F-4277-BD98-FF98A3B7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190750"/>
            <a:ext cx="202463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看起来合理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DD5735-5282-478C-BA59-D43082698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5034" y="2152650"/>
            <a:ext cx="2337816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CC758E-B3AA-416B-8ED4-65D62D9C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709" y="2190750"/>
            <a:ext cx="220446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必须补的反证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912BA6-5916-4B6F-ADAF-A3986FAAF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95550"/>
            <a:ext cx="215798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9238BB-1E6F-446A-842F-7385A650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2533650"/>
            <a:ext cx="202463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decoder create 成功 = 接入完成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DE7553-DA60-4F03-B7D8-CF55A611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5034" y="2495550"/>
            <a:ext cx="233781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8BAF00-98F6-404C-8593-899FF76F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709" y="2533650"/>
            <a:ext cx="2204466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可能没有输出，或仍走旧 GDI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D0D856-1357-4312-A795-13511B08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09900"/>
            <a:ext cx="215798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3E785A-C3EE-4714-936D-96B33257F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048000"/>
            <a:ext cx="202463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截图正常 = renderer 正确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F2F42B9-CF65-4C6A-8417-91CA7669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5034" y="3009900"/>
            <a:ext cx="233781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3C4EF8-9874-4944-9B23-B6AF5FFD0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709" y="3048000"/>
            <a:ext cx="2204466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下一帧可能黑屏、闪烁或被旧帧覆盖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F78DFA-51C5-4EEE-A2B0-3473B99A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24250"/>
            <a:ext cx="215798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1C44B2-E0CC-4C6C-A1DF-499512C1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562350"/>
            <a:ext cx="202463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command 完成立刻 present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7D9D73-D016-45E2-BA94-178FF8ECC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5034" y="3524250"/>
            <a:ext cx="233781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B4A2710-9C30-4F19-B705-5EB12D15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709" y="3562350"/>
            <a:ext cx="2204466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可能违反 EndFrame 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C9AA5B-4E88-4267-A888-886F19E2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038600"/>
            <a:ext cx="2157984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389F75-6286-4E7A-8634-7BBA131B6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4076700"/>
            <a:ext cx="2024634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GPU 开启就 suppress GDI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8688C9-D265-4AFF-ACF8-CDB4E2E7D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5034" y="4038600"/>
            <a:ext cx="2337816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B1445A-4EBB-48C3-BE4B-0BA7F7C1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709" y="4076700"/>
            <a:ext cx="2204466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takeover 未完成时会失去 fallback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341C81-84E9-40C5-9FE1-875D039F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953000"/>
            <a:ext cx="571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B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3E29AC-5A28-4F59-BA9F-953A56BB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972050"/>
            <a:ext cx="4324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本轮结论：只确认“黑屏现象存在”；根因仍是 UNKNOWN。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B291E5-4F2A-44B0-83CE-2615F970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970459614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54E922A-A94F-46AE-8DA0-D98AD3ACA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05 FreeRDP 实战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E09179-09F8-4E4C-903B-E4B18310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排障案例 2/3：沿同一 frame 找到第一处异常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140AB4-43CA-4B61-8471-C68377876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56F6B-249E-413C-B2AA-E103AF273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E974B8-FD73-4B09-9AB8-41FB1CB0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200150"/>
            <a:ext cx="11163300" cy="504825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F9749E-790D-4894-9E03-1223CD1A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504825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AD68CE-F845-4FE0-B89A-7386C802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4775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53115-4D0E-4FEC-97D9-6E8A1F54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76350"/>
            <a:ext cx="916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C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677C8"/>
                </a:solidFill>
                <a:latin typeface="Consolas"/>
                <a:ea typeface="Consolas"/>
                <a:cs typeface="Consolas"/>
              </a:rPr>
              <a:t>case-materials/gpu/07-开发排障复盘.md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0B435-AB26-4564-8133-EFBF660D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257300"/>
            <a:ext cx="1285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93B31D-7D78-45F9-B57F-51C121C0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29540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AF1107-3374-4F0B-9247-F5A4C2979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F00454-E404-47D5-A35F-5A0ACFC61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最早异常表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6C87DD-37A8-45BA-935A-B419087A5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40005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4F6F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26DFA6-47AE-442C-8B3A-94CA373FA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47900"/>
            <a:ext cx="3733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7157B8"/>
                </a:solidFill>
                <a:latin typeface="Microsoft YaHei"/>
                <a:ea typeface="Microsoft YaHei"/>
                <a:cs typeface="Microsoft YaHei"/>
              </a:rPr>
              <a:t>Stop → Preserve → Locate → Falsify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CA0B02-C1CB-4870-B2C1-1D07F5D47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05075"/>
            <a:ext cx="3733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C9D323-C919-4268-BD8A-6745DFB8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9850"/>
            <a:ext cx="37338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38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command received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38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subsystem selected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38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input queued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38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decoded output valid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38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format / stride / planes valid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38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retained / dirty state applied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38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owner correct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38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EndFrame present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238" b="0">
                <a:solidFill>
                  <a:srgbClr val="293247"/>
                </a:solidFill>
                <a:latin typeface="Consolas"/>
                <a:ea typeface="Consolas"/>
                <a:cs typeface="Consolas"/>
              </a:defRPr>
            </a:pPr>
            <a:r>
              <a:rPr sz="1238" b="0">
                <a:solidFill>
                  <a:srgbClr val="293247"/>
                </a:solidFill>
                <a:latin typeface="Consolas"/>
                <a:ea typeface="Consolas"/>
                <a:cs typeface="Consolas"/>
              </a:rPr>
              <a:t>→ next frame continues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B5A4B-D1C9-48DE-A850-7EC88DF0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90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同一 runId / frameId 的证据行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20A3E-E883-4630-8EBF-B53AC572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52650"/>
            <a:ext cx="2528316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B9F20-1B69-4A99-A61C-75C7F3D6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190750"/>
            <a:ext cx="2394966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CB25D3-256F-4D08-B230-7C440217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066" y="2152650"/>
            <a:ext cx="2046732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B91F965-5897-489D-AE47-5D9E8130E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741" y="2190750"/>
            <a:ext cx="19133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当前值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EB9A1E-0FB2-4382-ACCB-62C1DACB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798" y="2152650"/>
            <a:ext cx="1444752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5E104D-788D-45B3-8B4D-4FC494D6D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473" y="2190750"/>
            <a:ext cx="131140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3E6EFA-B1F4-4A91-981B-91356CF1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95550"/>
            <a:ext cx="2528316" cy="38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66A8FA-88F7-4007-99CA-5036AB8B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533650"/>
            <a:ext cx="2394966" cy="30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command received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7956E8-CF70-46C7-A994-5A1F3A9E2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066" y="2495550"/>
            <a:ext cx="2046732" cy="38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0302B6-BF20-4B48-8556-A20E8F524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741" y="2533650"/>
            <a:ext cx="1913382" cy="30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________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7B8DCFB-2CC6-4010-9E3A-8F25D665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798" y="2495550"/>
            <a:ext cx="1444752" cy="38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0C77FA-FBBC-4210-A360-EA839CD1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473" y="2533650"/>
            <a:ext cx="1311402" cy="30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PENDING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58822C-EAE5-4F3F-96BD-7834D1B37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79725"/>
            <a:ext cx="2528316" cy="38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CA0E50E-A514-4146-B464-F3BE13C14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917825"/>
            <a:ext cx="2394966" cy="30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decoder selected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CFA299-D7EC-4119-99EC-B55491BA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066" y="2879725"/>
            <a:ext cx="2046732" cy="38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78BA39F-9136-42B1-929C-81CB5B70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741" y="2917825"/>
            <a:ext cx="1913382" cy="30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________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95F1C7E-64BF-4589-AF11-04FA74857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798" y="2879725"/>
            <a:ext cx="1444752" cy="38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E2D5BD-3C49-4CF6-BC74-55BDB3F7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473" y="2917825"/>
            <a:ext cx="1311402" cy="30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PENDING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656BCD-1A0F-481B-87D6-C8005D3B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63900"/>
            <a:ext cx="2528316" cy="38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1DF5271-00D0-45A3-ADEC-AD4C85FC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302000"/>
            <a:ext cx="2394966" cy="30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decoded output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4F6321E-F16E-4C9C-928E-91F102BD6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066" y="3263900"/>
            <a:ext cx="2046732" cy="38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0AC0379-0501-4BEF-A222-A82B4425F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741" y="3302000"/>
            <a:ext cx="1913382" cy="30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________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679909-29F9-415B-A5EA-7D65919B3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798" y="3263900"/>
            <a:ext cx="1444752" cy="38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E516159-2956-4F38-AA64-E903DCB6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473" y="3302000"/>
            <a:ext cx="1311402" cy="30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PENDING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D7016FB-1CBE-4BE8-A90D-134B2EC9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48075"/>
            <a:ext cx="2528316" cy="38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1B37A6B-E444-42E3-866A-4A55D45A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686175"/>
            <a:ext cx="2394966" cy="30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format / stride / planes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E64982A-D81E-493E-884A-EF3275FC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066" y="3648075"/>
            <a:ext cx="2046732" cy="38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38A5D7F-631D-4151-BDC4-05EAD90A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741" y="3686175"/>
            <a:ext cx="1913382" cy="30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________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6E2F76-118E-441E-AE91-3FD48260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798" y="3648075"/>
            <a:ext cx="1444752" cy="38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F2E4E8D-573A-4F1B-870C-CE95939C4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473" y="3686175"/>
            <a:ext cx="1311402" cy="30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PENDING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420BD4-0F41-4040-8898-0F12A040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32250"/>
            <a:ext cx="2528316" cy="38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2C3422-C3EE-4337-A398-DBB8C7FA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070350"/>
            <a:ext cx="2394966" cy="30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owner + pendingFrameId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B244325-C34E-4080-810A-093F7A440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066" y="4032250"/>
            <a:ext cx="2046732" cy="38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3B8CFE-635A-4A2B-AA54-9E7AAB14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741" y="4070350"/>
            <a:ext cx="1913382" cy="30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________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7AA39B9-5975-43FD-A397-C9070CFA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798" y="4032250"/>
            <a:ext cx="1444752" cy="38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57EF8FF-5CE1-4409-980B-F2040E004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473" y="4070350"/>
            <a:ext cx="1311402" cy="30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PENDING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848A8CE-3937-4945-9FEE-814006B1D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16425"/>
            <a:ext cx="2528316" cy="38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1C80EAF-ED3F-4679-9114-68007C92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4454525"/>
            <a:ext cx="2394966" cy="30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matched EndFrame + present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AF01F30-7CFC-4E8A-BDAB-C5053995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7066" y="4416425"/>
            <a:ext cx="2046732" cy="38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307A3B0-90F1-43C0-857F-497F1013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741" y="4454525"/>
            <a:ext cx="1913382" cy="30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________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D3C28EF-736B-46ED-A666-0C0E8296B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3798" y="4416425"/>
            <a:ext cx="1444752" cy="384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A62047F-0325-40BE-8E16-E9D3DA64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0473" y="4454525"/>
            <a:ext cx="1311402" cy="307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PENDING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5483053-EC4F-4408-9111-2189A864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48250"/>
            <a:ext cx="60198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530D222-0740-4676-8D4C-348E37AFD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248275"/>
            <a:ext cx="548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95401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定位规则：每轮只修第一处 FAIL。当前没有绑定日志，因此这页保留空白，不伪造 frameId 或“已定位根因”。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CC48680-0708-4051-8008-92C082EC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7092298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9C91D14-8E76-4E97-8453-D8F381FB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05 FreeRDP 实战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D70416-FFC6-4F71-9C2C-68431090D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排障案例 3/3：把最小修正边界和回归条件写回任务卡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FDA259-6995-424F-8869-00A94D91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DE346F-B64B-4A60-B97D-E38665085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B6BF5-DA3C-4D69-BF76-56521E20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200150"/>
            <a:ext cx="11163300" cy="504825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E9EE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AF8591-584A-49A5-BDAE-8B7629D32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5048250"/>
          </a:xfrm>
          <a:prstGeom xmlns:a="http://schemas.openxmlformats.org/drawingml/2006/main" prst="roundRect">
            <a:avLst>
              <a:gd name="adj" fmla="val 113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643607-993D-425F-8CC6-B1E1F5C3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04775" cy="504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A50E4-49F0-48F5-A8FE-44EC9E40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76350"/>
            <a:ext cx="9163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77C8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1677C8"/>
                </a:solidFill>
                <a:latin typeface="Consolas"/>
                <a:ea typeface="Consolas"/>
                <a:cs typeface="Consolas"/>
              </a:rPr>
              <a:t>case-materials/gpu/tasks/T-GPU-03.md + T-GPU-05.md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4BA728-253D-42C0-9188-39E57EAC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6025" y="1257300"/>
            <a:ext cx="1285875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4C394-0D28-4AC9-B8A6-BD50B1A8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295400"/>
            <a:ext cx="1133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处理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C63464-F89D-4664-B944-0A6CB410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38300"/>
            <a:ext cx="10629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CB7CD0-1046-4913-8927-A5D6120B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如果第一处异常落在 owner / present 边界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BFAE69-E2DB-4245-9C1B-E1466454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229666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B70EB8-9F86-4085-A4D2-24D1A9C51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190750"/>
            <a:ext cx="216331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任务卡字段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78E734-A337-4E58-A49A-64DC2188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5818" y="2152650"/>
            <a:ext cx="8142732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9B89F7-46CA-4C53-A38F-7C214E23E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493" y="2190750"/>
            <a:ext cx="800938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T-GPU-03 的处理约束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CD7018-2F9C-4E56-BCF7-7A59AF7BF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2296668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E5E43C-4F4A-4157-AEC0-89B460D5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33650"/>
            <a:ext cx="2163318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Source Scope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3EEEBD-94AE-48E9-BE1A-C0D4BE4B0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5818" y="2495550"/>
            <a:ext cx="8142732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422588-84BB-4E3C-97CF-2BE31E05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493" y="2533650"/>
            <a:ext cx="8009382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candidate policy、OnSurfaceCommand、ProcessCommand、PresentEndFrame / PresentQueuedUpdate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08597E-0334-45DD-8764-B902B783C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68930"/>
            <a:ext cx="2296668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D05EEB-67E1-404A-A4D0-142883A69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907030"/>
            <a:ext cx="2163318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Allowed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9D00C4-0287-47E8-ADBD-936589B7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5818" y="2868930"/>
            <a:ext cx="8142732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178A5C-E05B-4485-910F-485C94AF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493" y="2907030"/>
            <a:ext cx="8009382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bridge、owner、present diagnostics 与最小接线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FF12D80-6E87-4F0D-A3DE-DBB5D3BC3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42310"/>
            <a:ext cx="2296668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6C0552-F981-4A2B-9BBD-853AB4E3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80410"/>
            <a:ext cx="2163318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Forbidden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90EAFD-5DC6-455C-9EC9-9195C2B3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5818" y="3242310"/>
            <a:ext cx="8142732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570A93-F110-4F4F-B69B-D274CE3D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493" y="3280410"/>
            <a:ext cx="8009382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性能优化、AVC444 LC、输入系统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0D41E4F-4CE1-4CD9-A3BD-19EE50CE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5690"/>
            <a:ext cx="2296668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801D1D-D57C-4ED9-B004-35EB74C16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653790"/>
            <a:ext cx="2163318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Verify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51DDFE-1299-48EA-BB9C-2ACD261F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5818" y="3615690"/>
            <a:ext cx="8142732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B3C070-4FD4-4BEB-A3E9-57C2BBFD3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493" y="3653790"/>
            <a:ext cx="8009382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decoder output、owner claim、target generation、matched EndFrame、PresentComposite 属于同一 frame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4DA0DFE-B5A7-4CD4-8BC4-6941FA1D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89070"/>
            <a:ext cx="2296668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2F325D-F852-43BF-A302-C5D70A8E1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027170"/>
            <a:ext cx="2163318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Stop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AF963E4-3530-44AE-9428-C61CA269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5818" y="3989070"/>
            <a:ext cx="8142732" cy="3733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E6B98F0-FEA1-47C2-830A-C493E72A9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2493" y="4027170"/>
            <a:ext cx="8009382" cy="297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发现 GDI/GPU 双写或旧 target 未拒绝，立即判 FAIL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D4444E7-7572-4424-8ED7-528EDD8C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672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修完以后不能只重放一帧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3BD30F1-4354-4728-AED8-1FC05D303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29200"/>
            <a:ext cx="647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T-GPU-05 要求继续验证 resize、后台、Surface 重建、重连；必须有 surfaceGeneration / targetGeneration / stale task rejection / owner / fallback trace。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5CB5A00-615A-482E-ACD9-751E1331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762500"/>
            <a:ext cx="35814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C84B4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8E94C6-1D93-4B1D-A8C1-CC9ABEFC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972050"/>
            <a:ext cx="30861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38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rPr>
              <a:t>当前结果：UNKNOWN</a:t>
            </a:r>
          </a:p>
          <a:p xmlns:a="http://schemas.openxmlformats.org/drawingml/2006/main">
            <a:pPr algn="ctr">
              <a:defRPr sz="1238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rPr>
              <a:t>没有真实 frame trace 与回归证据</a:t>
            </a:r>
          </a:p>
          <a:p xmlns:a="http://schemas.openxmlformats.org/drawingml/2006/main">
            <a:pPr algn="ctr">
              <a:defRPr sz="1238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1">
                <a:solidFill>
                  <a:srgbClr val="C84B4B"/>
                </a:solidFill>
                <a:latin typeface="Microsoft YaHei"/>
                <a:ea typeface="Microsoft YaHei"/>
                <a:cs typeface="Microsoft YaHei"/>
              </a:rPr>
              <a:t>不能讲成“已经修复成功”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2B35ABA-7DC1-4C20-8890-67F05F3C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212195623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9F10ABF-3A7F-414E-B797-89F1AF6E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05 FreeRDP 实战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AAC4D-350B-483B-A488-EF4F3236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视频演示与验收：画面可见，不等于路径和性能已通过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AC0F6E-A856-4E44-9D19-BE9445150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9C33EB-DEA9-458F-842F-165E1C406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88C1E-CA66-4170-8FD2-B42FF2E3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62050"/>
            <a:ext cx="6191250" cy="4857750"/>
          </a:xfrm>
          <a:prstGeom xmlns:a="http://schemas.openxmlformats.org/drawingml/2006/main" prst="roundRect">
            <a:avLst>
              <a:gd name="adj" fmla="val 1961"/>
            </a:avLst>
          </a:prstGeom>
          <a:solidFill xmlns:a="http://schemas.openxmlformats.org/drawingml/2006/main">
            <a:srgbClr val="111722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2102b5aa5429d"/>
          <a:srcRect xmlns:a="http://schemas.openxmlformats.org/drawingml/2006/main" l="31475" t="0" r="3147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4850" y="1352550"/>
            <a:ext cx="5810250" cy="3267075"/>
          </a:xfrm>
          <a:prstGeom xmlns:a="http://schemas.openxmlformats.org/drawingml/2006/main" prst="roundRect">
            <a:avLst>
              <a:gd name="adj" fmla="val 2915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9CD31-B7EB-4B85-A45C-09D729B23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52550"/>
            <a:ext cx="5810250" cy="3267075"/>
          </a:xfrm>
          <a:prstGeom xmlns:a="http://schemas.openxmlformats.org/drawingml/2006/main" prst="roundRect">
            <a:avLst>
              <a:gd name="adj" fmla="val 291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90C26-6262-4A19-98EE-646408D0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371475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C699A7-1DC7-4C83-B301-D5E5C6A1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43050"/>
            <a:ext cx="3562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68C82"/>
                </a:solidFill>
                <a:latin typeface="Microsoft YaHei"/>
                <a:ea typeface="Microsoft YaHei"/>
                <a:cs typeface="Microsoft YaHei"/>
              </a:rPr>
              <a:t>VIDEO SLOT｜gpu-validation-video-playback-16s.mp4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892C5-0178-4D2C-A5CE-39A3EADA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05375"/>
            <a:ext cx="56578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课堂动作：先说明观察点 → 播放 → 关键处暂停 → 对照右侧验收项。</a:t>
            </a:r>
          </a:p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素材只证明某次运行“可见播放与部分交互”，不证明硬解路径、CPU/FPS 或长稳。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6412F5-42B6-4AD3-8B05-2C143CC06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162050"/>
            <a:ext cx="4648200" cy="4857750"/>
          </a:xfrm>
          <a:prstGeom xmlns:a="http://schemas.openxmlformats.org/drawingml/2006/main" prst="roundRect">
            <a:avLst>
              <a:gd name="adj" fmla="val 163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F0597E-EE27-4F57-880D-BEE0B4AE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38112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工程验收矩阵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F340BF-FDD1-4FDB-8DE9-129C740EC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781175"/>
            <a:ext cx="946404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C067BF-125C-48DB-B7B4-B11B4C81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1819275"/>
            <a:ext cx="813054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7191B1-4C10-487D-9461-069DB2515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554" y="1781175"/>
            <a:ext cx="209854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B7E7BB-C728-4E61-AF75-FF71DBA3E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9229" y="1819275"/>
            <a:ext cx="196519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最低验收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9BB536-CF0A-4376-A660-2A1665AB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102" y="1781175"/>
            <a:ext cx="1069848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C8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BFD23C-29A2-48B4-8EAF-4146E9047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7777" y="1819275"/>
            <a:ext cx="936498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当前状态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4EF5AB-7A19-47B7-B3C2-FD47A113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24075"/>
            <a:ext cx="946404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8E0AE6-290F-4237-BB74-DFD64B8E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162175"/>
            <a:ext cx="813054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AC-BUILD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E5D887-01CD-424A-901F-53E517C6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554" y="2124075"/>
            <a:ext cx="2098548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3705BD-4819-4A0E-A0E7-2169C0EBE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9229" y="2162175"/>
            <a:ext cx="1965198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FreeRDP arm64 + HAP 成功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E3C401D-6FA9-43FE-B88C-9B6DD19AC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102" y="2124075"/>
            <a:ext cx="1069848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37C6D0-3AFE-46F0-95DC-7BFA5D1A3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7777" y="2162175"/>
            <a:ext cx="936498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PENDING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354052-265C-4917-BB08-908AEE53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559050"/>
            <a:ext cx="946404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74D3C9-9FDC-4A59-AA69-E3C8903B7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597150"/>
            <a:ext cx="813054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AC-PATH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14CB9B-BF97-4F69-8F21-C5437A7F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554" y="2559050"/>
            <a:ext cx="2098548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BCE072-3B8C-4CFD-871F-125D8FC8B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9229" y="2597150"/>
            <a:ext cx="1965198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真机选择 hardware decoder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D67B20-14A1-480E-BFCF-58177695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102" y="2559050"/>
            <a:ext cx="1069848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A8C41B-CD33-48B4-AB24-69AD983A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7777" y="2597150"/>
            <a:ext cx="936498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PENDING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A64861-702F-4116-B2E8-4DE8A4D88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994025"/>
            <a:ext cx="946404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1C9A7D-787D-4107-B8B7-EF5DDFAF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32125"/>
            <a:ext cx="813054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AC-420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88726E-C75B-4DAA-8029-D8895738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554" y="2994025"/>
            <a:ext cx="2098548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184D3CC-1116-4BA2-8551-BCEBF7666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9229" y="3032125"/>
            <a:ext cx="1965198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颜色、脏区、owner、EndFrame 正确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67686E2-6514-4249-AC40-DE155497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102" y="2994025"/>
            <a:ext cx="1069848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F959B31-132E-448F-A77E-ABF3E2EBC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7777" y="3032125"/>
            <a:ext cx="936498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PENDING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E118BA-8564-4A00-8D08-AF8CE0696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29000"/>
            <a:ext cx="946404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A47E9DE-B513-4306-A0BB-79054B16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467100"/>
            <a:ext cx="813054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AC-PERF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436696-5894-4583-BF8B-6AB41E026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554" y="3429000"/>
            <a:ext cx="2098548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9209B41-B2B1-4273-B8FF-92596800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9229" y="3467100"/>
            <a:ext cx="1965198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同场景 CPU / FPS 明显改善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949AF4-FBD4-4C29-BF40-D5FC37BB6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102" y="3429000"/>
            <a:ext cx="1069848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51BA4FC-8747-4DFC-A37C-54F83B00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7777" y="3467100"/>
            <a:ext cx="936498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0C5A5EA-BDDB-4E58-846B-9BE7D9313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63975"/>
            <a:ext cx="946404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766A94D-F9D8-437B-9940-F2A29D3D8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902075"/>
            <a:ext cx="813054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AC-STABLE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EE5DAD9-B8A1-4B33-9097-8429036B0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554" y="3863975"/>
            <a:ext cx="2098548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2D064E-89BC-4DD3-AB7C-28599347F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9229" y="3902075"/>
            <a:ext cx="1965198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连续播放、resize、后台、重连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5F0DC7-3CFA-4BC9-8F42-CFDA85127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102" y="3863975"/>
            <a:ext cx="1069848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3FBC7BB-B987-40C5-B41B-AEFA41F2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7777" y="3902075"/>
            <a:ext cx="936498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982CB56-44DA-4B77-872E-CE64FDDF5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98950"/>
            <a:ext cx="946404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84B32CC-5BFD-46A7-BDA1-119FE0B14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337050"/>
            <a:ext cx="813054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AC-FALLBACK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1481583-AE91-4791-8F8C-0D30D856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2554" y="4298950"/>
            <a:ext cx="2098548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7CEFA76-C9A9-46F0-99CE-8819AB23C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9229" y="4337050"/>
            <a:ext cx="1965198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失败后可解释恢复 original path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3778F54-8A38-4642-BDA4-1C92E4C2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1102" y="4298950"/>
            <a:ext cx="1069848" cy="43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7292B11-452F-4959-A660-E911ACE3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7777" y="4337050"/>
            <a:ext cx="936498" cy="358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PENDING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E6AD9A9-DD81-45CA-B1E5-D2ADC1BF0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972050"/>
            <a:ext cx="411480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12D9449-258E-4FDF-91C0-2C89A66A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5162550"/>
            <a:ext cx="3695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验收判定：PASS = 有独立证据；FAIL = 证据已否定；UNKNOWN = 缺证据，必须留空。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EF73E58-7FE8-4F5C-908F-1EC79E5C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99420597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F6F4E0D-701D-4B5A-A0EA-ABA9C17B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05 FreeRDP 实战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C92B92-8C00-4EA8-BBE2-957276B5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8625"/>
            <a:ext cx="10334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把方法带回项目，只保留七个问题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1BEA01-AB89-4718-B726-FC076893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17145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3F6BE4-F7BE-4EA4-8F5A-7E0EFEF7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5717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5F6B7A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6BB97E-D9D1-4316-860C-2EA41C9F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33450"/>
            <a:ext cx="11163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38C2D-6FB5-44F0-8630-5A65AB58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23950"/>
            <a:ext cx="1746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5FF"/>
          </a:solidFill>
          <a:ln xmlns:a="http://schemas.openxmlformats.org/drawingml/2006/main" w="9525">
            <a:solidFill>
              <a:srgbClr val="1677C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A3E43-E7B4-49E1-933B-8EFB55B0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181100"/>
            <a:ext cx="159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事实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C167B3-AECD-4A69-A360-9CA949B1C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475" y="1123950"/>
            <a:ext cx="1746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AF8F5"/>
          </a:solidFill>
          <a:ln xmlns:a="http://schemas.openxmlformats.org/drawingml/2006/main" w="9525">
            <a:solidFill>
              <a:srgbClr val="168C8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9BECA0-47A4-4FF7-8363-60FABABA4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9675" y="1181100"/>
            <a:ext cx="159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规格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9D1F7-25A6-4F23-8DCA-A4B873BB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3075" y="1123950"/>
            <a:ext cx="1746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2EEFF"/>
          </a:solidFill>
          <a:ln xmlns:a="http://schemas.openxmlformats.org/drawingml/2006/main" w="9525">
            <a:solidFill>
              <a:srgbClr val="7157B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F3B6C4-D7B8-4C28-A813-C5826174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9275" y="1181100"/>
            <a:ext cx="159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9561AC-B605-429B-AE5D-47B1FC88D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123950"/>
            <a:ext cx="1746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CEEEE"/>
          </a:solidFill>
          <a:ln xmlns:a="http://schemas.openxmlformats.org/drawingml/2006/main" w="9525">
            <a:solidFill>
              <a:srgbClr val="C84B4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53FD2D-8B7F-4D76-AD6C-44A10549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181100"/>
            <a:ext cx="159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RED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8CD96B-3C4C-489A-8E1B-3380D0020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2275" y="1123950"/>
            <a:ext cx="1746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9525">
            <a:solidFill>
              <a:srgbClr val="D8951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D1B076-8961-4442-916F-A2677B5F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8475" y="1181100"/>
            <a:ext cx="159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最小 Diff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ACF289-27A3-4D35-8D90-6B8E8336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875" y="1123950"/>
            <a:ext cx="174625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EBF8F1"/>
          </a:solidFill>
          <a:ln xmlns:a="http://schemas.openxmlformats.org/drawingml/2006/main" w="9525">
            <a:solidFill>
              <a:srgbClr val="2F8F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D04F5B-63C9-45B3-B74B-50276D75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8075" y="1181100"/>
            <a:ext cx="1593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系统证据</a:t>
            </a:r>
          </a:p>
        </p:txBody>
      </p:sp>
      <p:cxnSp>
        <p:nvCxnSpPr>
          <p:cNvPr id="95" name="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270125" y="14001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96" name="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4149725" y="14001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97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029325" y="14001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98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908925" y="14001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cxnSp>
        <p:nvCxnSpPr>
          <p:cNvPr id="99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9788525" y="1400175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5F6B7A"/>
            </a:solidFill>
            <a:prstDash val="solid"/>
            <a:tailEnd type="arrow" w="med" len="med"/>
          </a:ln>
        </p:spPr>
      </p:cxnSp>
      <p:pic>
        <p:nvPicPr>
          <p:cNvPr id="10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ff6fd84724f19"/>
          <a:stretch xmlns:a="http://schemas.openxmlformats.org/drawingml/2006/main"/>
        </p:blipFill>
        <p:spPr>
          <a:xfrm xmlns:a="http://schemas.openxmlformats.org/drawingml/2006/main">
            <a:off x="588778" y="2047875"/>
            <a:ext cx="4823194" cy="2714625"/>
          </a:xfrm>
          <a:prstGeom xmlns:a="http://schemas.openxmlformats.org/drawingml/2006/main" prst="roundRect">
            <a:avLst>
              <a:gd name="adj" fmla="val 4211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DEDF5D-F47E-4C17-9B29-B4767A75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47875"/>
            <a:ext cx="4953000" cy="2714625"/>
          </a:xfrm>
          <a:prstGeom xmlns:a="http://schemas.openxmlformats.org/drawingml/2006/main" prst="roundRect">
            <a:avLst>
              <a:gd name="adj" fmla="val 4211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908637-D8F4-469A-AFCE-39F68DA5F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00250"/>
            <a:ext cx="5810250" cy="3238500"/>
          </a:xfrm>
          <a:prstGeom xmlns:a="http://schemas.openxmlformats.org/drawingml/2006/main" prst="roundRect">
            <a:avLst>
              <a:gd name="adj" fmla="val 41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47396A-595D-4012-9FBF-69AE2E542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114550"/>
            <a:ext cx="5505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26852"/>
                </a:solidFill>
                <a:latin typeface="Microsoft YaHei"/>
                <a:ea typeface="Microsoft YaHei"/>
                <a:cs typeface="Microsoft YaHei"/>
              </a:rPr>
              <a:t>下一次只问七个问题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9B12343-01EA-4992-939D-44032C56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400300"/>
            <a:ext cx="609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685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2654AB-DB1A-4B28-89D8-B4F9BADB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24125"/>
            <a:ext cx="5238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1. 哪些词会让实现分叉？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2. 最终真相在哪一层？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3. 哪些不变量绝不能破坏？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4. 本轮只允许 AI 改哪个边界？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5. 怎样先制造一个可解释的 RED？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6. 最早异常证据在哪里？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7. 什么证据满足后，本轮必须停止？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13EF26F-1A95-4416-9B32-D5892A081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57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C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0EFE1E-36B0-4A38-BC59-CA5FAFA83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10225"/>
            <a:ext cx="9734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72033"/>
                </a:solidFill>
                <a:latin typeface="Microsoft YaHei"/>
                <a:ea typeface="Microsoft YaHei"/>
                <a:cs typeface="Microsoft YaHei"/>
              </a:rPr>
              <a:t>一分钟迁移题：权限页面第一次进入为空，第二次正常。给出只读勘察、可证伪假设、禁止范围和最终事实源。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368A12-46BD-457D-8197-8BBF7918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72250"/>
            <a:ext cx="742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993A0"/>
                </a:solidFill>
                <a:latin typeface="Microsoft YaHei"/>
                <a:ea typeface="Microsoft YaHei"/>
                <a:cs typeface="Microsoft YaHei"/>
              </a:rPr>
              <a:t>HarmonyOS · Spec-Driven Development · Ralph Workshop</a:t>
            </a:r>
          </a:p>
        </p:txBody>
      </p:sp>
    </p:spTree>
    <p:extLst>
      <p:ext uri="{BB962C8B-B14F-4D97-AF65-F5344CB8AC3E}">
        <p14:creationId xmlns:p14="http://schemas.microsoft.com/office/powerpoint/2010/main" val="14614785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2026-09-01T12:22:02.7490000Z</dcterms:created>
  <dcterms:modified xsi:type="dcterms:W3CDTF">2026-09-01T12:22:02.7490000Z</dcterms:modified>
</coreProperties>
</file>