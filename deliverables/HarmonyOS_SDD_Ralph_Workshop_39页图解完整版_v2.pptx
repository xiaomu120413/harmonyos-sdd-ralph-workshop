
<file path=[Content_Types].xml><?xml version="1.0" encoding="utf-8"?>
<Types xmlns="http://schemas.openxmlformats.org/package/2006/content-types">
  <Default Extension="mp4" ContentType="video/mp4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C:\Users\mu\Desktop\code\ppt\harmonyos-sdd-ralph-workshop\harmonyos-sdd-workshop-media\mdm\firewall-domain-rule-created.jpeg</a:t>
            </a:r>
          </a:p>
          <a:p>
            <a:r>
              <a:t>- C:/Users/mu/Desktop/code/ppt/harmonyos-sdd-ralph-workshop/harmonyos-sdd-workshop-media/methodology/ai-fluency-neutral.png</a:t>
            </a:r>
          </a:p>
          <a:p>
            <a:r>
              <a:t>[/Sources]</a:t>
            </a:r>
          </a:p>
          <a:p/>
          <a:p>
            <a:r>
              <a:t># 使用 AI 进阶能力实现较为复杂的需求</a:t>
            </a:r>
          </a:p>
          <a:p/>
          <a:p>
            <a:r>
              <a:t>**从需求拆解、开发、验证，到问题定位与协同闭环**</a:t>
            </a:r>
          </a:p>
          <a:p/>
          <a:p>
            <a:r>
              <a:t>&gt; 需求 → 规格 → 任务 → 代码 → 调试 → 证据</a:t>
            </a:r>
          </a:p>
          <a:p/>
          <a:p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/>
          <a:p>
            <a:r>
              <a:t>![真实 SecurityTool 防火墙域名规则页面](harmonyos-sdd-workshop-media/mdm/firewall-domain-rule-created.jpeg)</a:t>
            </a:r>
          </a:p>
          <a:p/>
          <a:p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C:\Users\mu\Desktop\code\ppt\harmonyos-sdd-ralph-workshop\harmonyos-sdd-workshop-media\anthropic\system-prompt-calibration.png</a:t>
            </a:r>
          </a:p>
          <a:p>
            <a:r>
              <a:t>- https://www.anthropic.com/engineering/effective-context-engineering-for-ai-agents</a:t>
            </a:r>
          </a:p>
          <a:p>
            <a:r>
              <a:t>[/Sources]</a:t>
            </a:r>
          </a:p>
          <a:p/>
          <a:p>
            <a:r>
              <a:t>模型可以写出漂亮答案，却不知道你心里真正的“完成”。</a:t>
            </a:r>
          </a:p>
          <a:p/>
          <a:p>
            <a:r>
              <a:t>- 太具体：把偶然路径写死，规则越多越脆弱。</a:t>
            </a:r>
          </a:p>
          <a:p>
            <a:r>
              <a:t>- 太模糊：默认人和 AI 共享同一套背景、优先级与判断标准。</a:t>
            </a:r>
          </a:p>
          <a:p>
            <a:r>
              <a:t>- 刚刚好：目标清楚、边界可执行，并允许在不确定时求助。</a:t>
            </a:r>
          </a:p>
          <a:p/>
          <a:p>
            <a:r>
              <a:t>![System Prompt 校准：Too specific / Just right / Too vague](harmonyos-sdd-workshop-media/anthropic/system-prompt-calibration.png)</a:t>
            </a:r>
          </a:p>
          <a:p/>
          <a:p>
            <a:r>
              <a:t>&gt; **对齐的第一步不是把 Prompt 写得更长，而是让“期望行为”可以被双方检查。**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C:\Users\mu\Desktop\code\ppt\harmonyos-sdd-ralph-workshop\harmonyos-sdd-workshop-media\anthropic\prompt-vs-context-engineering.png</a:t>
            </a:r>
          </a:p>
          <a:p>
            <a:r>
              <a:t>- https://www.anthropic.com/engineering/effective-context-engineering-for-ai-agents</a:t>
            </a:r>
          </a:p>
          <a:p>
            <a:r>
              <a:t>[/Sources]</a:t>
            </a:r>
          </a:p>
          <a:p/>
          <a:p>
            <a:r>
              <a:t>![Prompt engineering 与 Context engineering 对照](harmonyos-sdd-workshop-media/anthropic/prompt-vs-context-engineering.png)</a:t>
            </a:r>
          </a:p>
          <a:p/>
          <a:p>
            <a:r>
              <a:t>**单轮问答**主要优化一句输入；**长任务 Agent**则要持续选择和恢复：</a:t>
            </a:r>
          </a:p>
          <a:p/>
          <a:p>
            <a:r>
              <a:t>`系统指令 / 文档 / 工具 / 消息历史 / 外部记忆 / 新证据`</a:t>
            </a:r>
          </a:p>
          <a:p/>
          <a:p>
            <a:r>
              <a:t>&gt; **复杂任务的上下文不是一次装满，而是随着行动持续筛选、记录和恢复。**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C:\Users\mu\Desktop\code\ppt\harmonyos-sdd-ralph-workshop\harmonyos-sdd-workshop-media\anthropic\coding-agent-flow.png</a:t>
            </a:r>
          </a:p>
          <a:p>
            <a:r>
              <a:t>- https://www.anthropic.com/engineering/building-effective-agents</a:t>
            </a:r>
          </a:p>
          <a:p>
            <a:r>
              <a:t>[/Sources]</a:t>
            </a:r>
          </a:p>
          <a:p/>
          <a:p>
            <a:r>
              <a:t>![Human、Interface、LLM 与 Environment 的编码 Agent 协作流](harmonyos-sdd-workshop-media/anthropic/coding-agent-flow.png)</a:t>
            </a:r>
          </a:p>
          <a:p/>
          <a:p>
            <a:r>
              <a:t>| 角色 | 不可替代的职责 |</a:t>
            </a:r>
          </a:p>
          <a:p>
            <a:r>
              <a:t>|---|---|</a:t>
            </a:r>
          </a:p>
          <a:p>
            <a:r>
              <a:t>| 人 | 定义目标、优先级、禁止范围和高风险决策 |</a:t>
            </a:r>
          </a:p>
          <a:p>
            <a:r>
              <a:t>| AI | 检索上下文、提出方案、执行最小动作并说明不确定性 |</a:t>
            </a:r>
          </a:p>
          <a:p>
            <a:r>
              <a:t>| 环境 | 用测试、日志、系统回读和真实画面给出事实反馈 |</a:t>
            </a:r>
          </a:p>
          <a:p/>
          <a:p>
            <a:r>
              <a:t>&gt; **人不替 AI 做每一步；AI 也不能替人定义“什么算对”。**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C:\Users\mu\Desktop\code\ppt\harmonyos-sdd-ralph-workshop\harmonyos-sdd-workshop-media\methodology\human-preference-backflip.png</a:t>
            </a:r>
          </a:p>
          <a:p>
            <a:r>
              <a:t>- https://openai.com/index/learning-from-human-preferences/</a:t>
            </a:r>
          </a:p>
          <a:p>
            <a:r>
              <a:t>[/Sources]</a:t>
            </a:r>
          </a:p>
          <a:p/>
          <a:p>
            <a:r>
              <a:t>![人类通过比较两段轨迹，指导 Agent 学习后空翻的教学插图](harmonyos-sdd-workshop-media/methodology/human-preference-backflip.png)</a:t>
            </a:r>
          </a:p>
          <a:p/>
          <a:p>
            <a:r>
              <a:t>OpenAI 的后空翻实验中，人不需要先写出完整奖励函数，只需反复比较两段动作：**哪一段更接近目标？** 研究使用约 900 次二选一反馈，让 Agent 逐步学会后空翻。</a:t>
            </a:r>
          </a:p>
          <a:p/>
          <a:p>
            <a:r>
              <a:t>&gt; **容易判断，不等于容易说明；对齐可以从可重复的判断开始。**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https://www.anthropic.com/engineering/effective-harnesses-for-long-running-agents</a:t>
            </a:r>
          </a:p>
          <a:p>
            <a:r>
              <a:t>[/Sources]</a:t>
            </a:r>
          </a:p>
          <a:p/>
          <a:p>
            <a:r>
              <a:t>&gt; “构建一个 claude.ai 克隆应用。”</a:t>
            </a:r>
          </a:p>
          <a:p/>
          <a:p>
            <a:r>
              <a:t>Anthropic 在长任务实验中观察到两类典型失败：</a:t>
            </a:r>
          </a:p>
          <a:p/>
          <a:p>
            <a:r>
              <a:t>1. **做得太多**：Agent 试图一次完成整个应用，在上下文中途耗尽时留下半实现、无记录的功能；下一轮只能猜测发生了什么。</a:t>
            </a:r>
          </a:p>
          <a:p>
            <a:r>
              <a:t>2. **过早宣布完成**：后续 Agent 看到已经存在部分功能，就误判整体任务已经结束。</a:t>
            </a:r>
          </a:p>
          <a:p/>
          <a:p>
            <a:r>
              <a:t>```text</a:t>
            </a:r>
          </a:p>
          <a:p>
            <a:r>
              <a:t>一次做太多 → 上下文中断 → 下一轮靠猜 → 过早宣布完成</a:t>
            </a:r>
          </a:p>
          <a:p>
            <a:r>
              <a:t>```</a:t>
            </a:r>
          </a:p>
          <a:p/>
          <a:p>
            <a:r>
              <a:t>&gt; **问题不是 AI 不会写代码，而是目标、进度和完成标准没有被外化。**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C:\Users\mu\Desktop\code\ppt\harmonyos-sdd-ralph-workshop\harmonyos-sdd-workshop-media\anthropic\evaluator-optimizer.png</a:t>
            </a:r>
          </a:p>
          <a:p>
            <a:r>
              <a:t>- https://www.anthropic.com/engineering/building-effective-agents</a:t>
            </a:r>
          </a:p>
          <a:p>
            <a:r>
              <a:t>[/Sources]</a:t>
            </a:r>
          </a:p>
          <a:p/>
          <a:p>
            <a:r>
              <a:t>![Evaluator–Optimizer：生成、评估、拒绝反馈与接受](harmonyos-sdd-workshop-media/anthropic/evaluator-optimizer.png)</a:t>
            </a:r>
          </a:p>
          <a:p/>
          <a:p>
            <a:r>
              <a:t>- **生成器**：给出候选方案或最小改动。</a:t>
            </a:r>
          </a:p>
          <a:p>
            <a:r>
              <a:t>- **评估器**：按预先冻结的标准检查结果。</a:t>
            </a:r>
          </a:p>
          <a:p>
            <a:r>
              <a:t>- **反馈**：指出缺口和下一条可执行动作。</a:t>
            </a:r>
          </a:p>
          <a:p>
            <a:r>
              <a:t>- **接受**：不是“AI 觉得可以”，而是检查标准已经通过。</a:t>
            </a:r>
          </a:p>
          <a:p/>
          <a:p>
            <a:r>
              <a:t>&gt; **目标未满足 → 给出证据 → 缩小差距 → 重新评估。**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https://www.anthropic.com/engineering/effective-harnesses-for-long-running-agents</a:t>
            </a:r>
          </a:p>
          <a:p>
            <a:r>
              <a:t>- https://openai.com/business/guides-and-resources/a-practical-guide-to-building-ai-agents/</a:t>
            </a:r>
          </a:p>
          <a:p>
            <a:r>
              <a:t>[/Sources]</a:t>
            </a:r>
          </a:p>
          <a:p/>
          <a:p>
            <a:r>
              <a:t>| 对齐契约 | 必须回答的问题 | 产物 |</a:t>
            </a:r>
          </a:p>
          <a:p>
            <a:r>
              <a:t>|---|---|---|</a:t>
            </a:r>
          </a:p>
          <a:p>
            <a:r>
              <a:t>| 目标 | 本轮唯一要改变的结果是什么？ | `spec / success criteria` |</a:t>
            </a:r>
          </a:p>
          <a:p>
            <a:r>
              <a:t>| 边界 | 允许改什么、禁止改什么，哪些决定必须由人关闭？ | `allowed / forbidden / open` |</a:t>
            </a:r>
          </a:p>
          <a:p>
            <a:r>
              <a:t>| 验收 | 用什么测试、回读、日志或画面证明结果成立？ | `RED / GREEN / evidence` |</a:t>
            </a:r>
          </a:p>
          <a:p>
            <a:r>
              <a:t>| 停止 | 何时提交、回退，何时保留 `UNKNOWN` 并问人？ | `stop / rollback / escalate` |</a:t>
            </a:r>
          </a:p>
          <a:p/>
          <a:p>
            <a:r>
              <a:t>&gt; **第 9 页开始：把这四项放进真实文档、代码、测试和设备证据。**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主视觉是一条六阶段证据链：</a:t>
            </a:r>
          </a:p>
          <a:p/>
          <a:p>
            <a:r>
              <a:t>```text</a:t>
            </a:r>
          </a:p>
          <a:p>
            <a:r>
              <a:t>1 资产同步</a:t>
            </a:r>
          </a:p>
          <a:p>
            <a:r>
              <a:t>→ 2 方案推导</a:t>
            </a:r>
          </a:p>
          <a:p>
            <a:r>
              <a:t>→ 3 架构 RFC</a:t>
            </a:r>
          </a:p>
          <a:p>
            <a:r>
              <a:t>→ 4 Story 拆分</a:t>
            </a:r>
          </a:p>
          <a:p>
            <a:r>
              <a:t>→ 5 Ralph 迭代</a:t>
            </a:r>
          </a:p>
          <a:p>
            <a:r>
              <a:t>→ 6 测试验收</a:t>
            </a:r>
          </a:p>
          <a:p>
            <a:r>
              <a:t>```</a:t>
            </a:r>
          </a:p>
          <a:p/>
          <a:p>
            <a:r>
              <a:t>每一步都生成一个可检查文档：</a:t>
            </a:r>
          </a:p>
          <a:p/>
          <a:p>
            <a:r>
              <a:t>| 阶段 | 生成文档 | 解决的问题 |</a:t>
            </a:r>
          </a:p>
          <a:p>
            <a:r>
              <a:t>|---|---|---|</a:t>
            </a:r>
          </a:p>
          <a:p>
            <a:r>
              <a:t>| 资产同步 | 资产清单、术语表、冲突矩阵 | 输入是否完整、一致 |</a:t>
            </a:r>
          </a:p>
          <a:p>
            <a:r>
              <a:t>| 方案推导 | 备选方案表、ADR、穿刺报告 | 为什么选这个方案 |</a:t>
            </a:r>
          </a:p>
          <a:p>
            <a:r>
              <a:t>| RFC | 架构、状态、不变量、失败语义 | 系统应该怎样工作 |</a:t>
            </a:r>
          </a:p>
          <a:p>
            <a:r>
              <a:t>| Story | Feature Map、Worker Packet | AI 每轮只做什么 |</a:t>
            </a:r>
          </a:p>
          <a:p>
            <a:r>
              <a:t>| Ralph | progress、evidence、iteration ledger | 多轮如何不断线、不漂移 |</a:t>
            </a:r>
          </a:p>
          <a:p>
            <a:r>
              <a:t>| 验收 | acceptance report | 凭什么给 PASS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展示本项目真实资产层级：</a:t>
            </a:r>
          </a:p>
          <a:p/>
          <a:p>
            <a:r>
              <a:t>```text</a:t>
            </a:r>
          </a:p>
          <a:p>
            <a:r>
              <a:t>docs/00-原始输入/</a:t>
            </a:r>
          </a:p>
          <a:p>
            <a:r>
              <a:t>  信创工具需求清单.xlsx</a:t>
            </a:r>
          </a:p>
          <a:p>
            <a:r>
              <a:t>  信创工具需求清单_AI修正版.xlsx</a:t>
            </a:r>
          </a:p>
          <a:p>
            <a:r>
              <a:t>docs/01-UX设计/</a:t>
            </a:r>
          </a:p>
          <a:p>
            <a:r>
              <a:t>  index.html / script.js / styles.css</a:t>
            </a:r>
          </a:p>
          <a:p>
            <a:r>
              <a:t>docs/02-总体设计/</a:t>
            </a:r>
          </a:p>
          <a:p>
            <a:r>
              <a:t>  PRD.md / 总体设计RFC.md</a:t>
            </a:r>
          </a:p>
          <a:p>
            <a:r>
              <a:t>docs/03-模块设计/</a:t>
            </a:r>
          </a:p>
          <a:p>
            <a:r>
              <a:t>  防火墙管理组件设计说明.md</a:t>
            </a:r>
          </a:p>
          <a:p>
            <a:r>
              <a:t>entry/src/main/ets/...</a:t>
            </a:r>
          </a:p>
          <a:p>
            <a:r>
              <a:t>entry/src/test/...</a:t>
            </a:r>
          </a:p>
          <a:p>
            <a:r>
              <a:t>scripts/e2e/cases/firewall/...</a:t>
            </a:r>
          </a:p>
          <a:p>
            <a:r>
              <a:t>```</a:t>
            </a:r>
          </a:p>
          <a:p/>
          <a:p>
            <a:r>
              <a:t>AI 对每类资产只做对应工作：</a:t>
            </a:r>
          </a:p>
          <a:p/>
          <a:p>
            <a:r>
              <a:t>- 原始 Excel：抽取需求原文，不做技术裁决。</a:t>
            </a:r>
          </a:p>
          <a:p>
            <a:r>
              <a:t>- AI 修正版：作为候选平台映射，不自动视为真相。</a:t>
            </a:r>
          </a:p>
          <a:p>
            <a:r>
              <a:t>- UX：抽取页面和交互，不证明业务生效。</a:t>
            </a:r>
          </a:p>
          <a:p>
            <a:r>
              <a:t>- PRD/RFC/模块设计：分别管理产品范围、架构、模块状态与异常。</a:t>
            </a:r>
          </a:p>
          <a:p>
            <a:r>
              <a:t>- 代码/测试：验证当前实现事实，不决定未来产品取舍。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展示真实冲突：</a:t>
            </a:r>
          </a:p>
          <a:p/>
          <a:p>
            <a:r>
              <a:t>| 来源 | 对同一需求的表达 |</a:t>
            </a:r>
          </a:p>
          <a:p>
            <a:r>
              <a:t>|---|---|</a:t>
            </a:r>
          </a:p>
          <a:p>
            <a:r>
              <a:t>| 原始 Excel C4 | 公共、专用、自定义三种缺省配置 |</a:t>
            </a:r>
          </a:p>
          <a:p>
            <a:r>
              <a:t>| AI 修正版 C4:E4 | 认为这是 Windows 概念，改成 IP/域名/DNS 三种规则类型 |</a:t>
            </a:r>
          </a:p>
          <a:p>
            <a:r>
              <a:t>| 当前 PRD | 要求 `public/private/custom` 三种主模式 |</a:t>
            </a:r>
          </a:p>
          <a:p>
            <a:r>
              <a:t>| 当前模块设计/代码 | 同时存在主模式和 IP/DOMAIN/DNS 规则类型 |</a:t>
            </a:r>
          </a:p>
          <a:p/>
          <a:p>
            <a:r>
              <a:t>最终决策：</a:t>
            </a:r>
          </a:p>
          <a:p/>
          <a:p>
            <a:r>
              <a:t>```text</a:t>
            </a:r>
          </a:p>
          <a:p>
            <a:r>
              <a:t>主模式：public / private / custom</a:t>
            </a:r>
          </a:p>
          <a:p>
            <a:r>
              <a:t>规则类型：IP / DOMAIN / DNS</a:t>
            </a:r>
          </a:p>
          <a:p>
            <a:r>
              <a:t>```</a:t>
            </a:r>
          </a:p>
          <a:p/>
          <a:p>
            <a:r>
              <a:t>结论：平台接口没有“公共网络模式”枚举，不代表产品不能用预置规则组合出公共/私有模式。</a:t>
            </a:r>
          </a:p>
          <a:p/>
          <a:p>
            <a:r>
              <a:t>代码事实必须在同页出现：</a:t>
            </a:r>
          </a:p>
          <a:p/>
          <a:p>
            <a:r>
              <a:t>```ts</a:t>
            </a:r>
          </a:p>
          <a:p>
            <a:r>
              <a:t>// FirewallModels.ets</a:t>
            </a:r>
          </a:p>
          <a:p>
            <a:r>
              <a:t>export type FirewallPresetMode = 'public' | 'private' | 'custom'</a:t>
            </a:r>
          </a:p>
          <a:p/>
          <a:p>
            <a:r>
              <a:t>// 同一模型文件中的规则类型集合</a:t>
            </a:r>
          </a:p>
          <a:p>
            <a:r>
              <a:t>RULE_IP / RULE_DOMAIN / RULE_DNS</a:t>
            </a:r>
          </a:p>
          <a:p/>
          <a:p>
            <a:r>
              <a:t>// FirewallModeStrategy.buildRulesForMode</a:t>
            </a:r>
          </a:p>
          <a:p>
            <a:r>
              <a:t>public  → buildPublicRules → 预置模板 × 当前账号集合</a:t>
            </a:r>
          </a:p>
          <a:p>
            <a:r>
              <a:t>private → buildPrivateRules → 私网配置模板 × 当前账号集合</a:t>
            </a:r>
          </a:p>
          <a:p>
            <a:r>
              <a:t>custom  → buildCustomRules → 既有 intent.targetUserIds</a:t>
            </a:r>
          </a:p>
          <a:p>
            <a:r>
              <a:t>```</a:t>
            </a:r>
          </a:p>
          <a:p/>
          <a:p>
            <a:r>
              <a:t>这三段代码说明两个维度不是同义词：`mode` 决定规则生成策略，`rule type` 决定单条规则的数据形态。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 `FW-MODE-001` 需求卡：</a:t>
            </a:r>
          </a:p>
          <a:p/>
          <a:p>
            <a:r>
              <a:t>```yaml</a:t>
            </a:r>
          </a:p>
          <a:p>
            <a:r>
              <a:t>requirement_id: FW-MODE-001</a:t>
            </a:r>
          </a:p>
          <a:p>
            <a:r>
              <a:t>source:</a:t>
            </a:r>
          </a:p>
          <a:p>
            <a:r>
              <a:t>  - 原始需求清单.xlsx!Sheet1:C4</a:t>
            </a:r>
          </a:p>
          <a:p>
            <a:r>
              <a:t>  - PRD.md#7.2</a:t>
            </a:r>
          </a:p>
          <a:p>
            <a:r>
              <a:t>decision: 保留 public/private/custom 产品模式</a:t>
            </a:r>
          </a:p>
          <a:p>
            <a:r>
              <a:t>implementation:</a:t>
            </a:r>
          </a:p>
          <a:p>
            <a:r>
              <a:t>  - FirewallPage.ets</a:t>
            </a:r>
          </a:p>
          <a:p>
            <a:r>
              <a:t>  - FirewallModeStrategy.ets</a:t>
            </a:r>
          </a:p>
          <a:p>
            <a:r>
              <a:t>tests:</a:t>
            </a:r>
          </a:p>
          <a:p>
            <a:r>
              <a:t>  - mode-strategy.test.ets</a:t>
            </a:r>
          </a:p>
          <a:p>
            <a:r>
              <a:t>  - e2e/cases/firewall/mode_cards.json</a:t>
            </a:r>
          </a:p>
          <a:p>
            <a:r>
              <a:t>conflict:</a:t>
            </a:r>
          </a:p>
          <a:p>
            <a:r>
              <a:t>  source: AI修正版.xlsx!Sheet1:C4:E4</a:t>
            </a:r>
          </a:p>
          <a:p>
            <a:r>
              <a:t>  resolution: 规则类型与主模式是两个维度</a:t>
            </a:r>
          </a:p>
          <a:p>
            <a:r>
              <a:t>status: RESOLVED</a:t>
            </a:r>
          </a:p>
          <a:p>
            <a:r>
              <a:t>```</a:t>
            </a:r>
          </a:p>
          <a:p/>
          <a:p>
            <a:r>
              <a:t>资产同步的出口门：来源可追溯、术语有定义、冲突有状态、缺口有负责人、代码和测试有初步落点。</a:t>
            </a:r>
          </a:p>
          <a:p/>
          <a:p>
            <a:r>
              <a:t>需求卡必须通过四个机器可检查项：</a:t>
            </a:r>
          </a:p>
          <a:p/>
          <a:p>
            <a:r>
              <a:t>```text</a:t>
            </a:r>
          </a:p>
          <a:p>
            <a:r>
              <a:t>source 坐标可回读      Excel/Markdown 位置存在</a:t>
            </a:r>
          </a:p>
          <a:p>
            <a:r>
              <a:t>implementation 可定位  文件存在，并能找到目标类型/函数</a:t>
            </a:r>
          </a:p>
          <a:p>
            <a:r>
              <a:t>tests 可执行            UT 文件或 Case JSON 存在</a:t>
            </a:r>
          </a:p>
          <a:p>
            <a:r>
              <a:t>claim 不越过证据        mode_cards 只证明模式卡可见，不证明策略已下发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以“账号变化后同步防火墙”为 Feature，展示四个方案：</a:t>
            </a:r>
          </a:p>
          <a:p/>
          <a:p>
            <a:r>
              <a:t>| 方案 | 主要问题 | 决策 |</a:t>
            </a:r>
          </a:p>
          <a:p>
            <a:r>
              <a:t>|---|---|---|</a:t>
            </a:r>
          </a:p>
          <a:p>
            <a:r>
              <a:t>| Provider 读取后直接同步防火墙 | 真相源和副作用耦合，其他模块无法复用 | 拒绝 |</a:t>
            </a:r>
          </a:p>
          <a:p>
            <a:r>
              <a:t>| 直接使用事件里的账号 ID | 不是完整集合，删除/并发语义不完整 | 拒绝 |</a:t>
            </a:r>
          </a:p>
          <a:p>
            <a:r>
              <a:t>| MainPage/页面重进强刷 | UI 看似更新，系统 policy 仍可能错误 | 拒绝 |</a:t>
            </a:r>
          </a:p>
          <a:p>
            <a:r>
              <a:t>| Coordinator + 全量快照 + Handler | 真相源单一、可扩展、可测试 | 选择 |</a:t>
            </a:r>
          </a:p>
          <a:p/>
          <a:p>
            <a:r>
              <a:t>方案不是因为“结构优雅”被选择，而是因为它能同时满足：完整账号真相、模块可扩展、失败不误删、UI 不承担修复。</a:t>
            </a:r>
          </a:p>
          <a:p/>
          <a:p>
            <a:r>
              <a:t>选中方案落实到现有代码责任：</a:t>
            </a:r>
          </a:p>
          <a:p/>
          <a:p>
            <a:r>
              <a:t>| 决策问题 | 选中的代码责任 | 为什么不放到别处 |</a:t>
            </a:r>
          </a:p>
          <a:p>
            <a:r>
              <a:t>|---|---|---|</a:t>
            </a:r>
          </a:p>
          <a:p>
            <a:r>
              <a:t>| 谁接事件 | `EnterpriseAdminAbility.onAccountAdded/Removed` | 这里只拿触发信号，不知道防火墙语义 |</a:t>
            </a:r>
          </a:p>
          <a:p>
            <a:r>
              <a:t>| 谁读完整集合 | `SystemUserProvider.loadAvailableUserIds` | Provider 只读取事实，不产生副作用 |</a:t>
            </a:r>
          </a:p>
          <a:p>
            <a:r>
              <a:t>| 谁处理时序/并发 | `AccountChangeCoordinator.schedule/runPending/loadStableSnapshot` | 公共协调逻辑可复用，不绑定页面 |</a:t>
            </a:r>
          </a:p>
          <a:p>
            <a:r>
              <a:t>| 谁决定防火墙分支 | `FirewallAccountChangeHandler.handle` | public/private/custom 是模块业务 |</a:t>
            </a:r>
          </a:p>
          <a:p>
            <a:r>
              <a:t>| 谁写系统状态 | `FirewallSystemRepository` | 把 MDM API 和错误封装在系统边界 |</a:t>
            </a:r>
          </a:p>
          <a:p>
            <a:r>
              <a:t>| 谁刷新 UI | `ApplicationRuntimeManager → ViewModel` | 只消费稳定事实，不承担修复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穿刺只验证一个关键假设：账号新增回调与账号列表是否在同一时刻一致。</a:t>
            </a:r>
          </a:p>
          <a:p/>
          <a:p>
            <a:r>
              <a:t>真实时间线：</a:t>
            </a:r>
          </a:p>
          <a:p/>
          <a:p>
            <a:r>
              <a:t>```text</a:t>
            </a:r>
          </a:p>
          <a:p>
            <a:r>
              <a:t>onAccountAdded(accountId=123)</a:t>
            </a:r>
          </a:p>
          <a:p>
            <a:r>
              <a:t>→ 首次 loadAvailableUserIds() = [100,112,122]</a:t>
            </a:r>
          </a:p>
          <a:p>
            <a:r>
              <a:t>→ lastApplied signature 仍为 100,112,122</a:t>
            </a:r>
          </a:p>
          <a:p>
            <a:r>
              <a:t>→ 旧逻辑判断集合没有变化，跳过模式补下发</a:t>
            </a:r>
          </a:p>
          <a:p>
            <a:r>
              <a:t>→ 账号 123 没有获得当前 policy/预置规则</a:t>
            </a:r>
          </a:p>
          <a:p>
            <a:r>
              <a:t>```</a:t>
            </a:r>
          </a:p>
          <a:p/>
          <a:p>
            <a:r>
              <a:t>这条证据否定“事件后读一次就够”，并引出稳定快照条件：只有完整集合包含 `triggerAccountId` 才能继续。</a:t>
            </a:r>
          </a:p>
          <a:p/>
          <a:p>
            <a:r>
              <a:t>页面右侧放真实函数链，不只放时间线：</a:t>
            </a:r>
          </a:p>
          <a:p/>
          <a:p>
            <a:r>
              <a:t>```text</a:t>
            </a:r>
          </a:p>
          <a:p>
            <a:r>
              <a:t>EnterpriseAdminAbility.onAccountAdded(123)</a:t>
            </a:r>
          </a:p>
          <a:p>
            <a:r>
              <a:t>→ scheduleAccountReconcile('account-added', 123)</a:t>
            </a:r>
          </a:p>
          <a:p>
            <a:r>
              <a:t>→ AccountChangeCoordinator.schedule(...)</a:t>
            </a:r>
          </a:p>
          <a:p>
            <a:r>
              <a:t>→ runPending() / runOnce(request)</a:t>
            </a:r>
          </a:p>
          <a:p>
            <a:r>
              <a:t>→ loadStableSnapshot(request)</a:t>
            </a:r>
          </a:p>
          <a:p>
            <a:r>
              <a:t>→ SystemUserProvider.loadAvailableUserIds()</a:t>
            </a:r>
          </a:p>
          <a:p>
            <a:r>
              <a:t>→ getOsAccountLocalIds()</a:t>
            </a:r>
          </a:p>
          <a:p>
            <a:r>
              <a:t>```</a:t>
            </a:r>
          </a:p>
          <a:p/>
          <a:p>
            <a:r>
              <a:t>稳定条件对应当前代码：</a:t>
            </a:r>
          </a:p>
          <a:p/>
          <a:p>
            <a:r>
              <a:t>```text</a:t>
            </a:r>
          </a:p>
          <a:p>
            <a:r>
              <a:t>source == account-added</a:t>
            </a:r>
          </a:p>
          <a:p>
            <a:r>
              <a:t>AND triggerAccountId 已定义</a:t>
            </a:r>
          </a:p>
          <a:p>
            <a:r>
              <a:t>AND currentUserIds 不包含 triggerAccountId</a:t>
            </a:r>
          </a:p>
          <a:p>
            <a:r>
              <a:t>→ wait 200ms and retry，最多 5 次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 `ADR-FW-ACCOUNT-001` 的核心字段：</a:t>
            </a:r>
          </a:p>
          <a:p/>
          <a:p>
            <a:r>
              <a:t>```yaml</a:t>
            </a:r>
          </a:p>
          <a:p>
            <a:r>
              <a:t>question: 账号事件后以什么作为同步输入</a:t>
            </a:r>
          </a:p>
          <a:p>
            <a:r>
              <a:t>selected: 稳定的完整账号快照</a:t>
            </a:r>
          </a:p>
          <a:p>
            <a:r>
              <a:t>truth_source: SystemUserProvider.loadAvailableUserIds</a:t>
            </a:r>
          </a:p>
          <a:p>
            <a:r>
              <a:t>trigger: EnterpriseAdminAbility account event</a:t>
            </a:r>
          </a:p>
          <a:p>
            <a:r>
              <a:t>rejected:</a:t>
            </a:r>
          </a:p>
          <a:p>
            <a:r>
              <a:t>  - 直接使用事件 ID</a:t>
            </a:r>
          </a:p>
          <a:p>
            <a:r>
              <a:t>  - Provider 内执行业务副作用</a:t>
            </a:r>
          </a:p>
          <a:p>
            <a:r>
              <a:t>  - UI 强刷作为修复</a:t>
            </a:r>
          </a:p>
          <a:p>
            <a:r>
              <a:t>failure_semantics:</a:t>
            </a:r>
          </a:p>
          <a:p>
            <a:r>
              <a:t>  empty_or_error: preserve local truth</a:t>
            </a:r>
          </a:p>
          <a:p>
            <a:r>
              <a:t>  added_not_visible: bounded retry, then incomplete</a:t>
            </a:r>
          </a:p>
          <a:p>
            <a:r>
              <a:t>```</a:t>
            </a:r>
          </a:p>
          <a:p/>
          <a:p>
            <a:r>
              <a:t>ADR 的作用：让 RFC 不再重新讨论已解决的问题，让实现 Session 不再偷偷选择另一套方案。</a:t>
            </a:r>
          </a:p>
          <a:p/>
          <a:p>
            <a:r>
              <a:t>ADR 还要记录重新打开条件，避免把历史决定永久冻结：</a:t>
            </a:r>
          </a:p>
          <a:p/>
          <a:p>
            <a:r>
              <a:t>```yaml</a:t>
            </a:r>
          </a:p>
          <a:p>
            <a:r>
              <a:t>reopen_when:</a:t>
            </a:r>
          </a:p>
          <a:p>
            <a:r>
              <a:t>  - getOsAccountLocalIds 在目标设备上长期不包含新增 ID</a:t>
            </a:r>
          </a:p>
          <a:p>
            <a:r>
              <a:t>  - handler failure 需要自动重试或补偿队列</a:t>
            </a:r>
          </a:p>
          <a:p>
            <a:r>
              <a:t>  - 新模块需要与防火墙共享同一账号快照</a:t>
            </a:r>
          </a:p>
          <a:p>
            <a:r>
              <a:t>  - 设备证据证明 400/200/5 不满足稳定窗口</a:t>
            </a:r>
          </a:p>
          <a:p>
            <a:r>
              <a:t>verification:</a:t>
            </a:r>
          </a:p>
          <a:p>
            <a:r>
              <a:t>  - coordinator protocol UT</a:t>
            </a:r>
          </a:p>
          <a:p>
            <a:r>
              <a:t>  - same-timeline device trace</a:t>
            </a:r>
          </a:p>
          <a:p>
            <a:r>
              <a:t>  - policy/rules readback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RFC 必须至少包含六块：</a:t>
            </a:r>
          </a:p>
          <a:p/>
          <a:p>
            <a:r>
              <a:t>1. 目标与非目标。</a:t>
            </a:r>
          </a:p>
          <a:p>
            <a:r>
              <a:t>2. 上下游边界与代码责任。</a:t>
            </a:r>
          </a:p>
          <a:p>
            <a:r>
              <a:t>3. 状态字段、所有者和写入时机。</a:t>
            </a:r>
          </a:p>
          <a:p>
            <a:r>
              <a:t>4. 正常/失败/并发场景。</a:t>
            </a:r>
          </a:p>
          <a:p>
            <a:r>
              <a:t>5. 系统能力、权限和跨进程依赖。</a:t>
            </a:r>
          </a:p>
          <a:p>
            <a:r>
              <a:t>6. 测试边界与验收信号。</a:t>
            </a:r>
          </a:p>
          <a:p/>
          <a:p>
            <a:r>
              <a:t>本 RFC 的关键不变量：</a:t>
            </a:r>
          </a:p>
          <a:p/>
          <a:p>
            <a:r>
              <a:t>- 事件只触发，不作为完整账号真相。</a:t>
            </a:r>
          </a:p>
          <a:p>
            <a:r>
              <a:t>- 空/失败账号集合不 prune、不重放。</a:t>
            </a:r>
          </a:p>
          <a:p>
            <a:r>
              <a:t>- public/private 对最新集合生效。</a:t>
            </a:r>
          </a:p>
          <a:p>
            <a:r>
              <a:t>- custom 同步默认 policy，但不扩历史规则作用域。</a:t>
            </a:r>
          </a:p>
          <a:p>
            <a:r>
              <a:t>- 失败不能保存新签名。</a:t>
            </a:r>
          </a:p>
          <a:p>
            <a:r>
              <a:t>- UI 只消费稳定结果，不承担修复。</a:t>
            </a:r>
          </a:p>
          <a:p/>
          <a:p>
            <a:r>
              <a:t>将不变量变成代码审查问题：</a:t>
            </a:r>
          </a:p>
          <a:p/>
          <a:p>
            <a:r>
              <a:t>| RFC 不变量 | 应检查的函数 | 反例 |</a:t>
            </a:r>
          </a:p>
          <a:p>
            <a:r>
              <a:t>|---|---|---|</a:t>
            </a:r>
          </a:p>
          <a:p>
            <a:r>
              <a:t>| 事件不是完整真相 | `onAccountAdded`、`loadStableSnapshot` | 直接 append trigger ID |</a:t>
            </a:r>
          </a:p>
          <a:p>
            <a:r>
              <a:t>| 空集合不 prune | `FirewallAccountChangeHandler.handle` | `users=[]` 仍清理 intent |</a:t>
            </a:r>
          </a:p>
          <a:p>
            <a:r>
              <a:t>| public/private 对最新集合生效 | `applyModeToUsers`、`buildRulesForMode` | 新 ID 未进入模板展开 |</a:t>
            </a:r>
          </a:p>
          <a:p>
            <a:r>
              <a:t>| custom 不扩历史规则 | `buildCustomRules` | 把新增 ID 注入旧 targetUserIds |</a:t>
            </a:r>
          </a:p>
          <a:p>
            <a:r>
              <a:t>| 失败不保存成功签名 | `saveModeApplyState`、`rollbackToSnapshot` | 部分写后 signature 残留 |</a:t>
            </a:r>
          </a:p>
          <a:p>
            <a:r>
              <a:t>| UI 不承担修复 | `ApplicationRuntimeManager`、ViewModel | 页面 onShow 触发业务下发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展示两个真实闭环，避免把业务同步和 UI 刷新画成一条模糊直线：</a:t>
            </a:r>
          </a:p>
          <a:p/>
          <a:p>
            <a:r>
              <a:t>```text</a:t>
            </a:r>
          </a:p>
          <a:p>
            <a:r>
              <a:t>后台业务闭环</a:t>
            </a:r>
          </a:p>
          <a:p>
            <a:r>
              <a:t>onAccountAdded</a:t>
            </a:r>
          </a:p>
          <a:p>
            <a:r>
              <a:t>→ schedule / loadStableSnapshot</a:t>
            </a:r>
          </a:p>
          <a:p>
            <a:r>
              <a:t>→ getOsAccountLocalIds</a:t>
            </a:r>
          </a:p>
          <a:p>
            <a:r>
              <a:t>→ dispatchHandlers</a:t>
            </a:r>
          </a:p>
          <a:p>
            <a:r>
              <a:t>→ FirewallAccountChangeHandler.handle</a:t>
            </a:r>
          </a:p>
          <a:p>
            <a:r>
              <a:t>→ pruneUnavailableUsers</a:t>
            </a:r>
          </a:p>
          <a:p>
            <a:r>
              <a:t>→ custom: applyPolicyForMode + saveModeApplyState</a:t>
            </a:r>
          </a:p>
          <a:p>
            <a:r>
              <a:t>  public/private: applyModeToUsers + rollback on failure</a:t>
            </a:r>
          </a:p>
          <a:p/>
          <a:p>
            <a:r>
              <a:t>前台展示闭环</a:t>
            </a:r>
          </a:p>
          <a:p>
            <a:r>
              <a:t>publishSnapshot</a:t>
            </a:r>
          </a:p>
          <a:p>
            <a:r>
              <a:t>→ commonEventManager.publish/subscribe</a:t>
            </a:r>
          </a:p>
          <a:p>
            <a:r>
              <a:t>→ AccountRuntimeService</a:t>
            </a:r>
          </a:p>
          <a:p>
            <a:r>
              <a:t>→ ApplicationRuntimeManager</a:t>
            </a:r>
          </a:p>
          <a:p>
            <a:r>
              <a:t>→ FirewallRulesViewModel.refreshForAccountChange</a:t>
            </a:r>
          </a:p>
          <a:p>
            <a:r>
              <a:t>```</a:t>
            </a:r>
          </a:p>
          <a:p/>
          <a:p>
            <a:r>
              <a:t>页脚用四个函数锚点连接到系统 API：</a:t>
            </a:r>
          </a:p>
          <a:p/>
          <a:p>
            <a:r>
              <a:t>```text</a:t>
            </a:r>
          </a:p>
          <a:p>
            <a:r>
              <a:t>getPolicy  → netFirewall.getNetFirewallPolicy</a:t>
            </a:r>
          </a:p>
          <a:p>
            <a:r>
              <a:t>setPolicy  → netFirewall.setNetFirewallPolicy</a:t>
            </a:r>
          </a:p>
          <a:p>
            <a:r>
              <a:t>listRules  → netFirewall.getNetFirewallRules</a:t>
            </a:r>
          </a:p>
          <a:p>
            <a:r>
              <a:t>addRule    → netFirewall.addNetFirewallRule</a:t>
            </a:r>
          </a:p>
          <a:p>
            <a:r>
              <a:t>```</a:t>
            </a:r>
          </a:p>
          <a:p/>
          <a:p>
            <a:r>
              <a:t>同时展示关键状态及写入门：</a:t>
            </a:r>
          </a:p>
          <a:p/>
          <a:p>
            <a:r>
              <a:t>| 字段 | 所有者 | 什么时候更新 |</a:t>
            </a:r>
          </a:p>
          <a:p>
            <a:r>
              <a:t>|---|---|---|</a:t>
            </a:r>
          </a:p>
          <a:p>
            <a:r>
              <a:t>| `previousUserIds` | Coordinator | 快照稳定后、Handler 分发前 |</a:t>
            </a:r>
          </a:p>
          <a:p>
            <a:r>
              <a:t>| `desiredEnabled` | LocalRepository | 总开关成功后 |</a:t>
            </a:r>
          </a:p>
          <a:p>
            <a:r>
              <a:t>| `lastAppliedMode` | LocalRepository | 本地提交阶段写入；当前非原子 |</a:t>
            </a:r>
          </a:p>
          <a:p>
            <a:r>
              <a:t>| `lastAppliedUserIdsSignature` | LocalRepository | 幂等门；当前需检查部分写风险 |</a:t>
            </a:r>
          </a:p>
          <a:p>
            <a:r>
              <a:t>| intents/deployments | LocalRepository | 系统规则成功建立并保存映射后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 Story 依赖图：</a:t>
            </a:r>
          </a:p>
          <a:p/>
          <a:p>
            <a:r>
              <a:t>```text</a:t>
            </a:r>
          </a:p>
          <a:p>
            <a:r>
              <a:t>S1 账号真相源与资产对齐</a:t>
            </a:r>
          </a:p>
          <a:p>
            <a:r>
              <a:t>  ↓</a:t>
            </a:r>
          </a:p>
          <a:p>
            <a:r>
              <a:t>S2 删除账号的本地数据清理</a:t>
            </a:r>
          </a:p>
          <a:p>
            <a:r>
              <a:t>  ↓</a:t>
            </a:r>
          </a:p>
          <a:p>
            <a:r>
              <a:t>S3 Coordinator + Handler</a:t>
            </a:r>
          </a:p>
          <a:p>
            <a:r>
              <a:t>  ↓</a:t>
            </a:r>
          </a:p>
          <a:p>
            <a:r>
              <a:t>S4 跨进程稳定事实与 UI 运行时消费</a:t>
            </a:r>
          </a:p>
          <a:p>
            <a:r>
              <a:t>  ↓</a:t>
            </a:r>
          </a:p>
          <a:p>
            <a:r>
              <a:t>S5 新增账号稳定快照门</a:t>
            </a:r>
          </a:p>
          <a:p>
            <a:r>
              <a:t>  ↓</a:t>
            </a:r>
          </a:p>
          <a:p>
            <a:r>
              <a:t>S6 custom 模式签名与全链验收</a:t>
            </a:r>
          </a:p>
          <a:p>
            <a:r>
              <a:t>```</a:t>
            </a:r>
          </a:p>
          <a:p/>
          <a:p>
            <a:r>
              <a:t>拆分依据：</a:t>
            </a:r>
          </a:p>
          <a:p/>
          <a:p>
            <a:r>
              <a:t>- 每个 Story 有独立职责和 oracle。</a:t>
            </a:r>
          </a:p>
          <a:p>
            <a:r>
              <a:t>- 高风险平台假设先证明。</a:t>
            </a:r>
          </a:p>
          <a:p>
            <a:r>
              <a:t>- 一轮只需要读取有限文件。</a:t>
            </a:r>
          </a:p>
          <a:p>
            <a:r>
              <a:t>- 失败能回到明确层级。</a:t>
            </a:r>
          </a:p>
          <a:p>
            <a:r>
              <a:t>- 后续 Story 复用前一 Story 已证明的事实。</a:t>
            </a:r>
          </a:p>
          <a:p/>
          <a:p>
            <a:r>
              <a:t>每个 Story 必须落到函数和 oracle，而不是只落到文件：</a:t>
            </a:r>
          </a:p>
          <a:p/>
          <a:p>
            <a:r>
              <a:t>| Story | 主要函数 | 独立 oracle |</a:t>
            </a:r>
          </a:p>
          <a:p>
            <a:r>
              <a:t>|---|---|---|</a:t>
            </a:r>
          </a:p>
          <a:p>
            <a:r>
              <a:t>| S1 Provider | `loadAvailableUserIds / normalizeUserIds` | 去重、排序、前台标识、失败空态 |</a:t>
            </a:r>
          </a:p>
          <a:p>
            <a:r>
              <a:t>| S2 本地清理 | `pruneUnavailableUsers` | intent/deployment/policy history 同步删失效 ID |</a:t>
            </a:r>
          </a:p>
          <a:p>
            <a:r>
              <a:t>| S3 协调与 Handler | `schedule / runPending / dispatchHandlers / handle` | 防抖、串行、模块分支与失败汇总 |</a:t>
            </a:r>
          </a:p>
          <a:p>
            <a:r>
              <a:t>| S4 跨进程消费 | `publishSnapshot / subscribe / refreshForAccountChange` | 稳定事实只经一条运行时链消费 |</a:t>
            </a:r>
          </a:p>
          <a:p>
            <a:r>
              <a:t>| S5 稳定快照 | `loadStableSnapshot / shouldWaitForAddedAccount` | old→new、never-visible、removed 三组计数 |</a:t>
            </a:r>
          </a:p>
          <a:p>
            <a:r>
              <a:t>| S6 custom 签名 | `applyPolicyForMode / saveModeApplyState` | 不重放旧规则；保存失败返回 false |</a:t>
            </a:r>
          </a:p>
          <a:p/>
          <a:p>
            <a:r>
              <a:t>代码审阅产生的新 Story 候选：</a:t>
            </a:r>
          </a:p>
          <a:p/>
          <a:p>
            <a:r>
              <a:t>```text</a:t>
            </a:r>
          </a:p>
          <a:p>
            <a:r>
              <a:t>S7 apply-state 原子提交与完整回滚</a:t>
            </a:r>
          </a:p>
          <a:p>
            <a:r>
              <a:t>S8 rule snapshot 区分 read failure 与 empty</a:t>
            </a:r>
          </a:p>
          <a:p>
            <a:r>
              <a:t>S9 handler failure 的重试/可观测性</a:t>
            </a:r>
          </a:p>
          <a:p>
            <a:r>
              <a:t>```</a:t>
            </a:r>
          </a:p>
          <a:p/>
          <a:p>
            <a:r>
              <a:t>这些不是为了让范围无限增长，而是展示：Reviewer 发现新风险后，应创建独立 Story，不偷偷塞回 S5。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 S5 Worker Packet 的关键字段：</a:t>
            </a:r>
          </a:p>
          <a:p/>
          <a:p>
            <a:r>
              <a:t>```yaml</a:t>
            </a:r>
          </a:p>
          <a:p>
            <a:r>
              <a:t>story_id: FW-ACCOUNT-S5-STABLE-SNAPSHOT</a:t>
            </a:r>
          </a:p>
          <a:p>
            <a:r>
              <a:t>goal: 只分发包含 triggerAccountId 的稳定快照</a:t>
            </a:r>
          </a:p>
          <a:p>
            <a:r>
              <a:t>allowed_paths:</a:t>
            </a:r>
          </a:p>
          <a:p>
            <a:r>
              <a:t>  - 防火墙模块设计</a:t>
            </a:r>
          </a:p>
          <a:p>
            <a:r>
              <a:t>  - AccountChangeCoordinator.ets::loadStableSnapshot/shouldWaitForAddedAccount</a:t>
            </a:r>
          </a:p>
          <a:p>
            <a:r>
              <a:t>  - account-change-coordinator.test.ets::old→new/never-visible/removed</a:t>
            </a:r>
          </a:p>
          <a:p>
            <a:r>
              <a:t>forbidden:</a:t>
            </a:r>
          </a:p>
          <a:p>
            <a:r>
              <a:t>  - FirewallPage.ets</a:t>
            </a:r>
          </a:p>
          <a:p>
            <a:r>
              <a:t>  - Provider 内业务副作用</a:t>
            </a:r>
          </a:p>
          <a:p>
            <a:r>
              <a:t>acceptance:</a:t>
            </a:r>
          </a:p>
          <a:p>
            <a:r>
              <a:t>  - old_then_new: query=2, handler=1, publish=1, signature=100,122,123</a:t>
            </a:r>
          </a:p>
          <a:p>
            <a:r>
              <a:t>  - never_visible: query=6, handler=0, publish=0, success=false</a:t>
            </a:r>
          </a:p>
          <a:p>
            <a:r>
              <a:t>  - removed: query=1, handler=1, publish=1</a:t>
            </a:r>
          </a:p>
          <a:p>
            <a:r>
              <a:t>stop:</a:t>
            </a:r>
          </a:p>
          <a:p>
            <a:r>
              <a:t>  - repeated_failure_without_new_evidence</a:t>
            </a:r>
          </a:p>
          <a:p>
            <a:r>
              <a:t>  - need_to_modify_forbidden_path</a:t>
            </a:r>
          </a:p>
          <a:p>
            <a:r>
              <a:t>```</a:t>
            </a:r>
          </a:p>
          <a:p/>
          <a:p>
            <a:r>
              <a:t>Worker Packet 同时写验证命令和证据目录，不允许 AI 用“我已修复”作为完成条件。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本案例的受控循环：</a:t>
            </a:r>
          </a:p>
          <a:p/>
          <a:p>
            <a:r>
              <a:t>```text</a:t>
            </a:r>
          </a:p>
          <a:p>
            <a:r>
              <a:t>取一个 Ready Story</a:t>
            </a:r>
          </a:p>
          <a:p>
            <a:r>
              <a:t>→ 读取 AGENTS + RFC + Worker Packet + progress</a:t>
            </a:r>
          </a:p>
          <a:p>
            <a:r>
              <a:t>→ 只在 allowed paths 内执行</a:t>
            </a:r>
          </a:p>
          <a:p>
            <a:r>
              <a:t>→ 运行该 Story 的测试/检查</a:t>
            </a:r>
          </a:p>
          <a:p>
            <a:r>
              <a:t>→ Reviewer 对照 AC、Diff、证据</a:t>
            </a:r>
          </a:p>
          <a:p>
            <a:r>
              <a:t>→ 写回 PASS / FAIL / UNKNOWN 和下一步</a:t>
            </a:r>
          </a:p>
          <a:p>
            <a:r>
              <a:t>→ 新上下文开始下一 Story</a:t>
            </a:r>
          </a:p>
          <a:p>
            <a:r>
              <a:t>```</a:t>
            </a:r>
          </a:p>
          <a:p/>
          <a:p>
            <a:r>
              <a:t>外部记忆：</a:t>
            </a:r>
          </a:p>
          <a:p/>
          <a:p>
            <a:r>
              <a:t>- RFC：不能重新猜的业务/架构契约。</a:t>
            </a:r>
          </a:p>
          <a:p>
            <a:r>
              <a:t>- Story：本轮目标和范围。</a:t>
            </a:r>
          </a:p>
          <a:p>
            <a:r>
              <a:t>- progress：已证明、已否定、下一步。</a:t>
            </a:r>
          </a:p>
          <a:p>
            <a:r>
              <a:t>- evidence：RED/GREEN、命令输出、设备证据。</a:t>
            </a:r>
          </a:p>
          <a:p/>
          <a:p>
            <a:r>
              <a:t>一轮 S5 的真实执行脚本：</a:t>
            </a:r>
          </a:p>
          <a:p/>
          <a:p>
            <a:r>
              <a:t>```text</a:t>
            </a:r>
          </a:p>
          <a:p>
            <a:r>
              <a:t>1 Read</a:t>
            </a:r>
          </a:p>
          <a:p>
            <a:r>
              <a:t>  AGENTS.md</a:t>
            </a:r>
          </a:p>
          <a:p>
            <a:r>
              <a:t>  03-防火墙账号同步RFC.md#核心不变量</a:t>
            </a:r>
          </a:p>
          <a:p>
            <a:r>
              <a:t>  Worker Packet S5</a:t>
            </a:r>
          </a:p>
          <a:p/>
          <a:p>
            <a:r>
              <a:t>2 Inspect</a:t>
            </a:r>
          </a:p>
          <a:p>
            <a:r>
              <a:t>  git show 4b372d0d</a:t>
            </a:r>
          </a:p>
          <a:p>
            <a:r>
              <a:t>  AccountChangeCoordinator.loadStableSnapshot</a:t>
            </a:r>
          </a:p>
          <a:p>
            <a:r>
              <a:t>  account-change-coordinator.test.ets</a:t>
            </a:r>
          </a:p>
          <a:p/>
          <a:p>
            <a:r>
              <a:t>3 Verify</a:t>
            </a:r>
          </a:p>
          <a:p>
            <a:r>
              <a:t>  python scripts/check_docs_consistency.py</a:t>
            </a:r>
          </a:p>
          <a:p>
            <a:r>
              <a:t>  hvigorw test --mode module -p product=default -p module=entry@default</a:t>
            </a:r>
          </a:p>
          <a:p/>
          <a:p>
            <a:r>
              <a:t>4 Review</a:t>
            </a:r>
          </a:p>
          <a:p>
            <a:r>
              <a:t>  allowed paths 是否越界</a:t>
            </a:r>
          </a:p>
          <a:p>
            <a:r>
              <a:t>  old→new / never-visible / removed 是否逐条满足</a:t>
            </a:r>
          </a:p>
          <a:p>
            <a:r>
              <a:t>  是否发现新的 RFC 缺口</a:t>
            </a:r>
          </a:p>
          <a:p/>
          <a:p>
            <a:r>
              <a:t>5 Write back</a:t>
            </a:r>
          </a:p>
          <a:p>
            <a:r>
              <a:t>  status / evidence / discovered_gaps / next_story / stop_reason</a:t>
            </a:r>
          </a:p>
          <a:p>
            <a:r>
              <a:t>```</a:t>
            </a:r>
          </a:p>
          <a:p/>
          <a:p>
            <a:r>
              <a:t>`progress.yaml` 不写“已优化”“基本完成”，只写可复现事实：</a:t>
            </a:r>
          </a:p>
          <a:p/>
          <a:p>
            <a:r>
              <a:t>```yaml</a:t>
            </a:r>
          </a:p>
          <a:p>
            <a:r>
              <a:t>status: PASS_WITH_GAPS</a:t>
            </a:r>
          </a:p>
          <a:p>
            <a:r>
              <a:t>verified:</a:t>
            </a:r>
          </a:p>
          <a:p>
            <a:r>
              <a:t>  - stable snapshot protocol UT PASS</a:t>
            </a:r>
          </a:p>
          <a:p>
            <a:r>
              <a:t>evidence:</a:t>
            </a:r>
          </a:p>
          <a:p>
            <a:r>
              <a:t>  - test_result.txt: 816/816</a:t>
            </a:r>
          </a:p>
          <a:p>
            <a:r>
              <a:t>discovered_gaps:</a:t>
            </a:r>
          </a:p>
          <a:p>
            <a:r>
              <a:t>  - apply-state commit is not atomic</a:t>
            </a:r>
          </a:p>
          <a:p>
            <a:r>
              <a:t>next_story: S7-APPLY-STATE-ATOMICITY</a:t>
            </a:r>
          </a:p>
          <a:p>
            <a:r>
              <a:t>device_truth: UNKNOWN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展示真实 Git 迭代：</a:t>
            </a:r>
          </a:p>
          <a:p/>
          <a:p>
            <a:r>
              <a:t>| 轮次 | 提交 | 本轮结果 | 新暴露的问题 |</a:t>
            </a:r>
          </a:p>
          <a:p>
            <a:r>
              <a:t>|---:|---|---|---|</a:t>
            </a:r>
          </a:p>
          <a:p>
            <a:r>
              <a:t>| R1 | `9ea957d2` | 账号枚举统一 | 还没有事件同步 |</a:t>
            </a:r>
          </a:p>
          <a:p>
            <a:r>
              <a:t>| R2 | `09209bb9` | 本地清理 | 缺统一协调入口 |</a:t>
            </a:r>
          </a:p>
          <a:p>
            <a:r>
              <a:t>| R3 | `94ff17e7` | Coordinator/Handler | 跨进程消费不完整 |</a:t>
            </a:r>
          </a:p>
          <a:p>
            <a:r>
              <a:t>| R4 | `53751b2e` | 发布稳定账号事实 | 规则展示仍需收敛 |</a:t>
            </a:r>
          </a:p>
          <a:p>
            <a:r>
              <a:t>| R5 | `586880a3` | 规则从快照 reconcile | 发现新增事件时序差 |</a:t>
            </a:r>
          </a:p>
          <a:p>
            <a:r>
              <a:t>| R6 | `4b372d0d` | 先定义稳定快照 | 等待实现和反证测试 |</a:t>
            </a:r>
          </a:p>
          <a:p>
            <a:r>
              <a:t>| R7 | `c0c1bc9f` | 等待触发 ID 可见 | custom 签名仍缺 |</a:t>
            </a:r>
          </a:p>
          <a:p>
            <a:r>
              <a:t>| R8 | `9c7fb186` | custom 保存签名 | 运行时职责仍可收口 |</a:t>
            </a:r>
          </a:p>
          <a:p>
            <a:r>
              <a:t>| R9 | `cecf6d17` | 收口 RuntimeManager | 进入整体验收 |</a:t>
            </a:r>
          </a:p>
          <a:p/>
          <a:p>
            <a:r>
              <a:t>时间线下方补一条“代码责任如何逐轮长出来”：</a:t>
            </a:r>
          </a:p>
          <a:p/>
          <a:p>
            <a:r>
              <a:t>```text</a:t>
            </a:r>
          </a:p>
          <a:p>
            <a:r>
              <a:t>Provider(getOsAccountLocalIds)</a:t>
            </a:r>
          </a:p>
          <a:p>
            <a:r>
              <a:t>→ Repository(pruneUnavailableUsers)</a:t>
            </a:r>
          </a:p>
          <a:p>
            <a:r>
              <a:t>→ Coordinator(schedule/loadSnapshot/dispatch)</a:t>
            </a:r>
          </a:p>
          <a:p>
            <a:r>
              <a:t>→ EventBus(common event)</a:t>
            </a:r>
          </a:p>
          <a:p>
            <a:r>
              <a:t>→ ViewModel(refreshForAccountChange)</a:t>
            </a:r>
          </a:p>
          <a:p>
            <a:r>
              <a:t>→ Stable Gate(loadStableSnapshot)</a:t>
            </a:r>
          </a:p>
          <a:p>
            <a:r>
              <a:t>→ Custom Signature(saveModeApplyState)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展开 R6 → R7：</a:t>
            </a:r>
          </a:p>
          <a:p/>
          <a:p>
            <a:r>
              <a:t>```text</a:t>
            </a:r>
          </a:p>
          <a:p>
            <a:r>
              <a:t>21:58:55  4b372d0d</a:t>
            </a:r>
          </a:p>
          <a:p>
            <a:r>
              <a:t>docs: 定义账号新增的稳定快照同步</a:t>
            </a:r>
          </a:p>
          <a:p>
            <a:r>
              <a:t>  - 更新模块设计</a:t>
            </a:r>
          </a:p>
          <a:p>
            <a:r>
              <a:t>  - 新增专项方案</a:t>
            </a:r>
          </a:p>
          <a:p>
            <a:r>
              <a:t>  - 冻结等待条件、重试上限和失败保持</a:t>
            </a:r>
          </a:p>
          <a:p/>
          <a:p>
            <a:r>
              <a:t>22:03:53  c0c1bc9f</a:t>
            </a:r>
          </a:p>
          <a:p>
            <a:r>
              <a:t>fix: 等待新增账号快照再 reconcile</a:t>
            </a:r>
          </a:p>
          <a:p>
            <a:r>
              <a:t>  - 修改 Coordinator</a:t>
            </a:r>
          </a:p>
          <a:p>
            <a:r>
              <a:t>  - 新增先旧后新、一直旧、removed 单读测试</a:t>
            </a:r>
          </a:p>
          <a:p>
            <a:r>
              <a:t>```</a:t>
            </a:r>
          </a:p>
          <a:p/>
          <a:p>
            <a:r>
              <a:t>约五分钟不是重点；重点是顺序：先让行为可审查，再让 AI 执行。</a:t>
            </a:r>
          </a:p>
          <a:p/>
          <a:p>
            <a:r>
              <a:t>把文档规则和实现逐项对齐：</a:t>
            </a:r>
          </a:p>
          <a:p/>
          <a:p>
            <a:r>
              <a:t>| 文档契约 | 代码位置 | 可执行断言 |</a:t>
            </a:r>
          </a:p>
          <a:p>
            <a:r>
              <a:t>|---|---|---|</a:t>
            </a:r>
          </a:p>
          <a:p>
            <a:r>
              <a:t>| 新增账号必须等触发 ID 可见 | `shouldWaitForAddedAccount()` | 第一次旧集合不能 dispatch |</a:t>
            </a:r>
          </a:p>
          <a:p>
            <a:r>
              <a:t>| 重试有上限 | `MAX_RETRIES=5` + 首次读取 | 总 query 次数为 6 |</a:t>
            </a:r>
          </a:p>
          <a:p>
            <a:r>
              <a:t>| 超时不能伪成功 | `stable=false → return false` | Handler=0、publish=0 |</a:t>
            </a:r>
          </a:p>
          <a:p>
            <a:r>
              <a:t>| 删除不等待被删 ID | source 判断仅命中 added | removed query=1 |</a:t>
            </a:r>
          </a:p>
          <a:p/>
          <a:p>
            <a:r>
              <a:t>再增加一张 Reviewer 缺口卡：</a:t>
            </a:r>
          </a:p>
          <a:p/>
          <a:p>
            <a:r>
              <a:t>```text</a:t>
            </a:r>
          </a:p>
          <a:p>
            <a:r>
              <a:t>设计要求：失败不能保存新 signature</a:t>
            </a:r>
          </a:p>
          <a:p>
            <a:r>
              <a:t>代码事实：saveCurrentMode 失败后仍可能调用 saveModeApplyState</a:t>
            </a:r>
          </a:p>
          <a:p>
            <a:r>
              <a:t>回滚事实：rollbackToSnapshot 不恢复 last-applied signature</a:t>
            </a:r>
          </a:p>
          <a:p>
            <a:r>
              <a:t>当前判定：核心协议 PASS；事务原子性 INCOMPLETE</a:t>
            </a:r>
          </a:p>
          <a:p>
            <a:r>
              <a:t>下一 Story：本地 apply-state 原子提交 + 回滚断言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**【补充素材｜MCP 介绍页】**</a:t>
            </a:r>
          </a:p>
          <a:p>
            <a:r>
              <a:t>此页正文、示意图和讲解内容由讲师使用已有 MCP 材料替换，本稿不重复编写。</a:t>
            </a:r>
          </a:p>
          <a:p/>
          <a:p>
            <a:r>
              <a:t>建议本页只完成一个转场：</a:t>
            </a:r>
          </a:p>
          <a:p/>
          <a:p>
            <a:r>
              <a:t>```text</a:t>
            </a:r>
          </a:p>
          <a:p>
            <a:r>
              <a:t>前面已经定义“验什么”</a:t>
            </a:r>
          </a:p>
          <a:p>
            <a:r>
              <a:t>→ MCP / HDC 负责把 Build、Install、Operate、Observe 接到真实环境</a:t>
            </a:r>
          </a:p>
          <a:p>
            <a:r>
              <a:t>→ 下一页进入 E2E Runner 怎样调用这些能力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C:\Users\mu\AppData\Local\Temp\codex-clipboard-6778939b-3ce1-44ae-baf5-06a00b13fb43.jpg</a:t>
            </a:r>
          </a:p>
          <a:p>
            <a:r>
              <a:t>[/Sources]</a:t>
            </a:r>
          </a:p>
          <a:p/>
          <a:p>
            <a:r>
              <a:t>主视觉使用用户提供的 E2E 架构图：</a:t>
            </a:r>
          </a:p>
          <a:p/>
          <a:p>
            <a:r>
              <a:t>![SecurityTool E2E Runner 架构](C:/Users/mu/AppData/Local/Temp/codex-clipboard-6778939b-3ce1-44ae-baf5-06a00b13fb43.jpg)</a:t>
            </a:r>
          </a:p>
          <a:p/>
          <a:p>
            <a:r>
              <a:t>图下保留一条真实路由，不再只写三句抽象结论：</a:t>
            </a:r>
          </a:p>
          <a:p/>
          <a:p>
            <a:r>
              <a:t>```text</a:t>
            </a:r>
          </a:p>
          <a:p>
            <a:r>
              <a:t>rule_create.json</a:t>
            </a:r>
          </a:p>
          <a:p>
            <a:r>
              <a:t>→ validate_case_contract</a:t>
            </a:r>
          </a:p>
          <a:p>
            <a:r>
              <a:t>→ normalize_case_definition(flow/assertions → execution_steps)</a:t>
            </a:r>
          </a:p>
          <a:p>
            <a:r>
              <a:t>→ E2ERunner.run_case / run_step</a:t>
            </a:r>
          </a:p>
          <a:p>
            <a:r>
              <a:t>→ SecurityToolFlowExecutor.execute</a:t>
            </a:r>
          </a:p>
          <a:p>
            <a:r>
              <a:t>→ resolve_operation_binding(entity.create)</a:t>
            </a:r>
          </a:p>
          <a:p>
            <a:r>
              <a:t>→ template_key=firewall.rule.create.domain</a:t>
            </a:r>
          </a:p>
          <a:p>
            <a:r>
              <a:t>→ execute_template_action</a:t>
            </a:r>
          </a:p>
          <a:p>
            <a:r>
              <a:t>→ MCP Driver / Bridge / Backend</a:t>
            </a:r>
          </a:p>
          <a:p>
            <a:r>
              <a:t>→ AssertionExecutor.assert_text_presence</a:t>
            </a:r>
          </a:p>
          <a:p>
            <a:r>
              <a:t>→ CaseResult(primary + secondary evidence)</a:t>
            </a:r>
          </a:p>
          <a:p>
            <a:r>
              <a:t>```</a:t>
            </a:r>
          </a:p>
          <a:p/>
          <a:p>
            <a:r>
              <a:t>读图结论：Case 描述业务动作；Adapter/Template 决定怎么操作；Driver 只执行；Assertion 和 `result_policy` 才决定 PASS/FAIL/UNKNOWN。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建议使用真实用例 `FW-STATUS-001`：</a:t>
            </a:r>
          </a:p>
          <a:p/>
          <a:p>
            <a:r>
              <a:t>```text</a:t>
            </a:r>
          </a:p>
          <a:p>
            <a:r>
              <a:t>launch_app</a:t>
            </a:r>
          </a:p>
          <a:p>
            <a:r>
              <a:t>→ reset_previous_page / relaunch_app</a:t>
            </a:r>
          </a:p>
          <a:p>
            <a:r>
              <a:t>→ open_firewall_page</a:t>
            </a:r>
          </a:p>
          <a:p>
            <a:r>
              <a:t>→ toggle_firewall(require_auth_prompt=true)</a:t>
            </a:r>
          </a:p>
          <a:p>
            <a:r>
              <a:t>→ assert “公共网络模式”仍可见</a:t>
            </a:r>
          </a:p>
          <a:p>
            <a:r>
              <a:t>→ reporter 输出 result + artifacts</a:t>
            </a:r>
          </a:p>
          <a:p>
            <a:r>
              <a:t>```</a:t>
            </a:r>
          </a:p>
          <a:p/>
          <a:p>
            <a:r>
              <a:t>用例状态的代码级判定：</a:t>
            </a:r>
          </a:p>
          <a:p/>
          <a:p>
            <a:r>
              <a:t>```text</a:t>
            </a:r>
          </a:p>
          <a:p>
            <a:r>
              <a:t>flow_action PASS/FAIL/UNKNOWN</a:t>
            </a:r>
          </a:p>
          <a:p>
            <a:r>
              <a:t>→ assertion_action PASS/FAIL/UNKNOWN</a:t>
            </a:r>
          </a:p>
          <a:p>
            <a:r>
              <a:t>→ FAIL：记录 failure_stage，默认 stop_on_failure</a:t>
            </a:r>
          </a:p>
          <a:p>
            <a:r>
              <a:t>→ UNKNOWN：保留 UNKNOWN；allow_unknown=false 时升级 FAIL</a:t>
            </a:r>
          </a:p>
          <a:p>
            <a:r>
              <a:t>→ evidence：primary_evidence + secondary_evidence</a:t>
            </a:r>
          </a:p>
          <a:p>
            <a:r>
              <a:t>→ validate_result_contract(CaseResult)</a:t>
            </a:r>
          </a:p>
          <a:p>
            <a:r>
              <a:t>```</a:t>
            </a:r>
          </a:p>
          <a:p/>
          <a:p>
            <a:r>
              <a:t>现场执行分两档：</a:t>
            </a:r>
          </a:p>
          <a:p/>
          <a:p>
            <a:r>
              <a:t>**有设备**</a:t>
            </a:r>
          </a:p>
          <a:p/>
          <a:p>
            <a:r>
              <a:t>```bash</a:t>
            </a:r>
          </a:p>
          <a:p>
            <a:r>
              <a:t>python scripts/e2e/tools/validate_test_assets.py</a:t>
            </a:r>
          </a:p>
          <a:p>
            <a:r>
              <a:t>python scripts/e2e/run_e2e.py --adapter security_tool --case scripts/e2e/cases/firewall/status_toggle.json</a:t>
            </a:r>
          </a:p>
          <a:p>
            <a:r>
              <a:t>```</a:t>
            </a:r>
          </a:p>
          <a:p/>
          <a:p>
            <a:r>
              <a:t>**无设备**</a:t>
            </a:r>
          </a:p>
          <a:p/>
          <a:p>
            <a:r>
              <a:t>```text</a:t>
            </a:r>
          </a:p>
          <a:p>
            <a:r>
              <a:t>运行测试资产校验</a:t>
            </a:r>
          </a:p>
          <a:p>
            <a:r>
              <a:t>→ 静态展开 action plan / resolver</a:t>
            </a:r>
          </a:p>
          <a:p>
            <a:r>
              <a:t>→ 人工给出预期 Tool、Assertion、Artifact</a:t>
            </a:r>
          </a:p>
          <a:p>
            <a:r>
              <a:t>→ 设备相关结果标 UNKNOWN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**T03 / Structured Acceptance Readback — TARGET**</a:t>
            </a:r>
          </a:p>
          <a:p/>
          <a:p>
            <a:r>
              <a:t>```json</a:t>
            </a:r>
          </a:p>
          <a:p>
            <a:r>
              <a:t>{</a:t>
            </a:r>
          </a:p>
          <a:p>
            <a:r>
              <a:t>  "result": "PASS|FAIL|UNKNOWN",</a:t>
            </a:r>
          </a:p>
          <a:p>
            <a:r>
              <a:t>  "accounts": [100, 112, 123],</a:t>
            </a:r>
          </a:p>
          <a:p>
            <a:r>
              <a:t>  "mode": "public",</a:t>
            </a:r>
          </a:p>
          <a:p>
            <a:r>
              <a:t>  "signature": "100,112,123",</a:t>
            </a:r>
          </a:p>
          <a:p>
            <a:r>
              <a:t>  "users": [{"id": 123, "isOpen": true, "ruleCount": 4}],</a:t>
            </a:r>
          </a:p>
          <a:p>
            <a:r>
              <a:t>  "failures": [],</a:t>
            </a:r>
          </a:p>
          <a:p>
            <a:r>
              <a:t>  "evidence": {"device": "...", "timestamp": "..."}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操作链：`build → install → activate admin → trigger → logs → getter → screenshot`</a:t>
            </a:r>
          </a:p>
          <a:p/>
          <a:p>
            <a:r>
              <a:t>**课堂任务不是 5 分钟现场开发 getter，而是先冻结证据契约和 PASS 规则。**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C:\Users\mu\Desktop\code\ppt\harmonyos-sdd-ralph-workshop\harmonyos-sdd-workshop-media\anthropic\evaluator-optimizer.png</a:t>
            </a:r>
          </a:p>
          <a:p>
            <a:r>
              <a:t>[/Sources]</a:t>
            </a:r>
          </a:p>
          <a:p/>
          <a:p>
            <a:r>
              <a:t>**同伴验收只问六件事**</a:t>
            </a:r>
          </a:p>
          <a:p/>
          <a:p>
            <a:r>
              <a:t>1. `spec.md` 是否冻结账号事实、失败语义与提交点？</a:t>
            </a:r>
          </a:p>
          <a:p>
            <a:r>
              <a:t>2. `design.md` 是否区分 intent、local apply、system truth、UI？</a:t>
            </a:r>
          </a:p>
          <a:p>
            <a:r>
              <a:t>3. T01 是否真的出现过可解释 RED 与 GREEN？</a:t>
            </a:r>
          </a:p>
          <a:p>
            <a:r>
              <a:t>4. T02 故障后是否恢复 identity，而非只恢复数量？</a:t>
            </a:r>
          </a:p>
          <a:p>
            <a:r>
              <a:t>5. 设备证据是否来自真机，UNKNOWN 是否被诚实保留？</a:t>
            </a:r>
          </a:p>
          <a:p>
            <a:r>
              <a:t>6. diff 是否完全落在任务允许边界？</a:t>
            </a:r>
          </a:p>
          <a:p/>
          <a:p>
            <a:r>
              <a:t>结果只允许：`PASS / FAIL / UNKNOWN`。</a:t>
            </a:r>
          </a:p>
          <a:p/>
          <a:p>
            <a:r>
              <a:t>| Eval 层 | 检查什么 | 反例 |</a:t>
            </a:r>
          </a:p>
          <a:p>
            <a:r>
              <a:t>|---|---|---|</a:t>
            </a:r>
          </a:p>
          <a:p>
            <a:r>
              <a:t>| Trace | Prompt、工具调用、diff、测试、是否越界 | 过程规范，但底层调用仍失败 |</a:t>
            </a:r>
          </a:p>
          <a:p>
            <a:r>
              <a:t>| Outcome | 系统账号、policy、rules、signature、mapping | 页面偶然正确，但 AI 伪造账号事实 |</a:t>
            </a:r>
          </a:p>
          <a:p/>
          <a:p>
            <a:r>
              <a:t>最终结论由 Outcome 决定；Trace 用于解释可信度、复现过程和发现越界行为。</a:t>
            </a:r>
          </a:p>
          <a:p/>
          <a:p>
            <a:r>
              <a:t>![Evaluator–Optimizer：生成、独立评估、拒绝反馈与接受](harmonyos-sdd-workshop-media/anthropic/evaluator-optimizer.png)</a:t>
            </a:r>
          </a:p>
          <a:p/>
          <a:p>
            <a:r>
              <a:t>&lt;sub&gt;讲师读图：Implementer 不能独自给自己打分。Reviewer 返回的必须是可执行反馈与缺失证据；只有达到预先冻结的 AC 才接受。图源：Anthropic《Building Effective Agents》。&lt;/sub&gt;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C:\Users\mu\Desktop\code\ppt\harmonyos-sdd-ralph-workshop\harmonyos-sdd-workshop-media\freerdp-stutter-scenario.jpeg</a:t>
            </a:r>
          </a:p>
          <a:p>
            <a:r>
              <a:t>[/Sources]</a:t>
            </a:r>
          </a:p>
          <a:p/>
          <a:p>
            <a:r>
              <a:t>**任务背景**</a:t>
            </a:r>
          </a:p>
          <a:p/>
          <a:p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/>
          <a:p>
            <a:r>
              <a:t>```text</a:t>
            </a:r>
          </a:p>
          <a:p>
            <a:r>
              <a:t>本地 FreeRDP 快照：2014 个相关源文件 / 约 559,355 行</a:t>
            </a:r>
          </a:p>
          <a:p>
            <a:r>
              <a:t>用户报告：远端视频播放卡顿</a:t>
            </a:r>
          </a:p>
          <a:p>
            <a:r>
              <a:t>现有媒体：某次运行可见播放/交互，但未绑定 decoder path</a:t>
            </a:r>
          </a:p>
          <a:p>
            <a:r>
              <a:t>第一目标：证明当前路径、建立 before 基线</a:t>
            </a:r>
          </a:p>
          <a:p>
            <a:r>
              <a:t>最终目标：硬解路径可用、可回退、可验收、可维护</a:t>
            </a:r>
          </a:p>
          <a:p>
            <a:r>
              <a:t>```</a:t>
            </a:r>
          </a:p>
          <a:p/>
          <a:p/>
          <a:p/>
          <a:p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/>
          <a:p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**从“读全库”改成“回答五个问题”**</a:t>
            </a:r>
          </a:p>
          <a:p/>
          <a:p>
            <a:r>
              <a:t>```text</a:t>
            </a:r>
          </a:p>
          <a:p>
            <a:r>
              <a:t>协议：H.264 从哪里进入？</a:t>
            </a:r>
          </a:p>
          <a:p>
            <a:r>
              <a:t>选择：command 被 GPU compositor consumed，还是回到 original GDI？</a:t>
            </a:r>
          </a:p>
          <a:p>
            <a:r>
              <a:t>输出：格式、stride、plane 是什么？</a:t>
            </a:r>
          </a:p>
          <a:p>
            <a:r>
              <a:t>显示：谁拥有 Surface，何时 present？</a:t>
            </a:r>
          </a:p>
          <a:p>
            <a:r>
              <a:t>证明：怎样把 decoder、frame、owner、present 绑定到同一 run？</a:t>
            </a:r>
          </a:p>
          <a:p>
            <a:r>
              <a:t>```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A["gfx-&gt;SurfaceCommand"] --&gt; B["ohos_rdpgfx_surface_command"]</a:t>
            </a:r>
          </a:p>
          <a:p>
            <a:r>
              <a:t>    B --&gt; C["record_avc420_gpu_candidate"]</a:t>
            </a:r>
          </a:p>
          <a:p>
            <a:r>
              <a:t>    C --&gt;|ready/consumed| D["OnSurfaceCommand → worker"]</a:t>
            </a:r>
          </a:p>
          <a:p>
            <a:r>
              <a:t>    D --&gt; E["ProcessCommand → OH_AVCodec"]</a:t>
            </a:r>
          </a:p>
          <a:p>
            <a:r>
              <a:t>    E --&gt; F["native buffer → CompositeFrame"]</a:t>
            </a:r>
          </a:p>
          <a:p>
            <a:r>
              <a:t>    F --&gt; G["pendingFrameId"]</a:t>
            </a:r>
          </a:p>
          <a:p>
            <a:r>
              <a:t>    G --&gt; H["matched EndFrame → PresentComposite"]</a:t>
            </a:r>
          </a:p>
          <a:p>
            <a:r>
              <a:t>    C --&gt;|not consumed| I["original SurfaceCommand"]</a:t>
            </a:r>
          </a:p>
          <a:p>
            <a:r>
              <a:t>    I --&gt; J["gdi_SurfaceCommand → H264 subsystem/GDI"]</a:t>
            </a:r>
          </a:p>
          <a:p>
            <a:r>
              <a:t>```</a:t>
            </a:r>
          </a:p>
          <a:p/>
          <a:p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已有后端 | 作用 | AI 应该学习什么 |</a:t>
            </a:r>
          </a:p>
          <a:p>
            <a:r>
              <a:t>|---|---|---|</a:t>
            </a:r>
          </a:p>
          <a:p>
            <a:r>
              <a:t>| FFmpeg / OpenH264 | 通用软件路径 | 正确性 fallback、YUV 输出语义 |</a:t>
            </a:r>
          </a:p>
          <a:p>
            <a:r>
              <a:t>| Windows Media Foundation | Windows 硬解 | 平台 decoder 生命周期与失败传播 |</a:t>
            </a:r>
          </a:p>
          <a:p>
            <a:r>
              <a:t>| Android MediaCodec | 移动平台硬解 | buffer 输入输出、format change、释放 |</a:t>
            </a:r>
          </a:p>
          <a:p>
            <a:r>
              <a:t>| HarmonyOS `OH_AVCodec` | 目标平台 | 能力查询、AVBuffer/Surface、stride/plane |</a:t>
            </a:r>
          </a:p>
          <a:p/>
          <a:p>
            <a:r>
              <a:t>中央结论：</a:t>
            </a:r>
          </a:p>
          <a:p/>
          <a:p>
            <a:r>
              <a:t>```text</a:t>
            </a:r>
          </a:p>
          <a:p>
            <a:r>
              <a:t>共同契约：Create → Configure → Start → Input → Output → Validate → Release</a:t>
            </a:r>
          </a:p>
          <a:p>
            <a:r>
              <a:t>平台差异：API、buffer ownership、output format、Surface/lifecycle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A["gfx-&gt;SurfaceCommand"] --&gt; B["ohos_rdpgfx_surface_command"]</a:t>
            </a:r>
          </a:p>
          <a:p>
            <a:r>
              <a:t>    B --&gt; C["record_avc420_gpu_candidate&lt;br/&gt;原生顺序校验 + consumed policy"]</a:t>
            </a:r>
          </a:p>
          <a:p>
            <a:r>
              <a:t>    C --&gt;|ready| D["Ohos...SurfaceCommandCallback"]</a:t>
            </a:r>
          </a:p>
          <a:p>
            <a:r>
              <a:t>    D --&gt; E["Avc420GpuCompositor::OnSurfaceCommand"]</a:t>
            </a:r>
          </a:p>
          <a:p>
            <a:r>
              <a:t>    E --&gt; F["worker → ProcessCommand"]</a:t>
            </a:r>
          </a:p>
          <a:p>
            <a:r>
              <a:t>    F --&gt; G["OH_AVCodec → OH_NativeBuffer"]</a:t>
            </a:r>
          </a:p>
          <a:p>
            <a:r>
              <a:t>    G --&gt; H["CompositeFrame → pendingFrameId"]</a:t>
            </a:r>
          </a:p>
          <a:p>
            <a:r>
              <a:t>    H --&gt; I["matched EndFrame"]</a:t>
            </a:r>
          </a:p>
          <a:p>
            <a:r>
              <a:t>    I --&gt; J["PresentQueuedUpdate → EGL swap"]</a:t>
            </a:r>
          </a:p>
          <a:p>
            <a:r>
              <a:t>    C --&gt;|not consumed / takeover 前失败| K["original SurfaceCommand"]</a:t>
            </a:r>
          </a:p>
          <a:p>
            <a:r>
              <a:t>    K --&gt; L["gdi_SurfaceCommand → H264 subsystem / GDI"]</a:t>
            </a:r>
          </a:p>
          <a:p>
            <a:r>
              <a:t>```</a:t>
            </a:r>
          </a:p>
          <a:p/>
          <a:p>
            <a:r>
              <a:t>Architecture Decision：</a:t>
            </a:r>
          </a:p>
          <a:p/>
          <a:p>
            <a:r>
              <a:t>```text</a:t>
            </a:r>
          </a:p>
          <a:p>
            <a:r>
              <a:t>在 OHOS RDPGFX bridge 保存原回调并受控拦截；</a:t>
            </a:r>
          </a:p>
          <a:p>
            <a:r>
              <a:t>App compositor 直接管理 OH_AVCodec、native buffer、retained composite 与 EndFrame；</a:t>
            </a:r>
          </a:p>
          <a:p>
            <a:r>
              <a:t>takeover 前失败回到 original GDI/H264 subsystem；</a:t>
            </a:r>
          </a:p>
          <a:p>
            <a:r>
              <a:t>先用 AVC420 证明一帧 decode→pending→matched present→fallback；</a:t>
            </a:r>
          </a:p>
          <a:p>
            <a:r>
              <a:t>AVC444、队列与生命周期在边界证实后分任务推进。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```text</a:t>
            </a:r>
          </a:p>
          <a:p>
            <a:r>
              <a:t>SP-01 bridge 与 compositor 进入 arm64/HAP 产物</a:t>
            </a:r>
          </a:p>
          <a:p>
            <a:r>
              <a:t>  ↓</a:t>
            </a:r>
          </a:p>
          <a:p>
            <a:r>
              <a:t>SP-02 真机选择 hardware decoder</a:t>
            </a:r>
          </a:p>
          <a:p>
            <a:r>
              <a:t>  ↓</a:t>
            </a:r>
          </a:p>
          <a:p>
            <a:r>
              <a:t>SP-03 一个 AVC420 sample 产生可关联的 native output</a:t>
            </a:r>
          </a:p>
          <a:p>
            <a:r>
              <a:t>  ↓</a:t>
            </a:r>
          </a:p>
          <a:p>
            <a:r>
              <a:t>SP-04 同一 frame 完成 composite / pending / matched EndFrame present</a:t>
            </a:r>
          </a:p>
          <a:p>
            <a:r>
              <a:t>  ↓</a:t>
            </a:r>
          </a:p>
          <a:p>
            <a:r>
              <a:t>SP-05 注入失败时回到可解释 fallback</a:t>
            </a:r>
          </a:p>
          <a:p>
            <a:r>
              <a:t>```</a:t>
            </a:r>
          </a:p>
          <a:p/>
          <a:p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Task | 主要源码边界 | 一个可观察结果 / Stop |</a:t>
            </a:r>
          </a:p>
          <a:p>
            <a:r>
              <a:t>|---|---|---|</a:t>
            </a:r>
          </a:p>
          <a:p>
            <a:r>
              <a:t>| T00 | diagnostics only | 保存同 runId before；路径不明则不归因 |</a:t>
            </a:r>
          </a:p>
          <a:p>
            <a:r>
              <a:t>| T01 | `InstallRdpgfxDiagnosticsHooks`、`bridge_attach`、decoder init | bridge + hardware decoder 真机成立；只编译成功则停 |</a:t>
            </a:r>
          </a:p>
          <a:p>
            <a:r>
              <a:t>| T02 | decoder input/output、`OH_AVBuffer_GetNativeBuffer` | 一帧输入输出可关联；format/native buffer 不明则停 |</a:t>
            </a:r>
          </a:p>
          <a:p>
            <a:r>
              <a:t>| T03 | candidate policy、`OnSurfaceCommand`、`ProcessCommand`、`PresentEndFrame` | consumed→owner→matched present 闭环；GDI/GPU 双写则 FAIL |</a:t>
            </a:r>
          </a:p>
          <a:p>
            <a:r>
              <a:t>| T04 | `EnqueueSurfaceCommand`、worker compaction | 连续队列有界；depth/age 持续增长则停 |</a:t>
            </a:r>
          </a:p>
          <a:p>
            <a:r>
              <a:t>| T05 | target generation、pause/detach/recreate | resize/后台/重连拒绝 stale task；旧 target 可写则 FAIL |</a:t>
            </a:r>
          </a:p>
          <a:p>
            <a:r>
              <a:t>| T06 | AVC444 candidate/compositor、LC retained state | 单 decoder + LC + EndFrame；复用 420 假设则停 |</a:t>
            </a:r>
          </a:p>
          <a:p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sequenceDiagram</a:t>
            </a:r>
          </a:p>
          <a:p>
            <a:r>
              <a:t>    participant H as Human / Planner</a:t>
            </a:r>
          </a:p>
          <a:p>
            <a:r>
              <a:t>    participant E as Explorer</a:t>
            </a:r>
          </a:p>
          <a:p>
            <a:r>
              <a:t>    participant I as Implementer</a:t>
            </a:r>
          </a:p>
          <a:p>
            <a:r>
              <a:t>    participant T as Tool / MCP</a:t>
            </a:r>
          </a:p>
          <a:p>
            <a:r>
              <a:t>    participant R as Reviewer</a:t>
            </a:r>
          </a:p>
          <a:p>
            <a:r>
              <a:t>    H-&gt;&gt;E: 只读调用链与 GAP</a:t>
            </a:r>
          </a:p>
          <a:p>
            <a:r>
              <a:t>    E--&gt;&gt;H: codebase map + evidence index</a:t>
            </a:r>
          </a:p>
          <a:p>
            <a:r>
              <a:t>    H-&gt;&gt;I: 单张 Task Card</a:t>
            </a:r>
          </a:p>
          <a:p>
            <a:r>
              <a:t>    I--&gt;&gt;T: 最小 diff + verify commands</a:t>
            </a:r>
          </a:p>
          <a:p>
            <a:r>
              <a:t>    T--&gt;&gt;R: build/device/log/video evidence</a:t>
            </a:r>
          </a:p>
          <a:p>
            <a:r>
              <a:t>    R--&gt;&gt;H: Trace + Outcome verdict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左侧循环播放黑屏片段；右侧逐层点亮：</a:t>
            </a:r>
          </a:p>
          <a:p/>
          <a:p>
            <a:r>
              <a:t>```text</a:t>
            </a:r>
          </a:p>
          <a:p>
            <a:r>
              <a:t>1 command received</a:t>
            </a:r>
          </a:p>
          <a:p>
            <a:r>
              <a:t>2 candidate path / decoder selected</a:t>
            </a:r>
          </a:p>
          <a:p>
            <a:r>
              <a:t>3 compressed input queued</a:t>
            </a:r>
          </a:p>
          <a:p>
            <a:r>
              <a:t>4 decoded output valid</a:t>
            </a:r>
          </a:p>
          <a:p>
            <a:r>
              <a:t>5 format / stride / planes valid</a:t>
            </a:r>
          </a:p>
          <a:p>
            <a:r>
              <a:t>6 command state applied</a:t>
            </a:r>
          </a:p>
          <a:p>
            <a:r>
              <a:t>7 render owner correct</a:t>
            </a:r>
          </a:p>
          <a:p>
            <a:r>
              <a:t>8 EndFrame present</a:t>
            </a:r>
          </a:p>
          <a:p>
            <a:r>
              <a:t>9 next frame continues</a:t>
            </a:r>
          </a:p>
          <a:p>
            <a:r>
              <a:t>```</a:t>
            </a:r>
          </a:p>
          <a:p/>
          <a:p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frameId | codec | decoder | output | owner | present | verdict |</a:t>
            </a:r>
          </a:p>
          <a:p>
            <a:r>
              <a:t>|---:|---|---|---|---|---|---|</a:t>
            </a:r>
          </a:p>
          <a:p>
            <a:r>
              <a:t>|  |  |  |  |  |  | `PENDING` |</a:t>
            </a:r>
          </a:p>
          <a:p/>
          <a:p>
            <a:r>
              <a:t>&gt; 本表等待真实 frame trace；不再使用未绑定 run 的示例 frameId 冒充证据。</a:t>
            </a:r>
          </a:p>
          <a:p/>
          <a:p>
            <a:r>
              <a:t>下方两句：</a:t>
            </a:r>
          </a:p>
          <a:p/>
          <a:p>
            <a:r>
              <a:t>&gt; “API 调用成功”只证明一个边界。</a:t>
            </a:r>
          </a:p>
          <a:p/>
          <a:p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/>
          <a:p>
            <a:r>
              <a:t>[/Sources]</a:t>
            </a:r>
          </a:p>
          <a:p/>
          <a:p>
            <a:r>
              <a:t>| 工程能力 | 必须回答 | 失败表现 |</a:t>
            </a:r>
          </a:p>
          <a:p>
            <a:r>
              <a:t>|---|---|---|</a:t>
            </a:r>
          </a:p>
          <a:p>
            <a:r>
              <a:t>| 生命周期 | create/start/flush/stop/destroy 与 Surface generation 如何对齐 | resize 黑屏、旧 target |</a:t>
            </a:r>
          </a:p>
          <a:p>
            <a:r>
              <a:t>| 队列/背压 | 输入、输出、present 队列是否有界 | 延迟增长、内存上涨 |</a:t>
            </a:r>
          </a:p>
          <a:p>
            <a:r>
              <a:t>| 所有权 | GDI、AVC420、AVC444 谁能写 XComponent | 闪烁、旧帧覆盖 |</a:t>
            </a:r>
          </a:p>
          <a:p>
            <a:r>
              <a:t>| 回退 | 硬解失败能否回软件/原生路径 | 静默黑屏 |</a:t>
            </a:r>
          </a:p>
          <a:p>
            <a:r>
              <a:t>| 可观测性 | 能否证明 decoder、frame、owner、present | 只能靠肉眼猜 |</a:t>
            </a:r>
          </a:p>
          <a:p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C:\Users\mu\Desktop\code\ppt\harmonyos-sdd-ralph-workshop\harmonyos-sdd-workshop-media\gpu-validation-video-playback-contact.jpg</a:t>
            </a:r>
          </a:p>
          <a:p>
            <a:r>
              <a:t>[/Sources]</a:t>
            </a:r>
          </a:p>
          <a:p/>
          <a:p>
            <a:r>
              <a:t>左：before 视频槽位（`PENDING`；当前为空）</a:t>
            </a:r>
          </a:p>
          <a:p/>
          <a:p>
            <a:r>
              <a:t>中：硬解路径待填证据链</a:t>
            </a:r>
          </a:p>
          <a:p/>
          <a:p>
            <a:r>
              <a:t>```text</a:t>
            </a:r>
          </a:p>
          <a:p>
            <a:r>
              <a:t>commit:</a:t>
            </a:r>
          </a:p>
          <a:p>
            <a:r>
              <a:t>runId:</a:t>
            </a:r>
          </a:p>
          <a:p>
            <a:r>
              <a:t>candidate path:</a:t>
            </a:r>
          </a:p>
          <a:p>
            <a:r>
              <a:t>decoder identity:</a:t>
            </a:r>
          </a:p>
          <a:p>
            <a:r>
              <a:t>frameId / output:</a:t>
            </a:r>
          </a:p>
          <a:p>
            <a:r>
              <a:t>owner / matched EndFrame:</a:t>
            </a:r>
          </a:p>
          <a:p>
            <a:r>
              <a:t>present:</a:t>
            </a:r>
          </a:p>
          <a:p>
            <a:r>
              <a:t>```</a:t>
            </a:r>
          </a:p>
          <a:p/>
          <a:p>
            <a:r>
              <a:t>右：现有可见媒体与验收矩阵</a:t>
            </a:r>
          </a:p>
          <a:p/>
          <a:p>
            <a:r>
              <a:t>| 结论 | 当前证据 | 判定 |</a:t>
            </a:r>
          </a:p>
          <a:p>
            <a:r>
              <a:t>|---|---|---|</a:t>
            </a:r>
          </a:p>
          <a:p>
            <a:r>
              <a:t>| 源码存在 bridge→compositor→EndFrame 路径 | 源码锚点与调用链 | `REPO FACT` |</a:t>
            </a:r>
          </a:p>
          <a:p>
            <a:r>
              <a:t>| 当前 arm64/HAP 构建通过 |  | `PENDING` |</a:t>
            </a:r>
          </a:p>
          <a:p>
            <a:r>
              <a:t>| 真机实际选择 OHOS hardware decoder |  | `PENDING` |</a:t>
            </a:r>
          </a:p>
          <a:p>
            <a:r>
              <a:t>| 某次运行可见播放与部分交互 | `gpu-validation-video-playback-16s.mp4` | `MEDIA FACT / UNBOUND` |</a:t>
            </a:r>
          </a:p>
          <a:p>
            <a:r>
              <a:t>| 某次运行出现黑屏 | `gpu-failure-black-screen-13s.mp4` | `MEDIA FACT / UNBOUND` |</a:t>
            </a:r>
          </a:p>
          <a:p>
            <a:r>
              <a:t>| CPU/FPS 与卡顿改善 |  | `UNKNOWN` |</a:t>
            </a:r>
          </a:p>
          <a:p>
            <a:r>
              <a:t>| resize/后台/重连长稳 |  | `UNKNOWN` |</a:t>
            </a:r>
          </a:p>
          <a:p/>
          <a:p/>
          <a:p/>
          <a:p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C:/Users/mu/Desktop/code/ppt/harmonyos-sdd-ralph-workshop/harmonyos-sdd-ralph-workshop.md</a:t>
            </a:r>
          </a:p>
          <a:p>
            <a:r>
              <a:t>- C:\Users\mu\Desktop\code\ppt\harmonyos-sdd-ralph-workshop\harmonyos-sdd-workshop-media\anthropic\eval-quality-layers.png</a:t>
            </a:r>
          </a:p>
          <a:p>
            <a:r>
              <a:t>[/Sources]</a:t>
            </a:r>
          </a:p>
          <a:p/>
          <a:p>
            <a:r>
              <a:t>```mermaid</a:t>
            </a:r>
          </a:p>
          <a:p>
            <a:r>
              <a:t>flowchart TD</a:t>
            </a:r>
          </a:p>
          <a:p>
            <a:r>
              <a:t>    A[事实] --&gt; B[规格]</a:t>
            </a:r>
          </a:p>
          <a:p>
            <a:r>
              <a:t>    B --&gt; C[任务]</a:t>
            </a:r>
          </a:p>
          <a:p>
            <a:r>
              <a:t>    C --&gt; D[RED]</a:t>
            </a:r>
          </a:p>
          <a:p>
            <a:r>
              <a:t>    D --&gt; E[最小 Diff]</a:t>
            </a:r>
          </a:p>
          <a:p>
            <a:r>
              <a:t>    E --&gt; F[系统证据]</a:t>
            </a:r>
          </a:p>
          <a:p>
            <a:r>
              <a:t>```</a:t>
            </a:r>
          </a:p>
          <a:p/>
          <a:p>
            <a:r>
              <a:t>**可选收束主视觉（PPT 制作时与上方 Mermaid 二选一）**</a:t>
            </a:r>
          </a:p>
          <a:p/>
          <a:p>
            <a:r>
              <a:t>![质量的瑞士奶酪模型：自动评估、人工审阅和真实运行共同拦截缺陷](harmonyos-sdd-workshop-media/anthropic/eval-quality-layers.png)</a:t>
            </a:r>
          </a:p>
          <a:p/>
          <a:p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/>
          <a:p>
            <a:r>
              <a:t>下一次拿到复杂需求，只问七个问题：</a:t>
            </a:r>
          </a:p>
          <a:p/>
          <a:p>
            <a:r>
              <a:t>1. 哪些词会让实现分叉？</a:t>
            </a:r>
          </a:p>
          <a:p>
            <a:r>
              <a:t>2. 最终真相在哪一层？</a:t>
            </a:r>
          </a:p>
          <a:p>
            <a:r>
              <a:t>3. 哪些不变量绝不能破坏？</a:t>
            </a:r>
          </a:p>
          <a:p>
            <a:r>
              <a:t>4. 本轮只允许 AI 改哪个边界？</a:t>
            </a:r>
          </a:p>
          <a:p>
            <a:r>
              <a:t>5. 怎样先制造一个可解释的 RED？</a:t>
            </a:r>
          </a:p>
          <a:p>
            <a:r>
              <a:t>6. 最早异常证据在哪里？</a:t>
            </a:r>
          </a:p>
          <a:p>
            <a:r>
              <a:t>7. 什么证据满足后，本轮必须停止？</a:t>
            </a:r>
          </a:p>
          <a:p/>
          <a:p>
            <a:r>
              <a:t>**一分钟迁移题**</a:t>
            </a:r>
          </a:p>
          <a:p/>
          <a:p>
            <a:r>
              <a:t>&gt; 权限页面第一次进入数据为空，第二次进入正常。</a:t>
            </a:r>
          </a:p>
          <a:p/>
          <a:p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3" Type="http://schemas.openxmlformats.org/officeDocument/2006/relationships/video" Target="../media/openai-human-feedback-training.mp4"/><Relationship Id="rId4" Type="http://schemas.microsoft.com/office/2007/relationships/media" Target="../media/openai-human-feedback-training.mp4"/><Relationship Id="rId5" Type="http://schemas.openxmlformats.org/officeDocument/2006/relationships/image" Target="../media/openai-human-feedback-training-poster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jpe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571500" y="1000125"/>
            <a:ext cx="5143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7222"/>
          </a:bodyPr>
          <a:lstStyle/>
          <a:p>
            <a:pPr algn="l">
              <a:defRPr sz="31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复杂需求工程化实践</a:t>
            </a:r>
            <a:endParaRPr sz="31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000250"/>
            <a:ext cx="4953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先解决人和 AI 如何对齐，再进入需求、开发、验证与问题定位</a:t>
            </a:r>
            <a:endParaRPr sz="172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3143250"/>
            <a:ext cx="57150" cy="106680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742950" y="3181350"/>
            <a:ext cx="4781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课程先回答：人如何把意图、边界和完成标准交给 AI，并在它做偏时及时拉回。随后把这套方法带入两个真实工程案例。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1"/>
          <a:srcRect l="10625" r="10625"/>
          <a:stretch>
            <a:fillRect/>
          </a:stretch>
        </p:blipFill>
        <p:spPr>
          <a:xfrm>
            <a:off x="5953125" y="952500"/>
            <a:ext cx="5667375" cy="4048125"/>
          </a:xfrm>
          <a:prstGeom prst="roundRect">
            <a:avLst>
              <a:gd name="adj" fmla="val 2824"/>
            </a:avLst>
          </a:prstGeom>
        </p:spPr>
      </p:pic>
      <p:sp>
        <p:nvSpPr>
          <p:cNvPr id="6" name="圆角矩形 5"/>
          <p:cNvSpPr>
            <a:spLocks noGrp="1"/>
          </p:cNvSpPr>
          <p:nvPr/>
        </p:nvSpPr>
        <p:spPr>
          <a:xfrm>
            <a:off x="5953125" y="952500"/>
            <a:ext cx="5667375" cy="4048125"/>
          </a:xfrm>
          <a:prstGeom prst="roundRect">
            <a:avLst>
              <a:gd name="adj" fmla="val 282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0" y="5067300"/>
            <a:ext cx="51911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2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输出是候选；人类判断与环境证据共同决定是否完成。</a:t>
            </a:r>
            <a:endParaRPr sz="12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5715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477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4384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5146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上下文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3053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3815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1722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2484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0391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153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9906000" y="5715000"/>
            <a:ext cx="1714500" cy="523875"/>
          </a:xfrm>
          <a:prstGeom prst="roundRect">
            <a:avLst>
              <a:gd name="adj" fmla="val 21818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982200" y="5772150"/>
            <a:ext cx="1562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5" name="直接箭头连接符 44"/>
          <p:cNvCxnSpPr>
            <a:stCxn id="8" idx="3"/>
            <a:endCxn id="10" idx="1"/>
          </p:cNvCxnSpPr>
          <p:nvPr/>
        </p:nvCxnSpPr>
        <p:spPr>
          <a:xfrm>
            <a:off x="22860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6" name="直接箭头连接符 45"/>
          <p:cNvCxnSpPr>
            <a:stCxn id="10" idx="3"/>
            <a:endCxn id="12" idx="1"/>
          </p:cNvCxnSpPr>
          <p:nvPr/>
        </p:nvCxnSpPr>
        <p:spPr>
          <a:xfrm>
            <a:off x="41529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7" name="直接箭头连接符 46"/>
          <p:cNvCxnSpPr>
            <a:stCxn id="12" idx="3"/>
            <a:endCxn id="14" idx="1"/>
          </p:cNvCxnSpPr>
          <p:nvPr/>
        </p:nvCxnSpPr>
        <p:spPr>
          <a:xfrm>
            <a:off x="60198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" name="直接箭头连接符 47"/>
          <p:cNvCxnSpPr>
            <a:stCxn id="14" idx="3"/>
            <a:endCxn id="16" idx="1"/>
          </p:cNvCxnSpPr>
          <p:nvPr/>
        </p:nvCxnSpPr>
        <p:spPr>
          <a:xfrm>
            <a:off x="78867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16" idx="3"/>
            <a:endCxn id="18" idx="1"/>
          </p:cNvCxnSpPr>
          <p:nvPr/>
        </p:nvCxnSpPr>
        <p:spPr>
          <a:xfrm>
            <a:off x="9753600" y="5976938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矩形 2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能力越强，越需要把“完成”说清楚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381125"/>
            <a:ext cx="428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5943"/>
          </a:bodyPr>
          <a:lstStyle/>
          <a:p>
            <a:pPr algn="l">
              <a:def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模型可以写出漂亮答案，</a:t>
            </a:r>
            <a:endParaRPr sz="23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却不知道你心里真正的“完成”。</a:t>
            </a:r>
            <a:endParaRPr sz="23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2714625"/>
            <a:ext cx="4191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太具体：把偶然路径写死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太模糊：默认双方共享上下文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  <a:buNone/>
              <a:def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刚刚好：目标清楚，边界可执行，允许在不确定时求助</a:t>
            </a:r>
            <a:endParaRPr sz="150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6375" y="1365549"/>
            <a:ext cx="6191250" cy="3479202"/>
          </a:xfrm>
          <a:prstGeom prst="roundRect">
            <a:avLst>
              <a:gd name="adj" fmla="val 3093"/>
            </a:avLst>
          </a:prstGeom>
        </p:spPr>
      </p:pic>
      <p:sp>
        <p:nvSpPr>
          <p:cNvPr id="9" name="圆角矩形 8"/>
          <p:cNvSpPr>
            <a:spLocks noGrp="1"/>
          </p:cNvSpPr>
          <p:nvPr/>
        </p:nvSpPr>
        <p:spPr>
          <a:xfrm>
            <a:off x="5286375" y="1257300"/>
            <a:ext cx="6191250" cy="3695700"/>
          </a:xfrm>
          <a:prstGeom prst="roundRect">
            <a:avLst>
              <a:gd name="adj" fmla="val 3093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285875" y="5429250"/>
            <a:ext cx="57150" cy="5905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457325" y="5467350"/>
            <a:ext cx="9448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对齐的第一步不是把 Prompt 写得更长，而是让“期望行为”可以被双方检查。</a:t>
            </a:r>
            <a:endParaRPr sz="16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复杂任务靠的不是更长 Prompt，而是可持续上下文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420422"/>
            <a:ext cx="7239000" cy="4074306"/>
          </a:xfrm>
          <a:prstGeom prst="roundRect">
            <a:avLst>
              <a:gd name="adj" fmla="val 2553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219200"/>
            <a:ext cx="7239000" cy="4476750"/>
          </a:xfrm>
          <a:prstGeom prst="roundRect">
            <a:avLst>
              <a:gd name="adj" fmla="val 2553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334375" y="15049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单轮问答</a:t>
            </a:r>
            <a:endParaRPr sz="18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34375" y="190500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主要优化一句输入</a:t>
            </a:r>
            <a:endParaRPr sz="142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334375" y="2428875"/>
            <a:ext cx="2619375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334375" y="27622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长任务 Agent</a:t>
            </a:r>
            <a:endParaRPr sz="18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334375" y="3190875"/>
            <a:ext cx="2714625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持续选择文档、工具、历史、记忆和新证据；每轮都可能丢失重点。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239125" y="4714875"/>
            <a:ext cx="57150" cy="100012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410575" y="4752975"/>
            <a:ext cx="26860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复杂任务的上下文不是一次装满，而是随着行动持续筛选、记录和恢复。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矩形 1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对齐发生在三方之间：人定目标，AI 提方案，环境给事实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735" y="1238250"/>
            <a:ext cx="6723529" cy="4667250"/>
          </a:xfrm>
          <a:prstGeom prst="roundRect">
            <a:avLst>
              <a:gd name="adj" fmla="val 2449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619125" y="1238250"/>
            <a:ext cx="6762750" cy="4667250"/>
          </a:xfrm>
          <a:prstGeom prst="roundRect">
            <a:avLst>
              <a:gd name="adj" fmla="val 2449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905750" y="13811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</a:t>
            </a:r>
            <a:endParaRPr sz="202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05750" y="18097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定义目标、优先级、禁止范围和高风险决策。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905750" y="2714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</a:t>
            </a:r>
            <a:endParaRPr sz="2025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05750" y="3143250"/>
            <a:ext cx="3143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检索上下文、提出方案、执行最小动作并说明不确定性。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905750" y="40957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8765"/>
          </a:bodyPr>
          <a:lstStyle/>
          <a:p>
            <a:pPr algn="l">
              <a:defRPr sz="20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环境</a:t>
            </a:r>
            <a:endParaRPr sz="202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05750" y="4524375"/>
            <a:ext cx="3143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用测试、日志、系统回读和真实画面给出不可争辩的反馈。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476375" y="5953125"/>
            <a:ext cx="57150" cy="400050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647825" y="5991225"/>
            <a:ext cx="906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人不替 AI 做每一步；AI 也不能替人定义“什么算对”。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人能判断“更好”，却未必能一次写清目标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0" y="14763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OpenAI 的后空翻实验</a:t>
            </a:r>
            <a:endParaRPr sz="187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477250" y="2095500"/>
            <a:ext cx="2952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人不需要先写出完整奖励函数。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500"/>
          </a:p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只需反复比较两段动作：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哪一段更接近目标？</a:t>
            </a:r>
            <a:endParaRPr sz="15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0" y="3857625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7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900 次二选一反馈</a:t>
            </a:r>
            <a:endParaRPr sz="1875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572500" y="4286250"/>
            <a:ext cx="2762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 Agent 逐步学会后空翻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428750" y="5905500"/>
            <a:ext cx="57150" cy="4000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600200" y="5943600"/>
            <a:ext cx="916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容易判断，不等于容易说明；对齐可以从可重复的判断开始。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6" name="OpenAI Human Feedback Training Vi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>
                  <p14:bmkLst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1500" y="1238250"/>
            <a:ext cx="7524750" cy="4429125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238250"/>
            <a:ext cx="7524750" cy="4429125"/>
          </a:xfrm>
          <a:prstGeom prst="roundRect">
            <a:avLst>
              <a:gd name="adj" fmla="val 2581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高层目标直接交给 Agent，会出现两种典型失控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228725"/>
            <a:ext cx="10687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8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“构建一个 claude.ai 克隆应用。”</a:t>
            </a:r>
            <a:endParaRPr sz="18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1952625"/>
            <a:ext cx="1081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Anthropic 发现：即使是前沿编码模型，只有高层目标也会在长任务中失控。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3820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3820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一次做太多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3820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试图 one-shot 整个应用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42900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60045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60045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上下文中断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60045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留下半实现、无记录的功能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19125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36270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36270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下一轮靠猜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36270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先花时间恢复基本可运行状态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8953500" y="2857500"/>
            <a:ext cx="2333625" cy="16668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124950" y="3009900"/>
            <a:ext cx="57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124950" y="3429000"/>
            <a:ext cx="1952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过早宣布完成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124950" y="3905250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看到已有进度，就误判全部结束</a:t>
            </a:r>
            <a:endParaRPr sz="1275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5" name="直接箭头连接符 54"/>
          <p:cNvCxnSpPr>
            <a:stCxn id="9" idx="3"/>
            <a:endCxn id="13" idx="1"/>
          </p:cNvCxnSpPr>
          <p:nvPr/>
        </p:nvCxnSpPr>
        <p:spPr>
          <a:xfrm>
            <a:off x="300037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6" name="直接箭头连接符 55"/>
          <p:cNvCxnSpPr>
            <a:stCxn id="13" idx="3"/>
            <a:endCxn id="17" idx="1"/>
          </p:cNvCxnSpPr>
          <p:nvPr/>
        </p:nvCxnSpPr>
        <p:spPr>
          <a:xfrm>
            <a:off x="576262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" name="直接箭头连接符 56"/>
          <p:cNvCxnSpPr>
            <a:stCxn id="17" idx="3"/>
            <a:endCxn id="21" idx="1"/>
          </p:cNvCxnSpPr>
          <p:nvPr/>
        </p:nvCxnSpPr>
        <p:spPr>
          <a:xfrm>
            <a:off x="8524875" y="3690938"/>
            <a:ext cx="428625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1524000" y="5286375"/>
            <a:ext cx="57150" cy="609600"/>
          </a:xfrm>
          <a:prstGeom prst="rect">
            <a:avLst/>
          </a:prstGeom>
          <a:solidFill>
            <a:srgbClr val="C84B4B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695450" y="5324475"/>
            <a:ext cx="8972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问题不是 AI 不会写代码，而是目标、进度和完成标准没有被外化。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矩形 2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对齐不是一次确认，而是生成、评估、反馈的循环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72220"/>
            <a:ext cx="6858000" cy="2856310"/>
          </a:xfrm>
          <a:prstGeom prst="roundRect">
            <a:avLst>
              <a:gd name="adj" fmla="val 3636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71500" y="1428750"/>
            <a:ext cx="6858000" cy="3143250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953375" y="15240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生成器</a:t>
            </a:r>
            <a:endParaRPr sz="18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953375" y="19240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给出候选方案或最小改动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953375" y="2714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评估器</a:t>
            </a:r>
            <a:endParaRPr sz="18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53375" y="311467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按预先冻结的标准检查结果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953375" y="39052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反馈</a:t>
            </a:r>
            <a:endParaRPr sz="18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53375" y="43053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指出缺口和下一条可执行动作</a:t>
            </a:r>
            <a:endParaRPr sz="1350" b="0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57250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33450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目标未满足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3519488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595688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给出证据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181725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257925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缩小差距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843963" y="5191125"/>
            <a:ext cx="2490788" cy="619125"/>
          </a:xfrm>
          <a:prstGeom prst="roundRect">
            <a:avLst>
              <a:gd name="adj" fmla="val 18462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920163" y="5248275"/>
            <a:ext cx="2338388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重新评估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8" name="直接箭头连接符 47"/>
          <p:cNvCxnSpPr>
            <a:stCxn id="14" idx="3"/>
            <a:endCxn id="16" idx="1"/>
          </p:cNvCxnSpPr>
          <p:nvPr/>
        </p:nvCxnSpPr>
        <p:spPr>
          <a:xfrm>
            <a:off x="3348038" y="5500688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16" idx="3"/>
            <a:endCxn id="18" idx="1"/>
          </p:cNvCxnSpPr>
          <p:nvPr/>
        </p:nvCxnSpPr>
        <p:spPr>
          <a:xfrm>
            <a:off x="6010276" y="5500688"/>
            <a:ext cx="17144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" name="直接箭头连接符 49"/>
          <p:cNvCxnSpPr>
            <a:stCxn id="18" idx="3"/>
            <a:endCxn id="20" idx="1"/>
          </p:cNvCxnSpPr>
          <p:nvPr/>
        </p:nvCxnSpPr>
        <p:spPr>
          <a:xfrm>
            <a:off x="8672513" y="5500688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矩形 24"/>
          <p:cNvSpPr>
            <a:spLocks noGrp="1"/>
          </p:cNvSpPr>
          <p:nvPr/>
        </p:nvSpPr>
        <p:spPr>
          <a:xfrm>
            <a:off x="2571750" y="6000750"/>
            <a:ext cx="704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接受不是“AI 觉得可以”，而是检查标准已经通过。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矩形 2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人—AI 对齐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进入工程案例前，先把四件事写成契约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1085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57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后面的两个案例都会从同一份“对齐契约”开始，而不是从写代码开始。</a:t>
            </a:r>
            <a:endParaRPr sz="1575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904875" y="1809750"/>
            <a:ext cx="10382250" cy="333375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90625" y="200977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905000" y="195262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190875" y="195262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本轮唯一要改变的结果是什么？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763000" y="195262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spec / success criteria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43000" y="265747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190625" y="279082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905000" y="273367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90875" y="273367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允许改什么、禁止改什么，哪些决定必须由人关闭？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0" y="273367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allowed / forbidden / open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143000" y="343852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190625" y="357187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905000" y="351472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190875" y="351472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用什么测试、回读、日志或画面证明结果成立？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63000" y="351472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RED / GREEN / evidence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43000" y="4219575"/>
            <a:ext cx="99060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190625" y="4352925"/>
            <a:ext cx="523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905000" y="4295775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7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190875" y="4295775"/>
            <a:ext cx="5286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何时提交，何时回退，何时保留 UNKNOWN 并问人？</a:t>
            </a:r>
            <a:endParaRPr sz="13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763000" y="4295775"/>
            <a:ext cx="21431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1">
                <a:solidFill>
                  <a:srgbClr val="5F6B7A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stop / rollback / escalate</a:t>
            </a:r>
            <a:endParaRPr sz="1200" b="1">
              <a:solidFill>
                <a:srgbClr val="5F6B7A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524000" y="55721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695450" y="5610225"/>
            <a:ext cx="897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9 页开始：把这四项放进真实文档、代码、测试和设备证据。</a:t>
            </a:r>
            <a:endParaRPr sz="16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7" name="矩形 6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需求与规格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MDM 案例要走完六个阶段，不能从需求图直接跳到代码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资产同步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43205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50825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方案推导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29260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6880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架构 RFC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15315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2935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Story 拆分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1370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8990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Ralph 迭代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9874250" y="1238250"/>
            <a:ext cx="1746250" cy="628650"/>
          </a:xfrm>
          <a:prstGeom prst="roundRect">
            <a:avLst>
              <a:gd name="adj" fmla="val 1818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50450" y="1295400"/>
            <a:ext cx="1593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测试验收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4" name="直接箭头连接符 83"/>
          <p:cNvCxnSpPr>
            <a:stCxn id="6" idx="3"/>
            <a:endCxn id="8" idx="1"/>
          </p:cNvCxnSpPr>
          <p:nvPr/>
        </p:nvCxnSpPr>
        <p:spPr>
          <a:xfrm>
            <a:off x="2317750" y="15525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" name="直接箭头连接符 84"/>
          <p:cNvCxnSpPr>
            <a:stCxn id="8" idx="3"/>
            <a:endCxn id="10" idx="1"/>
          </p:cNvCxnSpPr>
          <p:nvPr/>
        </p:nvCxnSpPr>
        <p:spPr>
          <a:xfrm>
            <a:off x="4178300" y="15525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6" name="直接箭头连接符 85"/>
          <p:cNvCxnSpPr>
            <a:stCxn id="10" idx="3"/>
            <a:endCxn id="12" idx="1"/>
          </p:cNvCxnSpPr>
          <p:nvPr/>
        </p:nvCxnSpPr>
        <p:spPr>
          <a:xfrm>
            <a:off x="6038850" y="15525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" name="直接箭头连接符 86"/>
          <p:cNvCxnSpPr>
            <a:stCxn id="12" idx="3"/>
            <a:endCxn id="14" idx="1"/>
          </p:cNvCxnSpPr>
          <p:nvPr/>
        </p:nvCxnSpPr>
        <p:spPr>
          <a:xfrm>
            <a:off x="7899400" y="15525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8" name="直接箭头连接符 87"/>
          <p:cNvCxnSpPr>
            <a:stCxn id="14" idx="3"/>
            <a:endCxn id="16" idx="1"/>
          </p:cNvCxnSpPr>
          <p:nvPr/>
        </p:nvCxnSpPr>
        <p:spPr>
          <a:xfrm>
            <a:off x="9759950" y="15525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3" name="矩形 22"/>
          <p:cNvSpPr>
            <a:spLocks noGrp="1"/>
          </p:cNvSpPr>
          <p:nvPr/>
        </p:nvSpPr>
        <p:spPr>
          <a:xfrm>
            <a:off x="666750" y="2238375"/>
            <a:ext cx="21717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2950" y="22860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838450" y="2238375"/>
            <a:ext cx="304038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914650" y="2286000"/>
            <a:ext cx="28879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生成文档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878830" y="2238375"/>
            <a:ext cx="56464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955030" y="2286000"/>
            <a:ext cx="54940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解决的问题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2638425"/>
            <a:ext cx="217170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42950" y="26860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资产同步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838450" y="2638425"/>
            <a:ext cx="304038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914650" y="26860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资产清单、术语表、冲突矩阵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878830" y="2638425"/>
            <a:ext cx="564642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955030" y="26860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输入是否完整、一致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66750" y="3159125"/>
            <a:ext cx="217170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32067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方案推导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2838450" y="3159125"/>
            <a:ext cx="304038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914650" y="32067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备选方案表、ADR、穿刺报告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878830" y="3159125"/>
            <a:ext cx="564642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5955030" y="32067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为什么选这个方案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66750" y="3679825"/>
            <a:ext cx="217170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42950" y="37274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2838450" y="3679825"/>
            <a:ext cx="304038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2914650" y="37274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架构、状态、不变量、失败语义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878830" y="3679825"/>
            <a:ext cx="564642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5955030" y="37274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系统应该怎样工作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66750" y="4200525"/>
            <a:ext cx="217170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42950" y="42481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Story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2838450" y="4200525"/>
            <a:ext cx="304038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2914650" y="42481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 Map、Worker Packet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878830" y="4200525"/>
            <a:ext cx="564642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955030" y="42481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每轮只做什么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666750" y="4721225"/>
            <a:ext cx="217170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742950" y="47688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Ralph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2838450" y="4721225"/>
            <a:ext cx="304038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2914650" y="47688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progress、evidence、iteration ledger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878830" y="4721225"/>
            <a:ext cx="5646420" cy="5207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5955030" y="47688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多轮如何不断线、不漂移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666750" y="5241925"/>
            <a:ext cx="217170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742950" y="5289550"/>
            <a:ext cx="201930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2838450" y="5241925"/>
            <a:ext cx="304038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2914650" y="5289550"/>
            <a:ext cx="288798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acceptance report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5878830" y="5241925"/>
            <a:ext cx="5646420" cy="5207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5955030" y="5289550"/>
            <a:ext cx="5494020" cy="42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凭什么给 PASS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714500" y="595312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42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每一阶段都留下可复查文档，下一阶段只能引用已经冻结的事实。</a:t>
            </a:r>
            <a:endParaRPr sz="1425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资产同步先建立来源和可信边界，不是把所有文件塞进上下文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66750" y="1285875"/>
            <a:ext cx="2095500" cy="523875"/>
          </a:xfrm>
          <a:prstGeom prst="roundRect">
            <a:avLst>
              <a:gd name="adj" fmla="val 21818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343025"/>
            <a:ext cx="19431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项目真实资产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714750" y="119062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790950" y="124777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docs/00 原始 xlsx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0" name="肘形连接符 39"/>
          <p:cNvCxnSpPr>
            <a:stCxn id="6" idx="3"/>
            <a:endCxn id="8" idx="1"/>
          </p:cNvCxnSpPr>
          <p:nvPr/>
        </p:nvCxnSpPr>
        <p:spPr>
          <a:xfrm flipV="1">
            <a:off x="2762250" y="1457325"/>
            <a:ext cx="952500" cy="90488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1" name="圆角矩形 10"/>
          <p:cNvSpPr>
            <a:spLocks noGrp="1"/>
          </p:cNvSpPr>
          <p:nvPr/>
        </p:nvSpPr>
        <p:spPr>
          <a:xfrm>
            <a:off x="3714750" y="197167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790950" y="202882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docs/01 UX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3" name="肘形连接符 42"/>
          <p:cNvCxnSpPr>
            <a:stCxn id="6" idx="3"/>
            <a:endCxn id="11" idx="1"/>
          </p:cNvCxnSpPr>
          <p:nvPr/>
        </p:nvCxnSpPr>
        <p:spPr>
          <a:xfrm>
            <a:off x="2762250" y="1547813"/>
            <a:ext cx="952500" cy="690563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4" name="圆角矩形 13"/>
          <p:cNvSpPr>
            <a:spLocks noGrp="1"/>
          </p:cNvSpPr>
          <p:nvPr/>
        </p:nvSpPr>
        <p:spPr>
          <a:xfrm>
            <a:off x="3714750" y="275272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3790950" y="280987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docs/02 PRD / RFC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6" name="肘形连接符 45"/>
          <p:cNvCxnSpPr>
            <a:stCxn id="6" idx="3"/>
            <a:endCxn id="14" idx="1"/>
          </p:cNvCxnSpPr>
          <p:nvPr/>
        </p:nvCxnSpPr>
        <p:spPr>
          <a:xfrm>
            <a:off x="2762250" y="1547813"/>
            <a:ext cx="952500" cy="1471613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圆角矩形 16"/>
          <p:cNvSpPr>
            <a:spLocks noGrp="1"/>
          </p:cNvSpPr>
          <p:nvPr/>
        </p:nvSpPr>
        <p:spPr>
          <a:xfrm>
            <a:off x="3714750" y="353377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790950" y="359092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docs/03 模块设计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9" name="肘形连接符 48"/>
          <p:cNvCxnSpPr>
            <a:stCxn id="6" idx="3"/>
            <a:endCxn id="17" idx="1"/>
          </p:cNvCxnSpPr>
          <p:nvPr/>
        </p:nvCxnSpPr>
        <p:spPr>
          <a:xfrm>
            <a:off x="2762250" y="1547813"/>
            <a:ext cx="952500" cy="2252663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圆角矩形 19"/>
          <p:cNvSpPr>
            <a:spLocks noGrp="1"/>
          </p:cNvSpPr>
          <p:nvPr/>
        </p:nvSpPr>
        <p:spPr>
          <a:xfrm>
            <a:off x="3714750" y="431482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790950" y="437197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entry/src/main + test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2" name="肘形连接符 51"/>
          <p:cNvCxnSpPr>
            <a:stCxn id="6" idx="3"/>
            <a:endCxn id="20" idx="1"/>
          </p:cNvCxnSpPr>
          <p:nvPr/>
        </p:nvCxnSpPr>
        <p:spPr>
          <a:xfrm>
            <a:off x="2762250" y="1547813"/>
            <a:ext cx="952500" cy="3033713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3" name="圆角矩形 22"/>
          <p:cNvSpPr>
            <a:spLocks noGrp="1"/>
          </p:cNvSpPr>
          <p:nvPr/>
        </p:nvSpPr>
        <p:spPr>
          <a:xfrm>
            <a:off x="3714750" y="5095875"/>
            <a:ext cx="3143250" cy="533400"/>
          </a:xfrm>
          <a:prstGeom prst="roundRect">
            <a:avLst>
              <a:gd name="adj" fmla="val 21429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790950" y="5153025"/>
            <a:ext cx="2990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scripts/e2e/cases/firewall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5" name="肘形连接符 54"/>
          <p:cNvCxnSpPr>
            <a:stCxn id="6" idx="3"/>
            <a:endCxn id="23" idx="1"/>
          </p:cNvCxnSpPr>
          <p:nvPr/>
        </p:nvCxnSpPr>
        <p:spPr>
          <a:xfrm>
            <a:off x="2762250" y="1547813"/>
            <a:ext cx="952500" cy="3814763"/>
          </a:xfrm>
          <a:prstGeom prst="bentConnector3">
            <a:avLst>
              <a:gd name="adj1" fmla="val 50000"/>
            </a:avLst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圆角矩形 25"/>
          <p:cNvSpPr>
            <a:spLocks noGrp="1"/>
          </p:cNvSpPr>
          <p:nvPr/>
        </p:nvSpPr>
        <p:spPr>
          <a:xfrm>
            <a:off x="8001000" y="1190625"/>
            <a:ext cx="3429000" cy="4953000"/>
          </a:xfrm>
          <a:prstGeom prst="roundRect">
            <a:avLst>
              <a:gd name="adj" fmla="val 3889"/>
            </a:avLst>
          </a:prstGeom>
          <a:solidFill>
            <a:srgbClr val="FAFB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153400" y="1304925"/>
            <a:ext cx="312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对每类资产的工作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153400" y="1590675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286750" y="1809750"/>
            <a:ext cx="285750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提取可定位事实与冲突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425"/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建立需求—设计—实现—测试追踪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425"/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只在证据不足处提出问题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425"/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不把 UI 截图冒充系统事实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425"/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不把旧文档直接当最终规格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矩形 38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资产同步最有价值的产物，是把“AI 修正错了”也保留下来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1143000"/>
            <a:ext cx="22098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1190625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781300" y="1143000"/>
            <a:ext cx="2762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857500" y="1190625"/>
            <a:ext cx="2609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对同一需求的表达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71500" y="1543050"/>
            <a:ext cx="2209800" cy="4619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47700" y="1590675"/>
            <a:ext cx="205740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 Excel C4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781300" y="1543050"/>
            <a:ext cx="2762250" cy="4619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857500" y="1590675"/>
            <a:ext cx="260985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公共、专用、自定义三种缺省配置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71500" y="2005013"/>
            <a:ext cx="2209800" cy="4619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47700" y="2052638"/>
            <a:ext cx="205740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修正版 C4:E4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781300" y="2005013"/>
            <a:ext cx="2762250" cy="4619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857500" y="2052638"/>
            <a:ext cx="260985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认为这是 Windows 概念，改成 IP/域名/DNS 三种规则类型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71500" y="2466975"/>
            <a:ext cx="2209800" cy="4619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47700" y="2514600"/>
            <a:ext cx="205740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 PRD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781300" y="2466975"/>
            <a:ext cx="2762250" cy="4619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857500" y="2514600"/>
            <a:ext cx="260985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要求 public/private/custom 三种主模式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71500" y="2928938"/>
            <a:ext cx="2209800" cy="4619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47700" y="2976563"/>
            <a:ext cx="205740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当前模块设计/代码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781300" y="2928938"/>
            <a:ext cx="2762250" cy="4619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857500" y="2976563"/>
            <a:ext cx="2609850" cy="366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同时存在主模式和 IP/DOMAIN/DNS 规则类型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571500" y="3619500"/>
            <a:ext cx="3714750" cy="2190750"/>
          </a:xfrm>
          <a:prstGeom prst="roundRect">
            <a:avLst>
              <a:gd name="adj" fmla="val 6087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23900" y="3733800"/>
            <a:ext cx="3409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最终冻结：两个正交维度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23900" y="40195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9" name="圆角矩形 28"/>
          <p:cNvSpPr>
            <a:spLocks noGrp="1"/>
          </p:cNvSpPr>
          <p:nvPr/>
        </p:nvSpPr>
        <p:spPr>
          <a:xfrm>
            <a:off x="857250" y="4333875"/>
            <a:ext cx="1428750" cy="857250"/>
          </a:xfrm>
          <a:prstGeom prst="roundRect">
            <a:avLst>
              <a:gd name="adj" fmla="val 1333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33450" y="4391025"/>
            <a:ext cx="12763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9574"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模式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 / private / custom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2571750" y="4333875"/>
            <a:ext cx="1428750" cy="857250"/>
          </a:xfrm>
          <a:prstGeom prst="roundRect">
            <a:avLst>
              <a:gd name="adj" fmla="val 1333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647950" y="4391025"/>
            <a:ext cx="12763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规则类型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IP / DOMAIN / DNS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4572000" y="3619500"/>
            <a:ext cx="7048500" cy="2190750"/>
          </a:xfrm>
          <a:prstGeom prst="roundRect">
            <a:avLst>
              <a:gd name="adj" fmla="val 6087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724400" y="3733800"/>
            <a:ext cx="6743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代码锚点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724400" y="4019550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724400" y="4095750"/>
            <a:ext cx="67437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/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724400" y="4095750"/>
            <a:ext cx="6743700" cy="1571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80375"/>
          </a:bodyPr>
          <a:lstStyle/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主模式：public / private / custom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规则类型：IP / DOMAIN / DNS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975"/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FirewallModels.ets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export type FirewallPresetMode = 'public' | 'private' | 'custom'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975"/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同一模型文件中的规则类型集合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RULE_IP / RULE_DOMAIN / RULE_DNS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975"/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// FirewallModeStrategy.buildRulesForMode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public  → buildPublicRules → 预置模板 × 当前账号集合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private → buildPrivateRules → 私网配置模板 × 当前账号集合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97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custom  → buildCustomRules → 既有 intent.targetUserIds</a:t>
            </a:r>
            <a:endParaRPr sz="97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矩形 21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资产同步结束时，要生成一张能追到代码和测试的需求卡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6667500" cy="4953000"/>
          </a:xfrm>
          <a:prstGeom prst="roundRect">
            <a:avLst>
              <a:gd name="adj" fmla="val 2692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6362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Requirement Card（YAML）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1619250"/>
            <a:ext cx="6362700" cy="436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requirement_id: FW-MODE-001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source: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原始需求清单.xlsx!Sheet1:C4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PRD.md#7.2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decision: 保留 public/private/custom 产品模式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implementation: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FirewallPage.ets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FirewallModeStrategy.ets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tests: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mode-strategy.test.ets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e2e/cases/firewall/mode_cards.json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conflict: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source: AI修正版.xlsx!Sheet1:C4:E4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resolution: 规则类型与主模式是两个维度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status: RESOLVED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7620000" y="1143000"/>
            <a:ext cx="3810000" cy="4953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772400" y="1257300"/>
            <a:ext cx="3505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机器可检查的四道门</a:t>
            </a:r>
            <a:endParaRPr sz="12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772400" y="1543050"/>
            <a:ext cx="609600" cy="2857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7953375" y="1809750"/>
            <a:ext cx="3143250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029575" y="1866900"/>
            <a:ext cx="2990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来源是否有坐标？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953375" y="2686050"/>
            <a:ext cx="3143250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029575" y="2743200"/>
            <a:ext cx="2990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实现是否有代码锚点？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953375" y="3562350"/>
            <a:ext cx="3143250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029575" y="3619500"/>
            <a:ext cx="2990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测试是否覆盖关键语义？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7953375" y="4438650"/>
            <a:ext cx="3143250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029575" y="4495800"/>
            <a:ext cx="29908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结论是否超过证据？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0" name="矩形 7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方案推导先比较失败模式，再决定类和接口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71500" y="1143000"/>
            <a:ext cx="8839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47700" y="1190625"/>
            <a:ext cx="7315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55420" y="1143000"/>
            <a:ext cx="2762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531620" y="1190625"/>
            <a:ext cx="2609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主要问题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17670" y="1143000"/>
            <a:ext cx="320421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293870" y="1190625"/>
            <a:ext cx="305181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71500" y="1543050"/>
            <a:ext cx="88392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47700" y="1590675"/>
            <a:ext cx="73152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69445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Provider 读取后直接同步防火墙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455420" y="1543050"/>
            <a:ext cx="276225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531620" y="1590675"/>
            <a:ext cx="260985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真相源和副作用耦合，其他模块无法复用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217670" y="1543050"/>
            <a:ext cx="320421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293870" y="1590675"/>
            <a:ext cx="305181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71500" y="1966913"/>
            <a:ext cx="88392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47700" y="2014538"/>
            <a:ext cx="73152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2981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直接使用事件里的账号 ID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455420" y="1966913"/>
            <a:ext cx="276225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531620" y="2014538"/>
            <a:ext cx="260985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不是完整集合，删除/并发语义不完整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217670" y="1966913"/>
            <a:ext cx="320421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293870" y="2014538"/>
            <a:ext cx="305181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71500" y="2390775"/>
            <a:ext cx="88392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7700" y="2438400"/>
            <a:ext cx="73152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2981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MainPage/页面重进强刷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455420" y="2390775"/>
            <a:ext cx="276225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531620" y="2438400"/>
            <a:ext cx="260985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看似更新，系统 policy 仍可能错误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217670" y="2390775"/>
            <a:ext cx="3204210" cy="42386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293870" y="2438400"/>
            <a:ext cx="305181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拒绝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71500" y="2814638"/>
            <a:ext cx="88392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7700" y="2862263"/>
            <a:ext cx="73152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69445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 + 全量快照 + Handler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455420" y="2814638"/>
            <a:ext cx="276225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531620" y="2862263"/>
            <a:ext cx="260985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真相源单一、可扩展、可测试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217670" y="2814638"/>
            <a:ext cx="3204210" cy="42386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293870" y="2862263"/>
            <a:ext cx="3051810" cy="3286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66750" y="3333750"/>
            <a:ext cx="1085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5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选择：Coordinator + 全量快照 + Handler</a:t>
            </a:r>
            <a:endParaRPr sz="15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571500" y="3762375"/>
            <a:ext cx="3314700" cy="375557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47700" y="3810000"/>
            <a:ext cx="3162300" cy="2803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决策问题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3886200" y="3762375"/>
            <a:ext cx="3535680" cy="375557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3962400" y="3810000"/>
            <a:ext cx="3383280" cy="2803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选中的代码责任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7421880" y="3762375"/>
            <a:ext cx="4198620" cy="375557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7498080" y="3810000"/>
            <a:ext cx="4046220" cy="2803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为什么不放到别处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571500" y="4137932"/>
            <a:ext cx="331470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647700" y="4185557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谁接事件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3886200" y="4137932"/>
            <a:ext cx="353568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3962400" y="4185557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EnterpriseAdminAbility.onAccountAdded/Removed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7421880" y="4137932"/>
            <a:ext cx="419862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7498080" y="4185557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这里只拿触发信号，不知道防火墙语义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71500" y="4456339"/>
            <a:ext cx="331470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647700" y="4503964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谁读完整集合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3886200" y="4456339"/>
            <a:ext cx="353568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3962400" y="4503964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SystemUserProvider.loadAvailableUserIds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7421880" y="4456339"/>
            <a:ext cx="419862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7498080" y="4503964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Provider 只读取事实，不产生副作用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571500" y="4774746"/>
            <a:ext cx="331470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647700" y="4822371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谁处理时序/并发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3886200" y="4774746"/>
            <a:ext cx="353568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3962400" y="4822371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0119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AccountChangeCoordinator.schedule/runPending/loadStableSnapshot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7421880" y="4774746"/>
            <a:ext cx="419862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7498080" y="4822371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公共协调逻辑可复用，不绑定页面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571500" y="5093154"/>
            <a:ext cx="331470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647700" y="5140779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谁决定防火墙分支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3886200" y="5093154"/>
            <a:ext cx="353568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3962400" y="5140779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FirewallAccountChangeHandler.handle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7421880" y="5093154"/>
            <a:ext cx="419862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7498080" y="5140779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public/private/custom 是模块业务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571500" y="5411561"/>
            <a:ext cx="331470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647700" y="5459186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谁写系统状态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3886200" y="5411561"/>
            <a:ext cx="353568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3962400" y="5459186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FirewallSystemRepository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7421880" y="5411561"/>
            <a:ext cx="4198620" cy="31840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7498080" y="5459186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MDM API 和错误封装在系统边界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571500" y="5729968"/>
            <a:ext cx="331470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647700" y="5777593"/>
            <a:ext cx="316230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谁刷新 UI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3886200" y="5729968"/>
            <a:ext cx="353568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3962400" y="5777593"/>
            <a:ext cx="338328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ApplicationRuntimeManager → ViewModel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7421880" y="5729968"/>
            <a:ext cx="4198620" cy="31840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7498080" y="5777593"/>
            <a:ext cx="4046220" cy="22315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只消费稳定事实，不承担修复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最小穿刺发现：事件已经到达，完整账号列表却仍是旧的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11049000" cy="1285875"/>
          </a:xfrm>
          <a:prstGeom prst="roundRect">
            <a:avLst>
              <a:gd name="adj" fmla="val 10370"/>
            </a:avLst>
          </a:prstGeom>
          <a:solidFill>
            <a:srgbClr val="FCEEEE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失败时间线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C84B4B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809625" y="1619250"/>
            <a:ext cx="20231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85825" y="1676400"/>
            <a:ext cx="18707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onAccountAdded(123)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947035" y="1619250"/>
            <a:ext cx="20231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023235" y="1676400"/>
            <a:ext cx="18707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首次 load [100,112,122]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5084445" y="1619250"/>
            <a:ext cx="20231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160645" y="1676400"/>
            <a:ext cx="18707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signature unchanged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221855" y="1619250"/>
            <a:ext cx="20231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298055" y="1676400"/>
            <a:ext cx="18707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旧逻辑 skip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9359265" y="1619250"/>
            <a:ext cx="20231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435465" y="1676400"/>
            <a:ext cx="18707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123 无 policy / rules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5" name="直接箭头连接符 64"/>
          <p:cNvCxnSpPr>
            <a:stCxn id="9" idx="3"/>
            <a:endCxn id="11" idx="1"/>
          </p:cNvCxnSpPr>
          <p:nvPr/>
        </p:nvCxnSpPr>
        <p:spPr>
          <a:xfrm>
            <a:off x="2832735" y="18764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6" name="直接箭头连接符 65"/>
          <p:cNvCxnSpPr>
            <a:stCxn id="11" idx="3"/>
            <a:endCxn id="13" idx="1"/>
          </p:cNvCxnSpPr>
          <p:nvPr/>
        </p:nvCxnSpPr>
        <p:spPr>
          <a:xfrm>
            <a:off x="4970145" y="18764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7" name="直接箭头连接符 66"/>
          <p:cNvCxnSpPr>
            <a:stCxn id="13" idx="3"/>
            <a:endCxn id="15" idx="1"/>
          </p:cNvCxnSpPr>
          <p:nvPr/>
        </p:nvCxnSpPr>
        <p:spPr>
          <a:xfrm>
            <a:off x="7107555" y="18764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8" name="直接箭头连接符 67"/>
          <p:cNvCxnSpPr>
            <a:stCxn id="15" idx="3"/>
            <a:endCxn id="17" idx="1"/>
          </p:cNvCxnSpPr>
          <p:nvPr/>
        </p:nvCxnSpPr>
        <p:spPr>
          <a:xfrm>
            <a:off x="9244965" y="18764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3" name="圆角矩形 22"/>
          <p:cNvSpPr>
            <a:spLocks noGrp="1"/>
          </p:cNvSpPr>
          <p:nvPr/>
        </p:nvSpPr>
        <p:spPr>
          <a:xfrm>
            <a:off x="571500" y="2667000"/>
            <a:ext cx="11049000" cy="1619250"/>
          </a:xfrm>
          <a:prstGeom prst="roundRect">
            <a:avLst>
              <a:gd name="adj" fmla="val 8235"/>
            </a:avLst>
          </a:prstGeom>
          <a:solidFill>
            <a:srgbClr val="EAF5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23900" y="27813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真实函数链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23900" y="306705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809625" y="3190875"/>
            <a:ext cx="2007870" cy="704850"/>
          </a:xfrm>
          <a:prstGeom prst="roundRect">
            <a:avLst>
              <a:gd name="adj" fmla="val 16216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85825" y="3248025"/>
            <a:ext cx="185547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EnterpriseAdminAbility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2950845" y="3190875"/>
            <a:ext cx="2007870" cy="704850"/>
          </a:xfrm>
          <a:prstGeom prst="roundRect">
            <a:avLst>
              <a:gd name="adj" fmla="val 16216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3027045" y="3248025"/>
            <a:ext cx="185547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scheduleAccountReconcile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5092065" y="3190875"/>
            <a:ext cx="2007870" cy="704850"/>
          </a:xfrm>
          <a:prstGeom prst="roundRect">
            <a:avLst>
              <a:gd name="adj" fmla="val 16216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5168265" y="3248025"/>
            <a:ext cx="185547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Coordinator.schedule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runPending / runOnce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233285" y="3190875"/>
            <a:ext cx="2007870" cy="704850"/>
          </a:xfrm>
          <a:prstGeom prst="roundRect">
            <a:avLst>
              <a:gd name="adj" fmla="val 16216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309485" y="3248025"/>
            <a:ext cx="185547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loadStableSnapshot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9374505" y="3190875"/>
            <a:ext cx="2007870" cy="704850"/>
          </a:xfrm>
          <a:prstGeom prst="roundRect">
            <a:avLst>
              <a:gd name="adj" fmla="val 16216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450705" y="3248025"/>
            <a:ext cx="185547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SystemUserProvider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getOsAccountLocalIds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2" name="直接箭头连接符 81"/>
          <p:cNvCxnSpPr>
            <a:stCxn id="26" idx="3"/>
            <a:endCxn id="28" idx="1"/>
          </p:cNvCxnSpPr>
          <p:nvPr/>
        </p:nvCxnSpPr>
        <p:spPr>
          <a:xfrm>
            <a:off x="2817495" y="3543300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3" name="直接箭头连接符 82"/>
          <p:cNvCxnSpPr>
            <a:stCxn id="28" idx="3"/>
            <a:endCxn id="30" idx="1"/>
          </p:cNvCxnSpPr>
          <p:nvPr/>
        </p:nvCxnSpPr>
        <p:spPr>
          <a:xfrm>
            <a:off x="4958715" y="3543300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4" name="直接箭头连接符 83"/>
          <p:cNvCxnSpPr>
            <a:stCxn id="30" idx="3"/>
            <a:endCxn id="32" idx="1"/>
          </p:cNvCxnSpPr>
          <p:nvPr/>
        </p:nvCxnSpPr>
        <p:spPr>
          <a:xfrm>
            <a:off x="7099935" y="3543300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" name="直接箭头连接符 84"/>
          <p:cNvCxnSpPr>
            <a:stCxn id="32" idx="3"/>
            <a:endCxn id="34" idx="1"/>
          </p:cNvCxnSpPr>
          <p:nvPr/>
        </p:nvCxnSpPr>
        <p:spPr>
          <a:xfrm>
            <a:off x="9241155" y="3543300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0" name="圆角矩形 39"/>
          <p:cNvSpPr>
            <a:spLocks noGrp="1"/>
          </p:cNvSpPr>
          <p:nvPr/>
        </p:nvSpPr>
        <p:spPr>
          <a:xfrm>
            <a:off x="571500" y="4572000"/>
            <a:ext cx="11049000" cy="1476375"/>
          </a:xfrm>
          <a:prstGeom prst="roundRect">
            <a:avLst>
              <a:gd name="adj" fmla="val 9032"/>
            </a:avLst>
          </a:prstGeom>
          <a:solidFill>
            <a:srgbClr val="FFF7E3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723900" y="46863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稳定门槛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23900" y="4972050"/>
            <a:ext cx="609600" cy="28575"/>
          </a:xfrm>
          <a:prstGeom prst="rect">
            <a:avLst/>
          </a:prstGeom>
          <a:solidFill>
            <a:srgbClr val="D89518"/>
          </a:solidFill>
          <a:ln w="0">
            <a:noFill/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04875" y="5095875"/>
            <a:ext cx="685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account-added  AND  trigger 已定义  AND  当前 IDs 不含 trigger</a:t>
            </a:r>
            <a:endParaRPr sz="15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圆角矩形 43"/>
          <p:cNvSpPr>
            <a:spLocks noGrp="1"/>
          </p:cNvSpPr>
          <p:nvPr/>
        </p:nvSpPr>
        <p:spPr>
          <a:xfrm>
            <a:off x="8096250" y="5000625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8172450" y="5057775"/>
            <a:ext cx="28003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 200 ms → 重试，最多 5 次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穿刺结束要形成 ADR：真相源、所有权和失败语义一次写清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90625"/>
            <a:ext cx="5000625" cy="4762500"/>
          </a:xfrm>
          <a:prstGeom prst="roundRect">
            <a:avLst>
              <a:gd name="adj" fmla="val 2800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304925"/>
            <a:ext cx="4695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ADR：首次冻结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90675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1666875"/>
            <a:ext cx="4695825" cy="417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question: 账号事件后以什么作为同步输入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selected: 稳定的完整账号快照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truth_source: SystemUserProvider.loadAvailableUserIds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trigger: EnterpriseAdminAbility account event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rejected: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直接使用事件 ID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Provider 内执行业务副作用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UI 强刷作为修复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failure_semantics: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empty_or_error: preserve local truth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added_not_visible: bounded retry, then incomplete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619875" y="1190625"/>
            <a:ext cx="5000625" cy="4762500"/>
          </a:xfrm>
          <a:prstGeom prst="roundRect">
            <a:avLst>
              <a:gd name="adj" fmla="val 2800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772275" y="1304925"/>
            <a:ext cx="4695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Reopen：新证据触发重开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772275" y="1590675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772275" y="1666875"/>
            <a:ext cx="4695825" cy="417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reopen_when: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getOsAccountLocalIds 在目标设备上长期不包含新增 ID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handler failure 需要自动重试或补偿队列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新模块需要与防火墙共享同一账号快照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设备证据证明 400/200/5 不满足稳定窗口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verification: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coordinator protocol UT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same-timeline device trace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policy/rules readback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286250" y="5334000"/>
            <a:ext cx="84772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362450" y="5391150"/>
            <a:ext cx="6953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冻结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5210175" y="5334000"/>
            <a:ext cx="847725" cy="495300"/>
          </a:xfrm>
          <a:prstGeom prst="roundRect">
            <a:avLst>
              <a:gd name="adj" fmla="val 23077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286375" y="5391150"/>
            <a:ext cx="6953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发现反例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134100" y="5334000"/>
            <a:ext cx="847725" cy="495300"/>
          </a:xfrm>
          <a:prstGeom prst="roundRect">
            <a:avLst>
              <a:gd name="adj" fmla="val 23077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210300" y="5391150"/>
            <a:ext cx="6953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记录影响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058025" y="5334000"/>
            <a:ext cx="847725" cy="495300"/>
          </a:xfrm>
          <a:prstGeom prst="roundRect">
            <a:avLst>
              <a:gd name="adj" fmla="val 23077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134225" y="5391150"/>
            <a:ext cx="6953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重开决策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7" name="直接箭头连接符 46"/>
          <p:cNvCxnSpPr>
            <a:stCxn id="14" idx="3"/>
            <a:endCxn id="16" idx="1"/>
          </p:cNvCxnSpPr>
          <p:nvPr/>
        </p:nvCxnSpPr>
        <p:spPr>
          <a:xfrm>
            <a:off x="5133975" y="5581650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8" name="直接箭头连接符 47"/>
          <p:cNvCxnSpPr>
            <a:stCxn id="16" idx="3"/>
            <a:endCxn id="18" idx="1"/>
          </p:cNvCxnSpPr>
          <p:nvPr/>
        </p:nvCxnSpPr>
        <p:spPr>
          <a:xfrm>
            <a:off x="6057900" y="5581650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18" idx="3"/>
            <a:endCxn id="20" idx="1"/>
          </p:cNvCxnSpPr>
          <p:nvPr/>
        </p:nvCxnSpPr>
        <p:spPr>
          <a:xfrm>
            <a:off x="6981825" y="5581650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矩形 2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" name="矩形 65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不是一张架构图，而是范围、状态、不变量和失败语义的共同契约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19125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95325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事实源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463800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540000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状态模型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308475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84675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并发/时序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153150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29350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事务/补偿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997825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74025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可观测性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9842500" y="1162050"/>
            <a:ext cx="1730375" cy="571500"/>
          </a:xfrm>
          <a:prstGeom prst="roundRect">
            <a:avLst>
              <a:gd name="adj" fmla="val 2000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18700" y="1219200"/>
            <a:ext cx="15779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测试策略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3" name="直接箭头连接符 82"/>
          <p:cNvCxnSpPr>
            <a:stCxn id="6" idx="3"/>
            <a:endCxn id="8" idx="1"/>
          </p:cNvCxnSpPr>
          <p:nvPr/>
        </p:nvCxnSpPr>
        <p:spPr>
          <a:xfrm>
            <a:off x="2349500" y="1447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4" name="直接箭头连接符 83"/>
          <p:cNvCxnSpPr>
            <a:stCxn id="8" idx="3"/>
            <a:endCxn id="10" idx="1"/>
          </p:cNvCxnSpPr>
          <p:nvPr/>
        </p:nvCxnSpPr>
        <p:spPr>
          <a:xfrm>
            <a:off x="4194175" y="1447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" name="直接箭头连接符 84"/>
          <p:cNvCxnSpPr>
            <a:stCxn id="10" idx="3"/>
            <a:endCxn id="12" idx="1"/>
          </p:cNvCxnSpPr>
          <p:nvPr/>
        </p:nvCxnSpPr>
        <p:spPr>
          <a:xfrm>
            <a:off x="6038850" y="1447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6" name="直接箭头连接符 85"/>
          <p:cNvCxnSpPr>
            <a:stCxn id="12" idx="3"/>
            <a:endCxn id="14" idx="1"/>
          </p:cNvCxnSpPr>
          <p:nvPr/>
        </p:nvCxnSpPr>
        <p:spPr>
          <a:xfrm>
            <a:off x="7883525" y="1447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" name="直接箭头连接符 86"/>
          <p:cNvCxnSpPr>
            <a:stCxn id="14" idx="3"/>
            <a:endCxn id="16" idx="1"/>
          </p:cNvCxnSpPr>
          <p:nvPr/>
        </p:nvCxnSpPr>
        <p:spPr>
          <a:xfrm>
            <a:off x="9728200" y="1447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3" name="矩形 22"/>
          <p:cNvSpPr>
            <a:spLocks noGrp="1"/>
          </p:cNvSpPr>
          <p:nvPr/>
        </p:nvSpPr>
        <p:spPr>
          <a:xfrm>
            <a:off x="571500" y="2143125"/>
            <a:ext cx="2762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47700" y="2190750"/>
            <a:ext cx="2609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不变量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333750" y="2143125"/>
            <a:ext cx="55245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3409950" y="2190750"/>
            <a:ext cx="5372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应检查的函数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858250" y="2143125"/>
            <a:ext cx="2762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34450" y="2190750"/>
            <a:ext cx="2609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反例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71500" y="254317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47700" y="259080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事件不是完整真相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3333750" y="2543175"/>
            <a:ext cx="552450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3409950" y="2590800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onAccountAdded、loadStableSnapshot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858250" y="254317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934450" y="259080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 append trigger ID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71500" y="311150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47700" y="315912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空集合不 prune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3333750" y="3111500"/>
            <a:ext cx="552450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3409950" y="3159125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FirewallAccountChangeHandler.handle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8858250" y="311150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934450" y="315912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users=[] 仍清理 intent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71500" y="367982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647700" y="372745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public/private 对最新集合生效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3333750" y="3679825"/>
            <a:ext cx="552450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3409950" y="3727450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applyModeToUsers、buildRulesForMode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858250" y="367982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934450" y="372745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 ID 未进入模板展开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571500" y="424815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47700" y="429577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 不扩历史规则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3333750" y="4248150"/>
            <a:ext cx="552450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3409950" y="4295775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buildCustomRules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858250" y="424815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8934450" y="429577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把新增 ID 注入旧 targetUserIds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571500" y="481647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647700" y="486410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失败不保存成功签名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3333750" y="4816475"/>
            <a:ext cx="552450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3409950" y="4864100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saveModeApplyState、rollbackToSnapshot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8858250" y="4816475"/>
            <a:ext cx="2762250" cy="5683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8934450" y="4864100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部分写后 signature 残留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71500" y="538480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647700" y="543242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不承担修复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3333750" y="5384800"/>
            <a:ext cx="552450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3409950" y="5432425"/>
            <a:ext cx="537210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ApplicationRuntimeManager、ViewModel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8858250" y="5384800"/>
            <a:ext cx="2762250" cy="5683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8934450" y="5432425"/>
            <a:ext cx="2609850" cy="473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 onShow 触发业务下发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4" name="矩形 83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RFC 要把抽象责任映射到真实文件，AI 才知道在哪一层修改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11049000" cy="1666875"/>
          </a:xfrm>
          <a:prstGeom prst="roundRect">
            <a:avLst>
              <a:gd name="adj" fmla="val 8000"/>
            </a:avLst>
          </a:prstGeom>
          <a:solidFill>
            <a:srgbClr val="EAF5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后台业务闭环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762000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38200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onAccountAdded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296886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373086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schedule /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loadStableSnapshot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831771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3907971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getOsAccountLocalIds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5366657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442857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dispatchHandlers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901543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977743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Firewall...Handler.handle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8436429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512629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pruneUnavailableUsers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9971314" y="1714500"/>
            <a:ext cx="1458686" cy="666750"/>
          </a:xfrm>
          <a:prstGeom prst="roundRect">
            <a:avLst>
              <a:gd name="adj" fmla="val 171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0047514" y="1771650"/>
            <a:ext cx="1306286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custom：apply + save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8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public/private：apply + rollback</a:t>
            </a:r>
            <a:endParaRPr sz="8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6" name="直接箭头连接符 105"/>
          <p:cNvCxnSpPr>
            <a:stCxn id="9" idx="3"/>
            <a:endCxn id="11" idx="1"/>
          </p:cNvCxnSpPr>
          <p:nvPr/>
        </p:nvCxnSpPr>
        <p:spPr>
          <a:xfrm>
            <a:off x="2220686" y="2047875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7" name="直接箭头连接符 106"/>
          <p:cNvCxnSpPr>
            <a:stCxn id="11" idx="3"/>
            <a:endCxn id="13" idx="1"/>
          </p:cNvCxnSpPr>
          <p:nvPr/>
        </p:nvCxnSpPr>
        <p:spPr>
          <a:xfrm>
            <a:off x="3755572" y="2047875"/>
            <a:ext cx="7619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" name="直接箭头连接符 107"/>
          <p:cNvCxnSpPr>
            <a:stCxn id="13" idx="3"/>
            <a:endCxn id="15" idx="1"/>
          </p:cNvCxnSpPr>
          <p:nvPr/>
        </p:nvCxnSpPr>
        <p:spPr>
          <a:xfrm>
            <a:off x="5290457" y="2047875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9" name="直接箭头连接符 108"/>
          <p:cNvCxnSpPr>
            <a:stCxn id="15" idx="3"/>
            <a:endCxn id="17" idx="1"/>
          </p:cNvCxnSpPr>
          <p:nvPr/>
        </p:nvCxnSpPr>
        <p:spPr>
          <a:xfrm>
            <a:off x="6825343" y="2047875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0" name="直接箭头连接符 109"/>
          <p:cNvCxnSpPr>
            <a:stCxn id="17" idx="3"/>
            <a:endCxn id="19" idx="1"/>
          </p:cNvCxnSpPr>
          <p:nvPr/>
        </p:nvCxnSpPr>
        <p:spPr>
          <a:xfrm>
            <a:off x="8360229" y="2047875"/>
            <a:ext cx="762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1" name="直接箭头连接符 110"/>
          <p:cNvCxnSpPr>
            <a:stCxn id="19" idx="3"/>
            <a:endCxn id="21" idx="1"/>
          </p:cNvCxnSpPr>
          <p:nvPr/>
        </p:nvCxnSpPr>
        <p:spPr>
          <a:xfrm>
            <a:off x="9895115" y="2047875"/>
            <a:ext cx="7619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9" name="圆角矩形 28"/>
          <p:cNvSpPr>
            <a:spLocks noGrp="1"/>
          </p:cNvSpPr>
          <p:nvPr/>
        </p:nvSpPr>
        <p:spPr>
          <a:xfrm>
            <a:off x="571500" y="3000375"/>
            <a:ext cx="11049000" cy="1381125"/>
          </a:xfrm>
          <a:prstGeom prst="roundRect">
            <a:avLst>
              <a:gd name="adj" fmla="val 9655"/>
            </a:avLst>
          </a:prstGeom>
          <a:solidFill>
            <a:srgbClr val="EAF8F5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23900" y="3114675"/>
            <a:ext cx="1074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前台 UI 闭环（跨进程事实）</a:t>
            </a:r>
            <a:endParaRPr sz="12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23900" y="3400425"/>
            <a:ext cx="609600" cy="2857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32" name="圆角矩形 31"/>
          <p:cNvSpPr>
            <a:spLocks noGrp="1"/>
          </p:cNvSpPr>
          <p:nvPr/>
        </p:nvSpPr>
        <p:spPr>
          <a:xfrm>
            <a:off x="904875" y="3476625"/>
            <a:ext cx="19850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81075" y="3533775"/>
            <a:ext cx="18326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publishSnapshot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3004185" y="3476625"/>
            <a:ext cx="19850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3080385" y="3533775"/>
            <a:ext cx="18326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commonEventManager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publish / subscribe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5103495" y="3476625"/>
            <a:ext cx="19850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179695" y="3533775"/>
            <a:ext cx="18326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AccountRuntimeService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圆角矩形 37"/>
          <p:cNvSpPr>
            <a:spLocks noGrp="1"/>
          </p:cNvSpPr>
          <p:nvPr/>
        </p:nvSpPr>
        <p:spPr>
          <a:xfrm>
            <a:off x="7202805" y="3476625"/>
            <a:ext cx="19850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7279005" y="3533775"/>
            <a:ext cx="18326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ApplicationRuntimeManager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9302115" y="3476625"/>
            <a:ext cx="198501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9378315" y="3533775"/>
            <a:ext cx="183261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FirewallRulesViewModel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refreshForAccountChange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25" name="直接箭头连接符 124"/>
          <p:cNvCxnSpPr>
            <a:stCxn id="32" idx="3"/>
            <a:endCxn id="34" idx="1"/>
          </p:cNvCxnSpPr>
          <p:nvPr/>
        </p:nvCxnSpPr>
        <p:spPr>
          <a:xfrm>
            <a:off x="2889885" y="3733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6" name="直接箭头连接符 125"/>
          <p:cNvCxnSpPr>
            <a:stCxn id="34" idx="3"/>
            <a:endCxn id="36" idx="1"/>
          </p:cNvCxnSpPr>
          <p:nvPr/>
        </p:nvCxnSpPr>
        <p:spPr>
          <a:xfrm>
            <a:off x="4989195" y="3733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7" name="直接箭头连接符 126"/>
          <p:cNvCxnSpPr>
            <a:stCxn id="36" idx="3"/>
            <a:endCxn id="38" idx="1"/>
          </p:cNvCxnSpPr>
          <p:nvPr/>
        </p:nvCxnSpPr>
        <p:spPr>
          <a:xfrm>
            <a:off x="7088505" y="3733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8" name="直接箭头连接符 127"/>
          <p:cNvCxnSpPr>
            <a:stCxn id="38" idx="3"/>
            <a:endCxn id="40" idx="1"/>
          </p:cNvCxnSpPr>
          <p:nvPr/>
        </p:nvCxnSpPr>
        <p:spPr>
          <a:xfrm>
            <a:off x="9187815" y="373380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6" name="矩形 45"/>
          <p:cNvSpPr>
            <a:spLocks noGrp="1"/>
          </p:cNvSpPr>
          <p:nvPr/>
        </p:nvSpPr>
        <p:spPr>
          <a:xfrm>
            <a:off x="809625" y="4114800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7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 锚点：getPolicy → getNetFirewallPolicy   ·   setPolicy → setNetFirewallPolicy   ·   listRules → getNetFirewallRules   ·   addRule → addNetFirewallRule</a:t>
            </a:r>
            <a:endParaRPr sz="75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571500" y="4619625"/>
            <a:ext cx="3683000" cy="282972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47700" y="4667250"/>
            <a:ext cx="3530600" cy="187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字段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254500" y="4619625"/>
            <a:ext cx="3683000" cy="282972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4330700" y="4667250"/>
            <a:ext cx="3530600" cy="187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所有者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7937500" y="4619625"/>
            <a:ext cx="3683000" cy="282972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8013700" y="4667250"/>
            <a:ext cx="3530600" cy="187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什么时候更新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571500" y="4902597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647700" y="4950222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previousUserIds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254500" y="4902597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330700" y="4950222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7937500" y="4902597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8013700" y="4950222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快照稳定后、Handler 分发前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71500" y="5141278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647700" y="518890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desiredEnabled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4254500" y="5141278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4330700" y="518890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LocalRepository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7937500" y="5141278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8013700" y="518890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总开关成功后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571500" y="5379958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647700" y="542758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lastAppliedMode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4254500" y="5379958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4330700" y="542758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LocalRepository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7937500" y="5379958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8013700" y="5427583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本地提交阶段写入；当前非原子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571500" y="5618639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647700" y="566626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lastAppliedUserIdsSignature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4254500" y="5618639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4330700" y="566626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LocalRepository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7937500" y="5618639"/>
            <a:ext cx="3683000" cy="23868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8013700" y="566626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幂等门；当前需检查部分写风险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571500" y="5857319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647700" y="590494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intents/deployments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4254500" y="5857319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4330700" y="590494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LocalRepository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7937500" y="5857319"/>
            <a:ext cx="3683000" cy="2386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8013700" y="5904944"/>
            <a:ext cx="3530600" cy="1434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83707"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系统规则成功建立并保存映射后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矩形 6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架构与任务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 按“可独立证明的能力”拆成六个 Story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19125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95325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 事实源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463800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540000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S2 状态模型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308475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84675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S3 协调器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153150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29350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S4 签名/幂等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997825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74025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S5 补偿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9842500" y="1162050"/>
            <a:ext cx="1730375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18700" y="1219200"/>
            <a:ext cx="1577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S6 UI 事实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5" name="直接箭头连接符 84"/>
          <p:cNvCxnSpPr>
            <a:stCxn id="6" idx="3"/>
            <a:endCxn id="8" idx="1"/>
          </p:cNvCxnSpPr>
          <p:nvPr/>
        </p:nvCxnSpPr>
        <p:spPr>
          <a:xfrm>
            <a:off x="2349500" y="14573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6" name="直接箭头连接符 85"/>
          <p:cNvCxnSpPr>
            <a:stCxn id="8" idx="3"/>
            <a:endCxn id="10" idx="1"/>
          </p:cNvCxnSpPr>
          <p:nvPr/>
        </p:nvCxnSpPr>
        <p:spPr>
          <a:xfrm>
            <a:off x="4194175" y="14573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7" name="直接箭头连接符 86"/>
          <p:cNvCxnSpPr>
            <a:stCxn id="10" idx="3"/>
            <a:endCxn id="12" idx="1"/>
          </p:cNvCxnSpPr>
          <p:nvPr/>
        </p:nvCxnSpPr>
        <p:spPr>
          <a:xfrm>
            <a:off x="6038850" y="14573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8" name="直接箭头连接符 87"/>
          <p:cNvCxnSpPr>
            <a:stCxn id="12" idx="3"/>
            <a:endCxn id="14" idx="1"/>
          </p:cNvCxnSpPr>
          <p:nvPr/>
        </p:nvCxnSpPr>
        <p:spPr>
          <a:xfrm>
            <a:off x="7883525" y="14573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9" name="直接箭头连接符 88"/>
          <p:cNvCxnSpPr>
            <a:stCxn id="14" idx="3"/>
            <a:endCxn id="16" idx="1"/>
          </p:cNvCxnSpPr>
          <p:nvPr/>
        </p:nvCxnSpPr>
        <p:spPr>
          <a:xfrm>
            <a:off x="9728200" y="14573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3" name="矩形 22"/>
          <p:cNvSpPr>
            <a:spLocks noGrp="1"/>
          </p:cNvSpPr>
          <p:nvPr/>
        </p:nvSpPr>
        <p:spPr>
          <a:xfrm>
            <a:off x="571500" y="2143125"/>
            <a:ext cx="132588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47700" y="2190750"/>
            <a:ext cx="11734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Story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897380" y="2143125"/>
            <a:ext cx="408813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973580" y="2190750"/>
            <a:ext cx="393573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主要函数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985510" y="2143125"/>
            <a:ext cx="563499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61710" y="2190750"/>
            <a:ext cx="548259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 oracle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71500" y="2543175"/>
            <a:ext cx="1325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47700" y="25908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 Provider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1897380" y="2543175"/>
            <a:ext cx="408813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973580" y="25908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loadAvailableUserIds / normalizeUserIds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985510" y="2543175"/>
            <a:ext cx="563499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061710" y="25908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去重、排序、前台标识、失败空态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71500" y="3000375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47700" y="30480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S2 本地清理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1897380" y="3000375"/>
            <a:ext cx="408813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973580" y="30480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pruneUnavailableUsers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985510" y="3000375"/>
            <a:ext cx="563499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061710" y="30480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intent/deployment/policy history 同步删失效 ID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71500" y="3457575"/>
            <a:ext cx="1325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647700" y="35052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S3 协调与 Handler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1897380" y="3457575"/>
            <a:ext cx="408813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973580" y="35052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schedule / runPending / dispatchHandlers / handle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985510" y="3457575"/>
            <a:ext cx="563499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061710" y="35052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防抖、串行、模块分支与失败汇总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571500" y="3914775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47700" y="39624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S4 跨进程消费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1897380" y="3914775"/>
            <a:ext cx="408813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1973580" y="39624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publishSnapshot / subscribe / refreshForAccountChange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985510" y="3914775"/>
            <a:ext cx="563499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061710" y="39624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稳定事实只经一条运行时链消费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571500" y="4371975"/>
            <a:ext cx="1325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647700" y="44196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S5 稳定快照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1897380" y="4371975"/>
            <a:ext cx="408813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1973580" y="44196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loadStableSnapshot / shouldWaitForAddedAccount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985510" y="4371975"/>
            <a:ext cx="563499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061710" y="44196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old→new、never-visible、removed 三组计数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71500" y="4829175"/>
            <a:ext cx="13258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647700" y="4876800"/>
            <a:ext cx="117348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S6 custom 签名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1897380" y="4829175"/>
            <a:ext cx="408813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1973580" y="4876800"/>
            <a:ext cx="393573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applyPolicyForMode / saveModeApplyState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5985510" y="4829175"/>
            <a:ext cx="563499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6061710" y="4876800"/>
            <a:ext cx="548259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不重放旧规则；保存失败返回 false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047750" y="55721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1219200" y="5610225"/>
            <a:ext cx="9925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 只把真实缺口拆成下一轮候选：S7 事务原子性 / S8 真机证据 / S9 长稳回归。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 Packet 把一个 Story 变成新 Session 可以直接执行的任务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1143000" y="1143000"/>
            <a:ext cx="9906000" cy="4953000"/>
          </a:xfrm>
          <a:prstGeom prst="roundRect">
            <a:avLst>
              <a:gd name="adj" fmla="val 2692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295400" y="1257300"/>
            <a:ext cx="960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S5 Worker Packet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9540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295400" y="1619250"/>
            <a:ext cx="9601200" cy="436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story_id: FW-ACCOUNT-S5-STABLE-SNAPSHOT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goal: 只分发包含 triggerAccountId 的稳定快照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allowed_paths: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防火墙模块设计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AccountChangeCoordinator.ets::loadStableSnapshot/shouldWaitForAddedAccount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account-change-coordinator.test.ets::old→new/never-visible/removed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forbidden: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FirewallPage.ets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Provider 内业务副作用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acceptance: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old_then_new: query=2, handler=1, publish=1, signature=100,122,123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never_visible: query=6, handler=0, publish=0, success=false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removed: query=1, handler=1, publish=1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stop: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repeated_failure_without_new_evidence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20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need_to_modify_forbidden_path</a:t>
            </a:r>
            <a:endParaRPr sz="120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Ralph 不是无限循环，而是“一个 Story、一份外部记忆、一组停止条件”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857250" y="1524000"/>
            <a:ext cx="1619250" cy="571500"/>
          </a:xfrm>
          <a:prstGeom prst="roundRect">
            <a:avLst>
              <a:gd name="adj" fmla="val 20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33450" y="158115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 Task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143250" y="1524000"/>
            <a:ext cx="1619250" cy="571500"/>
          </a:xfrm>
          <a:prstGeom prst="roundRect">
            <a:avLst>
              <a:gd name="adj" fmla="val 20000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219450" y="158115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制造 RED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5429250" y="1524000"/>
            <a:ext cx="1619250" cy="571500"/>
          </a:xfrm>
          <a:prstGeom prst="roundRect">
            <a:avLst>
              <a:gd name="adj" fmla="val 2000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505450" y="158115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715250" y="1524000"/>
            <a:ext cx="1619250" cy="571500"/>
          </a:xfrm>
          <a:prstGeom prst="roundRect">
            <a:avLst>
              <a:gd name="adj" fmla="val 2000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91450" y="158115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窄测 / 回归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429250" y="2667000"/>
            <a:ext cx="1619250" cy="571500"/>
          </a:xfrm>
          <a:prstGeom prst="roundRect">
            <a:avLst>
              <a:gd name="adj" fmla="val 2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505450" y="2724150"/>
            <a:ext cx="1466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 progress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3" name="直接箭头连接符 42"/>
          <p:cNvCxnSpPr>
            <a:stCxn id="6" idx="3"/>
            <a:endCxn id="8" idx="1"/>
          </p:cNvCxnSpPr>
          <p:nvPr/>
        </p:nvCxnSpPr>
        <p:spPr>
          <a:xfrm>
            <a:off x="2476500" y="1809750"/>
            <a:ext cx="6667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cxnSp>
        <p:nvCxnSpPr>
          <p:cNvPr id="44" name="直接箭头连接符 43"/>
          <p:cNvCxnSpPr>
            <a:stCxn id="8" idx="3"/>
            <a:endCxn id="10" idx="1"/>
          </p:cNvCxnSpPr>
          <p:nvPr/>
        </p:nvCxnSpPr>
        <p:spPr>
          <a:xfrm>
            <a:off x="4762500" y="1809750"/>
            <a:ext cx="6667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cxnSp>
        <p:nvCxnSpPr>
          <p:cNvPr id="45" name="直接箭头连接符 44"/>
          <p:cNvCxnSpPr>
            <a:stCxn id="10" idx="3"/>
            <a:endCxn id="12" idx="1"/>
          </p:cNvCxnSpPr>
          <p:nvPr/>
        </p:nvCxnSpPr>
        <p:spPr>
          <a:xfrm>
            <a:off x="7048500" y="1809750"/>
            <a:ext cx="6667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cxnSp>
        <p:nvCxnSpPr>
          <p:cNvPr id="46" name="肘形连接符 45"/>
          <p:cNvCxnSpPr>
            <a:stCxn id="12" idx="2"/>
            <a:endCxn id="14" idx="3"/>
          </p:cNvCxnSpPr>
          <p:nvPr/>
        </p:nvCxnSpPr>
        <p:spPr>
          <a:xfrm flipH="1">
            <a:off x="7048500" y="2095500"/>
            <a:ext cx="1476375" cy="857250"/>
          </a:xfrm>
          <a:prstGeom prst="bentConnector5">
            <a:avLst>
              <a:gd name="adj1" fmla="val 0"/>
              <a:gd name="adj2" fmla="val 26667"/>
              <a:gd name="adj3" fmla="val 84516"/>
            </a:avLst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cxnSp>
        <p:nvCxnSpPr>
          <p:cNvPr id="47" name="肘形连接符 46"/>
          <p:cNvCxnSpPr>
            <a:stCxn id="14" idx="1"/>
            <a:endCxn id="6" idx="2"/>
          </p:cNvCxnSpPr>
          <p:nvPr/>
        </p:nvCxnSpPr>
        <p:spPr>
          <a:xfrm flipH="1" flipV="1">
            <a:off x="1666875" y="2095500"/>
            <a:ext cx="3762375" cy="857250"/>
          </a:xfrm>
          <a:prstGeom prst="bentConnector2">
            <a:avLst/>
          </a:prstGeom>
          <a:ln w="19050">
            <a:solidFill>
              <a:srgbClr val="E26852"/>
            </a:solidFill>
            <a:prstDash val="dash"/>
            <a:tailEnd type="arrow" w="med" len="med"/>
          </a:ln>
        </p:spPr>
      </p:cxnSp>
      <p:pic>
        <p:nvPicPr>
          <p:cNvPr id="48" name="图片 4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725" y="3667125"/>
            <a:ext cx="3224550" cy="2238375"/>
          </a:xfrm>
          <a:prstGeom prst="roundRect">
            <a:avLst>
              <a:gd name="adj" fmla="val 5106"/>
            </a:avLst>
          </a:prstGeom>
        </p:spPr>
      </p:pic>
      <p:sp>
        <p:nvSpPr>
          <p:cNvPr id="22" name="圆角矩形 21"/>
          <p:cNvSpPr>
            <a:spLocks noGrp="1"/>
          </p:cNvSpPr>
          <p:nvPr/>
        </p:nvSpPr>
        <p:spPr>
          <a:xfrm>
            <a:off x="571500" y="3667125"/>
            <a:ext cx="4191000" cy="2238375"/>
          </a:xfrm>
          <a:prstGeom prst="roundRect">
            <a:avLst>
              <a:gd name="adj" fmla="val 5106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5048250" y="3667125"/>
            <a:ext cx="6572250" cy="2238375"/>
          </a:xfrm>
          <a:prstGeom prst="roundRect">
            <a:avLst>
              <a:gd name="adj" fmla="val 5957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200650" y="3781425"/>
            <a:ext cx="626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真实执行脚本 + progress</a:t>
            </a:r>
            <a:endParaRPr sz="12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200650" y="4067175"/>
            <a:ext cx="609600" cy="2857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200650" y="4143375"/>
            <a:ext cx="6267450" cy="1647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35098"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取一个 Ready Story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读取 AGENTS + RFC + Worker Packet + progress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只在 allowed paths 内执行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运行该 Story 的测试/检查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Reviewer 对照 AC、Diff、证据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写回 PASS / FAIL / UNKNOWN 和下一步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新上下文开始下一 Story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50"/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1 Read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AGENTS.md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03-防火墙账号同步RFC.md#核心不变量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Worker Packet S5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50"/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 Inspect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git show 4b372d0d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AccountChangeCoordinator.loadStableSnapshot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account-change-coordinator.test.ets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50"/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3 Verify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python scripts/check_docs_consistency.py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hvigorw test --mode module -p product=default -p module=entry@default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50"/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4 Review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allowed paths 是否越界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old→new / never-visible / removed 是否逐条满足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是否发现新的 RFC 缺口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050"/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5 Write back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status / evidence / discovered_gaps / next_story / stop_reason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7" name="矩形 10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真实项目经历了九轮收敛，每一轮都暴露下一层未知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104900"/>
            <a:ext cx="89154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152525"/>
            <a:ext cx="73914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轮次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15415" y="1104900"/>
            <a:ext cx="133731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491615" y="1152525"/>
            <a:ext cx="118491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提交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752725" y="1104900"/>
            <a:ext cx="200596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828925" y="1152525"/>
            <a:ext cx="185356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本轮结果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758690" y="1104900"/>
            <a:ext cx="690943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834890" y="1152525"/>
            <a:ext cx="675703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新暴露的问题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1504950"/>
            <a:ext cx="89154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0075" y="1552575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R1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415415" y="1504950"/>
            <a:ext cx="133731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491615" y="1552575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9ea957d2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52725" y="1504950"/>
            <a:ext cx="200596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2828925" y="1552575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账号枚举统一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758690" y="1504950"/>
            <a:ext cx="690943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834890" y="1552575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还没有事件同步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23875" y="1915583"/>
            <a:ext cx="89154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00075" y="1963208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R2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415415" y="1915583"/>
            <a:ext cx="133731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491615" y="1963208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09209bb9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752725" y="1915583"/>
            <a:ext cx="200596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828925" y="1963208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本地清理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758690" y="1915583"/>
            <a:ext cx="690943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834890" y="1963208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缺统一协调入口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23875" y="2326217"/>
            <a:ext cx="89154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00075" y="2373842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R3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415415" y="2326217"/>
            <a:ext cx="133731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491615" y="2373842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94ff17e7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2752725" y="2326217"/>
            <a:ext cx="200596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2828925" y="2373842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Coordinator/Handler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4758690" y="2326217"/>
            <a:ext cx="690943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4834890" y="2373842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跨进程消费不完整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2736850"/>
            <a:ext cx="89154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00075" y="2784475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R4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1415415" y="2736850"/>
            <a:ext cx="133731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491615" y="2784475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53751b2e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2752725" y="2736850"/>
            <a:ext cx="200596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2828925" y="2784475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发布稳定账号事实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4758690" y="2736850"/>
            <a:ext cx="690943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4834890" y="2784475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规则展示仍需收敛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23875" y="3147483"/>
            <a:ext cx="89154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600075" y="3195108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R5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415415" y="3147483"/>
            <a:ext cx="133731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491615" y="3195108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586880a3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2752725" y="3147483"/>
            <a:ext cx="200596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2828925" y="3195108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规则从快照 reconcile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758690" y="3147483"/>
            <a:ext cx="690943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4834890" y="3195108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发现新增事件时序差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523875" y="3558117"/>
            <a:ext cx="89154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600075" y="3605742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R6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1415415" y="3558117"/>
            <a:ext cx="133731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1491615" y="3605742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4b372d0d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2752725" y="3558117"/>
            <a:ext cx="200596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2828925" y="3605742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先定义稳定快照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4758690" y="3558117"/>
            <a:ext cx="690943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4834890" y="3605742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等待实现和反证测试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523875" y="3968750"/>
            <a:ext cx="89154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600075" y="4016375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R7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1415415" y="3968750"/>
            <a:ext cx="133731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1491615" y="4016375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c0c1bc9f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2752725" y="3968750"/>
            <a:ext cx="200596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2828925" y="4016375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等待触发 ID 可见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矩形 67"/>
          <p:cNvSpPr>
            <a:spLocks noGrp="1"/>
          </p:cNvSpPr>
          <p:nvPr/>
        </p:nvSpPr>
        <p:spPr>
          <a:xfrm>
            <a:off x="4758690" y="3968750"/>
            <a:ext cx="690943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4834890" y="4016375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 签名仍缺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523875" y="4379383"/>
            <a:ext cx="89154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00075" y="4427008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R8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矩形 71"/>
          <p:cNvSpPr>
            <a:spLocks noGrp="1"/>
          </p:cNvSpPr>
          <p:nvPr/>
        </p:nvSpPr>
        <p:spPr>
          <a:xfrm>
            <a:off x="1415415" y="4379383"/>
            <a:ext cx="1337310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1491615" y="4427008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9c7fb186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4" name="矩形 73"/>
          <p:cNvSpPr>
            <a:spLocks noGrp="1"/>
          </p:cNvSpPr>
          <p:nvPr/>
        </p:nvSpPr>
        <p:spPr>
          <a:xfrm>
            <a:off x="2752725" y="4379383"/>
            <a:ext cx="200596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2828925" y="4427008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 保存签名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4758690" y="4379383"/>
            <a:ext cx="6909435" cy="410633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7" name="矩形 76"/>
          <p:cNvSpPr>
            <a:spLocks noGrp="1"/>
          </p:cNvSpPr>
          <p:nvPr/>
        </p:nvSpPr>
        <p:spPr>
          <a:xfrm>
            <a:off x="4834890" y="4427008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运行时职责仍可收口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8" name="矩形 77"/>
          <p:cNvSpPr>
            <a:spLocks noGrp="1"/>
          </p:cNvSpPr>
          <p:nvPr/>
        </p:nvSpPr>
        <p:spPr>
          <a:xfrm>
            <a:off x="523875" y="4790017"/>
            <a:ext cx="89154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9" name="矩形 78"/>
          <p:cNvSpPr>
            <a:spLocks noGrp="1"/>
          </p:cNvSpPr>
          <p:nvPr/>
        </p:nvSpPr>
        <p:spPr>
          <a:xfrm>
            <a:off x="600075" y="4837642"/>
            <a:ext cx="73914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R9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0" name="矩形 79"/>
          <p:cNvSpPr>
            <a:spLocks noGrp="1"/>
          </p:cNvSpPr>
          <p:nvPr/>
        </p:nvSpPr>
        <p:spPr>
          <a:xfrm>
            <a:off x="1415415" y="4790017"/>
            <a:ext cx="1337310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1491615" y="4837642"/>
            <a:ext cx="1184910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cecf6d17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2752725" y="4790017"/>
            <a:ext cx="200596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2828925" y="4837642"/>
            <a:ext cx="185356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收口 RuntimeManager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4" name="矩形 83"/>
          <p:cNvSpPr>
            <a:spLocks noGrp="1"/>
          </p:cNvSpPr>
          <p:nvPr/>
        </p:nvSpPr>
        <p:spPr>
          <a:xfrm>
            <a:off x="4758690" y="4790017"/>
            <a:ext cx="6909435" cy="410633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5" name="矩形 84"/>
          <p:cNvSpPr>
            <a:spLocks noGrp="1"/>
          </p:cNvSpPr>
          <p:nvPr/>
        </p:nvSpPr>
        <p:spPr>
          <a:xfrm>
            <a:off x="4834890" y="4837642"/>
            <a:ext cx="6757035" cy="3153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进入整体验收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" name="圆角矩形 85"/>
          <p:cNvSpPr>
            <a:spLocks noGrp="1"/>
          </p:cNvSpPr>
          <p:nvPr/>
        </p:nvSpPr>
        <p:spPr>
          <a:xfrm>
            <a:off x="714375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790575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Provider(getOsAccountLocalIds)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8" name="圆角矩形 87"/>
          <p:cNvSpPr>
            <a:spLocks noGrp="1"/>
          </p:cNvSpPr>
          <p:nvPr/>
        </p:nvSpPr>
        <p:spPr>
          <a:xfrm>
            <a:off x="2265589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89" name="矩形 88"/>
          <p:cNvSpPr>
            <a:spLocks noGrp="1"/>
          </p:cNvSpPr>
          <p:nvPr/>
        </p:nvSpPr>
        <p:spPr>
          <a:xfrm>
            <a:off x="2341789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Repository(pruneUnavailableUsers)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0" name="圆角矩形 89"/>
          <p:cNvSpPr>
            <a:spLocks noGrp="1"/>
          </p:cNvSpPr>
          <p:nvPr/>
        </p:nvSpPr>
        <p:spPr>
          <a:xfrm>
            <a:off x="3816804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1" name="矩形 90"/>
          <p:cNvSpPr>
            <a:spLocks noGrp="1"/>
          </p:cNvSpPr>
          <p:nvPr/>
        </p:nvSpPr>
        <p:spPr>
          <a:xfrm>
            <a:off x="3893004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4017"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Coordinator(schedule/loadSnapshot/dispatch)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" name="圆角矩形 91"/>
          <p:cNvSpPr>
            <a:spLocks noGrp="1"/>
          </p:cNvSpPr>
          <p:nvPr/>
        </p:nvSpPr>
        <p:spPr>
          <a:xfrm>
            <a:off x="5368018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5444218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EventBus(common event)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4" name="圆角矩形 93"/>
          <p:cNvSpPr>
            <a:spLocks noGrp="1"/>
          </p:cNvSpPr>
          <p:nvPr/>
        </p:nvSpPr>
        <p:spPr>
          <a:xfrm>
            <a:off x="6919232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5" name="矩形 94"/>
          <p:cNvSpPr>
            <a:spLocks noGrp="1"/>
          </p:cNvSpPr>
          <p:nvPr/>
        </p:nvSpPr>
        <p:spPr>
          <a:xfrm>
            <a:off x="6995432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ViewModel(refreshForAccountChange)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6" name="圆角矩形 95"/>
          <p:cNvSpPr>
            <a:spLocks noGrp="1"/>
          </p:cNvSpPr>
          <p:nvPr/>
        </p:nvSpPr>
        <p:spPr>
          <a:xfrm>
            <a:off x="8470446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7" name="矩形 96"/>
          <p:cNvSpPr>
            <a:spLocks noGrp="1"/>
          </p:cNvSpPr>
          <p:nvPr/>
        </p:nvSpPr>
        <p:spPr>
          <a:xfrm>
            <a:off x="8546646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4017"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Stable Gate(loadStableSnapshot)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8" name="圆角矩形 97"/>
          <p:cNvSpPr>
            <a:spLocks noGrp="1"/>
          </p:cNvSpPr>
          <p:nvPr/>
        </p:nvSpPr>
        <p:spPr>
          <a:xfrm>
            <a:off x="10021661" y="5476875"/>
            <a:ext cx="1455964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10097861" y="5534025"/>
            <a:ext cx="1303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 fontScale="94017"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Custom Signature(saveModeApplyState)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06" name="直接箭头连接符 205"/>
          <p:cNvCxnSpPr>
            <a:stCxn id="86" idx="3"/>
            <a:endCxn id="88" idx="1"/>
          </p:cNvCxnSpPr>
          <p:nvPr/>
        </p:nvCxnSpPr>
        <p:spPr>
          <a:xfrm>
            <a:off x="2170339" y="5753100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07" name="直接箭头连接符 206"/>
          <p:cNvCxnSpPr>
            <a:stCxn id="88" idx="3"/>
            <a:endCxn id="90" idx="1"/>
          </p:cNvCxnSpPr>
          <p:nvPr/>
        </p:nvCxnSpPr>
        <p:spPr>
          <a:xfrm>
            <a:off x="3721553" y="5753100"/>
            <a:ext cx="95251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08" name="直接箭头连接符 207"/>
          <p:cNvCxnSpPr>
            <a:stCxn id="90" idx="3"/>
            <a:endCxn id="92" idx="1"/>
          </p:cNvCxnSpPr>
          <p:nvPr/>
        </p:nvCxnSpPr>
        <p:spPr>
          <a:xfrm>
            <a:off x="5272768" y="5753100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09" name="直接箭头连接符 208"/>
          <p:cNvCxnSpPr>
            <a:stCxn id="92" idx="3"/>
            <a:endCxn id="94" idx="1"/>
          </p:cNvCxnSpPr>
          <p:nvPr/>
        </p:nvCxnSpPr>
        <p:spPr>
          <a:xfrm>
            <a:off x="6823982" y="5753100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0" name="直接箭头连接符 209"/>
          <p:cNvCxnSpPr>
            <a:stCxn id="94" idx="3"/>
            <a:endCxn id="96" idx="1"/>
          </p:cNvCxnSpPr>
          <p:nvPr/>
        </p:nvCxnSpPr>
        <p:spPr>
          <a:xfrm>
            <a:off x="8375196" y="5753100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1" name="直接箭头连接符 210"/>
          <p:cNvCxnSpPr>
            <a:stCxn id="96" idx="3"/>
            <a:endCxn id="98" idx="1"/>
          </p:cNvCxnSpPr>
          <p:nvPr/>
        </p:nvCxnSpPr>
        <p:spPr>
          <a:xfrm>
            <a:off x="9926410" y="5753100"/>
            <a:ext cx="95251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06" name="矩形 10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文档先行能把一次错误假设变成五分钟后可验证的实现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3619500" cy="1619250"/>
          </a:xfrm>
          <a:prstGeom prst="roundRect">
            <a:avLst>
              <a:gd name="adj" fmla="val 8235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3314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R6 → R7：为什么重开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1600200"/>
            <a:ext cx="32004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88333"/>
          </a:bodyPr>
          <a:lstStyle/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21:58:55  4b372d0d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docs: 定义账号新增的稳定快照同步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更新模块设计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新增专项方案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冻结等待条件、重试上限和失败保持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750"/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22:03:53  c0c1bc9f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fix: 等待新增账号快照再 reconcile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修改 Coordinator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750" b="0">
                <a:solidFill>
                  <a:srgbClr val="172033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 新增先旧后新、一直旧、removed 单读测试</a:t>
            </a:r>
            <a:endParaRPr sz="750" b="0">
              <a:solidFill>
                <a:srgbClr val="172033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476750" y="1143000"/>
            <a:ext cx="2000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52950" y="1190625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文档契约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77000" y="1143000"/>
            <a:ext cx="25717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53200" y="11906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代码位置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048750" y="1143000"/>
            <a:ext cx="25717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124950" y="11906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可执行断言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476750" y="154305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552950" y="1590675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新增账号必须等触发 ID 可见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1543050"/>
            <a:ext cx="2571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553200" y="159067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shouldWaitForAddedAccount()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048750" y="1543050"/>
            <a:ext cx="2571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124950" y="159067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第一次旧集合不能 dispatch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476750" y="1943100"/>
            <a:ext cx="20002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552950" y="1990725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重试有上限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477000" y="1943100"/>
            <a:ext cx="25717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553200" y="19907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MAX_RETRIES=5 + 首次读取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048750" y="1943100"/>
            <a:ext cx="25717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124950" y="19907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 query 次数为 6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476750" y="2343150"/>
            <a:ext cx="20002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552950" y="2390775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超时不能伪成功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477000" y="2343150"/>
            <a:ext cx="2571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553200" y="239077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stable=false → return false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048750" y="2343150"/>
            <a:ext cx="2571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124950" y="239077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Handler=0、publish=0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476750" y="2743200"/>
            <a:ext cx="20002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552950" y="2790825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删除不等待被删 ID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477000" y="2743200"/>
            <a:ext cx="25717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553200" y="27908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source 判断仅命中 added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048750" y="2743200"/>
            <a:ext cx="257175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9124950" y="2790825"/>
            <a:ext cx="2419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removed query=1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3446205"/>
            <a:ext cx="4000500" cy="2251590"/>
          </a:xfrm>
          <a:prstGeom prst="roundRect">
            <a:avLst>
              <a:gd name="adj" fmla="val 4800"/>
            </a:avLst>
          </a:prstGeom>
        </p:spPr>
      </p:pic>
      <p:sp>
        <p:nvSpPr>
          <p:cNvPr id="41" name="圆角矩形 40"/>
          <p:cNvSpPr>
            <a:spLocks noGrp="1"/>
          </p:cNvSpPr>
          <p:nvPr/>
        </p:nvSpPr>
        <p:spPr>
          <a:xfrm>
            <a:off x="571500" y="3381375"/>
            <a:ext cx="4000500" cy="2381250"/>
          </a:xfrm>
          <a:prstGeom prst="roundRect">
            <a:avLst>
              <a:gd name="adj" fmla="val 4800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42" name="圆角矩形 41"/>
          <p:cNvSpPr>
            <a:spLocks noGrp="1"/>
          </p:cNvSpPr>
          <p:nvPr/>
        </p:nvSpPr>
        <p:spPr>
          <a:xfrm>
            <a:off x="4857750" y="3381375"/>
            <a:ext cx="6762750" cy="2381250"/>
          </a:xfrm>
          <a:prstGeom prst="roundRect">
            <a:avLst>
              <a:gd name="adj" fmla="val 5600"/>
            </a:avLst>
          </a:prstGeom>
          <a:solidFill>
            <a:srgbClr val="FFF7E3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5010150" y="3495675"/>
            <a:ext cx="6457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 Gap Card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010150" y="3781425"/>
            <a:ext cx="609600" cy="28575"/>
          </a:xfrm>
          <a:prstGeom prst="rect">
            <a:avLst/>
          </a:prstGeom>
          <a:solidFill>
            <a:srgbClr val="D89518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143500" y="3924300"/>
            <a:ext cx="6191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设计要求：失败后不能留下新 signature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代码风险：仍可能调用 saveModeApplyState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补偿缺口：rollback 未恢复 signature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425"/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当前：核心协议 PASS；事务原子性 INCOMPLETE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下一任务：S7</a:t>
            </a:r>
            <a:endParaRPr sz="14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把 AI 接到真实环境：本页使用讲师已有材料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2131640"/>
            <a:ext cx="4857750" cy="2023219"/>
          </a:xfrm>
          <a:prstGeom prst="roundRect">
            <a:avLst>
              <a:gd name="adj" fmla="val 3077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666750" y="1285875"/>
            <a:ext cx="4857750" cy="3714750"/>
          </a:xfrm>
          <a:prstGeom prst="roundRect">
            <a:avLst>
              <a:gd name="adj" fmla="val 3077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0" y="14287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课程转场：讲师将在此替换为既有 MCP 材料</a:t>
            </a:r>
            <a:endParaRPr sz="18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572250" y="2333625"/>
            <a:ext cx="4000500" cy="812800"/>
          </a:xfrm>
          <a:prstGeom prst="roundRect">
            <a:avLst>
              <a:gd name="adj" fmla="val 1406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648450" y="2390775"/>
            <a:ext cx="3848100" cy="69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前面：已经定义“验什么”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572250" y="3260725"/>
            <a:ext cx="4000500" cy="812800"/>
          </a:xfrm>
          <a:prstGeom prst="roundRect">
            <a:avLst>
              <a:gd name="adj" fmla="val 14063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648450" y="3317875"/>
            <a:ext cx="3848100" cy="69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/ HDC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Connect → Build → Install → Operate → Observe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572250" y="4187825"/>
            <a:ext cx="4000500" cy="812800"/>
          </a:xfrm>
          <a:prstGeom prst="roundRect">
            <a:avLst>
              <a:gd name="adj" fmla="val 14063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648450" y="4244975"/>
            <a:ext cx="3848100" cy="69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下一页：E2E Runner 把验收变成可执行链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4" name="直接箭头连接符 33"/>
          <p:cNvCxnSpPr>
            <a:stCxn id="9" idx="2"/>
            <a:endCxn id="11" idx="0"/>
          </p:cNvCxnSpPr>
          <p:nvPr/>
        </p:nvCxnSpPr>
        <p:spPr>
          <a:xfrm>
            <a:off x="8572500" y="314642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" name="直接箭头连接符 34"/>
          <p:cNvCxnSpPr>
            <a:stCxn id="11" idx="2"/>
            <a:endCxn id="13" idx="0"/>
          </p:cNvCxnSpPr>
          <p:nvPr/>
        </p:nvCxnSpPr>
        <p:spPr>
          <a:xfrm>
            <a:off x="8572500" y="407352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矩形 16"/>
          <p:cNvSpPr>
            <a:spLocks noGrp="1"/>
          </p:cNvSpPr>
          <p:nvPr/>
        </p:nvSpPr>
        <p:spPr>
          <a:xfrm>
            <a:off x="1714500" y="5572125"/>
            <a:ext cx="57150" cy="53340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885950" y="5610225"/>
            <a:ext cx="8591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本页是有意保留的教学转场，不把工具能力和业务验收混为一谈。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矩形 3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第一页：一个 Case JSON 如何走到 MCP/HDC，再留下结果与证据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23950"/>
            <a:ext cx="11144250" cy="2143125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38250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 E2E 架构图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24000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9507" y="1504950"/>
            <a:ext cx="7672986" cy="1571625"/>
          </a:xfrm>
          <a:prstGeom prst="roundRect">
            <a:avLst>
              <a:gd name="adj" fmla="val 7273"/>
            </a:avLst>
          </a:prstGeom>
        </p:spPr>
      </p:pic>
      <p:sp>
        <p:nvSpPr>
          <p:cNvPr id="10" name="圆角矩形 9"/>
          <p:cNvSpPr>
            <a:spLocks noGrp="1"/>
          </p:cNvSpPr>
          <p:nvPr/>
        </p:nvSpPr>
        <p:spPr>
          <a:xfrm>
            <a:off x="762000" y="1504950"/>
            <a:ext cx="10668000" cy="1571625"/>
          </a:xfrm>
          <a:prstGeom prst="roundRect">
            <a:avLst>
              <a:gd name="adj" fmla="val 7273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523875" y="3476625"/>
            <a:ext cx="11144250" cy="2619375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76275" y="3590925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 E2E 调用路线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76275" y="3876675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9625" y="4000500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85825" y="4057650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rule_create.json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3490913" y="4000500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567113" y="4057650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validate_case_contract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normalize_case_definition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172200" y="4000500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248400" y="4057650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E2ERunner.run_case / run_step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853488" y="4000500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929688" y="4057650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SecurityToolFlowExecutor.execute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59" name="直接箭头连接符 58"/>
          <p:cNvCxnSpPr>
            <a:stCxn id="14" idx="3"/>
            <a:endCxn id="16" idx="1"/>
          </p:cNvCxnSpPr>
          <p:nvPr/>
        </p:nvCxnSpPr>
        <p:spPr>
          <a:xfrm>
            <a:off x="3338513" y="4324350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0" name="直接箭头连接符 59"/>
          <p:cNvCxnSpPr>
            <a:stCxn id="16" idx="3"/>
            <a:endCxn id="18" idx="1"/>
          </p:cNvCxnSpPr>
          <p:nvPr/>
        </p:nvCxnSpPr>
        <p:spPr>
          <a:xfrm>
            <a:off x="6019801" y="4324350"/>
            <a:ext cx="15239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1" name="直接箭头连接符 60"/>
          <p:cNvCxnSpPr>
            <a:stCxn id="18" idx="3"/>
            <a:endCxn id="20" idx="1"/>
          </p:cNvCxnSpPr>
          <p:nvPr/>
        </p:nvCxnSpPr>
        <p:spPr>
          <a:xfrm>
            <a:off x="8701088" y="4324350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圆角矩形 24"/>
          <p:cNvSpPr>
            <a:spLocks noGrp="1"/>
          </p:cNvSpPr>
          <p:nvPr/>
        </p:nvSpPr>
        <p:spPr>
          <a:xfrm>
            <a:off x="809625" y="5095875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85825" y="5153025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 resolve_operation_binding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template_key=firewall.rule.create.domain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3490913" y="5095875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567113" y="5153025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 MCP Driver / Bridge / Backend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172200" y="5095875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248400" y="5153025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  AssertionExecutor.assert_text_presence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8853488" y="5095875"/>
            <a:ext cx="2528888" cy="647700"/>
          </a:xfrm>
          <a:prstGeom prst="roundRect">
            <a:avLst>
              <a:gd name="adj" fmla="val 17647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929688" y="5153025"/>
            <a:ext cx="237648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  CaseResult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primary + secondary evidence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0" name="直接箭头连接符 69"/>
          <p:cNvCxnSpPr>
            <a:stCxn id="25" idx="3"/>
            <a:endCxn id="27" idx="1"/>
          </p:cNvCxnSpPr>
          <p:nvPr/>
        </p:nvCxnSpPr>
        <p:spPr>
          <a:xfrm>
            <a:off x="3338513" y="54197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1" name="直接箭头连接符 70"/>
          <p:cNvCxnSpPr>
            <a:stCxn id="27" idx="3"/>
            <a:endCxn id="29" idx="1"/>
          </p:cNvCxnSpPr>
          <p:nvPr/>
        </p:nvCxnSpPr>
        <p:spPr>
          <a:xfrm>
            <a:off x="6019801" y="5419725"/>
            <a:ext cx="15239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2" name="直接箭头连接符 71"/>
          <p:cNvCxnSpPr>
            <a:stCxn id="29" idx="3"/>
            <a:endCxn id="31" idx="1"/>
          </p:cNvCxnSpPr>
          <p:nvPr/>
        </p:nvCxnSpPr>
        <p:spPr>
          <a:xfrm>
            <a:off x="8701088" y="54197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3" name="肘形连接符 72"/>
          <p:cNvCxnSpPr>
            <a:stCxn id="20" idx="2"/>
            <a:endCxn id="25" idx="0"/>
          </p:cNvCxnSpPr>
          <p:nvPr/>
        </p:nvCxnSpPr>
        <p:spPr>
          <a:xfrm flipH="1">
            <a:off x="2074069" y="4648200"/>
            <a:ext cx="8043863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37" name="矩形 3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矩形 34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E2E 第二页：现场跑一个用例，再判断它证明了什么、还缺什么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66750" y="1190625"/>
            <a:ext cx="2586038" cy="628650"/>
          </a:xfrm>
          <a:prstGeom prst="roundRect">
            <a:avLst>
              <a:gd name="adj" fmla="val 1818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247775"/>
            <a:ext cx="2433638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创建 DOMAIN rule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424238" y="1190625"/>
            <a:ext cx="2586038" cy="628650"/>
          </a:xfrm>
          <a:prstGeom prst="roundRect">
            <a:avLst>
              <a:gd name="adj" fmla="val 1818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500438" y="1247775"/>
            <a:ext cx="2433638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读取系统事实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181725" y="1190625"/>
            <a:ext cx="2586038" cy="628650"/>
          </a:xfrm>
          <a:prstGeom prst="roundRect">
            <a:avLst>
              <a:gd name="adj" fmla="val 18182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257925" y="1247775"/>
            <a:ext cx="2433638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UI 文本断言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939213" y="1190625"/>
            <a:ext cx="2586038" cy="628650"/>
          </a:xfrm>
          <a:prstGeom prst="roundRect">
            <a:avLst>
              <a:gd name="adj" fmla="val 18182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015413" y="1247775"/>
            <a:ext cx="2433638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CaseResult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8" name="直接箭头连接符 47"/>
          <p:cNvCxnSpPr>
            <a:stCxn id="6" idx="3"/>
            <a:endCxn id="8" idx="1"/>
          </p:cNvCxnSpPr>
          <p:nvPr/>
        </p:nvCxnSpPr>
        <p:spPr>
          <a:xfrm>
            <a:off x="3252788" y="15049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" name="直接箭头连接符 48"/>
          <p:cNvCxnSpPr>
            <a:stCxn id="8" idx="3"/>
            <a:endCxn id="10" idx="1"/>
          </p:cNvCxnSpPr>
          <p:nvPr/>
        </p:nvCxnSpPr>
        <p:spPr>
          <a:xfrm>
            <a:off x="6010276" y="1504950"/>
            <a:ext cx="171449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" name="直接箭头连接符 49"/>
          <p:cNvCxnSpPr>
            <a:stCxn id="10" idx="3"/>
            <a:endCxn id="12" idx="1"/>
          </p:cNvCxnSpPr>
          <p:nvPr/>
        </p:nvCxnSpPr>
        <p:spPr>
          <a:xfrm>
            <a:off x="8767763" y="15049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圆角矩形 16"/>
          <p:cNvSpPr>
            <a:spLocks noGrp="1"/>
          </p:cNvSpPr>
          <p:nvPr/>
        </p:nvSpPr>
        <p:spPr>
          <a:xfrm>
            <a:off x="571500" y="2238375"/>
            <a:ext cx="51435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23900" y="2352675"/>
            <a:ext cx="483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代码级三态判断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23900" y="2638425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0" name="圆角矩形 19"/>
          <p:cNvSpPr>
            <a:spLocks noGrp="1"/>
          </p:cNvSpPr>
          <p:nvPr/>
        </p:nvSpPr>
        <p:spPr>
          <a:xfrm>
            <a:off x="857250" y="2905125"/>
            <a:ext cx="1409700" cy="762000"/>
          </a:xfrm>
          <a:prstGeom prst="roundRect">
            <a:avLst>
              <a:gd name="adj" fmla="val 15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33450" y="2962275"/>
            <a:ext cx="12573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事实一致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2438400" y="2905125"/>
            <a:ext cx="1409700" cy="762000"/>
          </a:xfrm>
          <a:prstGeom prst="roundRect">
            <a:avLst>
              <a:gd name="adj" fmla="val 15000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514600" y="2962275"/>
            <a:ext cx="12573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FAIL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事实冲突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4019550" y="2905125"/>
            <a:ext cx="1409700" cy="762000"/>
          </a:xfrm>
          <a:prstGeom prst="roundRect">
            <a:avLst>
              <a:gd name="adj" fmla="val 1500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4095750" y="2962275"/>
            <a:ext cx="12573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证据缺失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0" name="直接箭头连接符 59"/>
          <p:cNvCxnSpPr>
            <a:stCxn id="20" idx="3"/>
            <a:endCxn id="22" idx="1"/>
          </p:cNvCxnSpPr>
          <p:nvPr/>
        </p:nvCxnSpPr>
        <p:spPr>
          <a:xfrm>
            <a:off x="2266950" y="3286125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1" name="直接箭头连接符 60"/>
          <p:cNvCxnSpPr>
            <a:stCxn id="22" idx="3"/>
            <a:endCxn id="24" idx="1"/>
          </p:cNvCxnSpPr>
          <p:nvPr/>
        </p:nvCxnSpPr>
        <p:spPr>
          <a:xfrm>
            <a:off x="3848100" y="3286125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8" name="圆角矩形 27"/>
          <p:cNvSpPr>
            <a:spLocks noGrp="1"/>
          </p:cNvSpPr>
          <p:nvPr/>
        </p:nvSpPr>
        <p:spPr>
          <a:xfrm>
            <a:off x="6000750" y="2238375"/>
            <a:ext cx="5619750" cy="1952625"/>
          </a:xfrm>
          <a:prstGeom prst="roundRect">
            <a:avLst>
              <a:gd name="adj" fmla="val 6829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153150" y="2352675"/>
            <a:ext cx="531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用例流程 / 三态判定 / 有设备 / 无设备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153150" y="2638425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153150" y="2714625"/>
            <a:ext cx="5314950" cy="1362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50866"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launch_app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reset_previous_page / relaunch_app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open_firewall_page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toggle_firewall(require_auth_prompt=true)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assert “公共网络模式”仍可见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reporter 输出 result + artifacts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825"/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flow_action PASS/FAIL/UNKNOWN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assertion_action PASS/FAIL/UNKNOWN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FAIL：记录 failure_stage，默认 stop_on_failure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UNKNOWN：保留 UNKNOWN；allow_unknown=false 时升级 FAIL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evidence：primary_evidence + secondary_evidence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validate_result_contract(CaseResult)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825"/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python scripts/e2e/tools/validate_test_assets.py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python scripts/e2e/run_e2e.py --adapter security_tool --case scripts/e2e/cases/firewall/status_toggle.json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825"/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运行测试资产校验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静态展开 action plan / resolver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人工给出预期 Tool、Assertion、Artifact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8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→ 设备相关结果标 UNKNOWN</a:t>
            </a:r>
            <a:endParaRPr sz="8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381125" y="4762500"/>
            <a:ext cx="57150" cy="72390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552575" y="4800600"/>
            <a:ext cx="92583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无设备时保留 UNKNOWN，绝不把脚本跑通或截图存在伪装成设备 PASS。</a:t>
            </a:r>
            <a:endParaRPr sz="16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实践：把验收写成可执行的系统契约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71500" y="1143000"/>
            <a:ext cx="6858000" cy="4953000"/>
          </a:xfrm>
          <a:prstGeom prst="roundRect">
            <a:avLst>
              <a:gd name="adj" fmla="val 2692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1257300"/>
            <a:ext cx="6553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Acceptance Case JSON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3900" y="1543050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1619250"/>
            <a:ext cx="6553200" cy="436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{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"result": "PASS|FAIL|UNKNOWN",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"accounts": [100, 112, 123],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"mode": "public",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"signature": "100,112,123",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"users": [{"id": 123, "isOpen": true, "ruleCount": 4}],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"failures": [],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"evidence": {"device": "...", "timestamp": "..."}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050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}</a:t>
            </a:r>
            <a:endParaRPr sz="1050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001000" y="138112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077200" y="143827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Case Contract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001000" y="211455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077200" y="217170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Action Binding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01000" y="284797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077200" y="290512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MCP / HDC 操作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001000" y="358140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077200" y="363855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 getter / 日志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001000" y="4314825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077200" y="4371975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Primary + Secondary Evidence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001000" y="5048250"/>
            <a:ext cx="3143250" cy="619125"/>
          </a:xfrm>
          <a:prstGeom prst="roundRect">
            <a:avLst>
              <a:gd name="adj" fmla="val 18462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077200" y="5105400"/>
            <a:ext cx="29908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PASS / FAIL / UNKNOWN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9" name="直接箭头连接符 48"/>
          <p:cNvCxnSpPr>
            <a:stCxn id="10" idx="2"/>
            <a:endCxn id="12" idx="0"/>
          </p:cNvCxnSpPr>
          <p:nvPr/>
        </p:nvCxnSpPr>
        <p:spPr>
          <a:xfrm>
            <a:off x="9572625" y="200025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" name="直接箭头连接符 49"/>
          <p:cNvCxnSpPr>
            <a:stCxn id="12" idx="2"/>
            <a:endCxn id="14" idx="0"/>
          </p:cNvCxnSpPr>
          <p:nvPr/>
        </p:nvCxnSpPr>
        <p:spPr>
          <a:xfrm>
            <a:off x="9572625" y="273367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" name="直接箭头连接符 50"/>
          <p:cNvCxnSpPr>
            <a:stCxn id="14" idx="2"/>
            <a:endCxn id="16" idx="0"/>
          </p:cNvCxnSpPr>
          <p:nvPr/>
        </p:nvCxnSpPr>
        <p:spPr>
          <a:xfrm>
            <a:off x="9572625" y="346710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" name="直接箭头连接符 51"/>
          <p:cNvCxnSpPr>
            <a:stCxn id="16" idx="2"/>
            <a:endCxn id="18" idx="0"/>
          </p:cNvCxnSpPr>
          <p:nvPr/>
        </p:nvCxnSpPr>
        <p:spPr>
          <a:xfrm>
            <a:off x="9572625" y="4200525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" name="直接箭头连接符 52"/>
          <p:cNvCxnSpPr>
            <a:stCxn id="18" idx="2"/>
            <a:endCxn id="20" idx="0"/>
          </p:cNvCxnSpPr>
          <p:nvPr/>
        </p:nvCxnSpPr>
        <p:spPr>
          <a:xfrm>
            <a:off x="9572625" y="4933950"/>
            <a:ext cx="0" cy="11430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7" name="矩形 2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矩形 33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Ralph 与验收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MDM Checkpoint：交付一条完整证据链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47625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445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同伴验收：只问六件事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14375" y="1619250"/>
            <a:ext cx="4381500" cy="2428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spec.md 是否冻结账号事实、失败语义与提交点？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design.md 是否区分 intent、local apply、system truth、UI？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T01 是否真的出现过可解释 RED 与 GREEN？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T02 故障后是否恢复 identity，而非只恢复数量？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设备证据是否来自真机，UNKNOWN 是否被诚实保留？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diff 是否完全落在任务允许边界？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14375" y="3924300"/>
            <a:ext cx="433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1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唯一结果：PASS / FAIL / UNKNOWN</a:t>
            </a:r>
            <a:endParaRPr sz="112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3875" y="4476750"/>
            <a:ext cx="8572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00075" y="4524375"/>
            <a:ext cx="704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Eval 层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81125" y="4476750"/>
            <a:ext cx="20478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457325" y="4524375"/>
            <a:ext cx="18954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429000" y="4476750"/>
            <a:ext cx="18573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505200" y="4524375"/>
            <a:ext cx="17049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反例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23875" y="4876800"/>
            <a:ext cx="857250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00075" y="4924425"/>
            <a:ext cx="7048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81125" y="4876800"/>
            <a:ext cx="2047875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457325" y="4924425"/>
            <a:ext cx="18954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Prompt、工具调用、diff、测试、是否越界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429000" y="4876800"/>
            <a:ext cx="1857375" cy="5619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505200" y="4924425"/>
            <a:ext cx="17049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过程规范，但底层调用仍失败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23875" y="5438775"/>
            <a:ext cx="857250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00075" y="5486400"/>
            <a:ext cx="7048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Outcome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1381125" y="5438775"/>
            <a:ext cx="2047875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57325" y="5486400"/>
            <a:ext cx="18954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系统账号、policy、rules、signature、mapping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429000" y="5438775"/>
            <a:ext cx="1857375" cy="56197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505200" y="5486400"/>
            <a:ext cx="17049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页面偶然正确，但 AI 伪造账号事实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2" name="图片 6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9750" y="1798364"/>
            <a:ext cx="6000750" cy="2499271"/>
          </a:xfrm>
          <a:prstGeom prst="roundRect">
            <a:avLst>
              <a:gd name="adj" fmla="val 3077"/>
            </a:avLst>
          </a:prstGeom>
        </p:spPr>
      </p:pic>
      <p:sp>
        <p:nvSpPr>
          <p:cNvPr id="30" name="圆角矩形 29"/>
          <p:cNvSpPr>
            <a:spLocks noGrp="1"/>
          </p:cNvSpPr>
          <p:nvPr/>
        </p:nvSpPr>
        <p:spPr>
          <a:xfrm>
            <a:off x="5619750" y="1190625"/>
            <a:ext cx="6000750" cy="3714750"/>
          </a:xfrm>
          <a:prstGeom prst="roundRect">
            <a:avLst>
              <a:gd name="adj" fmla="val 3077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191250" y="5238750"/>
            <a:ext cx="57150" cy="68580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362700" y="5276850"/>
            <a:ext cx="4591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最终结论由 Outcome 决定；Trace 用于解释可信度、复现过程与发现越界。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案例二先回答：我们到底知道什么，不知道什么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1"/>
          <a:srcRect t="9426" b="9426"/>
          <a:stretch>
            <a:fillRect/>
          </a:stretch>
        </p:blipFill>
        <p:spPr>
          <a:xfrm>
            <a:off x="523875" y="1143000"/>
            <a:ext cx="5810250" cy="3143250"/>
          </a:xfrm>
          <a:prstGeom prst="roundRect">
            <a:avLst>
              <a:gd name="adj" fmla="val 3636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23875" y="1143000"/>
            <a:ext cx="5810250" cy="3143250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904875" y="1285875"/>
            <a:ext cx="504825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81075" y="1343025"/>
            <a:ext cx="4895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本地代码快照：2014 个相关源文件 · 约 559,355 行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667500" y="1143000"/>
            <a:ext cx="4953000" cy="4000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819900" y="1257300"/>
            <a:ext cx="4648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先把事实分成三类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81990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953250" y="166687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</a:t>
            </a:r>
            <a:endParaRPr sz="142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858125" y="1619250"/>
            <a:ext cx="342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用户报告“远端视频卡顿”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仓库中存在 bridge → compositor → EndFrame 路径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现有媒体只能证明某次运行“看得见画面”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953250" y="2714625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未知</a:t>
            </a:r>
            <a:endParaRPr sz="1425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858125" y="2667000"/>
            <a:ext cx="342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当次运行到底走软件解码还是硬件解码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frame 的 owner、stride/plane 与 present 是否一致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CPU / FPS / 卡顿改善幅度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953250" y="381000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42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第一步</a:t>
            </a:r>
            <a:endParaRPr sz="1425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858125" y="3762375"/>
            <a:ext cx="342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commit、runId、decoder path、frameId、CPU/FPS 绑定到同一次运行，建立 before 基线。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523875" y="4524375"/>
            <a:ext cx="5810250" cy="6858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14375" y="4648200"/>
            <a:ext cx="542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VIDEO · PENDING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当前占位图不证明卡顿；正式视频需同时录入 path / CPU / FPS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80962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8582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用户现象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49567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57187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当前路径证明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618172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25792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基线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8867775" y="5572125"/>
            <a:ext cx="251460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943975" y="5629275"/>
            <a:ext cx="2362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再讨论硬解 / GPU 方案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61" name="直接箭头连接符 60"/>
          <p:cNvCxnSpPr>
            <a:stCxn id="21" idx="3"/>
            <a:endCxn id="23" idx="1"/>
          </p:cNvCxnSpPr>
          <p:nvPr/>
        </p:nvCxnSpPr>
        <p:spPr>
          <a:xfrm>
            <a:off x="332422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2" name="直接箭头连接符 61"/>
          <p:cNvCxnSpPr>
            <a:stCxn id="23" idx="3"/>
            <a:endCxn id="25" idx="1"/>
          </p:cNvCxnSpPr>
          <p:nvPr/>
        </p:nvCxnSpPr>
        <p:spPr>
          <a:xfrm>
            <a:off x="601027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3" name="直接箭头连接符 62"/>
          <p:cNvCxnSpPr>
            <a:stCxn id="25" idx="3"/>
            <a:endCxn id="27" idx="1"/>
          </p:cNvCxnSpPr>
          <p:nvPr/>
        </p:nvCxnSpPr>
        <p:spPr>
          <a:xfrm>
            <a:off x="8696325" y="5848350"/>
            <a:ext cx="1714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矩形 31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5" name="矩形 54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读大仓库不是读全库，而是沿一帧回答五个问题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3429000" cy="476250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3124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先问五个问题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42950" y="16668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协议入口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857375" y="16383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H.264 从哪里进入？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42950" y="244792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路径选择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857375" y="24193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9206"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被 GPU consumed，还是回 original GDI？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42950" y="32289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输出格式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857375" y="32004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format、stride、plane 是什么？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2950" y="401002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显示所有权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857375" y="398145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谁拥有 Surface，何时 present？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42950" y="4791075"/>
            <a:ext cx="1143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同轮证明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857375" y="4762500"/>
            <a:ext cx="180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9206"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怎样把 decoder、frame、owner、present 绑定到同一 run？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4286250" y="1143000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362450" y="1200150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gfx→SurfaceCommand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4286250" y="1745456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362450" y="1802606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ohos_rdpgfx_surface_command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4286250" y="2347913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362450" y="2405063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record_avc420_gpu_candidate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4286250" y="2950369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362450" y="3007519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OnSurfaceCommand → worker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4286250" y="3552825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362450" y="3609975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ProcessCommand → OH_AVCodec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4286250" y="4155281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4362450" y="4212431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native buffer → CompositeFrame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286250" y="4757738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362450" y="4814888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pendingFrameId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4286250" y="5360194"/>
            <a:ext cx="4476750" cy="545306"/>
          </a:xfrm>
          <a:prstGeom prst="roundRect">
            <a:avLst>
              <a:gd name="adj" fmla="val 20961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4362450" y="5417344"/>
            <a:ext cx="4324350" cy="4310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 → PresentComposite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9" name="直接箭头连接符 88"/>
          <p:cNvCxnSpPr>
            <a:stCxn id="19" idx="2"/>
            <a:endCxn id="21" idx="0"/>
          </p:cNvCxnSpPr>
          <p:nvPr/>
        </p:nvCxnSpPr>
        <p:spPr>
          <a:xfrm>
            <a:off x="6524625" y="1688306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" name="直接箭头连接符 89"/>
          <p:cNvCxnSpPr>
            <a:stCxn id="21" idx="2"/>
            <a:endCxn id="23" idx="0"/>
          </p:cNvCxnSpPr>
          <p:nvPr/>
        </p:nvCxnSpPr>
        <p:spPr>
          <a:xfrm>
            <a:off x="6524625" y="2290762"/>
            <a:ext cx="0" cy="57151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1" name="直接箭头连接符 90"/>
          <p:cNvCxnSpPr>
            <a:stCxn id="23" idx="2"/>
            <a:endCxn id="25" idx="0"/>
          </p:cNvCxnSpPr>
          <p:nvPr/>
        </p:nvCxnSpPr>
        <p:spPr>
          <a:xfrm>
            <a:off x="6524625" y="2893219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" name="直接箭头连接符 91"/>
          <p:cNvCxnSpPr>
            <a:stCxn id="25" idx="2"/>
            <a:endCxn id="27" idx="0"/>
          </p:cNvCxnSpPr>
          <p:nvPr/>
        </p:nvCxnSpPr>
        <p:spPr>
          <a:xfrm>
            <a:off x="6524625" y="3495675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3" name="直接箭头连接符 92"/>
          <p:cNvCxnSpPr>
            <a:stCxn id="27" idx="2"/>
            <a:endCxn id="29" idx="0"/>
          </p:cNvCxnSpPr>
          <p:nvPr/>
        </p:nvCxnSpPr>
        <p:spPr>
          <a:xfrm>
            <a:off x="6524625" y="4098131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4" name="直接箭头连接符 93"/>
          <p:cNvCxnSpPr>
            <a:stCxn id="29" idx="2"/>
            <a:endCxn id="31" idx="0"/>
          </p:cNvCxnSpPr>
          <p:nvPr/>
        </p:nvCxnSpPr>
        <p:spPr>
          <a:xfrm>
            <a:off x="6524625" y="4700587"/>
            <a:ext cx="0" cy="57151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" name="直接箭头连接符 94"/>
          <p:cNvCxnSpPr>
            <a:stCxn id="31" idx="2"/>
            <a:endCxn id="33" idx="0"/>
          </p:cNvCxnSpPr>
          <p:nvPr/>
        </p:nvCxnSpPr>
        <p:spPr>
          <a:xfrm>
            <a:off x="6524625" y="5303044"/>
            <a:ext cx="0" cy="5715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圆角矩形 41"/>
          <p:cNvSpPr>
            <a:spLocks noGrp="1"/>
          </p:cNvSpPr>
          <p:nvPr/>
        </p:nvSpPr>
        <p:spPr>
          <a:xfrm>
            <a:off x="9048750" y="1143000"/>
            <a:ext cx="2571750" cy="1619250"/>
          </a:xfrm>
          <a:prstGeom prst="roundRect">
            <a:avLst>
              <a:gd name="adj" fmla="val 8235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9201150" y="1257300"/>
            <a:ext cx="2266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一轮只给 AI 这么多上下文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20115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9429750" y="1619250"/>
            <a:ext cx="1809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6078"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个问题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条调用链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3–7 个接口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个假设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条下一步命令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9239250" y="3143250"/>
            <a:ext cx="2190750" cy="495300"/>
          </a:xfrm>
          <a:prstGeom prst="roundRect">
            <a:avLst>
              <a:gd name="adj" fmla="val 23077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9315450" y="3200400"/>
            <a:ext cx="2038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未接管 / 不满足 ready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圆角矩形 47"/>
          <p:cNvSpPr>
            <a:spLocks noGrp="1"/>
          </p:cNvSpPr>
          <p:nvPr/>
        </p:nvSpPr>
        <p:spPr>
          <a:xfrm>
            <a:off x="9239250" y="3905250"/>
            <a:ext cx="2190750" cy="666750"/>
          </a:xfrm>
          <a:prstGeom prst="roundRect">
            <a:avLst>
              <a:gd name="adj" fmla="val 17143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9315450" y="3962400"/>
            <a:ext cx="2038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original 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GDI / H264 subsystem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4" name="直接箭头连接符 103"/>
          <p:cNvCxnSpPr>
            <a:stCxn id="46" idx="2"/>
            <a:endCxn id="48" idx="0"/>
          </p:cNvCxnSpPr>
          <p:nvPr/>
        </p:nvCxnSpPr>
        <p:spPr>
          <a:xfrm>
            <a:off x="10334625" y="3638550"/>
            <a:ext cx="0" cy="266700"/>
          </a:xfrm>
          <a:prstGeom prst="straightConnector1">
            <a:avLst/>
          </a:prstGeom>
          <a:ln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矩形 50"/>
          <p:cNvSpPr>
            <a:spLocks noGrp="1"/>
          </p:cNvSpPr>
          <p:nvPr/>
        </p:nvSpPr>
        <p:spPr>
          <a:xfrm>
            <a:off x="9096375" y="4762500"/>
            <a:ext cx="2476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0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这条 fallback 必须保留；否则“尝试硬解”会直接变成黑屏风险。</a:t>
            </a:r>
            <a:endParaRPr sz="10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6" name="图片 105"/>
          <p:cNvPicPr>
            <a:picLocks noChangeAspect="1"/>
          </p:cNvPicPr>
          <p:nvPr/>
        </p:nvPicPr>
        <p:blipFill>
          <a:blip r:embed="rId1"/>
          <a:srcRect t="32065" b="32065"/>
          <a:stretch>
            <a:fillRect/>
          </a:stretch>
        </p:blipFill>
        <p:spPr>
          <a:xfrm>
            <a:off x="9239250" y="5381625"/>
            <a:ext cx="2190750" cy="523875"/>
          </a:xfrm>
          <a:prstGeom prst="roundRect">
            <a:avLst>
              <a:gd name="adj" fmla="val 21818"/>
            </a:avLst>
          </a:prstGeom>
        </p:spPr>
      </p:pic>
      <p:sp>
        <p:nvSpPr>
          <p:cNvPr id="53" name="圆角矩形 52"/>
          <p:cNvSpPr>
            <a:spLocks noGrp="1"/>
          </p:cNvSpPr>
          <p:nvPr/>
        </p:nvSpPr>
        <p:spPr>
          <a:xfrm>
            <a:off x="9239250" y="5381625"/>
            <a:ext cx="2190750" cy="523875"/>
          </a:xfrm>
          <a:prstGeom prst="roundRect">
            <a:avLst>
              <a:gd name="adj" fmla="val 21818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2" name="矩形 61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跨平台调研只复制生命周期契约，不复制实现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191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953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2002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2764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Configure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7814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8576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Start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53625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4387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Input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9437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0199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852487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60107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Validate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0106025" y="1143000"/>
            <a:ext cx="1466850" cy="552450"/>
          </a:xfrm>
          <a:prstGeom prst="roundRect">
            <a:avLst>
              <a:gd name="adj" fmla="val 2069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182225" y="1200150"/>
            <a:ext cx="1314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Release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81" name="直接箭头连接符 80"/>
          <p:cNvCxnSpPr>
            <a:stCxn id="6" idx="3"/>
            <a:endCxn id="8" idx="1"/>
          </p:cNvCxnSpPr>
          <p:nvPr/>
        </p:nvCxnSpPr>
        <p:spPr>
          <a:xfrm>
            <a:off x="20859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2" name="直接箭头连接符 81"/>
          <p:cNvCxnSpPr>
            <a:stCxn id="8" idx="3"/>
            <a:endCxn id="10" idx="1"/>
          </p:cNvCxnSpPr>
          <p:nvPr/>
        </p:nvCxnSpPr>
        <p:spPr>
          <a:xfrm>
            <a:off x="36671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3" name="直接箭头连接符 82"/>
          <p:cNvCxnSpPr>
            <a:stCxn id="10" idx="3"/>
            <a:endCxn id="12" idx="1"/>
          </p:cNvCxnSpPr>
          <p:nvPr/>
        </p:nvCxnSpPr>
        <p:spPr>
          <a:xfrm>
            <a:off x="52482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4" name="直接箭头连接符 83"/>
          <p:cNvCxnSpPr>
            <a:stCxn id="12" idx="3"/>
            <a:endCxn id="14" idx="1"/>
          </p:cNvCxnSpPr>
          <p:nvPr/>
        </p:nvCxnSpPr>
        <p:spPr>
          <a:xfrm>
            <a:off x="68294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5" name="直接箭头连接符 84"/>
          <p:cNvCxnSpPr>
            <a:stCxn id="14" idx="3"/>
            <a:endCxn id="16" idx="1"/>
          </p:cNvCxnSpPr>
          <p:nvPr/>
        </p:nvCxnSpPr>
        <p:spPr>
          <a:xfrm>
            <a:off x="841057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86" name="直接箭头连接符 85"/>
          <p:cNvCxnSpPr>
            <a:stCxn id="16" idx="3"/>
            <a:endCxn id="18" idx="1"/>
          </p:cNvCxnSpPr>
          <p:nvPr/>
        </p:nvCxnSpPr>
        <p:spPr>
          <a:xfrm>
            <a:off x="9991725" y="1419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矩形 25"/>
          <p:cNvSpPr>
            <a:spLocks noGrp="1"/>
          </p:cNvSpPr>
          <p:nvPr/>
        </p:nvSpPr>
        <p:spPr>
          <a:xfrm>
            <a:off x="1095375" y="188595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3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所有平台都必须回答同一生命周期；真正需要重新设计的是 buffer 所有权、输出格式与 Surface 生命周期。</a:t>
            </a:r>
            <a:endParaRPr sz="135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23875" y="2428875"/>
            <a:ext cx="180975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0075" y="2476500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已有后端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333625" y="2428875"/>
            <a:ext cx="195453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2409825" y="2476500"/>
            <a:ext cx="180213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作用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288155" y="2428875"/>
            <a:ext cx="34747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364355" y="2476500"/>
            <a:ext cx="3322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应该学习什么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23875" y="2828925"/>
            <a:ext cx="180975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00075" y="2876550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FFmpeg / OpenH264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2333625" y="2828925"/>
            <a:ext cx="195453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2409825" y="2876550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通用软件路径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288155" y="2828925"/>
            <a:ext cx="347472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4364355" y="2876550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正确性 fallback、YUV 输出语义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23875" y="3383756"/>
            <a:ext cx="180975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00075" y="3431381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Windows Media Foundation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333625" y="3383756"/>
            <a:ext cx="195453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409825" y="3431381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Windows 硬解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4288155" y="3383756"/>
            <a:ext cx="347472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364355" y="3431381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平台 decoder 生命周期与失败传播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23875" y="3938588"/>
            <a:ext cx="180975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00075" y="3986213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Android MediaCodec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333625" y="3938588"/>
            <a:ext cx="195453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2409825" y="3986213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移动平台硬解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288155" y="3938588"/>
            <a:ext cx="3474720" cy="55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4364355" y="3986213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buffer 输入输出、format change、释放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23875" y="4493419"/>
            <a:ext cx="180975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00075" y="4541044"/>
            <a:ext cx="165735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OH_AVCodec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2333625" y="4493419"/>
            <a:ext cx="195453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409825" y="4541044"/>
            <a:ext cx="180213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目标平台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288155" y="4493419"/>
            <a:ext cx="3474720" cy="554831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364355" y="4541044"/>
            <a:ext cx="3322320" cy="4595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能力查询、AVBuffer/Surface、stride/plane</a:t>
            </a:r>
            <a:endParaRPr sz="9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8" name="图片 117"/>
          <p:cNvPicPr>
            <a:picLocks noChangeAspect="1"/>
          </p:cNvPicPr>
          <p:nvPr/>
        </p:nvPicPr>
        <p:blipFill>
          <a:blip r:embed="rId1"/>
          <a:srcRect l="4545" r="4545"/>
          <a:stretch>
            <a:fillRect/>
          </a:stretch>
        </p:blipFill>
        <p:spPr>
          <a:xfrm>
            <a:off x="8048625" y="2428875"/>
            <a:ext cx="3571875" cy="2619375"/>
          </a:xfrm>
          <a:prstGeom prst="roundRect">
            <a:avLst>
              <a:gd name="adj" fmla="val 4364"/>
            </a:avLst>
          </a:prstGeom>
        </p:spPr>
      </p:pic>
      <p:sp>
        <p:nvSpPr>
          <p:cNvPr id="58" name="圆角矩形 57"/>
          <p:cNvSpPr>
            <a:spLocks noGrp="1"/>
          </p:cNvSpPr>
          <p:nvPr/>
        </p:nvSpPr>
        <p:spPr>
          <a:xfrm>
            <a:off x="8048625" y="2428875"/>
            <a:ext cx="3571875" cy="2619375"/>
          </a:xfrm>
          <a:prstGeom prst="roundRect">
            <a:avLst>
              <a:gd name="adj" fmla="val 436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1143000" y="5381625"/>
            <a:ext cx="57150" cy="5524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1314450" y="5419725"/>
            <a:ext cx="973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学习已有后端的“契约和失败语义”，不要照抄 Windows / Android 的 API、线程模型或 buffer ownership。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8" name="矩形 5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对接方案分三层：接管、合成、回退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31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23950"/>
            <a:ext cx="11144250" cy="1190625"/>
          </a:xfrm>
          <a:prstGeom prst="roundRect">
            <a:avLst>
              <a:gd name="adj" fmla="val 11200"/>
            </a:avLst>
          </a:prstGeom>
          <a:solidFill>
            <a:srgbClr val="EAF5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38250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Bridge：只决定“是否接管”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2400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2857500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933700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gfx→SurfaceCommand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981575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057775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OHOS RDPGFX bridge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105650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181850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顺序校验 + candidate policy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9229725" y="1552575"/>
            <a:ext cx="20097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305925" y="1609725"/>
            <a:ext cx="185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ready / consumed ?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74" name="直接箭头连接符 73"/>
          <p:cNvCxnSpPr>
            <a:stCxn id="9" idx="3"/>
            <a:endCxn id="11" idx="1"/>
          </p:cNvCxnSpPr>
          <p:nvPr/>
        </p:nvCxnSpPr>
        <p:spPr>
          <a:xfrm>
            <a:off x="4867275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5" name="直接箭头连接符 74"/>
          <p:cNvCxnSpPr>
            <a:stCxn id="11" idx="3"/>
            <a:endCxn id="13" idx="1"/>
          </p:cNvCxnSpPr>
          <p:nvPr/>
        </p:nvCxnSpPr>
        <p:spPr>
          <a:xfrm>
            <a:off x="6991350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6" name="直接箭头连接符 75"/>
          <p:cNvCxnSpPr>
            <a:stCxn id="13" idx="3"/>
            <a:endCxn id="15" idx="1"/>
          </p:cNvCxnSpPr>
          <p:nvPr/>
        </p:nvCxnSpPr>
        <p:spPr>
          <a:xfrm>
            <a:off x="9115425" y="180022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矩形 19"/>
          <p:cNvSpPr>
            <a:spLocks noGrp="1"/>
          </p:cNvSpPr>
          <p:nvPr/>
        </p:nvSpPr>
        <p:spPr>
          <a:xfrm>
            <a:off x="742950" y="161925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保存原回调；在接管前完成校验。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523875" y="2524125"/>
            <a:ext cx="11144250" cy="1809750"/>
          </a:xfrm>
          <a:prstGeom prst="roundRect">
            <a:avLst>
              <a:gd name="adj" fmla="val 7368"/>
            </a:avLst>
          </a:prstGeom>
          <a:solidFill>
            <a:srgbClr val="EAF8F5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76275" y="2638425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8C8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Compositor：接管后负责“一帧完整闭环”</a:t>
            </a:r>
            <a:endParaRPr sz="1200" b="1">
              <a:solidFill>
                <a:srgbClr val="168C8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76275" y="2924175"/>
            <a:ext cx="609600" cy="28575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271462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79082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callback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415925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423545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worker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560387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568007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OH_AVCodec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04850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12470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NativeBuffer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8493125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569325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CompositeFrame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+ pendingFrameId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9937750" y="3143250"/>
            <a:ext cx="1349375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0013950" y="3200400"/>
            <a:ext cx="11969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EGL swap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93" name="直接箭头连接符 92"/>
          <p:cNvCxnSpPr>
            <a:stCxn id="24" idx="3"/>
            <a:endCxn id="26" idx="1"/>
          </p:cNvCxnSpPr>
          <p:nvPr/>
        </p:nvCxnSpPr>
        <p:spPr>
          <a:xfrm>
            <a:off x="406400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4" name="直接箭头连接符 93"/>
          <p:cNvCxnSpPr>
            <a:stCxn id="26" idx="3"/>
            <a:endCxn id="28" idx="1"/>
          </p:cNvCxnSpPr>
          <p:nvPr/>
        </p:nvCxnSpPr>
        <p:spPr>
          <a:xfrm>
            <a:off x="5508625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" name="直接箭头连接符 94"/>
          <p:cNvCxnSpPr>
            <a:stCxn id="28" idx="3"/>
            <a:endCxn id="30" idx="1"/>
          </p:cNvCxnSpPr>
          <p:nvPr/>
        </p:nvCxnSpPr>
        <p:spPr>
          <a:xfrm>
            <a:off x="695325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6" name="直接箭头连接符 95"/>
          <p:cNvCxnSpPr>
            <a:stCxn id="30" idx="3"/>
            <a:endCxn id="32" idx="1"/>
          </p:cNvCxnSpPr>
          <p:nvPr/>
        </p:nvCxnSpPr>
        <p:spPr>
          <a:xfrm>
            <a:off x="8397875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" name="直接箭头连接符 96"/>
          <p:cNvCxnSpPr>
            <a:stCxn id="32" idx="3"/>
            <a:endCxn id="34" idx="1"/>
          </p:cNvCxnSpPr>
          <p:nvPr/>
        </p:nvCxnSpPr>
        <p:spPr>
          <a:xfrm>
            <a:off x="9842500" y="3438525"/>
            <a:ext cx="952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矩形 40"/>
          <p:cNvSpPr>
            <a:spLocks noGrp="1"/>
          </p:cNvSpPr>
          <p:nvPr/>
        </p:nvSpPr>
        <p:spPr>
          <a:xfrm>
            <a:off x="742950" y="3190875"/>
            <a:ext cx="1714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89286"/>
          </a:bodyPr>
          <a:lstStyle/>
          <a:p>
            <a:pPr algn="l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 frameId 必须贯穿 decoder output、owner、pending 与 present。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523875" y="4572000"/>
            <a:ext cx="11144250" cy="1190625"/>
          </a:xfrm>
          <a:prstGeom prst="roundRect">
            <a:avLst>
              <a:gd name="adj" fmla="val 11200"/>
            </a:avLst>
          </a:prstGeom>
          <a:solidFill>
            <a:srgbClr val="FFF7E3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76275" y="4686300"/>
            <a:ext cx="1083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D8951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Fallback：接管前失败必须回到原路径</a:t>
            </a:r>
            <a:endParaRPr sz="1200" b="1">
              <a:solidFill>
                <a:srgbClr val="D8951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76275" y="4972050"/>
            <a:ext cx="609600" cy="28575"/>
          </a:xfrm>
          <a:prstGeom prst="rect">
            <a:avLst/>
          </a:prstGeom>
          <a:solidFill>
            <a:srgbClr val="D89518"/>
          </a:solidFill>
          <a:ln w="0">
            <a:noFill/>
            <a:prstDash val="solid"/>
          </a:ln>
        </p:spPr>
      </p:sp>
      <p:sp>
        <p:nvSpPr>
          <p:cNvPr id="45" name="圆角矩形 44"/>
          <p:cNvSpPr>
            <a:spLocks noGrp="1"/>
          </p:cNvSpPr>
          <p:nvPr/>
        </p:nvSpPr>
        <p:spPr>
          <a:xfrm>
            <a:off x="31432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32194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takeover 前失败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52006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52768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original 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72580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73342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gdi_SurfaceCommand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9315450" y="5000625"/>
            <a:ext cx="1924050" cy="49530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9391650" y="5057775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H264 subsystem / GDI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10" name="直接箭头连接符 109"/>
          <p:cNvCxnSpPr>
            <a:stCxn id="45" idx="3"/>
            <a:endCxn id="47" idx="1"/>
          </p:cNvCxnSpPr>
          <p:nvPr/>
        </p:nvCxnSpPr>
        <p:spPr>
          <a:xfrm>
            <a:off x="50673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1" name="直接箭头连接符 110"/>
          <p:cNvCxnSpPr>
            <a:stCxn id="47" idx="3"/>
            <a:endCxn id="49" idx="1"/>
          </p:cNvCxnSpPr>
          <p:nvPr/>
        </p:nvCxnSpPr>
        <p:spPr>
          <a:xfrm>
            <a:off x="71247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2" name="直接箭头连接符 111"/>
          <p:cNvCxnSpPr>
            <a:stCxn id="49" idx="3"/>
            <a:endCxn id="51" idx="1"/>
          </p:cNvCxnSpPr>
          <p:nvPr/>
        </p:nvCxnSpPr>
        <p:spPr>
          <a:xfrm>
            <a:off x="9182100" y="52482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矩形 55"/>
          <p:cNvSpPr>
            <a:spLocks noGrp="1"/>
          </p:cNvSpPr>
          <p:nvPr/>
        </p:nvSpPr>
        <p:spPr>
          <a:xfrm>
            <a:off x="1285875" y="5953125"/>
            <a:ext cx="962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3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边界原则：接管前可回退；接管后不能再让 GDI 与 GPU 同时写同一 Surface。</a:t>
            </a:r>
            <a:endParaRPr sz="13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" name="矩形 6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最小穿刺不是性能优化，只证明一帧闭环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32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1143000"/>
            <a:ext cx="8382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190625"/>
            <a:ext cx="685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362075" y="1143000"/>
            <a:ext cx="23622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438275" y="1190625"/>
            <a:ext cx="2209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只证明什么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724275" y="1143000"/>
            <a:ext cx="22860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800475" y="1190625"/>
            <a:ext cx="2133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必须看到的证据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10275" y="1143000"/>
            <a:ext cx="213360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086475" y="1190625"/>
            <a:ext cx="1981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还不能证明什么</a:t>
            </a:r>
            <a:endParaRPr sz="97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154305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0075" y="159067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SP-01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62075" y="154305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438275" y="159067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bridge 与 compositor 真正进入 arm64 / HAP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724275" y="154305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800475" y="159067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symbol / packaged binary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010275" y="154305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086475" y="159067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真机一定走 GPU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23875" y="2415540"/>
            <a:ext cx="838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00075" y="246316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SP-02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1362075" y="2415540"/>
            <a:ext cx="2362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438275" y="246316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真机选择到 hardware decoder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724275" y="2415540"/>
            <a:ext cx="22860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3800475" y="246316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identity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010275" y="2415540"/>
            <a:ext cx="21336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086475" y="246316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一帧已正确显示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523875" y="328803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00075" y="333565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SP-03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362075" y="328803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438275" y="333565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AVC420 sample 有可关联输出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3724275" y="328803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3800475" y="333565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frameId + format + stride / planes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010275" y="328803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6086475" y="333565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与 present 正确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4160520"/>
            <a:ext cx="838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00075" y="420814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SP-04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1362075" y="4160520"/>
            <a:ext cx="23622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438275" y="420814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同一帧完成 composite → pending → matched present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3724275" y="4160520"/>
            <a:ext cx="22860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3800475" y="420814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+ matched EndFrame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010275" y="4160520"/>
            <a:ext cx="2133600" cy="87249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086475" y="420814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连续播放不卡顿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523875" y="5033010"/>
            <a:ext cx="838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600075" y="5080635"/>
            <a:ext cx="685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SP-05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362075" y="5033010"/>
            <a:ext cx="23622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438275" y="5080635"/>
            <a:ext cx="22098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接管前失败能回到原路径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3724275" y="5033010"/>
            <a:ext cx="22860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3800475" y="5080635"/>
            <a:ext cx="21336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fallback reason + original callback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010275" y="5033010"/>
            <a:ext cx="2133600" cy="87249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6086475" y="5080635"/>
            <a:ext cx="198120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工程化队列和生命周期完成</a:t>
            </a:r>
            <a:endParaRPr sz="9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4" name="图片 113"/>
          <p:cNvPicPr>
            <a:picLocks noChangeAspect="1"/>
          </p:cNvPicPr>
          <p:nvPr/>
        </p:nvPicPr>
        <p:blipFill>
          <a:blip r:embed="rId1"/>
          <a:srcRect l="4422" r="4422"/>
          <a:stretch>
            <a:fillRect/>
          </a:stretch>
        </p:blipFill>
        <p:spPr>
          <a:xfrm>
            <a:off x="8429625" y="1143000"/>
            <a:ext cx="3190875" cy="2333625"/>
          </a:xfrm>
          <a:prstGeom prst="roundRect">
            <a:avLst>
              <a:gd name="adj" fmla="val 4898"/>
            </a:avLst>
          </a:prstGeom>
        </p:spPr>
      </p:pic>
      <p:sp>
        <p:nvSpPr>
          <p:cNvPr id="55" name="圆角矩形 54"/>
          <p:cNvSpPr>
            <a:spLocks noGrp="1"/>
          </p:cNvSpPr>
          <p:nvPr/>
        </p:nvSpPr>
        <p:spPr>
          <a:xfrm>
            <a:off x="8429625" y="1143000"/>
            <a:ext cx="3190875" cy="2333625"/>
          </a:xfrm>
          <a:prstGeom prst="roundRect">
            <a:avLst>
              <a:gd name="adj" fmla="val 4898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56" name="圆角矩形 55"/>
          <p:cNvSpPr>
            <a:spLocks noGrp="1"/>
          </p:cNvSpPr>
          <p:nvPr/>
        </p:nvSpPr>
        <p:spPr>
          <a:xfrm>
            <a:off x="8429625" y="3762375"/>
            <a:ext cx="3190875" cy="2143125"/>
          </a:xfrm>
          <a:prstGeom prst="roundRect">
            <a:avLst>
              <a:gd name="adj" fmla="val 6222"/>
            </a:avLst>
          </a:prstGeom>
          <a:solidFill>
            <a:srgbClr val="FFF0E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8582025" y="3876675"/>
            <a:ext cx="2886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为什么只做一帧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8582025" y="4162425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8715375" y="4238625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6354"/>
          </a:bodyPr>
          <a:lstStyle/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一帧足以验证接口边界：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/>
          </a:p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decoder 输出格式是否可用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owner 是否唯一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EndFrame 是否与 pending 匹配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失败是否可回退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sz="1200"/>
          </a:p>
          <a:p>
            <a:pPr algn="l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但它不等于性能优化完成。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" name="矩形 89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穿刺之后再拆任务，每张任务卡只有一个结果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33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1619250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695450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 T00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3895725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971925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 T01–T03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172200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248400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 T04–T06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448675" y="1095375"/>
            <a:ext cx="2124075" cy="495300"/>
          </a:xfrm>
          <a:prstGeom prst="roundRect">
            <a:avLst>
              <a:gd name="adj" fmla="val 23077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524875" y="1152525"/>
            <a:ext cx="19716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 T07</a:t>
            </a:r>
            <a:endParaRPr sz="12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3" name="直接箭头连接符 102"/>
          <p:cNvCxnSpPr>
            <a:stCxn id="6" idx="3"/>
            <a:endCxn id="8" idx="1"/>
          </p:cNvCxnSpPr>
          <p:nvPr/>
        </p:nvCxnSpPr>
        <p:spPr>
          <a:xfrm>
            <a:off x="3743325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4" name="直接箭头连接符 103"/>
          <p:cNvCxnSpPr>
            <a:stCxn id="8" idx="3"/>
            <a:endCxn id="10" idx="1"/>
          </p:cNvCxnSpPr>
          <p:nvPr/>
        </p:nvCxnSpPr>
        <p:spPr>
          <a:xfrm>
            <a:off x="6019800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5" name="直接箭头连接符 104"/>
          <p:cNvCxnSpPr>
            <a:stCxn id="10" idx="3"/>
            <a:endCxn id="12" idx="1"/>
          </p:cNvCxnSpPr>
          <p:nvPr/>
        </p:nvCxnSpPr>
        <p:spPr>
          <a:xfrm>
            <a:off x="8296275" y="1343025"/>
            <a:ext cx="1524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矩形 16"/>
          <p:cNvSpPr>
            <a:spLocks noGrp="1"/>
          </p:cNvSpPr>
          <p:nvPr/>
        </p:nvSpPr>
        <p:spPr>
          <a:xfrm>
            <a:off x="428625" y="1809750"/>
            <a:ext cx="90678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04825" y="1857375"/>
            <a:ext cx="75438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35405" y="1809750"/>
            <a:ext cx="79343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411605" y="1857375"/>
            <a:ext cx="64103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Task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128838" y="1809750"/>
            <a:ext cx="43072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205038" y="1857375"/>
            <a:ext cx="41548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主要源码边界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436043" y="1809750"/>
            <a:ext cx="532733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512243" y="1857375"/>
            <a:ext cx="517493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一个可观察结果 / Stop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28625" y="2209800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04825" y="2257425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335405" y="2209800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411605" y="2257425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T00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2128838" y="2209800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2205038" y="2257425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diagnostics only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436043" y="2209800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512243" y="2257425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保存同 runId before；路径不明则不归因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428625" y="2689622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04825" y="2737247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335405" y="2689622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411605" y="2737247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T01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2128838" y="2689622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205038" y="2737247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InstallRdpgfxDiagnosticsHooks、bridge_attach、decoder init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436043" y="2689622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512243" y="2737247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bridge + hardware decoder 真机成立；只编译成功则停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428625" y="3169444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04825" y="3217069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1335405" y="3169444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411605" y="3217069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T02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2128838" y="3169444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2205038" y="3217069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input/output、OH_AVBuffer_GetNativeBuffer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6436043" y="3169444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512243" y="3217069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一帧输入输出可关联；format/native buffer 不明则停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28625" y="3649266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04825" y="3696891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1335405" y="3649266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1411605" y="3696891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T03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2128838" y="3649266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2205038" y="3696891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candidate policy、OnSurfaceCommand、ProcessCommand、PresentEndFrame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6436043" y="3649266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6512243" y="3696891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consumed→owner→matched present 闭环；GDI/GPU 双写则 FAIL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428625" y="4129088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504825" y="4176713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1335405" y="4129088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1411605" y="4176713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2128838" y="4129088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2205038" y="4176713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EnqueueSurfaceCommand、worker compaction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6436043" y="4129088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6512243" y="4176713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连续队列有界；depth/age 持续增长则停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428625" y="4608909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504825" y="4656534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1335405" y="4608909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1411605" y="4656534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T05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2128838" y="4608909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2205038" y="4656534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target generation、pause/detach/recreate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6436043" y="4608909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6512243" y="4656534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resize/后台/重连拒绝 stale task；旧 target 可写则 FAIL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428625" y="5088731"/>
            <a:ext cx="906780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504825" y="5136356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韧性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1335405" y="5088731"/>
            <a:ext cx="7934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411605" y="5136356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T06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2128838" y="5088731"/>
            <a:ext cx="4307205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2205038" y="5136356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AVC444 candidate/compositor、LC retained state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436043" y="5088731"/>
            <a:ext cx="5327333" cy="47982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6512243" y="5136356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 decoder + LC + EndFrame；复用 420 假设则停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428625" y="5568553"/>
            <a:ext cx="906780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504825" y="5616178"/>
            <a:ext cx="754380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验收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1335405" y="5568553"/>
            <a:ext cx="7934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1411605" y="5616178"/>
            <a:ext cx="6410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T07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2128838" y="5568553"/>
            <a:ext cx="4307205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2205038" y="5616178"/>
            <a:ext cx="4154805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测试/脚本/报告，生产代码冻结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7" name="矩形 86"/>
          <p:cNvSpPr>
            <a:spLocks noGrp="1"/>
          </p:cNvSpPr>
          <p:nvPr/>
        </p:nvSpPr>
        <p:spPr>
          <a:xfrm>
            <a:off x="6436043" y="5568553"/>
            <a:ext cx="5327333" cy="479822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6512243" y="5616178"/>
            <a:ext cx="5174933" cy="3845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同场景 A/B；缺 CPU/FPS/path/soak 则 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9" name="矩形 88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8" name="矩形 5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五个角色接力：每一步都留下可审查产物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34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666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Human / Planner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66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2952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028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Explorer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752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5238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314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Implementer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38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7524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600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Tool / MCP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324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9810750" y="1190625"/>
            <a:ext cx="1619250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886950" y="1247775"/>
            <a:ext cx="1466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</a:t>
            </a:r>
            <a:endParaRPr sz="11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610850" y="1695450"/>
            <a:ext cx="19050" cy="2714625"/>
          </a:xfrm>
          <a:prstGeom prst="rect">
            <a:avLst/>
          </a:prstGeom>
          <a:solidFill>
            <a:srgbClr val="C9D3DE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476375" y="19050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3762375" y="19050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0" name="直接箭头连接符 79"/>
          <p:cNvCxnSpPr>
            <a:stCxn id="21" idx="3"/>
            <a:endCxn id="22" idx="1"/>
          </p:cNvCxnSpPr>
          <p:nvPr/>
        </p:nvCxnSpPr>
        <p:spPr>
          <a:xfrm>
            <a:off x="1495425" y="1914525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矩形 23"/>
          <p:cNvSpPr>
            <a:spLocks noGrp="1"/>
          </p:cNvSpPr>
          <p:nvPr/>
        </p:nvSpPr>
        <p:spPr>
          <a:xfrm>
            <a:off x="1619250" y="17145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只读调用链与 GAP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762375" y="2333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76375" y="23336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4" name="直接箭头连接符 83"/>
          <p:cNvCxnSpPr>
            <a:stCxn id="25" idx="1"/>
            <a:endCxn id="26" idx="3"/>
          </p:cNvCxnSpPr>
          <p:nvPr/>
        </p:nvCxnSpPr>
        <p:spPr>
          <a:xfrm flipH="1">
            <a:off x="1495425" y="2343150"/>
            <a:ext cx="2266950" cy="0"/>
          </a:xfrm>
          <a:prstGeom prst="straightConnector1">
            <a:avLst/>
          </a:prstGeom>
          <a:ln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矩形 27"/>
          <p:cNvSpPr>
            <a:spLocks noGrp="1"/>
          </p:cNvSpPr>
          <p:nvPr/>
        </p:nvSpPr>
        <p:spPr>
          <a:xfrm>
            <a:off x="1619250" y="2143125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codebase map + evidence index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476375" y="28098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048375" y="280987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88" name="直接箭头连接符 87"/>
          <p:cNvCxnSpPr>
            <a:stCxn id="29" idx="3"/>
            <a:endCxn id="30" idx="1"/>
          </p:cNvCxnSpPr>
          <p:nvPr/>
        </p:nvCxnSpPr>
        <p:spPr>
          <a:xfrm>
            <a:off x="1495425" y="2819400"/>
            <a:ext cx="4552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矩形 31"/>
          <p:cNvSpPr>
            <a:spLocks noGrp="1"/>
          </p:cNvSpPr>
          <p:nvPr/>
        </p:nvSpPr>
        <p:spPr>
          <a:xfrm>
            <a:off x="1619250" y="2619375"/>
            <a:ext cx="428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 Task Card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048375" y="32385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334375" y="323850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92" name="直接箭头连接符 91"/>
          <p:cNvCxnSpPr>
            <a:stCxn id="33" idx="3"/>
            <a:endCxn id="34" idx="1"/>
          </p:cNvCxnSpPr>
          <p:nvPr/>
        </p:nvCxnSpPr>
        <p:spPr>
          <a:xfrm>
            <a:off x="6067425" y="3248025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矩形 35"/>
          <p:cNvSpPr>
            <a:spLocks noGrp="1"/>
          </p:cNvSpPr>
          <p:nvPr/>
        </p:nvSpPr>
        <p:spPr>
          <a:xfrm>
            <a:off x="6191250" y="30480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 + verify commands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334375" y="36671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620375" y="3667125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96" name="直接箭头连接符 95"/>
          <p:cNvCxnSpPr>
            <a:stCxn id="37" idx="3"/>
            <a:endCxn id="38" idx="1"/>
          </p:cNvCxnSpPr>
          <p:nvPr/>
        </p:nvCxnSpPr>
        <p:spPr>
          <a:xfrm>
            <a:off x="8353425" y="3676650"/>
            <a:ext cx="2266950" cy="0"/>
          </a:xfrm>
          <a:prstGeom prst="straightConnector1">
            <a:avLst/>
          </a:prstGeom>
          <a:ln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矩形 39"/>
          <p:cNvSpPr>
            <a:spLocks noGrp="1"/>
          </p:cNvSpPr>
          <p:nvPr/>
        </p:nvSpPr>
        <p:spPr>
          <a:xfrm>
            <a:off x="8477250" y="3476625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 fontScale="95112"/>
          </a:bodyPr>
          <a:lstStyle/>
          <a:p>
            <a:pPr algn="ctr">
              <a:def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/ device / log / video evidence</a:t>
            </a:r>
            <a:endParaRPr sz="9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10620375" y="409575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476375" y="4095750"/>
            <a:ext cx="19050" cy="19050"/>
          </a:xfrm>
          <a:prstGeom prst="rect">
            <a:avLst/>
          </a:prstGeom>
          <a:noFill/>
          <a:ln w="0">
            <a:noFill/>
            <a:prstDash val="solid"/>
          </a:ln>
        </p:spPr>
      </p:sp>
      <p:cxnSp>
        <p:nvCxnSpPr>
          <p:cNvPr id="100" name="直接箭头连接符 99"/>
          <p:cNvCxnSpPr>
            <a:stCxn id="41" idx="1"/>
            <a:endCxn id="42" idx="3"/>
          </p:cNvCxnSpPr>
          <p:nvPr/>
        </p:nvCxnSpPr>
        <p:spPr>
          <a:xfrm flipH="1">
            <a:off x="1495425" y="4105275"/>
            <a:ext cx="9124950" cy="0"/>
          </a:xfrm>
          <a:prstGeom prst="straightConnector1">
            <a:avLst/>
          </a:prstGeom>
          <a:ln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矩形 43"/>
          <p:cNvSpPr>
            <a:spLocks noGrp="1"/>
          </p:cNvSpPr>
          <p:nvPr/>
        </p:nvSpPr>
        <p:spPr>
          <a:xfrm>
            <a:off x="1619250" y="3905250"/>
            <a:ext cx="885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 + Outcome verdict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666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42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Planner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冻结问题与 AC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2952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3028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Explorer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调用链 + GAP + 证据索引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圆角矩形 48"/>
          <p:cNvSpPr>
            <a:spLocks noGrp="1"/>
          </p:cNvSpPr>
          <p:nvPr/>
        </p:nvSpPr>
        <p:spPr>
          <a:xfrm>
            <a:off x="5238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314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Implementer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 + verify 命令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圆角矩形 50"/>
          <p:cNvSpPr>
            <a:spLocks noGrp="1"/>
          </p:cNvSpPr>
          <p:nvPr/>
        </p:nvSpPr>
        <p:spPr>
          <a:xfrm>
            <a:off x="7524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7600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Tool / MCP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build / device / log / video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圆角矩形 52"/>
          <p:cNvSpPr>
            <a:spLocks noGrp="1"/>
          </p:cNvSpPr>
          <p:nvPr/>
        </p:nvSpPr>
        <p:spPr>
          <a:xfrm>
            <a:off x="9810750" y="4810125"/>
            <a:ext cx="1905000" cy="876300"/>
          </a:xfrm>
          <a:prstGeom prst="roundRect">
            <a:avLst>
              <a:gd name="adj" fmla="val 13043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9886950" y="4867275"/>
            <a:ext cx="17526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Reviewer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Trace + Outcome verdict</a:t>
            </a:r>
            <a:endParaRPr sz="9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2333625" y="5953125"/>
            <a:ext cx="57150" cy="3238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2505075" y="5991225"/>
            <a:ext cx="7353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每次交接都必须是可复查产物，不是“我觉得已经做完了”。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矩形 4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开发遇到黑屏、色块或仍卡顿：先停，再找最早异常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1"/>
          <a:srcRect l="28333" r="28333"/>
          <a:stretch>
            <a:fillRect/>
          </a:stretch>
        </p:blipFill>
        <p:spPr>
          <a:xfrm>
            <a:off x="523875" y="1143000"/>
            <a:ext cx="4953000" cy="4762500"/>
          </a:xfrm>
          <a:prstGeom prst="roundRect">
            <a:avLst>
              <a:gd name="adj" fmla="val 2400"/>
            </a:avLst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23875" y="1143000"/>
            <a:ext cx="4953000" cy="4762500"/>
          </a:xfrm>
          <a:prstGeom prst="roundRect">
            <a:avLst>
              <a:gd name="adj" fmla="val 2400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5810250" y="1143000"/>
            <a:ext cx="5810250" cy="47625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62650" y="1257300"/>
            <a:ext cx="550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frame：逐层点亮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962650" y="154305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6191250" y="16192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191250" y="16192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19875" y="16002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received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191250" y="20478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191250" y="20478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19875" y="202882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candidate path / decoder selected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191250" y="24765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191250" y="24765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619875" y="245745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compressed input queued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191250" y="29051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91250" y="29051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2F8F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975" b="1">
              <a:solidFill>
                <a:srgbClr val="2F8F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619875" y="288607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decoded output valid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191250" y="33337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191250" y="33337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19875" y="33147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format / stride / planes valid</a:t>
            </a:r>
            <a:endParaRPr sz="1275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191250" y="37623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91250" y="376237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19875" y="374332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command state applied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191250" y="4191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191250" y="419100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619875" y="417195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render owner correct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6191250" y="46196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191250" y="46196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619875" y="4600575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EndFrame present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6191250" y="50482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F3F7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191250" y="50482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619875" y="50292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next frame continues</a:t>
            </a:r>
            <a:endParaRPr sz="127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191250" y="5476875"/>
            <a:ext cx="57150" cy="438150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362700" y="5514975"/>
            <a:ext cx="4781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第一处与预期不一致的位置，才是本轮修改边界。</a:t>
            </a:r>
            <a:endParaRPr sz="142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9" name="矩形 58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 的六个事实，才能推翻错误判断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36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66750" y="1190625"/>
            <a:ext cx="13030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1238250"/>
            <a:ext cx="11506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frameId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969770" y="1190625"/>
            <a:ext cx="130302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045970" y="1238250"/>
            <a:ext cx="11506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codec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72790" y="1190625"/>
            <a:ext cx="1737360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348990" y="1238250"/>
            <a:ext cx="15849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010150" y="1190625"/>
            <a:ext cx="162877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086350" y="1238250"/>
            <a:ext cx="1476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output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638925" y="1190625"/>
            <a:ext cx="14116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715125" y="1238250"/>
            <a:ext cx="12592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050530" y="1190625"/>
            <a:ext cx="141160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126730" y="1238250"/>
            <a:ext cx="125920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present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462135" y="1190625"/>
            <a:ext cx="206311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538335" y="1238250"/>
            <a:ext cx="19107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verdict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66750" y="1590675"/>
            <a:ext cx="130302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42950" y="1638300"/>
            <a:ext cx="115062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待绑定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969770" y="1590675"/>
            <a:ext cx="130302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045970" y="1638300"/>
            <a:ext cx="115062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272790" y="1590675"/>
            <a:ext cx="1737360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3348990" y="1638300"/>
            <a:ext cx="158496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010150" y="1590675"/>
            <a:ext cx="162877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086350" y="1638300"/>
            <a:ext cx="147637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待采集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38925" y="1590675"/>
            <a:ext cx="141160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6715125" y="1638300"/>
            <a:ext cx="125920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待确认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050530" y="1590675"/>
            <a:ext cx="141160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126730" y="1638300"/>
            <a:ext cx="125920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待验证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462135" y="1590675"/>
            <a:ext cx="2063115" cy="98107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538335" y="1638300"/>
            <a:ext cx="1910715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125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2000" y="2905125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一条可用证据行必须同时满足：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6667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429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runId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24955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5717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 frameId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43243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4005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decoder output 可关联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61531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62293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owner 唯一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79819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80581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matched EndFrame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9810750" y="3381375"/>
            <a:ext cx="1714500" cy="590550"/>
          </a:xfrm>
          <a:prstGeom prst="roundRect">
            <a:avLst>
              <a:gd name="adj" fmla="val 19355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9886950" y="3438525"/>
            <a:ext cx="15621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present verdict</a:t>
            </a:r>
            <a:endParaRPr sz="10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5" name="直接箭头连接符 104"/>
          <p:cNvCxnSpPr>
            <a:stCxn id="35" idx="3"/>
            <a:endCxn id="37" idx="1"/>
          </p:cNvCxnSpPr>
          <p:nvPr/>
        </p:nvCxnSpPr>
        <p:spPr>
          <a:xfrm>
            <a:off x="23812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6" name="直接箭头连接符 105"/>
          <p:cNvCxnSpPr>
            <a:stCxn id="37" idx="3"/>
            <a:endCxn id="39" idx="1"/>
          </p:cNvCxnSpPr>
          <p:nvPr/>
        </p:nvCxnSpPr>
        <p:spPr>
          <a:xfrm>
            <a:off x="42100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7" name="直接箭头连接符 106"/>
          <p:cNvCxnSpPr>
            <a:stCxn id="39" idx="3"/>
            <a:endCxn id="41" idx="1"/>
          </p:cNvCxnSpPr>
          <p:nvPr/>
        </p:nvCxnSpPr>
        <p:spPr>
          <a:xfrm>
            <a:off x="60388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8" name="直接箭头连接符 107"/>
          <p:cNvCxnSpPr>
            <a:stCxn id="41" idx="3"/>
            <a:endCxn id="43" idx="1"/>
          </p:cNvCxnSpPr>
          <p:nvPr/>
        </p:nvCxnSpPr>
        <p:spPr>
          <a:xfrm>
            <a:off x="78676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9" name="直接箭头连接符 108"/>
          <p:cNvCxnSpPr>
            <a:stCxn id="43" idx="3"/>
            <a:endCxn id="45" idx="1"/>
          </p:cNvCxnSpPr>
          <p:nvPr/>
        </p:nvCxnSpPr>
        <p:spPr>
          <a:xfrm>
            <a:off x="9696450" y="3676650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矩形 51"/>
          <p:cNvSpPr>
            <a:spLocks noGrp="1"/>
          </p:cNvSpPr>
          <p:nvPr/>
        </p:nvSpPr>
        <p:spPr>
          <a:xfrm>
            <a:off x="1476375" y="4333875"/>
            <a:ext cx="57150" cy="5238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1647825" y="4371975"/>
            <a:ext cx="9067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缺任意一项，结论只能是 PENDING / UNKNOWN；不能用别的 run 的截图补洞。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圆角矩形 53"/>
          <p:cNvSpPr>
            <a:spLocks noGrp="1"/>
          </p:cNvSpPr>
          <p:nvPr/>
        </p:nvSpPr>
        <p:spPr>
          <a:xfrm>
            <a:off x="1905000" y="5143500"/>
            <a:ext cx="8382000" cy="904875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2057400" y="5257800"/>
            <a:ext cx="807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677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两个常见误判</a:t>
            </a:r>
            <a:endParaRPr sz="1200" b="1">
              <a:solidFill>
                <a:srgbClr val="1677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2057400" y="5543550"/>
            <a:ext cx="609600" cy="28575"/>
          </a:xfrm>
          <a:prstGeom prst="rect">
            <a:avLst/>
          </a:prstGeom>
          <a:solidFill>
            <a:srgbClr val="1677C8"/>
          </a:solidFill>
          <a:ln w="0">
            <a:noFill/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143125" y="5619750"/>
            <a:ext cx="790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“API 调用成功”只证明一个边界。   “截图看起来正确”只证明一个采样瞬间。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" name="矩形 50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穿刺证明可行，工程化决定能否交付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37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1123950"/>
            <a:ext cx="57150" cy="4762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266825" y="1162050"/>
            <a:ext cx="9829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单帧穿刺解决“能不能走通”；生命周期、队列、所有权、回退、观测和回归决定“能不能交付”。</a:t>
            </a:r>
            <a:endParaRPr sz="15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23875" y="1809750"/>
            <a:ext cx="189452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00075" y="1857375"/>
            <a:ext cx="174212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工程能力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418398" y="1809750"/>
            <a:ext cx="5014913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494598" y="1857375"/>
            <a:ext cx="4862513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必须回答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33310" y="1809750"/>
            <a:ext cx="4234815" cy="400050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509510" y="1857375"/>
            <a:ext cx="408241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失败表现</a:t>
            </a:r>
            <a:endParaRPr sz="11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3875" y="220980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00075" y="225742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生命周期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18398" y="220980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494598" y="225742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create/start/flush/stop/destroy 与 Surface generation 如何对齐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33310" y="220980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509510" y="225742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 黑屏、旧 target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23875" y="284162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00075" y="288925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队列/背压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418398" y="284162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494598" y="288925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输入、输出、present 队列是否有界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33310" y="284162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509510" y="288925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延迟增长、内存上涨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23875" y="347345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00075" y="352107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所有权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2418398" y="347345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2494598" y="352107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GDI、AVC420、AVC444 谁能写 XComponent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433310" y="347345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509510" y="352107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闪烁、旧帧覆盖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23875" y="410527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00075" y="415290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回退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2418398" y="410527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2494598" y="415290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硬解失败能否回软件/原生路径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433310" y="410527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509510" y="415290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静默黑屏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23875" y="4737100"/>
            <a:ext cx="189452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600075" y="4784725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可观测性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418398" y="4737100"/>
            <a:ext cx="5014913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494598" y="4784725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能否证明 decoder、frame、owner、present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433310" y="4737100"/>
            <a:ext cx="4234815" cy="6318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509510" y="4784725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只能靠肉眼猜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523875" y="5368925"/>
            <a:ext cx="189452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00075" y="5416550"/>
            <a:ext cx="174212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回归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2418398" y="5368925"/>
            <a:ext cx="5014913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2494598" y="5416550"/>
            <a:ext cx="4862513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输入、resize、后台、重连是否仍工作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433310" y="5368925"/>
            <a:ext cx="4234815" cy="631825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7509510" y="5416550"/>
            <a:ext cx="4082415" cy="536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 GREEN</a:t>
            </a:r>
            <a:endParaRPr sz="10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8" name="矩形 77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当前证据能证明什么，下一步还要补什么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43000"/>
            <a:ext cx="2524125" cy="1571625"/>
          </a:xfrm>
          <a:prstGeom prst="roundRect">
            <a:avLst>
              <a:gd name="adj" fmla="val 8485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1257300"/>
            <a:ext cx="2219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before 视频</a:t>
            </a:r>
            <a:endParaRPr sz="12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76275" y="1543050"/>
            <a:ext cx="609600" cy="28575"/>
          </a:xfrm>
          <a:prstGeom prst="rect">
            <a:avLst/>
          </a:prstGeom>
          <a:solidFill>
            <a:srgbClr val="C84B4B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09625" y="1714500"/>
            <a:ext cx="19526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ctr">
              <a:def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6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当前为空</a:t>
            </a:r>
            <a:endParaRPr sz="165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523875" y="3000375"/>
            <a:ext cx="409575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76275" y="3114675"/>
            <a:ext cx="3790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715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硬解路径待填证据链</a:t>
            </a:r>
            <a:endParaRPr sz="1200" b="1">
              <a:solidFill>
                <a:srgbClr val="715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76275" y="3400425"/>
            <a:ext cx="609600" cy="28575"/>
          </a:xfrm>
          <a:prstGeom prst="rect">
            <a:avLst/>
          </a:prstGeom>
          <a:solidFill>
            <a:srgbClr val="7157B8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76275" y="3476625"/>
            <a:ext cx="37909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commit: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runId: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candidate path: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decoder identity: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frameId / output: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owner / matched EndFrame: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125" b="0">
                <a:solidFill>
                  <a:srgbClr val="29324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present:</a:t>
            </a:r>
            <a:endParaRPr sz="1125" b="0">
              <a:solidFill>
                <a:srgbClr val="293247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pic>
        <p:nvPicPr>
          <p:cNvPr id="91" name="图片 90"/>
          <p:cNvPicPr>
            <a:picLocks noChangeAspect="1"/>
          </p:cNvPicPr>
          <p:nvPr/>
        </p:nvPicPr>
        <p:blipFill>
          <a:blip r:embed="rId1"/>
          <a:srcRect l="32143" r="32143"/>
          <a:stretch>
            <a:fillRect/>
          </a:stretch>
        </p:blipFill>
        <p:spPr>
          <a:xfrm>
            <a:off x="4905375" y="1143000"/>
            <a:ext cx="3429000" cy="2000250"/>
          </a:xfrm>
          <a:prstGeom prst="roundRect">
            <a:avLst>
              <a:gd name="adj" fmla="val 5714"/>
            </a:avLst>
          </a:prstGeom>
        </p:spPr>
      </p:pic>
      <p:sp>
        <p:nvSpPr>
          <p:cNvPr id="15" name="圆角矩形 14"/>
          <p:cNvSpPr>
            <a:spLocks noGrp="1"/>
          </p:cNvSpPr>
          <p:nvPr/>
        </p:nvSpPr>
        <p:spPr>
          <a:xfrm>
            <a:off x="4905375" y="1143000"/>
            <a:ext cx="3429000" cy="2000250"/>
          </a:xfrm>
          <a:prstGeom prst="roundRect">
            <a:avLst>
              <a:gd name="adj" fmla="val 5714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05375" y="3381375"/>
            <a:ext cx="2618899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981575" y="3429000"/>
            <a:ext cx="2466499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524274" y="3381375"/>
            <a:ext cx="2484596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600474" y="3429000"/>
            <a:ext cx="2332196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当前证据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008870" y="3381375"/>
            <a:ext cx="1611630" cy="328613"/>
          </a:xfrm>
          <a:prstGeom prst="rect">
            <a:avLst/>
          </a:prstGeom>
          <a:solidFill>
            <a:srgbClr val="1677C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0085070" y="3429000"/>
            <a:ext cx="1459230" cy="2333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判定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905375" y="3709988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981575" y="375761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源码存在 bridge→compositor→EndFrame 路径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524274" y="3709988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00474" y="375761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源码锚点与调用链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0008870" y="3709988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0085070" y="375761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905375" y="3989614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981575" y="4037239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 arm64/HAP 构建通过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524274" y="3989614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600474" y="4037239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待产出 build 日志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0008870" y="3989614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085070" y="4037239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905375" y="4269241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981575" y="4316866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真机实际选择 OHOS hardware decoder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524274" y="4269241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600474" y="4316866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待采集 decoder identity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0008870" y="4269241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085070" y="4316866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905375" y="4548868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4981575" y="459649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某次运行可见播放与部分交互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524274" y="4548868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600474" y="459649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gpu-validation-video-playback-16s.mp4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10008870" y="4548868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0085070" y="459649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 / UNBOUND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4905375" y="4828495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4981575" y="4876120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某次运行出现黑屏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524274" y="4828495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7600474" y="4876120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gpu-failure-black-screen-13s.mp4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10008870" y="4828495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10085070" y="4876120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 / UNBOUND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905375" y="5108121"/>
            <a:ext cx="2618899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4981575" y="5155746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CPU/FPS 与卡顿改善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7524274" y="5108121"/>
            <a:ext cx="2484596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7600474" y="5155746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待绑定同一 runId 的 CPU/FPS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10008870" y="5108121"/>
            <a:ext cx="1611630" cy="279627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10085070" y="5155746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4905375" y="5387748"/>
            <a:ext cx="2618899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4981575" y="5435373"/>
            <a:ext cx="2466499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resize/后台/重连长稳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7524274" y="5387748"/>
            <a:ext cx="2484596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7600474" y="5435373"/>
            <a:ext cx="2332196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待执行 resize / 后台回归矩阵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10008870" y="5387748"/>
            <a:ext cx="1611630" cy="279627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10085070" y="5435373"/>
            <a:ext cx="1459230" cy="184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75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圆角矩形 63"/>
          <p:cNvSpPr>
            <a:spLocks noGrp="1"/>
          </p:cNvSpPr>
          <p:nvPr/>
        </p:nvSpPr>
        <p:spPr>
          <a:xfrm>
            <a:off x="8572500" y="1143000"/>
            <a:ext cx="30480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8810625" y="1666875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VIDEO SLOT · AFTER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gpu-hwdecode-after.mp4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C84B4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1500" b="1">
              <a:solidFill>
                <a:srgbClr val="C84B4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圆角矩形 65"/>
          <p:cNvSpPr>
            <a:spLocks noGrp="1"/>
          </p:cNvSpPr>
          <p:nvPr/>
        </p:nvSpPr>
        <p:spPr>
          <a:xfrm>
            <a:off x="1143000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1219200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REPO FACT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源码可证明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8" name="圆角矩形 67"/>
          <p:cNvSpPr>
            <a:spLocks noGrp="1"/>
          </p:cNvSpPr>
          <p:nvPr/>
        </p:nvSpPr>
        <p:spPr>
          <a:xfrm>
            <a:off x="3648075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3724275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MEDIA FACT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画面可见但未绑定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0" name="圆角矩形 69"/>
          <p:cNvSpPr>
            <a:spLocks noGrp="1"/>
          </p:cNvSpPr>
          <p:nvPr/>
        </p:nvSpPr>
        <p:spPr>
          <a:xfrm>
            <a:off x="6153150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6229350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PENDING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证据待采集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2" name="圆角矩形 71"/>
          <p:cNvSpPr>
            <a:spLocks noGrp="1"/>
          </p:cNvSpPr>
          <p:nvPr/>
        </p:nvSpPr>
        <p:spPr>
          <a:xfrm>
            <a:off x="8658225" y="5857875"/>
            <a:ext cx="2390775" cy="457200"/>
          </a:xfrm>
          <a:prstGeom prst="roundRect">
            <a:avLst>
              <a:gd name="adj" fmla="val 25000"/>
            </a:avLst>
          </a:prstGeom>
          <a:solidFill>
            <a:srgbClr val="FFF0EC"/>
          </a:solidFill>
          <a:ln w="9525">
            <a:solidFill>
              <a:srgbClr val="E26852"/>
            </a:solidFill>
            <a:prstDash val="solid"/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734425" y="5915025"/>
            <a:ext cx="22383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UNKNOWN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暂时不能下结论</a:t>
            </a:r>
            <a:endParaRPr sz="9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51" name="直接箭头连接符 150"/>
          <p:cNvCxnSpPr>
            <a:stCxn id="66" idx="3"/>
            <a:endCxn id="68" idx="1"/>
          </p:cNvCxnSpPr>
          <p:nvPr/>
        </p:nvCxnSpPr>
        <p:spPr>
          <a:xfrm>
            <a:off x="3533775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直接箭头连接符 151"/>
          <p:cNvCxnSpPr>
            <a:stCxn id="68" idx="3"/>
            <a:endCxn id="70" idx="1"/>
          </p:cNvCxnSpPr>
          <p:nvPr/>
        </p:nvCxnSpPr>
        <p:spPr>
          <a:xfrm>
            <a:off x="6038850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直接箭头连接符 152"/>
          <p:cNvCxnSpPr>
            <a:stCxn id="70" idx="3"/>
            <a:endCxn id="72" idx="1"/>
          </p:cNvCxnSpPr>
          <p:nvPr/>
        </p:nvCxnSpPr>
        <p:spPr>
          <a:xfrm>
            <a:off x="8543925" y="6086475"/>
            <a:ext cx="11430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矩形 76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514350" y="19050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FreeRDP 实战</a:t>
            </a:r>
            <a:endParaRPr sz="9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14350" y="428625"/>
            <a:ext cx="10334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把方法带回项目，只保留七个问题</a:t>
            </a:r>
            <a:endParaRPr sz="210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049000" y="171450"/>
            <a:ext cx="628650" cy="3238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11125200" y="257175"/>
            <a:ext cx="514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r">
              <a:def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1">
                <a:solidFill>
                  <a:srgbClr val="5F6B7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39</a:t>
            </a:r>
            <a:endParaRPr sz="975" b="1">
              <a:solidFill>
                <a:srgbClr val="5F6B7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14350" y="933450"/>
            <a:ext cx="11163300" cy="9525"/>
          </a:xfrm>
          <a:prstGeom prst="rect">
            <a:avLst/>
          </a:prstGeom>
          <a:solidFill>
            <a:srgbClr val="D8E0E8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AF5FF"/>
          </a:solidFill>
          <a:ln w="9525">
            <a:solidFill>
              <a:srgbClr val="1677C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事实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24034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AF8F5"/>
          </a:solidFill>
          <a:ln w="9525">
            <a:solidFill>
              <a:srgbClr val="168C82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4796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规格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2830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2EEFF"/>
          </a:solidFill>
          <a:ln w="9525">
            <a:solidFill>
              <a:srgbClr val="7157B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3592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1626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CEEEE"/>
          </a:solidFill>
          <a:ln w="9525">
            <a:solidFill>
              <a:srgbClr val="C84B4B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2388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RED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80422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FFF7E3"/>
          </a:solidFill>
          <a:ln w="9525">
            <a:solidFill>
              <a:srgbClr val="D8951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1184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最小 Diff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9921875" y="1123950"/>
            <a:ext cx="1746250" cy="552450"/>
          </a:xfrm>
          <a:prstGeom prst="roundRect">
            <a:avLst>
              <a:gd name="adj" fmla="val 20690"/>
            </a:avLst>
          </a:prstGeom>
          <a:solidFill>
            <a:srgbClr val="EBF8F1"/>
          </a:solidFill>
          <a:ln w="9525">
            <a:solidFill>
              <a:srgbClr val="2F8F5B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998075" y="1181100"/>
            <a:ext cx="15938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ctr">
              <a:def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系统证据</a:t>
            </a:r>
            <a:endParaRPr sz="1275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49" name="直接箭头连接符 48"/>
          <p:cNvCxnSpPr>
            <a:stCxn id="6" idx="3"/>
            <a:endCxn id="8" idx="1"/>
          </p:cNvCxnSpPr>
          <p:nvPr/>
        </p:nvCxnSpPr>
        <p:spPr>
          <a:xfrm>
            <a:off x="22701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" name="直接箭头连接符 49"/>
          <p:cNvCxnSpPr>
            <a:stCxn id="8" idx="3"/>
            <a:endCxn id="10" idx="1"/>
          </p:cNvCxnSpPr>
          <p:nvPr/>
        </p:nvCxnSpPr>
        <p:spPr>
          <a:xfrm>
            <a:off x="41497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1" name="直接箭头连接符 50"/>
          <p:cNvCxnSpPr>
            <a:stCxn id="10" idx="3"/>
            <a:endCxn id="12" idx="1"/>
          </p:cNvCxnSpPr>
          <p:nvPr/>
        </p:nvCxnSpPr>
        <p:spPr>
          <a:xfrm>
            <a:off x="60293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2" name="直接箭头连接符 51"/>
          <p:cNvCxnSpPr>
            <a:stCxn id="12" idx="3"/>
            <a:endCxn id="14" idx="1"/>
          </p:cNvCxnSpPr>
          <p:nvPr/>
        </p:nvCxnSpPr>
        <p:spPr>
          <a:xfrm>
            <a:off x="79089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" name="直接箭头连接符 52"/>
          <p:cNvCxnSpPr>
            <a:stCxn id="14" idx="3"/>
            <a:endCxn id="16" idx="1"/>
          </p:cNvCxnSpPr>
          <p:nvPr/>
        </p:nvCxnSpPr>
        <p:spPr>
          <a:xfrm>
            <a:off x="9788525" y="1400175"/>
            <a:ext cx="133350" cy="0"/>
          </a:xfrm>
          <a:prstGeom prst="straightConnector1">
            <a:avLst/>
          </a:prstGeom>
          <a:ln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54" name="图片 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778" y="2047875"/>
            <a:ext cx="4823194" cy="2714625"/>
          </a:xfrm>
          <a:prstGeom prst="roundRect">
            <a:avLst>
              <a:gd name="adj" fmla="val 4211"/>
            </a:avLst>
          </a:prstGeom>
        </p:spPr>
      </p:pic>
      <p:sp>
        <p:nvSpPr>
          <p:cNvPr id="24" name="圆角矩形 23"/>
          <p:cNvSpPr>
            <a:spLocks noGrp="1"/>
          </p:cNvSpPr>
          <p:nvPr/>
        </p:nvSpPr>
        <p:spPr>
          <a:xfrm>
            <a:off x="523875" y="2047875"/>
            <a:ext cx="4953000" cy="2714625"/>
          </a:xfrm>
          <a:prstGeom prst="roundRect">
            <a:avLst>
              <a:gd name="adj" fmla="val 4211"/>
            </a:avLst>
          </a:prstGeom>
          <a:noFill/>
          <a:ln w="9525">
            <a:solidFill>
              <a:srgbClr val="D8E0E8"/>
            </a:solidFill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5810250" y="2000250"/>
            <a:ext cx="5810250" cy="323850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962650" y="2114550"/>
            <a:ext cx="5505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E2685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下一次只问七个问题</a:t>
            </a:r>
            <a:endParaRPr sz="1200" b="1">
              <a:solidFill>
                <a:srgbClr val="E2685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962650" y="2400300"/>
            <a:ext cx="609600" cy="28575"/>
          </a:xfrm>
          <a:prstGeom prst="rect">
            <a:avLst/>
          </a:prstGeom>
          <a:solidFill>
            <a:srgbClr val="E26852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96000" y="2524125"/>
            <a:ext cx="5238750" cy="2428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哪些词会让实现分叉？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最终真相在哪一层？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哪些不变量绝不能破坏？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本轮只允许 AI 改哪个边界？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怎样先制造一个可解释的 RED？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最早异常证据在哪里？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def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 什么证据满足后，本轮必须停止？</a:t>
            </a:r>
            <a:endParaRPr sz="1200" b="0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143000" y="5572125"/>
            <a:ext cx="57150" cy="552450"/>
          </a:xfrm>
          <a:prstGeom prst="rect">
            <a:avLst/>
          </a:prstGeom>
          <a:solidFill>
            <a:srgbClr val="168C82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314450" y="5610225"/>
            <a:ext cx="973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ctr">
            <a:normAutofit/>
          </a:bodyPr>
          <a:lstStyle/>
          <a:p>
            <a:pPr algn="l">
              <a:def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720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一分钟迁移题：权限页面第一次进入为空，第二次正常。给出只读勘察、可证伪假设、禁止范围和最终事实源。</a:t>
            </a:r>
            <a:endParaRPr sz="1350" b="1">
              <a:solidFill>
                <a:srgbClr val="1720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14350" y="6572250"/>
            <a:ext cx="742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9525" rIns="19050" bIns="9525" anchor="t">
            <a:normAutofit/>
          </a:bodyPr>
          <a:lstStyle/>
          <a:p>
            <a:pPr algn="l">
              <a:def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8993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HarmonyOS · Spec-Driven Development · Ralph Workshop</a:t>
            </a:r>
            <a:endParaRPr sz="750" b="0">
              <a:solidFill>
                <a:srgbClr val="8993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18251</Words>
  <Application>WPS 演示</Application>
  <PresentationFormat>Converted Presentation</PresentationFormat>
  <Paragraphs>1863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5" baseType="lpstr">
      <vt:lpstr>Arial</vt:lpstr>
      <vt:lpstr>宋体</vt:lpstr>
      <vt:lpstr>Wingdings</vt:lpstr>
      <vt:lpstr>微软雅黑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(๑`灬´๑)</cp:lastModifiedBy>
  <cp:revision>1</cp:revision>
  <dcterms:created xsi:type="dcterms:W3CDTF">2026-09-01T12:51:20Z</dcterms:created>
  <dcterms:modified xsi:type="dcterms:W3CDTF">2026-09-01T12:51:20Z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053403558D5E45D59C0179A262DEE7AF_12</vt:lpwstr>
  </property>
  <property fmtid="{D5CDD505-2E9C-101B-9397-08002B2CF9AE}" pid="3" name="KSOProductBuildVer">
    <vt:lpwstr>2052-12.1.0.28043</vt:lpwstr>
  </property>
</Properties>
</file>