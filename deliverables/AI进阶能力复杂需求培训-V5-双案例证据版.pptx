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2f0eef166c4e5a" /><Relationship Type="http://schemas.openxmlformats.org/officeDocument/2006/relationships/extended-properties" Target="/docProps/app.xml" Id="Rc922924642ab4212" /><Relationship Type="http://schemas.openxmlformats.org/officeDocument/2006/relationships/officeDocument" Target="/ppt/presentation.xml" Id="Rf071768f63064c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eca669b05d4281"/>
  </p:sldMasterIdLst>
  <p:notesMasterIdLst>
    <p:notesMasterId xmlns:r="http://schemas.openxmlformats.org/officeDocument/2006/relationships" r:id="R61e16c5a41e74b7b"/>
  </p:notesMasterIdLst>
  <p:sldIdLst>
    <p:sldId xmlns:r="http://schemas.openxmlformats.org/officeDocument/2006/relationships" id="256" r:id="Rb78e690b30af48ea"/>
    <p:sldId xmlns:r="http://schemas.openxmlformats.org/officeDocument/2006/relationships" id="257" r:id="Radb1a7fce6fa4f8e"/>
    <p:sldId xmlns:r="http://schemas.openxmlformats.org/officeDocument/2006/relationships" id="258" r:id="R0e5e6cd804664b42"/>
    <p:sldId xmlns:r="http://schemas.openxmlformats.org/officeDocument/2006/relationships" id="259" r:id="Rfb68ba32c4904212"/>
    <p:sldId xmlns:r="http://schemas.openxmlformats.org/officeDocument/2006/relationships" id="260" r:id="R3b4fb6d0f2d746ab"/>
    <p:sldId xmlns:r="http://schemas.openxmlformats.org/officeDocument/2006/relationships" id="261" r:id="R55703d00d1544bb3"/>
    <p:sldId xmlns:r="http://schemas.openxmlformats.org/officeDocument/2006/relationships" id="262" r:id="Rfe5a45d3ba774a1c"/>
    <p:sldId xmlns:r="http://schemas.openxmlformats.org/officeDocument/2006/relationships" id="263" r:id="R402c4ab41b6947ee"/>
    <p:sldId xmlns:r="http://schemas.openxmlformats.org/officeDocument/2006/relationships" id="264" r:id="Rc7c62f8ebd5646ec"/>
    <p:sldId xmlns:r="http://schemas.openxmlformats.org/officeDocument/2006/relationships" id="265" r:id="Re968cc2296634e9f"/>
    <p:sldId xmlns:r="http://schemas.openxmlformats.org/officeDocument/2006/relationships" id="266" r:id="R893973ed8f614657"/>
    <p:sldId xmlns:r="http://schemas.openxmlformats.org/officeDocument/2006/relationships" id="267" r:id="R82be25f362ac4592"/>
    <p:sldId xmlns:r="http://schemas.openxmlformats.org/officeDocument/2006/relationships" id="268" r:id="Re0f40840c30d4f30"/>
    <p:sldId xmlns:r="http://schemas.openxmlformats.org/officeDocument/2006/relationships" id="269" r:id="Red95df889bef44fe"/>
    <p:sldId xmlns:r="http://schemas.openxmlformats.org/officeDocument/2006/relationships" id="270" r:id="Re1cc2bc31bac459e"/>
    <p:sldId xmlns:r="http://schemas.openxmlformats.org/officeDocument/2006/relationships" id="271" r:id="Rb588d8b9464f4336"/>
    <p:sldId xmlns:r="http://schemas.openxmlformats.org/officeDocument/2006/relationships" id="272" r:id="R1d88b7e3cc0e49b8"/>
    <p:sldId xmlns:r="http://schemas.openxmlformats.org/officeDocument/2006/relationships" id="273" r:id="R611ca6c716884004"/>
    <p:sldId xmlns:r="http://schemas.openxmlformats.org/officeDocument/2006/relationships" id="274" r:id="R2e38da48e7b54e56"/>
    <p:sldId xmlns:r="http://schemas.openxmlformats.org/officeDocument/2006/relationships" id="275" r:id="Re2d8ada81e79401d"/>
    <p:sldId xmlns:r="http://schemas.openxmlformats.org/officeDocument/2006/relationships" id="276" r:id="R69b20a3f8da24a04"/>
    <p:sldId xmlns:r="http://schemas.openxmlformats.org/officeDocument/2006/relationships" id="277" r:id="R0e4d74076cb64569"/>
    <p:sldId xmlns:r="http://schemas.openxmlformats.org/officeDocument/2006/relationships" id="278" r:id="Rb05f50b3cf8f4ff2"/>
    <p:sldId xmlns:r="http://schemas.openxmlformats.org/officeDocument/2006/relationships" id="279" r:id="Rc91c00947410448a"/>
    <p:sldId xmlns:r="http://schemas.openxmlformats.org/officeDocument/2006/relationships" id="280" r:id="R202509bd9a374c52"/>
    <p:sldId xmlns:r="http://schemas.openxmlformats.org/officeDocument/2006/relationships" id="281" r:id="Rece1767534ee4a4e"/>
    <p:sldId xmlns:r="http://schemas.openxmlformats.org/officeDocument/2006/relationships" id="282" r:id="Re7248e3991d64e70"/>
    <p:sldId xmlns:r="http://schemas.openxmlformats.org/officeDocument/2006/relationships" id="283" r:id="R7fa2c32a23564ab4"/>
    <p:sldId xmlns:r="http://schemas.openxmlformats.org/officeDocument/2006/relationships" id="284" r:id="R587d7eeb060f47fb"/>
    <p:sldId xmlns:r="http://schemas.openxmlformats.org/officeDocument/2006/relationships" id="285" r:id="R8d8c945fd3c64cef"/>
    <p:sldId xmlns:r="http://schemas.openxmlformats.org/officeDocument/2006/relationships" id="286" r:id="Rce960d629b364adf"/>
    <p:sldId xmlns:r="http://schemas.openxmlformats.org/officeDocument/2006/relationships" id="287" r:id="Rd48d78ecc3d641fe"/>
    <p:sldId xmlns:r="http://schemas.openxmlformats.org/officeDocument/2006/relationships" id="288" r:id="Rb56751739355400c"/>
    <p:sldId xmlns:r="http://schemas.openxmlformats.org/officeDocument/2006/relationships" id="289" r:id="R969c16b7aed5481e"/>
    <p:sldId xmlns:r="http://schemas.openxmlformats.org/officeDocument/2006/relationships" id="290" r:id="R055a78ded92d40ec"/>
    <p:sldId xmlns:r="http://schemas.openxmlformats.org/officeDocument/2006/relationships" id="291" r:id="Rc8bb9387be3244ac"/>
    <p:sldId xmlns:r="http://schemas.openxmlformats.org/officeDocument/2006/relationships" id="292" r:id="R8cd1099fe2bc4b70"/>
    <p:sldId xmlns:r="http://schemas.openxmlformats.org/officeDocument/2006/relationships" id="293" r:id="R33f0282f9c8b40ac"/>
    <p:sldId xmlns:r="http://schemas.openxmlformats.org/officeDocument/2006/relationships" id="294" r:id="R0bac3f8f52174f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4c311cf832480b" /><Relationship Type="http://schemas.openxmlformats.org/officeDocument/2006/relationships/slideMaster" Target="/ppt/slideMasters/slideMaster1.xml" Id="R01eca669b05d4281" /><Relationship Type="http://schemas.openxmlformats.org/officeDocument/2006/relationships/notesMaster" Target="/ppt/notesMasters/notesMaster1.xml" Id="R61e16c5a41e74b7b" /><Relationship Type="http://schemas.openxmlformats.org/officeDocument/2006/relationships/presProps" Target="/ppt/presProps.xml" Id="Rf9e761cea14c44e5" /><Relationship Type="http://schemas.openxmlformats.org/officeDocument/2006/relationships/tableStyles" Target="/ppt/tableStyles.xml" Id="Rf43f8db225034c47" /><Relationship Type="http://schemas.openxmlformats.org/officeDocument/2006/relationships/slide" Target="/ppt/slides/slide1.xml" Id="Rb78e690b30af48ea" /><Relationship Type="http://schemas.openxmlformats.org/officeDocument/2006/relationships/slide" Target="/ppt/slides/slide2.xml" Id="Radb1a7fce6fa4f8e" /><Relationship Type="http://schemas.openxmlformats.org/officeDocument/2006/relationships/slide" Target="/ppt/slides/slide3.xml" Id="R0e5e6cd804664b42" /><Relationship Type="http://schemas.openxmlformats.org/officeDocument/2006/relationships/slide" Target="/ppt/slides/slide4.xml" Id="Rfb68ba32c4904212" /><Relationship Type="http://schemas.openxmlformats.org/officeDocument/2006/relationships/slide" Target="/ppt/slides/slide5.xml" Id="R3b4fb6d0f2d746ab" /><Relationship Type="http://schemas.openxmlformats.org/officeDocument/2006/relationships/slide" Target="/ppt/slides/slide6.xml" Id="R55703d00d1544bb3" /><Relationship Type="http://schemas.openxmlformats.org/officeDocument/2006/relationships/slide" Target="/ppt/slides/slide7.xml" Id="Rfe5a45d3ba774a1c" /><Relationship Type="http://schemas.openxmlformats.org/officeDocument/2006/relationships/slide" Target="/ppt/slides/slide8.xml" Id="R402c4ab41b6947ee" /><Relationship Type="http://schemas.openxmlformats.org/officeDocument/2006/relationships/slide" Target="/ppt/slides/slide9.xml" Id="Rc7c62f8ebd5646ec" /><Relationship Type="http://schemas.openxmlformats.org/officeDocument/2006/relationships/slide" Target="/ppt/slides/slide10.xml" Id="Re968cc2296634e9f" /><Relationship Type="http://schemas.openxmlformats.org/officeDocument/2006/relationships/slide" Target="/ppt/slides/slide11.xml" Id="R893973ed8f614657" /><Relationship Type="http://schemas.openxmlformats.org/officeDocument/2006/relationships/slide" Target="/ppt/slides/slide12.xml" Id="R82be25f362ac4592" /><Relationship Type="http://schemas.openxmlformats.org/officeDocument/2006/relationships/slide" Target="/ppt/slides/slide13.xml" Id="Re0f40840c30d4f30" /><Relationship Type="http://schemas.openxmlformats.org/officeDocument/2006/relationships/slide" Target="/ppt/slides/slide14.xml" Id="Red95df889bef44fe" /><Relationship Type="http://schemas.openxmlformats.org/officeDocument/2006/relationships/slide" Target="/ppt/slides/slide15.xml" Id="Re1cc2bc31bac459e" /><Relationship Type="http://schemas.openxmlformats.org/officeDocument/2006/relationships/slide" Target="/ppt/slides/slide16.xml" Id="Rb588d8b9464f4336" /><Relationship Type="http://schemas.openxmlformats.org/officeDocument/2006/relationships/slide" Target="/ppt/slides/slide17.xml" Id="R1d88b7e3cc0e49b8" /><Relationship Type="http://schemas.openxmlformats.org/officeDocument/2006/relationships/slide" Target="/ppt/slides/slide18.xml" Id="R611ca6c716884004" /><Relationship Type="http://schemas.openxmlformats.org/officeDocument/2006/relationships/slide" Target="/ppt/slides/slide19.xml" Id="R2e38da48e7b54e56" /><Relationship Type="http://schemas.openxmlformats.org/officeDocument/2006/relationships/slide" Target="/ppt/slides/slide20.xml" Id="Re2d8ada81e79401d" /><Relationship Type="http://schemas.openxmlformats.org/officeDocument/2006/relationships/slide" Target="/ppt/slides/slide21.xml" Id="R69b20a3f8da24a04" /><Relationship Type="http://schemas.openxmlformats.org/officeDocument/2006/relationships/slide" Target="/ppt/slides/slide22.xml" Id="R0e4d74076cb64569" /><Relationship Type="http://schemas.openxmlformats.org/officeDocument/2006/relationships/slide" Target="/ppt/slides/slide23.xml" Id="Rb05f50b3cf8f4ff2" /><Relationship Type="http://schemas.openxmlformats.org/officeDocument/2006/relationships/slide" Target="/ppt/slides/slide24.xml" Id="Rc91c00947410448a" /><Relationship Type="http://schemas.openxmlformats.org/officeDocument/2006/relationships/slide" Target="/ppt/slides/slide25.xml" Id="R202509bd9a374c52" /><Relationship Type="http://schemas.openxmlformats.org/officeDocument/2006/relationships/slide" Target="/ppt/slides/slide26.xml" Id="Rece1767534ee4a4e" /><Relationship Type="http://schemas.openxmlformats.org/officeDocument/2006/relationships/slide" Target="/ppt/slides/slide27.xml" Id="Re7248e3991d64e70" /><Relationship Type="http://schemas.openxmlformats.org/officeDocument/2006/relationships/slide" Target="/ppt/slides/slide28.xml" Id="R7fa2c32a23564ab4" /><Relationship Type="http://schemas.openxmlformats.org/officeDocument/2006/relationships/slide" Target="/ppt/slides/slide29.xml" Id="R587d7eeb060f47fb" /><Relationship Type="http://schemas.openxmlformats.org/officeDocument/2006/relationships/slide" Target="/ppt/slides/slide30.xml" Id="R8d8c945fd3c64cef" /><Relationship Type="http://schemas.openxmlformats.org/officeDocument/2006/relationships/slide" Target="/ppt/slides/slide31.xml" Id="Rce960d629b364adf" /><Relationship Type="http://schemas.openxmlformats.org/officeDocument/2006/relationships/slide" Target="/ppt/slides/slide32.xml" Id="Rd48d78ecc3d641fe" /><Relationship Type="http://schemas.openxmlformats.org/officeDocument/2006/relationships/slide" Target="/ppt/slides/slide33.xml" Id="Rb56751739355400c" /><Relationship Type="http://schemas.openxmlformats.org/officeDocument/2006/relationships/slide" Target="/ppt/slides/slide34.xml" Id="R969c16b7aed5481e" /><Relationship Type="http://schemas.openxmlformats.org/officeDocument/2006/relationships/slide" Target="/ppt/slides/slide35.xml" Id="R055a78ded92d40ec" /><Relationship Type="http://schemas.openxmlformats.org/officeDocument/2006/relationships/slide" Target="/ppt/slides/slide36.xml" Id="Rc8bb9387be3244ac" /><Relationship Type="http://schemas.openxmlformats.org/officeDocument/2006/relationships/slide" Target="/ppt/slides/slide37.xml" Id="R8cd1099fe2bc4b70" /><Relationship Type="http://schemas.openxmlformats.org/officeDocument/2006/relationships/slide" Target="/ppt/slides/slide38.xml" Id="R33f0282f9c8b40ac" /><Relationship Type="http://schemas.openxmlformats.org/officeDocument/2006/relationships/slide" Target="/ppt/slides/slide39.xml" Id="R0bac3f8f52174f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4bbe9894ad42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1bd221c7bf418b" /><Relationship Type="http://schemas.openxmlformats.org/officeDocument/2006/relationships/notesMaster" Target="/ppt/notesMasters/notesMaster1.xml" Id="Rfbe5f53b45bd41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415d46ca6c4875" /><Relationship Type="http://schemas.openxmlformats.org/officeDocument/2006/relationships/notesMaster" Target="/ppt/notesMasters/notesMaster1.xml" Id="Rbfd7ed467e264d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f151ee9d584970" /><Relationship Type="http://schemas.openxmlformats.org/officeDocument/2006/relationships/notesMaster" Target="/ppt/notesMasters/notesMaster1.xml" Id="R87d32bf96abb41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2a1c0d564b4e29" /><Relationship Type="http://schemas.openxmlformats.org/officeDocument/2006/relationships/notesMaster" Target="/ppt/notesMasters/notesMaster1.xml" Id="R76fac508a8c04a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3c9af15e5748f6" /><Relationship Type="http://schemas.openxmlformats.org/officeDocument/2006/relationships/notesMaster" Target="/ppt/notesMasters/notesMaster1.xml" Id="Rb732af3cabe442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5df174ae8d414c" /><Relationship Type="http://schemas.openxmlformats.org/officeDocument/2006/relationships/notesMaster" Target="/ppt/notesMasters/notesMaster1.xml" Id="Rb53e9272df6849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b35934a73041c3" /><Relationship Type="http://schemas.openxmlformats.org/officeDocument/2006/relationships/notesMaster" Target="/ppt/notesMasters/notesMaster1.xml" Id="Ra17cbb26124d4b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2e737dba284f6c" /><Relationship Type="http://schemas.openxmlformats.org/officeDocument/2006/relationships/notesMaster" Target="/ppt/notesMasters/notesMaster1.xml" Id="R8bc02c5485f449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712eb94c544874" /><Relationship Type="http://schemas.openxmlformats.org/officeDocument/2006/relationships/notesMaster" Target="/ppt/notesMasters/notesMaster1.xml" Id="Rfce4097866e54e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54839578914214" /><Relationship Type="http://schemas.openxmlformats.org/officeDocument/2006/relationships/notesMaster" Target="/ppt/notesMasters/notesMaster1.xml" Id="R57fc6bc8e64040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8fae293672477d" /><Relationship Type="http://schemas.openxmlformats.org/officeDocument/2006/relationships/notesMaster" Target="/ppt/notesMasters/notesMaster1.xml" Id="R70723d9f0ccb4a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a9717e0b0948cc" /><Relationship Type="http://schemas.openxmlformats.org/officeDocument/2006/relationships/notesMaster" Target="/ppt/notesMasters/notesMaster1.xml" Id="R2c58dcbf74cd4b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0c7e154d0c420e" /><Relationship Type="http://schemas.openxmlformats.org/officeDocument/2006/relationships/notesMaster" Target="/ppt/notesMasters/notesMaster1.xml" Id="R9b5ea632741f4a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16f1c897d241d7" /><Relationship Type="http://schemas.openxmlformats.org/officeDocument/2006/relationships/notesMaster" Target="/ppt/notesMasters/notesMaster1.xml" Id="R528263690f1249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bd1c96e10c4579" /><Relationship Type="http://schemas.openxmlformats.org/officeDocument/2006/relationships/notesMaster" Target="/ppt/notesMasters/notesMaster1.xml" Id="Re8a2a49201344b4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aa2d8d9c724831" /><Relationship Type="http://schemas.openxmlformats.org/officeDocument/2006/relationships/notesMaster" Target="/ppt/notesMasters/notesMaster1.xml" Id="Rc15e27b252ae43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14e12f9e71421c" /><Relationship Type="http://schemas.openxmlformats.org/officeDocument/2006/relationships/notesMaster" Target="/ppt/notesMasters/notesMaster1.xml" Id="R5406e1e4e06446b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0bd5b9d3704832" /><Relationship Type="http://schemas.openxmlformats.org/officeDocument/2006/relationships/notesMaster" Target="/ppt/notesMasters/notesMaster1.xml" Id="R8b359182e61d47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15267c6d124708" /><Relationship Type="http://schemas.openxmlformats.org/officeDocument/2006/relationships/notesMaster" Target="/ppt/notesMasters/notesMaster1.xml" Id="Rf634cd919ebc49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f8f0f332e9c4256" /><Relationship Type="http://schemas.openxmlformats.org/officeDocument/2006/relationships/notesMaster" Target="/ppt/notesMasters/notesMaster1.xml" Id="R98dc21eee71f4ce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f5baa63c2e465d" /><Relationship Type="http://schemas.openxmlformats.org/officeDocument/2006/relationships/notesMaster" Target="/ppt/notesMasters/notesMaster1.xml" Id="R3864150500314c7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fae0b48a87b4ac2" /><Relationship Type="http://schemas.openxmlformats.org/officeDocument/2006/relationships/notesMaster" Target="/ppt/notesMasters/notesMaster1.xml" Id="R1ad4e1ea50464e7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35335a50b8b4aa8" /><Relationship Type="http://schemas.openxmlformats.org/officeDocument/2006/relationships/notesMaster" Target="/ppt/notesMasters/notesMaster1.xml" Id="R2788743de60f445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43d80b55394618" /><Relationship Type="http://schemas.openxmlformats.org/officeDocument/2006/relationships/notesMaster" Target="/ppt/notesMasters/notesMaster1.xml" Id="R766dffc4e1d64a8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bf69da3da0d4dd9" /><Relationship Type="http://schemas.openxmlformats.org/officeDocument/2006/relationships/notesMaster" Target="/ppt/notesMasters/notesMaster1.xml" Id="Raaa819a36b6d4ee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efbd7b1f5494eee" /><Relationship Type="http://schemas.openxmlformats.org/officeDocument/2006/relationships/notesMaster" Target="/ppt/notesMasters/notesMaster1.xml" Id="R6cc6d2a4b6bb4e2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14fd3ef41674b4a" /><Relationship Type="http://schemas.openxmlformats.org/officeDocument/2006/relationships/notesMaster" Target="/ppt/notesMasters/notesMaster1.xml" Id="R499a52c21b93462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730115bcd0245fa" /><Relationship Type="http://schemas.openxmlformats.org/officeDocument/2006/relationships/notesMaster" Target="/ppt/notesMasters/notesMaster1.xml" Id="R086d06bfaff34e7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449ed6c27b04765" /><Relationship Type="http://schemas.openxmlformats.org/officeDocument/2006/relationships/notesMaster" Target="/ppt/notesMasters/notesMaster1.xml" Id="Rd1c045af9fb6496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99be13aa00c41ab" /><Relationship Type="http://schemas.openxmlformats.org/officeDocument/2006/relationships/notesMaster" Target="/ppt/notesMasters/notesMaster1.xml" Id="R72a0004b2da8401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d4fb7069fdf474f" /><Relationship Type="http://schemas.openxmlformats.org/officeDocument/2006/relationships/notesMaster" Target="/ppt/notesMasters/notesMaster1.xml" Id="Rc6cb6aa5e09d4b9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f98d5cccea443fc" /><Relationship Type="http://schemas.openxmlformats.org/officeDocument/2006/relationships/notesMaster" Target="/ppt/notesMasters/notesMaster1.xml" Id="Rccf5bd58513a4e8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bc56ef545724f37" /><Relationship Type="http://schemas.openxmlformats.org/officeDocument/2006/relationships/notesMaster" Target="/ppt/notesMasters/notesMaster1.xml" Id="R81e943d6bd0847b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c5fffb0e68d43fb" /><Relationship Type="http://schemas.openxmlformats.org/officeDocument/2006/relationships/notesMaster" Target="/ppt/notesMasters/notesMaster1.xml" Id="R055640181577417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a057672321247af" /><Relationship Type="http://schemas.openxmlformats.org/officeDocument/2006/relationships/notesMaster" Target="/ppt/notesMasters/notesMaster1.xml" Id="R678469bd1811456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996fae0dfbe4817" /><Relationship Type="http://schemas.openxmlformats.org/officeDocument/2006/relationships/notesMaster" Target="/ppt/notesMasters/notesMaster1.xml" Id="R5626b35cb4644ac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8c8f4fd438044f9" /><Relationship Type="http://schemas.openxmlformats.org/officeDocument/2006/relationships/notesMaster" Target="/ppt/notesMasters/notesMaster1.xml" Id="R537900ae2d14459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a2f5c3ad358401f" /><Relationship Type="http://schemas.openxmlformats.org/officeDocument/2006/relationships/notesMaster" Target="/ppt/notesMasters/notesMaster1.xml" Id="R025b935662f248b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b0c38a8bed249e6" /><Relationship Type="http://schemas.openxmlformats.org/officeDocument/2006/relationships/notesMaster" Target="/ppt/notesMasters/notesMaster1.xml" Id="R0de9ae24c86d49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画面
# 使用 AI 进阶能力实现较为复杂的需求
**从需求拆解、开发、验证，到问题定位与协同闭环**
&gt; 需求 → 规格 → 任务 → 代码 → 调试 → 证据
主视觉建议：左侧是一句模糊需求，中央是紫色受控 AI 循环，右侧是绿色设备证据包；背景只保留真实设备、测试结果和日志的低透明度拼贴。
![真实 SecurityTool 防火墙域名规则页面](harmonyos-sdd-workshop-media/mdm/firewall-domain-rule-created.jpeg)
&lt;sub&gt;这张真机图只能证明规则已出现在 UI；它不能单独证明每个账号的系统 policy/rules 已正确下发。开场让学员先说“它能证明什么、不能证明什么”。&lt;/sub&gt;
讲师备注
开场不要先解释 SDD 名词。先问：“AI 说改完了、单测也过了，但新增账号没有策略，这算完成吗？”让学员明确本课的完成定义不是代码生成，而是系统事实可证明。
课名里的“较为复杂”要在这一页说清楚：不是代码行数多，而是需求存在分叉、状态跨用户与进程、实现跨工具与会话、失败会留下部分状态、最终结果必须由设备事实验证。课名里的“进阶能力”则对应上下文工程、Workflow / Agent 分工、工具调用、长任务记忆、评估反证和协同交接。
两个案例不是为了炫技。MDM 展示复杂业务如何被拆成可实现规格；GPU 展示现象模糊时如何先取证再改。课程结束后，学员应能把方法迁移到任何 HarmonyOS 复杂需求。
演示动作
快速展示一组对照：绿色单测输出 + 真机上账号 123 未收敛的日志。此时不解释原因，只留下悬念。
通过条件
学员能复述：**AI 输出只是候选变更，测试与设备事实共同决定是否完成。**
素材
- MDM 首页真机截图
- 一段单测全绿输出
- 一段账号新增后未收敛的设备日志
---
转入下一页
本页结论收束后，下一页进入“两小时跑通一条主闭环，再做一次跨域迁移”。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C:\Users\mu\Desktop\code\harmonyos-sdd-ralph-workshop\harmonyos-sdd-workshop-media\mdm\firewall-domain-rule-created.jpeg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上一页解决“使用 AI 进阶能力
实现较为复杂的需求”，这一页继续回答“两小时跑通一条主闭环，再做一次跨域迁移”。
画面
**MDM 主闭环｜TEACHING COMPOSITE**
&gt; 设备当前处于 `public` 且防火墙已开启，已覆盖账号 `[100,112]`。系统收到 `account-added(123)` 后，先等待账号事实稳定，再把 public policy / preset rules 补到最新账号集合。若账号 123 的第 2 条规则下发失败，必须恢复旧状态，不得保存目标 signature，并留下可回读证据。
```mermaid
flowchart LR
    A[账号 123 新增] --&gt; B[稳定快照]
    B --&gt; C[模式重放]
    C --&gt; D[故障注入]
    D --&gt; E[补偿与回读]
```
讲师备注
这条英雄任务由三个真实问题组合：账号快照时序、跨进程事实传播、模式重放失败补偿。课程后面遇到的“已经开启/关闭、重复事件、部分失败、systemRuleId、MCP 回读”都挂到这条主闭环上；第 28–38 页再把同一套控制方法迁移到 GPU 证据诊断，而不是开启一门新课。
冻结课堂语义：
- 新增事件第一次读到 `[100,112]` 不是稳定；直到包含触发账号 123 才可 dispatch。
- public/private 账号集合变化时重放模式；custom 只同步默认 policy，不自动扩大旧自定义规则作用域。
- 模式重放是事务：失败后尝试整体补偿，并重建恢复后的 deployment identity。
- 总开关部分失败不是同一语义，后面专门比较。
演示动作
在白板或画布上固定写出 `100 / 112 / 123`，后续所有需求、测试与日志都沿用这三个 ID。
通过条件
所有小组使用同一英雄任务，不按模块分组拆散主链。
素材
- 账号集合变化示意图
- `FirewallAccountChangeHandler.ets`
- `FirewallModeSwitchService.ets`
---
转入下一页
本页结论收束后，下一页进入“复杂任务每轮必须留下六类证据”。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上一页解决“两小时跑通一条主闭环，再做一次跨域迁移”，这一页继续回答“复杂任务每轮必须留下六类证据”。
画面
```mermaid
flowchart TD
    A[Task：本轮唯一结果] --&gt; B[RED：制造可解释失败]
    B --&gt; C[AI：最小 Diff]
    C --&gt; D[Verify：窄测与回归]
    D --&gt; E[Evidence：日志与系统事实]
    E --&gt; F{停止条件满足？}
    F -- 否 --&gt; A
    F -- 是 --&gt; G[提交结果]
```
**可选对照图（PPT 制作时与上方 Mermaid 二选一）**
![Autonomous Agent：Human、LLM、Environment、Feedback 与 Stop](harmonyos-sdd-workshop-media/anthropic/autonomous-agent-loop.png)
&lt;sub&gt;讲师读图：Agent 不是“连续生成代码”，而是在环境反馈中行动，并在检查点接受人类判断或满足停止条件。图源：Anthropic《Building Effective Agents》。&lt;/sub&gt;
每轮写入 `progress.md`：
`假设 / RED 命令与输出 / 修改文件 / GREEN 输出 / 新事实 / 剩余风险 / Stop 或 Next`
讲师备注
SDD 负责“要到哪里、边界是什么”；Ralph Loop 是“一次走多远、何时停止”的一种 Harness；MCP 只是 Verify 阶段的执行器。不要把三者画成并列方法，也不要把课程讲成某个模型或框架的使用说明。
停止条件必须可执行：窄测试绿、相关回归绿、diff 在任务允许范围、设备事实与规格一致。权限、签名、设备或 getter 阻塞时，结论是 `UNKNOWN`，记录阻塞并停止，不继续猜测。
**Anthropic 方法锚点**：`Building Effective Agents` 强调 Agent 每一步都要从环境获取 ground truth，并用 checkpoint 与 stopping condition 控制执行；其 Agent 工程最佳实践进一步强调“给 Agent 一个它能运行的检查”，否则它只能在“看起来完成”时停下。本课把这一观点具体化为四级检查：目标 RED/GREEN、相关回归、HAP 构建、真机 getter / 帧级证据。截图是可读信号，但不能替代更强的系统事实。
演示动作
展示两份短 `progress.md`：Round 1 解决账号可见性；Round 2 解决模式重放失败补偿。让学员看到“循环真正发生”。
通过条件
学员能区分 `PASS / FAIL / UNKNOWN`，并知道 UNKNOWN 不是失败，也不是可以伪装成 PASS。
素材
- 附录 D 任务卡模板
- 附录 E `progress.md` 模板
---
# 第一幕：把 MDM 原始需求变成可执行规格
转入下一页
本页结论收束后，下一页进入“先认识五个对象，再谈“防火墙开关””。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上一页解决“复杂任务每轮必须留下六类证据”，这一页继续回答“先认识五个对象，再谈“防火墙开关””。
画面
```mermaid
flowchart TB
    A[业务模式 public/private/custom] --&gt; B[用户级 Policy]
    A --&gt; C[业务规则 Intent]
    C --&gt; D[用户级 Deployment]
    D --&gt; E[系统规则 systemRuleId]
```
| 对象 | 作用 | 真相来源 |
|---|---|---|
| Account Set | 当前应该覆盖谁 | OS account API |
| Policy | `isOpen` 与默认动作 | MDM system getter |
| Intent | 用户想表达的业务规则 | Local repository |
| Deployment | Intent 在各用户的落点 | Local mapping + system ID |
讲师备注
新员工最容易把“账号”当 UI 筛选条件，把一条业务规则直接等同一个系统 rule。实际一条 `FirewallRuleIntent(localRuleId, targetUserIds=[100,123])` 会展开为多个 deployment，每个 deployment 拥有独立 `systemRuleId`。
还要把三个维度拆开：
- `isOpen`：总开关。
- `mode`：默认动作与预置规则策略。
- `rules`：显式规则集合。
提交 `deaf8f27` 的真实故障就是旧实现把模式切换与 `isOpen=true` 绑定，导致“已经关闭，切模式又打开”。它比抽象解释状态分层更适合开场。
演示动作
打开 `models/firewall/FirewallModels.ets` 或设计文档，只定位 Intent、Deployment、Policy 三个结构；暂不浏览 UI。
通过条件
学员能解释为什么恢复系统规则后，不能继续使用旧 `systemRuleId`。
素材
- `entry/src/main/ets/models/firewall/FirewallModels.ets`
- commit `0ad3c1fa`、`deaf8f27`
---
转入下一页
本页结论收束后，下一页进入“原始需求的问题不是长，而是决定被藏起来了”。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上一页解决“先认识五个对象，再谈“防火墙开关””，这一页继续回答“原始需求的问题不是长，而是决定被藏起来了”。
画面
&gt; 防火墙支持 public / private / custom 三种模式和总开关；面向全部本地账号下发；账号增删后自动同步；处理已经开启/关闭、重复操作、部分失败和页面刷新。
**SESSION FACT｜问题不是一次说清楚的**
&gt; “先不要改，先看看要怎么改，怎么实时拿到账号信息。”
这句话同时冻结了三件事：本轮禁止写代码、当前目标是找到系统事实源、输出必须是方案与验收点。
只高亮四个实现分叉：
1. “全部账号”以事件参数、缓存还是 OS 快照为准？
2. 部分失败时保留成功结果，还是整体回滚？
3. “已应用”由本地 mode、signature 还是系统回读决定？
4. Extension 完成后，UI 如何跨进程获得事实？
讲师备注
AI 直接拿到这段话时，往往会自行补齐业务决策：用当前登录账号、对所有失败统一 try/catch、操作成功后直接改 UI、用内存单例通知页面。这些实现都可能编译通过，但不一定是正确产品语义。真实 Session 里，用户先后追问“后面如果还有数据怎么办”“这样可拓展性怎么样”“这个修改感觉是在打补丁”，说明需求澄清不是一次生成文档，而是持续关闭会改变实现路径的分叉。
课程不要求学员一开始知道答案，只要求先把“会导致不同代码路径”的问题列出来。判断标准：不同答案是否会改变状态模型、系统调用顺序、回滚、测试或验收？如果会，就是必须关闭的歧义。
演示动作
先只投屏原始需求，让 AI 输出名词、状态、触发器、失败点和待决问题；再揭示 Session 原话，让学员标出新增的权限、目标和停止条件。禁止给代码和架构。
通过条件
至少得到 8 个会改变实现的待决问题；没有出现“建议使用 MVVM”之类泛化方案。
素材
- 原始需求卡
- 推荐 Prompt：附录 C
---
转入下一页
本页结论收束后，下一页进入“实践：先让 AI 找分叉，人来冻结语义”。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上一页解决“原始需求的问题不是长，而是决定被藏起来了”，这一页继续回答“实践：先让 AI 找分叉，人来冻结语义”。
画面
**输入**：英雄任务 + 当前领域对象。
**AI 允许做**：列出实现分叉，并说明每个分叉会影响哪类代码或测试。
**人必须决定**：账号事实、重复操作、部分失败、提交点、UI 展示口径。
**交付**：`spec.md / Open Decisions`，每项只有 `OPEN` 或明确答案。
Prompt 约束：
```text
不要设计方案，不要写代码。
只找会改变状态、调用顺序、补偿或验收的歧义。
每项给出至少两个互斥答案及其工程影响。
```
讲师备注
课堂揭晓的核心决定：
- 账号事件只是触发器，OS account snapshot 才是事实。
- `account-added` 当前稳定条件是“快照包含 triggerAccountId”，不是连续两次读取相同。
- 首页总开关写入覆盖全部用户，但展示只读当前/管理用户；这是 `CURRENT`，不是全局一致性证明。
- 模式切换失败整体补偿；总开关部分失败保留成功账号。这两条并不矛盾，因为事务边界由规格决定。
- UI 刷新与业务 reconcile 分离，CommonEvent 传递事实，不承担业务事务。
演示动作
2 人一组，3 分钟标记 AI 输出中的“事实问题”和“产品决策”；最后 1 分钟全班冻结课堂答案。
通过条件
不允许把仍为 `OPEN` 的高影响问题直接交给 AI 实现。
素材
- `AccountChangeCoordinator.ets`
- `FirewallPolicyService.ets`
- commit `c0c1bc9f`、`b8339196`
---
转入下一页
本页结论收束后，下一页进入“EARS 让一句“自动同步”直接长出测试”。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上一页解决“实践：先让 AI 找分叉，人来冻结语义”，这一页继续回答“EARS 让一句“自动同步”直接长出测试”。
画面
**Before**
&gt; 新增账号后自动同步防火墙。
**After — TEACHING / FR-ACC-001**
```text
WHEN 收到 account-added(123)，
WHILE 当前模式为 public 且 desiredEnabled=true，
THE SYSTEM SHALL 在包含 123 的账号快照上重放模式；
IF 5 次读取后仍不包含 123，
THEN SHALL 不 dispatch、不提交 signature，并记录 timeout。
```
讲师备注
EARS 不是为了写得像规范，而是把测试输入、前置状态、动作、结果和失败分支放进同一句话。课堂 ID 是教学资产，明确标注 `TEACHING`，避免学员误以为仓库已有这些编号。
真实实现参数：新增事件会以约 200 ms 间隔最多重试 5 次；到达包含触发账号的快照才 dispatch。删除事件当前只读一次，没有对称等待，这是后续高级 GAP。
演示动作
让学员把“重复事件不要重复下发”改写成一条 EARS；答案必须出现排序 signature 和提交条件。
通过条件
语句能直接导出至少一个成功测试和一个失败/超时测试。
素材
- `account-change-coordinator.test.ets`
- T01 RED 基线：`4b372d0d` + 从 `c0c1bc9f` 提取的目标测试
- commit `c0c1bc9f`
---
转入下一页
本页结论收束后，下一页进入“行为矩阵先冻结“什么时候回滚””。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上一页解决“EARS 让一句“自动同步”直接长出测试”，这一页继续回答“行为矩阵先冻结“什么时候回滚””。
画面
| 场景 | 系统动作 | 本地提交 | 失败语义 |
|---|---|---|---|
| 重复开启 | UI no-op | 不变 | 不再写系统 |
| 总开关部分失败 | 全用户 best-effort | 不写 `desiredEnabled` | 成功用户保留 |
| public + 新账号 | 最新快照重放 | 成功后写 mode/signature | 失败整体补偿 |
| 重复 signature | 不重放 | 不变 | 幂等跳过 |
&gt; **不是所有失败都必须回滚；事务边界先由规格决定。**
讲师备注
这是整堂课最重要的业务判断。`FirewallPage.handleToggleWithAuth` 处理“已经开/关”的 UI no-op；`FirewallPolicyService.setFirewallEnabledForAllUsers` 自身仍会认证、读取并逐用户写入。不要把 UI 层 no-op 误讲成 Service 幂等。
总开关部分失败时，100/102 成功、101 失败，成功用户不回滚，但 `desiredEnabled` 不保存，结果返回 false。模式切换不同：先快照，失败后恢复 policy/rules/mapping。完整矩阵放附录 B，PPT 只展示四个最能改变实现的场景。
演示动作
让学员给“空账号集合”和“custom 新增账号”补两行，只说预期，不写代码。
通过条件
任何人都能根据矩阵回答：失败后系统哪些变化保留、本地哪些状态能提交。
素材
- `FirewallPolicyService.ets`
- `FirewallModeSwitchService.ets`
- `service.test.ets`
---
# 第二幕：把规格变成 AI 不容易越界的设计与任务
转入下一页
本页结论收束后，下一页进入“五类状态必须分开，才能定义“已应用””。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上一页解决“行为矩阵先冻结“什么时候回滚””，这一页继续回答“五类状态必须分开，才能定义“已应用””。
画面
| 状态层 | 示例 | 能否单独证明成功 |
|---|---|---|
| User intent | `desiredEnabled=true` | 不能 |
| Local apply record | `mode=public, signature=100,112,123` | 不能 |
| System truth | 每用户 policy / rules | 可以作为最终事实 |
| UI projection | 顶部开关、模式文案 | 不能 |
醒目结论：`currentMode=public` **不等于** public 已覆盖最新账号集合。
讲师备注
还存在第 5 类“事件/运行态”：trigger、pending、inFlight、retry count。它决定何时开始 reconcile，但不能取代账号事实。
`CURRENT GAP`：`saveModeApplyState` 通过两个独立 `setValue + flush` 保存 mode 和 signature，第二次失败可能形成半提交；快照/回滚也没有完整恢复旧 apply state。课程主任务先把它写入风险清单，不假装已经解决。可作为高级任务把 mode/signature 收敛到单一原子记录。
演示动作
给出 `public + signature=100,112`，再新增账号 123，问“当前状态叫什么？”正确答案是模式意图仍为 public，但 apply coverage 已陈旧。
通过条件
学员不再用 UI 状态或本地 mode 单独判定系统已应用。
素材
- `FirewallLocalRepository.ets`
- `FirewallOverviewViewModel.ets`
---
转入下一页
本页结论收束后，下一页进入“真相源决定不变量，也暴露当前 GAP”。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上一页解决“五类状态必须分开，才能定义“已应用””，这一页继续回答“真相源决定不变量，也暴露当前 GAP”。
画面
**TEACHING：英雄任务的四条不变量**
1. 所有写操作基于一个明确、已记录的账号快照。
2. 模式切换只改变默认动作 / 规则，必须保留旧 `isOpen`。
3. 失败补偿后，本地 deployment 指向恢复后新生成的 `systemRuleId`。
4. 只有系统操作全部成功，才提交目标 mode 与 account signature。
**CURRENT GAP**：系统读取失败不能被当成“系统确实为空”。
讲师备注
仓库当前 `FirewallSystemRepository.listRules` 失败时可能回退为 `[]`，本地 mapping 读取失败也可能回退为空。这样所谓“完整快照”无法区分真实空集合与读取失败，后续 clear 可能产生破坏性动作。
因此课堂设计要增加 snapshot validity：每个 truth source 必须返回 `OK(value)` 或 `ERROR(evidence)`；只要关键读取失败，事务在写入前终止。不要让 AI 用 `catch { return [] }` 把未知变成事实。
演示动作
让 AI 搜索所有返回空数组的 catch 分支，并按“真实空 / 降级空 / 错误被吞”分类；此轮禁止改代码。
通过条件
设计文档明确列出：事实源、失败表达、写入前置条件、禁止的 fallback。
素材
- `FirewallSystemRepository.ets`
- `FirewallLocalRepository.ets`
- `FirewallModeSwitchService.createSnapshot`
---
转入下一页
本页结论收束后，下一页进入“进程边界比类图更早决定设计”。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上一页解决“真相源决定不变量，也暴露当前 GAP”，这一页继续回答“进程边界比类图更早决定设计”。
画面
```mermaid
flowchart TB
    A[EnterpriseAdmin Extension] --&gt; B[AccountChangeCoordinator]
    B --&gt; C[Handler：业务 reconcile]
    C --&gt; D[MDM API + Local Repository]
    B --&gt; E[CommonEvent：稳定账号事实]
    E --&gt; F[UIAbility / ViewModel 刷新]
```
- Extension 与 UI 不是共享内存。
- CommonEvent 负责跨进程通知，不负责事务。
- UI / ViewModel 的互斥只保护 UI 入口，不是全局 writer lock。
讲师备注
提交 `53751b2e` 将协调器改为 handler registry；`cecf6d17` 让稳定账号事实即使某个 handler 失败也继续发布，避免一个业务消费者阻断整个 UI 刷新链。
必须指出真实边界：`FirewallPage` / `FirewallOverviewViewModel` 的模式与开关互斥，只覆盖 UI 进程；Extension 触发的 account reconcile 与 UI 操作之间仍没有全局写串行器。这是 `CURRENT GAP`，不能说“Coordinator 已串行所有写操作”。
演示动作
打开 Extension、Coordinator、EntryAbility 三处代码，先用历史已有的 `accountId / signature / process` 标注日志位置，再让学员补设计跨进程 `eventId`；明确后者是遥测改进，不是历史已有字段。
通过条件
学员能回答：业务处理失败后为什么仍可能需要发布账号事实，以及 UI lock 为什么不能防止 Extension 并发写。
素材
- `AccountChangeCoordinator.ets`
- `FirewallAccountChangeHandler.ets`
- commit `53751b2e`、`cecf6d17`、`f6886182`
---
转入下一页
本页结论收束后，下一页进入“一行追踪关系，限制 AI 只改必要边界”。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上一页解决“进程边界比类图更早决定设计”，这一页继续回答“一行追踪关系，限制 AI 只改必要边界”。
画面
| 需求 | 设计决定 | 实现锚点 | 验证证据 |
|---|---|---|---|
| FR-ACC-001 | 新增账号必须等 trigger 可见 | `loadStableSnapshot` | RED/GREEN + retry log |
| FR-MODE-002 | 模式失败整体补偿 | `rollbackToSnapshot` | fault injection + getter |
| FR-ID-001 | 恢复后重映射 ID | `remapDeployments` | mapping 与系统 ID 对齐 |
页尾：**追踪矩阵不是文档装饰，它决定下一轮 AI 可以碰哪里。**
讲师备注
课堂只展示英雄任务三行；完整追踪矩阵放附录。每一行必须能回答：为什么改、哪个边界负责、先看到什么失败、最后用什么事实验收。
不允许“为了更优雅”同时重构 ViewModel、Repository、Service。若失败首先发生在 snapshot 时序，本轮文件边界就只允许 Coordinator 与对应测试。设计的价值之一，是帮 AI 拒绝无关改动。
演示动作
让学员选 FR-ACC-001，圈出允许修改的两个文件和明确禁止的 UI / Store 文件。
通过条件
一条需求可以顺向追到证据，也能从一个 diff 反向说明它服务哪个需求。
素材
- 附录 C 设计模板
- 附录 D 任务卡模板
---
转入下一页
本页结论收束后，下一页进入“实践：先做只读勘察，不让 AI 猜代码”。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上一页解决“一行追踪关系，限制 AI 只改必要边界”，这一页继续回答“实践：先做只读勘察，不让 AI 猜代码”。
画面
**T00 / Read-only Exploration**
**输入**：FR-ACC-001、仓库根目录、英雄任务。
**只允许**：搜索入口、调用链、真相源、写入点、提交点、测试和历史提交。
**禁止**：修改生产文件；凭命名推断行为；给出未经代码支持的 API。
**输出七项**：
`入口 / 事实源 / 副作用 / commit point / 现有测试 / 相关提交 / Spec Gap`
![Coding Agent 高层时序：先澄清，再携带上下文搜索、修改与测试](harmonyos-sdd-workshop-media/anthropic/coding-agent-flow.png)
&lt;sub&gt;讲师读图：把上半段“Clarify / Refine”对应需求拆解，把下半段“Search / Write / Test”对应开发验证；两段之间传递的是收敛后的上下文，不是整段聊天。图源：Anthropic《Building Effective Agents》。&lt;/sub&gt;
讲师备注
这是 AI 使用中最省返工的一步。推荐让 AI 先用 `rg` 找符号，再读最短调用链，再用 `git log -S` / `git show` 解释为什么代码现在这样。提交历史是证据，不是课程结构。
英雄任务的真实入口包括：`AccountChangeCoordinator.loadStableSnapshot/runOnce`、`FirewallAccountChangeHandler.handle`、`FirewallModeSwitchService.createSnapshot/applyModeToUsers/rollbackToSnapshot/remapDeployments`。
**Anthropic 方法锚点**：Anthropic 的 Agent 工程实践建议将 Explore、Plan、Implement 分开，避免在尚未理解代码时直接解决错误问题。T00 就是这个原则的 HarmonyOS 版本：勘察轮次保持只读，输出必须引用文件、函数、测试和历史提交；冻结 Spec Gap 与修改边界后，再用干净的实现轮次执行任务。探索过程可以很宽，但交给实现轮次的上下文必须收敛。
演示动作
现场运行一次只读 Prompt；若 AI 输出了不存在的 `firewall.get_runtime_state`，当场标红并要求提供定义位置。
通过条件
输出中的每个函数、测试和能力都能在仓库中定位；未知项标记 GAP，不得编造。
素材
- `repos/security_tool`
- commit `94ff17e7`、`c0c1bc9f`、`0b5edc5f`
---
转入下一页
本页结论收束后，下一页进入“任务卡只允许一个可观察结果”。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C:\Users\mu\Desktop\code\harmonyos-sdd-ralph-workshop\harmonyos-sdd-workshop-media\anthropic\coding-agent-flow.png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上一页解决“实践：先做只读勘察，不让 AI 猜代码”，这一页继续回答“任务卡只允许一个可观察结果”。
画面
```text
T01 — account-added 等到 trigger 可见
Requirement: FR-ACC-001
Allowed: AccountChangeCoordinator + 对应测试
Forbidden: UI、Firewall Handler、Repository
RED: [100,112] → [100,112] → [100,112,123]
GREEN: handler 只执行一次，参数包含 123
STOP: 窄测/回归绿；diff 不越界；progress 已记录
```
&gt; 任务按“可验证依赖”切，不按页面、类或文件数量切。
讲师备注
推荐四张任务卡：
- T00：只读勘察。
- T01：新增账号稳定快照。
- T02：模式重放故障与补偿。
- T03：设备验收 getter / evidence contract。
当前生产 `wait()` 使用真实 `setTimeout` 且为私有实现，不能在讲义里伪装成可直接 mock 的测试。课堂有两种诚实做法：使用仓库现有 Hamock 测试结构与短等待；或先把 `Clock / RetryPolicy` 注入作为独立设计任务，再写确定性测试。
**Anthropic 方法锚点**：`Effective Harnesses for Long-Running Agents` 观察到长任务最常见的失败是一次做太多、留下半实现，或看到已有进度后提前宣布完成。其应对方式是一次只推进一个 feature，完成后留下干净状态、Git 记录和 progress。T01/T02/T03 因此不是按页面或类拆分，而是按“一个可观察结果＋一个可执行停止条件”拆分；不得通过删除测试、扩大范围或顺手重构制造假完成。
演示动作
学员将一个“实现多用户防火墙”大任务改写成上面的一张 7 行任务卡。
通过条件
本轮失败时能明确判断：是任务没完成，还是任务定义越界；不存在“顺便重构”。
素材
- `entry/src/test/firewall/account-change-coordinator.test.ets`
- 附录 D
---
# 第三幕：让受控循环真正跑两轮
转入下一页
本页结论收束后，下一页进入“Round 1：先看见一个解释得通的 RED”。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上一页解决“任务卡只允许一个可观察结果”，这一页继续回答“Round 1：先看见一个解释得通的 RED”。
画面
**目标行为**：新增账号事件到达时，旧快照不能进入 handler。
```text
Read #1  [100,112]       → reject
Read #2  [100,112]       → reject
Read #3  [100,112,123]   → dispatch once
```
RED 断言：
- 在第 1、2 次读取后 handler 调用数为 0。
- 第 3 次读取后 handler 调用数为 1。
- dispatch snapshot 包含 123。
- 超时路径不 dispatch、不 publish 旧快照。
讲师备注
不要展示一段无法运行的伪 Hamock 代码。现场材料应提前在当前仓库环境中跑过，并保留真实命令与失败输出。测试先失败的原因必须与需求一致，而不是 import、mock 或 SDK 配置错误。
当前实现所谓 stable 不是“两次读取完全相同”，而是新增场景中“包含 triggerAccountId”。`account-removed` 当前读一次即处理；可把“删除事件仍看到 123”作为高级 RED，但不要混进 T01。
演示动作
在全模块测试中运行目标用例并保存 `unit-test-red.txt`。真实 RED 是 `expect 1 equals 2`：基线只读一次就 dispatch，而测试要求等到第二次快照出现 123。让学员用一句话解释它与 FR-ACC-001 的关系。
```text
ERROR: Error in should wait until added account appears before dispatching handlers,
expect 1 equals 2
BUILD SUCCESSFUL ...
HVIGOR_EXIT=0
```
这里故意保留 Hvigor 的反直觉输出：命令横幅和退出码看起来成功，目标用例仍然失败。判定必须读取用例级错误或 `test_result.txt`。
通过条件
只有目标断言失败；环境错误、编译错误或无关用例失败不能进入实现阶段。
素材
- `account-change-coordinator.test.ets`
- commit `c0c1bc9f`
- `evidence/mdm/t01-red-green.md`
---
转入下一页
本页结论收束后，下一页进入“Round 1：AI 只补最小状态转换”。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C:\Users\mu\Desktop\code\harmonyos-sdd-ralph-workshop\evidence\mdm\t01-red-green.md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上一页解决“Round 1：先看见一个解释得通的 RED”，这一页继续回答“Round 1：AI 只补最小状态转换”。
画面
```text
event = account-added(123)
repeat at most 5 times:
  snapshot = readSystemAccounts()
  if snapshot contains 123:
    return VALID(snapshot)
  wait 200ms
return TIMEOUT
```
AI 修改约束：
- 不改 handler 业务。
- 不把 trigger 直接 append 到快照。
- 读取失败与空集合保持可区分。
- timeout 不 dispatch 旧事实。
讲师备注
“把 123 加进数组”会让测试绿，却伪造 OS 事实；这正是需要人工审查的 AI 捷径。实现还要考虑协调器已有的 debounce、single-flight 和 pending 语义，不能为一个重试分支破坏全局调度。
**SESSION FACT｜错误方案必须进入课堂**
&gt; “延迟 2S 还是拿不到，你分析得不对吧。”
这句话不是要求把 2 秒改成 5 秒，而是在否定“只是系统数据刷新慢”的假设。让学员回答：延迟改变了等待时间，但是否改变了事实源、进程边界和发布机制？若没有，就不能把继续加延迟称为最小实现。
代码已经存在相应实现，课堂可以采用“遮住关键分支，让 AI 按任务卡补齐”的训练仓，或使用历史提交前的版本。若直接在当前 HEAD 上演示，应改为高级缺口，例如移除事件对称稳定条件。
演示动作
让 AI 先输出计划和预计 diff，再允许写；完成后展示实际 diff，只审查状态转换与越界文件。最后运行同一条命令，确认目标用例记录 `result=Success`；覆盖率报告器仍出现的 `00507008` 单独记为工具链 GAP，不能混进本轮业务 GREEN。
通过条件
T01 窄测试转绿，相关 coordinator 回归通过，修改文件不超出 Allowed。
素材
- `AccountChangeCoordinator.loadStableSnapshot`
- `AccountChangeCoordinator.runOnce`
- T01 GREEN：`c0c1bc9f`
- `evidence/mdm/t01-red-green.md`
---
转入下一页
本页结论收束后，下一页进入“长任务的记忆写在 progress，不在聊天记录”。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上一页解决“Round 1：AI 只补最小状态转换”，这一页继续回答“长任务的记忆写在 progress，不在聊天记录”。
画面
| Round | 假设 | 证据 | Stop / Next |
|---|---|---|---|
| 1 | 事件先于账号查询可见 | 前两读无 123，第三读出现 | GREEN；进入故障注入 |
| 2 | 模式重放失败会污染 apply state | 用户 123 第 2 条 add 失败 | 回滚后 getter 再判断 |
![Prompt Engineering 与 Context Engineering 对比](harmonyos-sdd-workshop-media/anthropic/prompt-vs-context-engineering.png)
&lt;sub&gt;讲师读图：左边只优化一次输入；右边每轮都从文档、工具、记忆和历史中筛选上下文。课堂中 `spec + current task + progress + evidence index` 就是右侧 Curation 的具体实现。图源：Anthropic《Effective Context Engineering for AI Agents》。&lt;/sub&gt;
`progress.md` 本轮新增事实：
&gt; “稳定”是 trigger 可见，不是连续读相同；删除事件尚无对称等待。
讲师备注
每轮至少记录七项：hypothesis、RED command/output、files changed、GREEN command/output、new fact、remaining risk、stop reason。这样换人、换会话或上下文压缩后，AI 仍从事实继续，而不是重新猜一遍。
不要把长聊天复制进 progress。它是外部控制面：一句事实对应一份证据，一条风险对应下一张任务卡。
**Anthropic 方法锚点**：`Effective Context Engineering for AI Agents` 将上下文视为有限注意力预算，目标不是把资料全部塞进去，而是保留能最大化当前任务成功率的最小高信号信息；对长任务，结构化记笔记比保留完整聊天更可靠。因此新会话只加载 spec、当前 task、progress、相关代码和证据索引：保留架构决定、未解决风险、修改文件和验证命令，丢弃重复搜索过程与大段原始工具输出。
演示动作
做一次上下文 A/B：A 组获得压缩后的长聊天，B 组只获得 `spec + current task + progress + related files + evidence index`。两组都要在 90 秒内写出下一步、禁止范围和缺失证据，再比较谁引入了更多未经支持的假设。
通过条件
另一组只读 `progress.md` 就能复现已完成行为、剩余风险与停止原因。
素材
- 附录 E `progress.md` 模板
- `unit-test-red.txt` / `unit-test-green.txt`
---
转入下一页
本页结论收束后，下一页进入“DEBUG：先找最早异常，不从 UI 倒推”。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C:\Users\mu\Desktop\code\harmonyos-sdd-ralph-workshop\harmonyos-sdd-workshop-media\anthropic\prompt-vs-context-engineering.png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上一页解决“长任务的记忆写在 progress，不在聊天记录”，这一页继续回答“DEBUG：先找最早异常，不从 UI 倒推”。
画面
**SESSION FACT｜假设阶梯**
| 轮次 | 当前假设 | 新证据 | 判定 |
|---|---|---|---|
| 1 | 系统账号查询只是刷新慢 | 延迟 2 秒后现象不变 | 假设被推翻 |
| 2 | `SystemUserProvider` 没读到新事实 | Provider raw=`[100,114]`，snapshot signature=`100,114` | Provider 读取成立 |
| 3 | 进程内静态状态能通知页面 | Extension 与 UI 位于两个进程 | 传播边界错误 |
| 4 | 接入 CommonEvent 即全部完成 | 卡片刷新，但已有规则和记录未刷新 | 只得到局部 GREEN |
最早异常不是“页面没刷新”，而是：**事实已经产生，但没有跨进程、按职责传播到所有依赖者。**
讲师备注
本页优先沿账号主线展示“延迟补丁 → Provider 日志 → 进程边界 → 局部 GREEN”的推理。它训练的是：每轮只保留一个可证伪假设，并明确什么证据会推翻它。
第二个可选案例是提交 `4906f7d3 → 06864339 → 78fca089`：public 规则把可选字段 `remoteIps: undefined` 带进 MDM API，真机 `addNetFirewallRule` 返回 401；随后收敛为只有有效字段才进入 payload，并保留原始错误码供上层映射。这个案例用于说明“最早异常也可能位于 payload 契约”，不要与账号传播根因混成一次历史故障。
平台真实缺少企业管理员能力常见错误码为 `9200001`；201 是权限 / admin 状态类映射之一。课堂不要把模拟错误码当唯一真机事实。
演示动作
先给出前两轮证据，让学员选择下一条最小日志；揭示跨进程事实后，再让他们解释为什么 CommonEvent 只带来了局部 GREEN。时间允许时再打开 `FirewallRuleUtils.ets` 的 401 diff 作为迁移练习。
通过条件
定位结论能被具体日志、进程事实或系统返回推翻；不能只写“可能是缓存、权限或参数”。
素材
- commit `4906f7d3`、`06864339`、`78fca089`
- 账号变化 Session 证据卡（附录 L1）
- `FirewallRuleUtils.ets`
- `FirewallSystemRepository.ets`
---
转入下一页
本页结论收束后，下一页进入“先由规格决定事务边界”。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C:\Users\mu\Desktop\code\harmonyos-sdd-ralph-workshop\evidence\mdm\account-cross-process-log.md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上一页解决“DEBUG：先找最早异常，不从 UI 倒推”，这一页继续回答“先由规格决定事务边界”。
画面
| 操作 | 当前语义 | 部分失败后 | 本地提交 |
|---|---|---|---|
| 总开关 | Best-effort | 成功账号保持 | 不写 desired |
| 模式切换 | All-or-nothing | 尝试整体补偿 | 不写 mode/signature |
| 新增规则 | Collect-all + rollback | 删除已成功 deployment | 不写 intent/mapping |
| DNS 目标编辑 | Remove + add | 重建旧 DNS | 保存恢复后的新 ID |
讲师备注
必须修正两个常见误讲：
1. 当前多用户 Create 会继续尝试全部目标账号、收集失败，再统一回滚；不是“第二个失败就停止第三个”。如果课程要讲 fail-fast，必须标为 TARGET 规格。
2. 不是所有 DNS 相关编辑都 remove+add；只有 `nextIntent.type === RULE_DNS` 走替换。`DNS → IP` 当前走 retained deployment 原地 update，测试 `should update retained deployments in place when editing DNS to IP` 固化了该行为。
这页核心是让学员理解：事务不是统一模板，操作的业务承诺不同，补偿策略就不同。
演示动作
让学员分别给总开关与模式切换写一句失败后断言，观察是否错误地把两者都要求 rollback。
通过条件
任务卡明确写出“允许保留什么、必须恢复什么、什么时候提交本地状态”。
素材
- `FirewallPolicyService.setFirewallEnabledForAllUsers`
- `FirewallModeSwitchService.applyModeToUsers`
- `FirewallRuleMutationService.ets`
---
转入下一页
本页结论收束后，下一页进入“成功路径先锁住唯一 commit point”。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上一页解决“先由规格决定事务边界”，这一页继续回答“成功路径先锁住唯一 commit point”。
画面
```mermaid
flowchart TD
    A[读取有效快照] --&gt; B[清理受管规则]
    B --&gt; C[写各用户 Policy]
    C --&gt; D[下发预置 Rules]
    D --&gt; E{全部成功？}
    E -- 是 --&gt; F[提交 mode + signature]
    E -- 否 --&gt; G[补偿旧快照]
```
只在绿色节点之后，目标 apply state 才能被持久化。
讲师备注
真实 `FirewallModeSwitchService.applyModeToUsers` 已经体现“快照→清理→应用 policy/rules→成功才保存→失败 rollback”。课堂先让学员把成功路径写成测试，再注入失败；不要在同一轮同时生成完整正向与所有回滚分支。
`CURRENT GAP`：mode/signature 双 key 保存不是原子操作，旧 apply state 也未完整进入 rollback。画面保持主流程简洁，备注中必须诚实标出风险。
提交 `deaf8f27` 还证明模式写入必须保留各用户旧 `isOpen`；不要因为目标是 public 就把开关偷偷设为 true。
演示动作
打开 `applyModeToUsers`，让学员在代码中标出 read barrier、side effects、commit point 和 compensation entry。
通过条件
代码中只有一个可解释的目标状态提交点；任何早于它的本地写都被视为风险。
素材
- `FirewallModeSwitchService.ets`
- commit `deaf8f27`、`0b5edc5f`
---
转入下一页
本页结论收束后，下一页进入“Round 2：在账号 123 的第 2 条规则注入失败”。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上一页解决“成功路径先锁住唯一 commit point”，这一页继续回答“Round 2：在账号 123 的第 2 条规则注入失败”。
画面
**T02 / Mode transaction fault**
`TEACHING`：这是从真实失败语义抽取的确定性故障注入，不表示同一历史 Session 恰好在账号 123 的第 2 条规则失败。
初始：`public + enabled + users=[100,112]`
目标：重放到 `[100,112,123]`
注入：账号 123 的第 2 次 `addRule` 返回失败。
四个核心断言：
1. 目标 `mode/signature` 不提交。
2. 旧 policy / rules 被尝试恢复。
3. 已新增的目标规则不残留。
4. deployment 指向恢复后新 `systemRuleId`。
讲师备注
先列出预期系统调用顺序，再让 AI 写 fault-injection test。测试要覆盖“补偿本身也可能失败”的证据输出，但无需在画面塞满所有断言。
现有 `FirewallFailedItem` 没有结构化 `phase=forward|compensate`，rollback 失败主要靠 `errorMessage` 推断。这是观测性 GAP。建议课堂 TARGET 返回：`userId / operation / phase / originalCode / rollbackCode / localRuleId / systemRuleId`。
演示动作
运行 RED；把失败点从第 2 条规则移动到 local save，观察事务期望是否仍成立。AI 只能修改 ModeSwitch 与对应测试。
通过条件
测试先红后绿；失败证据能区分 forward 与 compensate；本地没有伪造目标 signature。
素材
- `service.test.ets`
- `FirewallModeSwitchService.rollbackToSnapshot`
- commit `0b5edc5f`
---
转入下一页
本页结论收束后，下一页进入“回滚最难的是 identity，不是把旧对象写回去”。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上一页解决“Round 2：在账号 123 的第 2 条规则注入失败”，这一页继续回答“回滚最难的是 identity，不是把旧对象写回去”。
画面
```text
Before failure
  intent R1 → user 100 → systemRuleId 8001
Rollback re-add
  old rule 8001 → add again → new systemRuleId 9417
After rollback
  intent R1 → user 100 → systemRuleId 9417
```
&gt; 业务 identity 要稳定；系统 resource identity 允许在补偿后变化。
讲师备注
如果只恢复系统规则、不更新 deployment mapping，下一次编辑或删除仍会针对 8001，形成“画面看起来恢复，后续操作全部错位”的延迟故障。
真实代码通过 `remapDeployments` 维护 old→new ID。DNS 目标编辑的 remove+add 也有相同问题；恢复旧 DNS 时，新 add 仍会产生新 ID。最有价值的断言不是“规则数量恢复”，而是本地 mapping 与系统返回的新 ID 一致。
演示动作
在测试 fake repository 中让 re-add 返回固定新 ID 9417；故意保留旧 mapping，观察下一次 delete 的目标 ID。
通过条件
补偿后立即执行一次 edit/delete 仍能命中真实系统规则；mapping 不是靠旧快照原样写回。
素材
- `FirewallModeSwitchService.remapDeployments`
- `FirewallRuleMutationService.applyDnsReplaceUpdateTransaction`
- commit `0b5edc5f`、`76e7f6e6`
---
# 第四幕：让代码越过 HarmonyOS 平台门并形成设备证据
转入下一页
本页结论收束后，下一页进入“代码正确之前，先过四道平台门”。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上一页解决“回滚最难的是 identity，不是把旧对象写回去”，这一页继续回答“代码正确之前，先过四道平台门”。
画面
| Gate | 预检问题 | 失败结论 |
|---|---|---|
| SDK / API | 目标 API、API level、类型定义存在？ | BLOCKED |
| Permission / ACL | `ENTERPRISE_MANAGE_NETWORK` 等权限与签名匹配？ | BLOCKED |
| Admin | 企业管理员已激活、应用身份正确？ | BLOCKED |
| Device | 账号、网络、HDC endpoint、包版本可确认？ | UNKNOWN |
页尾：**平台预检失败时不要改业务代码。**
讲师备注
多用户账号读取还涉及 `GET_LOCAL_ACCOUNT_IDENTIFIERS`；仓库演进曾经历 activated accounts、权限约束、最终回到系统账号事实源。提交 `8f99fc27` / `9ea957d2` 可用于解释 API 与权限如何共同决定实现。
真机缺少企业管理能力可见 `9200001` 等错误；参数非法常见 401 / 2100001；DNS 冲突场景可见 29400007。不要只显示翻译后的 Toast，要保留原始 code、operation、userId 和 sanitized payload。
演示动作
用 MCP 列设备、查询包版本、构建 debug HAP；再在真机上确认 admin 激活和账号列表。任何门失败就写入 `acceptance.md / Preconditions`。
通过条件
四道 Gate 全有明确 PASS；无法确认的一项标 UNKNOWN，并停止“业务已完成”的结论。
素材
- `entry/src/main/module.json5`
- `SystemUserProvider.ets`
- `harmonyos-dev-mcp/README.md`
---
转入下一页
本页结论收束后，下一页进入“跨进程事件传事实，业务事务仍留在 Handler”。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上一页解决“代码正确之前，先过四道平台门”，这一页继续回答“跨进程事件传事实，业务事务仍留在 Handler”。
画面
```mermaid
sequenceDiagram
    participant X as Admin Extension
    participant C as Coordinator
    participant H as Firewall Handler
    participant U as UIAbility
    X-&gt;&gt;C: account-added(123)
    C-&gt;&gt;C: 读取稳定账号快照
    C-&gt;&gt;H: reconcile(snapshot)
    C--&gt;&gt;U: publish account fact
    U-&gt;&gt;U: 按当前路由刷新
```
**SESSION FACT｜关键纠偏**
&gt; “这是两个进程，你用这种静态的传递不行。”
| 接入 CommonEvent 后 | 结果 |
|---|---|
| 黑/白名单卡片 | 已刷新 |
| 已有防火墙规则 | 未刷新 |
| 操作记录 | 未刷新 |
结论：事件送达只是 `factPublished`；它不自动等于 `businessSucceeded` 或 `allConsumersReconciled`。
三个边界：
- Handler 失败不应吞掉稳定账号事实。
- CommonEvent 不能承担 policy/rule rollback。
- UI 互斥不覆盖 Extension 与 UI 的全局并发写。
讲师备注
页面第 11 页讲“架构为什么这样分”，本页讲“运行时如何调试”。历史真机日志已经证明 Extension 收到删除事件、Provider 读到 `[100,114]`、Coordinator dispatch 且 Handler 返回成功；同一链路没有 UI 进程日志，且 `previous=` 暴露首次 diff 基线不可信。
历史日志没有统一 `eventId`，不能为了课件完整而补造。目前只能用 `time window + source + trigger + signature + process` 关联；显式 `eventId/runId` 应作为下一张可观测性任务卡。因而这里讲“两进程、四阶段”，其中事件接收、事实读取、业务 reconcile 有证据，UI 消费只有局部 GREEN。
提交 `0650b8eb` 展示 Extension 与 UI 不能依赖进程内单例；`cecf6d17` 展示 handler 失败与账号事实发布是两种结果。这里还要保留 `CURRENT GAP`：缺少覆盖所有 writer 的全局串行策略。
演示动作
先给学员真实脱敏日志，要求判断哪些阶段有直接证据、哪些仍是 UNKNOWN；再给出 CommonEvent 后“卡片已刷新、规则和记录未刷新”的局部结果，分别填写 `eventReceived`、`businessSucceeded`、`factPublished`、`uiRefreshed`。最后让学员设计下一版 `eventId` 字段，而不是假设历史已经有它。
通过条件
日志能区分 `factPublished`、`businessSucceeded`、`uiRefreshed` 三个布尔结果，而不是一个“成功”。
素材
- `AccountChangeCoordinator.ets`
- `AccountChangeEventBus.ets`
- commit `0650b8eb`、`cecf6d17`
- `evidence/mdm/account-cross-process-log.md`
---
转入下一页
本页结论收束后，下一页进入“MCP 是证据执行器，不是事实制造器”。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C:\Users\mu\Desktop\code\harmonyos-sdd-ralph-workshop\evidence\mdm\account-cross-process-log.md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上一页解决“跨进程事件传事实，业务事务仍留在 Handler”，这一页继续回答“MCP 是证据执行器，不是事实制造器”。
画面
**SESSION FACT｜18 个工具真机测试暴露的四层结果**
| 结果层 | 关键问题 | 典型证据 |
|---|---|---|
| Protocol | 外部客户端请求是否满足 MCP Schema？ | 参数校验、requestId、协议错误 |
| Tool | 工具是否被调用并正常返回？ | tool result、退出码、artifact path |
| Business | 目标业务动作是否执行成功？ | 原始错误码、业务对象、日志链 |
| System | 设备最终状态是否真的改变？ | system getter、系统接口回读 |
**E2E FACT｜`FW-STATUS-001` 的真实结果摘要**
```text
tool action       toggle_firewall        PASS
UI before/after   false → true            PASS
evidence source   ui_tree                 PRESENT
internal getter   getPolicy/listRules     PRESENT
acceptance bridge get_runtime_state       MISSING
final verdict     UNKNOWN at system layer
```
CURRENT 已覆盖 build/install/launch、UI tree/action/screenshot 与 HiLog，App 内部也已有 `getNetFirewallPolicy` / `getNetFirewallRules` 读取。TARGET 是把现有读取通过测试专用只读 bridge 暴露为结构化验收事实。若课前未准备，系统验收只能是 `UNKNOWN`。
讲师备注
`harmonyos-dev-mcp` 当前明确提供设备发现、构建、安装、运行、UI 自动化、日志查询和截图。`security_tool` 的 action map 有 `firewall.toggle_status → toggle_firewall`，但没有 `firewall.get_runtime_state`。
现有 `status_toggle.json` 主要确认页面文字仍可见，并允许 `allow_unknown:true`；它不能证明所有账号的 `getNetFirewallPolicy(userId)` / `getNetFirewallRules(userId)` 正确。提交 `72cd7d47` 删除正式 E2E 的 mock/scripted 结果通道，正好强调：模拟结果不能冒充真机验收。
**Anthropic 方法锚点**：`Writing Effective Tools for Agents` 建议优先建设少量高价值、边界清晰的工具，而不是把每个底层 API 薄包装后全部暴露；工具返回也应优先提供与下一步决策相关的高信号上下文。映射到本课：`build_app`、`logs_query`、`firewall.get_runtime_state` 应分别回答“能否构建”“最早异常在哪”“系统最终事实是什么”；默认返回状态、原因码、关键对象和 evidence path，大日志按需读取，避免一次调用污染 Agent 上下文。
可选方法图放讲师备注，不与真实证据争夺画面中心：
![Augmented LLM：Retrieval、Tools 与 Memory 共同扩展模型](harmonyos-sdd-workshop-media/anthropic/augmented-llm.png)
&lt;sub&gt;讲师读图：MCP 位于 Tools，不是“第三个大脑”；Retrieval 负责取上下文，Memory / progress 负责跨轮保留事实，三者都只能为判断提供输入。图源：Anthropic《Building Effective Agents》。&lt;/sub&gt;
演示动作
给学员一份“tool returned ok，但设备策略未改变”的结果，让他们分别填写 Protocol、Tool、Business、System；再打开 action map 与 `status_toggle.json` 找出缺失的最终事实。
通过条件
没有人把截图、UI 文案或 mock JSON 当作系统 policy/rules 的最终证据。
素材
- `repos/harmonyos-dev-mcp/README.md`
- `scripts/e2e/tools/bridge_action_map.json`
- `scripts/e2e/cases/firewall/status_toggle.json`
- commit `72cd7d47`
- MCP 全工具真机测试 Session 证据卡（附录 L2）
- `evidence/mdm/firewall-runtime-readback.md`
---
转入下一页
本页结论收束后，下一页进入“实践：把验收写成可执行的系统契约”。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C:\Users\mu\Desktop\code\harmonyos-sdd-ralph-workshop\evidence\mdm\firewall-runtime-readback.md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上一页解决“MCP 是证据执行器，不是事实制造器”，这一页继续回答“实践：把验收写成可执行的系统契约”。
画面
**T03 / Structured Acceptance Readback — TARGET**
```json
{
  "result": "PASS|FAIL|UNKNOWN",
  "accounts": [100, 112, 123],
  "mode": "public",
  "signature": "100,112,123",
  "users": [{"id": 123, "isOpen": true, "ruleCount": 4}],
  "failures": [],
  "evidence": {"device": "...", "timestamp": "..."}
}
```
操作链：`build → install → activate admin → trigger → logs → getter → screenshot`
**课堂任务不是 5 分钟现场开发 getter，而是先冻结证据契约和 PASS 规则。**
讲师备注
仓库已经有 App 内部 system repository getter；本页要补的是“自动验收如何稳定调用并结构化返回”的边界。课前最佳做法：准备一个测试专用、只读、最小权限的 app bridge，直接调用现有 getter，返回每用户 policy、受管规则、local apply record 和读取错误；不要通过 UI 文字二次解析。
契约必须保留：设备 ID、包版本/commit、账号快照、每用户结果、原始错误码、采集时间。读取任一关键真相源失败时 `result=UNKNOWN`，不能返回空数组并 PASS。
演示动作
给学员 UI 文案、成功日志和一份缺字段的 runtime JSON，让他们先设计 JSON Schema、PASS 判定和 UNKNOWN 条件。只有课前已经准备预构建 getter 时才运行真实回读；主课堂不在 5 分钟内临时开发 bridge。
通过条件
PASS 必须同时满足：系统账号集合、各用户 policy、预期规则、local signature/mapping 一致；截图只做辅证。
素材
- 附录 F 验收结果模板
- `FirewallSystemRepository.ets`
- `FirewallLocalRepository.ets`
- `evidence/mdm/firewall-runtime-readback.md`
---
转入下一页
本页结论收束后，下一页进入“MDM Checkpoint：交付一条完整证据链”。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C:\Users\mu\Desktop\code\harmonyos-sdd-ralph-workshop\evidence\mdm\firewall-runtime-readback.md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上一页解决“实践：把验收写成可执行的系统契约”，这一页继续回答“MDM Checkpoint：交付一条完整证据链”。
画面
**同伴验收只问六件事**
1. `spec.md` 是否冻结账号事实、失败语义与提交点？
2. `design.md` 是否区分 intent、local apply、system truth、UI？
3. T01 是否真的出现过可解释 RED 与 GREEN？
4. T02 故障后是否恢复 identity，而非只恢复数量？
5. 设备证据是否来自真机，UNKNOWN 是否被诚实保留？
6. diff 是否完全落在任务允许边界？
结果只允许：`PASS / FAIL / UNKNOWN`。
| Eval 层 | 检查什么 | 反例 |
|---|---|---|
| Trace | Prompt、工具调用、diff、测试、是否越界 | 过程规范，但底层调用仍失败 |
| Outcome | 系统账号、policy、rules、signature、mapping | 页面偶然正确，但 AI 伪造账号事实 |
最终结论由 Outcome 决定；Trace 用于解释可信度、复现过程和发现越界行为。
![Evaluator–Optimizer：生成、独立评估、拒绝反馈与接受](harmonyos-sdd-workshop-media/anthropic/evaluator-optimizer.png)
&lt;sub&gt;讲师读图：Implementer 不能独自给自己打分。Reviewer 返回的必须是可执行反馈与缺失证据；只有达到预先冻结的 AC 才接受。图源：Anthropic《Building Effective Agents》。&lt;/sub&gt;
讲师备注
评分建议：规格 20，设计与不变量 20，执行 Trace 20，真机 Outcome 30，GPU 迁移 10。不要按代码行数、Prompt 长度或 AI 生成速度评分。
扩展题放到课后：删除账号对称稳定条件、mode/signature 原子保存、全局 writer serializer、结构化 compensation phase、读取失败不降级为空。它们是真实 GAP，但不应在主实践中继续扩张任务。
**Anthropic 方法锚点**：Anthropic 的长任务实践建议在长时间或高风险执行后加入 fresh-context adversarial review，让没有参与实现的 Reviewer 只根据计划、diff、测试和证据寻找缺口。Reviewer 不是所有小任务的固定仪式：单文件、强测试、低风险任务可以由确定性检查完成；跨进程、事务、权限、GPU 或接近模型可靠边界的任务才值得承担独立评估开销。课堂中的相邻小组互审就是人工版本：不读取实现者的长聊天和自我解释，只读取 spec、task、diff、progress 与 evidence pack，报告需求遗漏、越界修改和证据不足，不评价个人代码风格。
演示动作
相邻小组交换 evidence pack，4 分钟内只按六问给结论，并指出一条最早缺失证据。
通过条件
每组拥有可独立检查的完整包；没有“我本机应该是好的”这种口头通过。
素材
- 附录 A Runbook
- 附录 G 评分表
---
# 第五幕：把同一方法迁移到 AVC420 / AVC444
转入下一页
本页结论收束后，下一页进入“GPU 问题先走 Evidence-first”。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C:\Users\mu\Desktop\code\harmonyos-sdd-ralph-workshop\harmonyos-sdd-workshop-media\anthropic\evaluator-optimizer.png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workshop artifact: case-materials/gpu/01-问题与基线.md</a:t>
            </a:r>
          </a:p>
          <a:p xmlns:a="http://schemas.openxmlformats.org/drawingml/2006/main">
            <a:r>
              <a:t>- Local workshop artifact: harmonyos-sdd-workshop-media/freerdp-stutter-scenario.jpeg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授课提示：本页所有 PASS / FAIL / UNKNOWN 均以对应文档中的验收条件为准。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workshop artifact: case-materials/gpu/02-大代码库认知地图.md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授课提示：本页所有 PASS / FAIL / UNKNOWN 均以对应文档中的验收条件为准。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workshop artifact: case-materials/gpu/03-跨平台实现调研.md</a:t>
            </a:r>
          </a:p>
          <a:p xmlns:a="http://schemas.openxmlformats.org/drawingml/2006/main">
            <a:r>
              <a:t>- Local workshop artifact: evidence/gpu/02-platform-research-and-spike.md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授课提示：本页所有 PASS / FAIL / UNKNOWN 均以对应文档中的验收条件为准。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workshop artifact: case-materials/gpu/04-ADR-GPU-001-HarmonyOS硬解方案.md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授课提示：本页所有 PASS / FAIL / UNKNOWN 均以对应文档中的验收条件为准。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workshop artifact: case-materials/gpu/05-最小能力穿刺计划.md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授课提示：本页所有 PASS / FAIL / UNKNOWN 均以对应文档中的验收条件为准。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workshop artifact: case-materials/gpu/tasks/README.md</a:t>
            </a:r>
          </a:p>
          <a:p xmlns:a="http://schemas.openxmlformats.org/drawingml/2006/main">
            <a:r>
              <a:t>- Local workshop artifact: case-materials/gpu/tasks/T-GPU-00.md through T-GPU-07.md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授课提示：本页所有 PASS / FAIL / UNKNOWN 均以对应文档中的验收条件为准。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workshop artifact: case-materials/gpu/tasks/README.md</a:t>
            </a:r>
          </a:p>
          <a:p xmlns:a="http://schemas.openxmlformats.org/drawingml/2006/main">
            <a:r>
              <a:t>- Local workshop artifact: case-materials/gpu/README.md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授课提示：本页所有 PASS / FAIL / UNKNOWN 均以对应文档中的验收条件为准。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workshop artifact: case-materials/gpu/07-开发排障复盘.md</a:t>
            </a:r>
          </a:p>
          <a:p xmlns:a="http://schemas.openxmlformats.org/drawingml/2006/main">
            <a:r>
              <a:t>- Local workshop artifact: harmonyos-sdd-workshop-media/gpu-failure-black-screen-contact.jpg</a:t>
            </a:r>
          </a:p>
          <a:p xmlns:a="http://schemas.openxmlformats.org/drawingml/2006/main">
            <a:r>
              <a:t>- Local workshop artifact: harmonyos-sdd-workshop-media/gpu-failure-black-screen-13s.mp4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授课提示：本页所有 PASS / FAIL / UNKNOWN 均以对应文档中的验收条件为准。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workshop artifact: case-materials/gpu/07-开发排障复盘.md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授课提示：本页所有 PASS / FAIL / UNKNOWN 均以对应文档中的验收条件为准。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workshop artifact: case-materials/gpu/06-工程验收计划.md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授课提示：本页所有 PASS / FAIL / UNKNOWN 均以对应文档中的验收条件为准。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workshop artifact: case-materials/gpu/06-工程验收计划.md</a:t>
            </a:r>
          </a:p>
          <a:p xmlns:a="http://schemas.openxmlformats.org/drawingml/2006/main">
            <a:r>
              <a:t>- Local workshop artifact: harmonyos-sdd-workshop-media/gpu-validation-video-playback-contact.jpg</a:t>
            </a:r>
          </a:p>
          <a:p xmlns:a="http://schemas.openxmlformats.org/drawingml/2006/main">
            <a:r>
              <a:t>- Local workshop artifact: harmonyos-sdd-workshop-media/gpu-validation-video-playback-16s.mp4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授课提示：本页所有 PASS / FAIL / UNKNOWN 均以对应文档中的验收条件为准。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上一页解决“420 / 444 共守输出契约，但不能共用实现假设”，这一页继续回答“把方法带回项目，只保留七个问题”。
画面
```mermaid
flowchart TD
    A[事实] --&gt; B[规格]
    B --&gt; C[任务]
    C --&gt; D[RED]
    D --&gt; E[最小 Diff]
    E --&gt; F[系统证据]
```
**可选收束主视觉（PPT 制作时与上方 Mermaid 二选一）**
![质量的瑞士奶酪模型：自动评估、人工审阅和真实运行共同拦截缺陷](harmonyos-sdd-workshop-media/anthropic/eval-quality-layers.png)
&lt;sub&gt;讲师读图：任何单层检查都有孔洞。映射到本课就是测试、构建、日志、getter、截图/视频与同伴 Reviewer 叠加；只有多层证据对齐，才允许 PASS。图源：Anthropic《Demystifying Evals for AI Agents》。&lt;/sub&gt;
下一次拿到复杂需求，只问七个问题：
1. 哪些词会让实现分叉？
2. 最终真相在哪一层？
3. 哪些不变量绝不能破坏？
4. 本轮只允许 AI 改哪个边界？
5. 怎样先制造一个可解释的 RED？
6. 最早异常证据在哪里？
7. 什么证据满足后，本轮必须停止？
**一分钟迁移题**
&gt; 权限页面第一次进入数据为空，第二次进入正常。
每组必须用七问给出：一个最小只读勘察任务、一条可证伪假设、一项禁止修改范围和一个最终事实来源。不得直接回答“加延迟”或“页面初始化问题”。
讲师备注
用两个案例做最后对照：MDM 的关键是先由规格冻结多用户与事务语义；GPU 的关键是先由证据缩小未知边界。但两者最后都落到同一个外部循环：任务小、失败真、diff 窄、证据可追踪、停止条件明确。
再把七问映射回开场的六项进阶能力：前 3 问控制需求与上下文，第 4–5 问控制 Agent 边界和可验证实现，第 6 问依赖工具取得环境事实，第 7 问由 Eval 与风险匹配的 Reviewer 决定停止。这样学员离场时记住的是一套复杂需求交付框架，而不是 Ralph、MCP 或某个模型名称。
请学员展示最终包，不再展示聊天窗口。讲师最后强调：AI 可以加速探索、测试、实现和取证，但产品决策、真相源、事务边界和 PASS 判定仍由工程师负责。
演示动作
每组用 30 秒说出一条“原本准备让 AI 猜、现在改为先冻结或先取证”的真实工作项。
通过条件
学员带走的是可复用工作流与模板，而不是两个项目答案。
素材
- MDM evidence pack
- `gpu-diagnosis.md`
- 七问行动卡
---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C:\Users\mu\Desktop\code\harmonyos-sdd-ralph-workshop\harmonyos-sdd-workshop-media\anthropic\eval-quality-layers.png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01f8671824d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62b316481349ce" /><Relationship Type="http://schemas.openxmlformats.org/officeDocument/2006/relationships/slideLayout" Target="/ppt/slideLayouts/slideLayout1.xml" Id="R15ca98bb92264f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ca98bb92264f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cbf34d06540a6" /><Relationship Type="http://schemas.openxmlformats.org/officeDocument/2006/relationships/image" Target="/ppt/media/image.png" Id="R49ef32a525c245eb" /><Relationship Type="http://schemas.openxmlformats.org/officeDocument/2006/relationships/image" Target="/ppt/media/image.jpeg" Id="Rbf27a4242cac4c7f" /><Relationship Type="http://schemas.openxmlformats.org/officeDocument/2006/relationships/notesSlide" Target="/ppt/notesSlides/notesSlide1.xml" Id="R2009c321fab24b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313a9bd934d9b" /><Relationship Type="http://schemas.openxmlformats.org/officeDocument/2006/relationships/image" Target="/ppt/media/image2.png" Id="R7481e4c5990f4551" /><Relationship Type="http://schemas.openxmlformats.org/officeDocument/2006/relationships/notesSlide" Target="/ppt/notesSlides/notesSlide2.xml" Id="Ra333a968bd8d4b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7029048d548bc" /><Relationship Type="http://schemas.openxmlformats.org/officeDocument/2006/relationships/image" Target="/ppt/media/image3.png" Id="R3b00301ca65644d6" /><Relationship Type="http://schemas.openxmlformats.org/officeDocument/2006/relationships/notesSlide" Target="/ppt/notesSlides/notesSlide3.xml" Id="R86b86a68fb4343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88bc70c404712" /><Relationship Type="http://schemas.openxmlformats.org/officeDocument/2006/relationships/image" Target="/ppt/media/image4.png" Id="Re8103000d4484f83" /><Relationship Type="http://schemas.openxmlformats.org/officeDocument/2006/relationships/notesSlide" Target="/ppt/notesSlides/notesSlide4.xml" Id="Rdf22f7b6260e40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29216cb594f38" /><Relationship Type="http://schemas.openxmlformats.org/officeDocument/2006/relationships/image" Target="/ppt/media/image5.png" Id="Re063b469902a48ab" /><Relationship Type="http://schemas.openxmlformats.org/officeDocument/2006/relationships/notesSlide" Target="/ppt/notesSlides/notesSlide5.xml" Id="R9b669e7851e540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5ad07d7474644" /><Relationship Type="http://schemas.openxmlformats.org/officeDocument/2006/relationships/image" Target="/ppt/media/image6.png" Id="Rb9ae952949664768" /><Relationship Type="http://schemas.openxmlformats.org/officeDocument/2006/relationships/notesSlide" Target="/ppt/notesSlides/notesSlide6.xml" Id="R1316acfaa7194e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ea25efbdf4f17" /><Relationship Type="http://schemas.openxmlformats.org/officeDocument/2006/relationships/image" Target="/ppt/media/image7.png" Id="Ree27e8adb8fa4248" /><Relationship Type="http://schemas.openxmlformats.org/officeDocument/2006/relationships/notesSlide" Target="/ppt/notesSlides/notesSlide7.xml" Id="Rf59956e56dd841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52311e3e04ef8" /><Relationship Type="http://schemas.openxmlformats.org/officeDocument/2006/relationships/image" Target="/ppt/media/image8.png" Id="Rc0ff050f22294418" /><Relationship Type="http://schemas.openxmlformats.org/officeDocument/2006/relationships/notesSlide" Target="/ppt/notesSlides/notesSlide8.xml" Id="R6890842bd6ff4a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fb4010ece4eab" /><Relationship Type="http://schemas.openxmlformats.org/officeDocument/2006/relationships/image" Target="/ppt/media/image9.png" Id="R830c542aed844315" /><Relationship Type="http://schemas.openxmlformats.org/officeDocument/2006/relationships/notesSlide" Target="/ppt/notesSlides/notesSlide9.xml" Id="R117d23b529f446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d21ef6e894a96" /><Relationship Type="http://schemas.openxmlformats.org/officeDocument/2006/relationships/image" Target="/ppt/media/image10.png" Id="R5d6a4ea71a9540b0" /><Relationship Type="http://schemas.openxmlformats.org/officeDocument/2006/relationships/notesSlide" Target="/ppt/notesSlides/notesSlide10.xml" Id="Rb2d8ca5e85124a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df55faa824791" /><Relationship Type="http://schemas.openxmlformats.org/officeDocument/2006/relationships/image" Target="/ppt/media/image11.png" Id="R71e700c0dcfb4292" /><Relationship Type="http://schemas.openxmlformats.org/officeDocument/2006/relationships/notesSlide" Target="/ppt/notesSlides/notesSlide11.xml" Id="R5ab7c45abdaf44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ad052e5884252" /><Relationship Type="http://schemas.openxmlformats.org/officeDocument/2006/relationships/image" Target="/ppt/media/image12.png" Id="Rd4ad8f244d4b42c1" /><Relationship Type="http://schemas.openxmlformats.org/officeDocument/2006/relationships/notesSlide" Target="/ppt/notesSlides/notesSlide12.xml" Id="R54e9de8f287b43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fb265450c4b14" /><Relationship Type="http://schemas.openxmlformats.org/officeDocument/2006/relationships/image" Target="/ppt/media/image13.png" Id="R2e9022956641490f" /><Relationship Type="http://schemas.openxmlformats.org/officeDocument/2006/relationships/image" Target="/ppt/media/image14.png" Id="Rd1ec8fef70a14ec9" /><Relationship Type="http://schemas.openxmlformats.org/officeDocument/2006/relationships/notesSlide" Target="/ppt/notesSlides/notesSlide13.xml" Id="Rd9e9c05d34ca40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09a7c791641df" /><Relationship Type="http://schemas.openxmlformats.org/officeDocument/2006/relationships/image" Target="/ppt/media/image15.png" Id="Rc141c502e660489b" /><Relationship Type="http://schemas.openxmlformats.org/officeDocument/2006/relationships/notesSlide" Target="/ppt/notesSlides/notesSlide14.xml" Id="Rae8e5ee395fb48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a07ff68b44d91" /><Relationship Type="http://schemas.openxmlformats.org/officeDocument/2006/relationships/image" Target="/ppt/media/image16.png" Id="R24db345d46a94b63" /><Relationship Type="http://schemas.openxmlformats.org/officeDocument/2006/relationships/notesSlide" Target="/ppt/notesSlides/notesSlide15.xml" Id="R1c074063583546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e158b5ec4492b" /><Relationship Type="http://schemas.openxmlformats.org/officeDocument/2006/relationships/image" Target="/ppt/media/image17.png" Id="Ra79b0366c9664f95" /><Relationship Type="http://schemas.openxmlformats.org/officeDocument/2006/relationships/notesSlide" Target="/ppt/notesSlides/notesSlide16.xml" Id="R387281e1fcf849a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db1e093b24f7e" /><Relationship Type="http://schemas.openxmlformats.org/officeDocument/2006/relationships/image" Target="/ppt/media/image18.png" Id="R6c69594c68224fed" /><Relationship Type="http://schemas.openxmlformats.org/officeDocument/2006/relationships/image" Target="/ppt/media/image19.png" Id="Rf017e6f2f9e24f41" /><Relationship Type="http://schemas.openxmlformats.org/officeDocument/2006/relationships/notesSlide" Target="/ppt/notesSlides/notesSlide17.xml" Id="R912d413dfa154e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5f41801d54769" /><Relationship Type="http://schemas.openxmlformats.org/officeDocument/2006/relationships/image" Target="/ppt/media/image20.png" Id="Rdfad3ca63f9243d5" /><Relationship Type="http://schemas.openxmlformats.org/officeDocument/2006/relationships/notesSlide" Target="/ppt/notesSlides/notesSlide18.xml" Id="Rdaf5c203dd2746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8a43e95d44179" /><Relationship Type="http://schemas.openxmlformats.org/officeDocument/2006/relationships/image" Target="/ppt/media/image21.png" Id="R39c036dc79aa4bb1" /><Relationship Type="http://schemas.openxmlformats.org/officeDocument/2006/relationships/notesSlide" Target="/ppt/notesSlides/notesSlide19.xml" Id="Rcac1258282f7454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b2432f60b4a27" /><Relationship Type="http://schemas.openxmlformats.org/officeDocument/2006/relationships/image" Target="/ppt/media/image22.png" Id="Rd60d9d913e614f8f" /><Relationship Type="http://schemas.openxmlformats.org/officeDocument/2006/relationships/notesSlide" Target="/ppt/notesSlides/notesSlide20.xml" Id="Re21263c7528a40b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2822fdc9f491d" /><Relationship Type="http://schemas.openxmlformats.org/officeDocument/2006/relationships/image" Target="/ppt/media/image23.png" Id="Raf8617fb839246c0" /><Relationship Type="http://schemas.openxmlformats.org/officeDocument/2006/relationships/notesSlide" Target="/ppt/notesSlides/notesSlide21.xml" Id="Re7122e8647ae411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ae71e2db84145" /><Relationship Type="http://schemas.openxmlformats.org/officeDocument/2006/relationships/image" Target="/ppt/media/image24.png" Id="R61ed723162e040a3" /><Relationship Type="http://schemas.openxmlformats.org/officeDocument/2006/relationships/notesSlide" Target="/ppt/notesSlides/notesSlide22.xml" Id="Rf356e26ccc70442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966e234984b7c" /><Relationship Type="http://schemas.openxmlformats.org/officeDocument/2006/relationships/image" Target="/ppt/media/image25.png" Id="Rb3b9cb15c0514b34" /><Relationship Type="http://schemas.openxmlformats.org/officeDocument/2006/relationships/notesSlide" Target="/ppt/notesSlides/notesSlide23.xml" Id="R0655c0e3dc134f4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0c31506de4d9e" /><Relationship Type="http://schemas.openxmlformats.org/officeDocument/2006/relationships/image" Target="/ppt/media/image26.png" Id="R9c1e68495ae24720" /><Relationship Type="http://schemas.openxmlformats.org/officeDocument/2006/relationships/notesSlide" Target="/ppt/notesSlides/notesSlide24.xml" Id="Re10d68bde18e456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df11a5cf64cf1" /><Relationship Type="http://schemas.openxmlformats.org/officeDocument/2006/relationships/image" Target="/ppt/media/image27.png" Id="Rb9b11b4fe1294df5" /><Relationship Type="http://schemas.openxmlformats.org/officeDocument/2006/relationships/notesSlide" Target="/ppt/notesSlides/notesSlide25.xml" Id="R3f6a227dbbe1439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05d339c9345fc" /><Relationship Type="http://schemas.openxmlformats.org/officeDocument/2006/relationships/image" Target="/ppt/media/image28.png" Id="Rfe3ce8937ea145bf" /><Relationship Type="http://schemas.openxmlformats.org/officeDocument/2006/relationships/notesSlide" Target="/ppt/notesSlides/notesSlide26.xml" Id="Rab05da90ef18421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6ea77419f4186" /><Relationship Type="http://schemas.openxmlformats.org/officeDocument/2006/relationships/image" Target="/ppt/media/image29.png" Id="R3a7937e9923d41b0" /><Relationship Type="http://schemas.openxmlformats.org/officeDocument/2006/relationships/image" Target="/ppt/media/image30.png" Id="Rf9185b0ffef04e2c" /><Relationship Type="http://schemas.openxmlformats.org/officeDocument/2006/relationships/notesSlide" Target="/ppt/notesSlides/notesSlide27.xml" Id="R0181cc34f1914b5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9c4aeffa4409b" /><Relationship Type="http://schemas.openxmlformats.org/officeDocument/2006/relationships/image" Target="/ppt/media/image31.png" Id="R33013c0266a547eb" /><Relationship Type="http://schemas.openxmlformats.org/officeDocument/2006/relationships/image" Target="/ppt/media/image2.jpeg" Id="Ra39d56e70ef8487b" /><Relationship Type="http://schemas.openxmlformats.org/officeDocument/2006/relationships/notesSlide" Target="/ppt/notesSlides/notesSlide28.xml" Id="R0a779a51039f42f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3f3fd016a449b" /><Relationship Type="http://schemas.openxmlformats.org/officeDocument/2006/relationships/image" Target="/ppt/media/image32.png" Id="R3328e3359b794ea0" /><Relationship Type="http://schemas.openxmlformats.org/officeDocument/2006/relationships/notesSlide" Target="/ppt/notesSlides/notesSlide29.xml" Id="Rc6c137023ffb429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6e5e97eac4538" /><Relationship Type="http://schemas.openxmlformats.org/officeDocument/2006/relationships/image" Target="/ppt/media/image33.png" Id="R5dc5539d66ff4ced" /><Relationship Type="http://schemas.openxmlformats.org/officeDocument/2006/relationships/notesSlide" Target="/ppt/notesSlides/notesSlide30.xml" Id="R936b55e8b472419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c4174dd3d46d0" /><Relationship Type="http://schemas.openxmlformats.org/officeDocument/2006/relationships/image" Target="/ppt/media/image34.png" Id="R35b4504209b44fac" /><Relationship Type="http://schemas.openxmlformats.org/officeDocument/2006/relationships/notesSlide" Target="/ppt/notesSlides/notesSlide31.xml" Id="R5d1938e870ef49d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5a2dfd2604010" /><Relationship Type="http://schemas.openxmlformats.org/officeDocument/2006/relationships/image" Target="/ppt/media/image35.png" Id="R728266b13b28443c" /><Relationship Type="http://schemas.openxmlformats.org/officeDocument/2006/relationships/notesSlide" Target="/ppt/notesSlides/notesSlide32.xml" Id="R24d6cf9cdb974a7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37a2be8ed4d75" /><Relationship Type="http://schemas.openxmlformats.org/officeDocument/2006/relationships/image" Target="/ppt/media/image36.png" Id="R12718fc944074a5c" /><Relationship Type="http://schemas.openxmlformats.org/officeDocument/2006/relationships/notesSlide" Target="/ppt/notesSlides/notesSlide33.xml" Id="R41daf1d85689428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2ab7defcb4f1f" /><Relationship Type="http://schemas.openxmlformats.org/officeDocument/2006/relationships/image" Target="/ppt/media/image37.png" Id="Radb74cfa10bd434e" /><Relationship Type="http://schemas.openxmlformats.org/officeDocument/2006/relationships/notesSlide" Target="/ppt/notesSlides/notesSlide34.xml" Id="R5b5a64012d73407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51b132d944384" /><Relationship Type="http://schemas.openxmlformats.org/officeDocument/2006/relationships/image" Target="/ppt/media/image38.png" Id="R4234cfbf19ee4228" /><Relationship Type="http://schemas.openxmlformats.org/officeDocument/2006/relationships/image" Target="/ppt/media/image3.jpeg" Id="R4d83f8871a0f42e8" /><Relationship Type="http://schemas.openxmlformats.org/officeDocument/2006/relationships/notesSlide" Target="/ppt/notesSlides/notesSlide35.xml" Id="Rc23a10a90bc44ee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49cc4d0614916" /><Relationship Type="http://schemas.openxmlformats.org/officeDocument/2006/relationships/image" Target="/ppt/media/image39.png" Id="R7cabf82feda04525" /><Relationship Type="http://schemas.openxmlformats.org/officeDocument/2006/relationships/notesSlide" Target="/ppt/notesSlides/notesSlide36.xml" Id="Rffa9b660589348f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72b3281594b65" /><Relationship Type="http://schemas.openxmlformats.org/officeDocument/2006/relationships/image" Target="/ppt/media/image40.png" Id="R7d9afb7b3c04441c" /><Relationship Type="http://schemas.openxmlformats.org/officeDocument/2006/relationships/notesSlide" Target="/ppt/notesSlides/notesSlide37.xml" Id="R42fb90f91a8740d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4eb2a97ed4ab1" /><Relationship Type="http://schemas.openxmlformats.org/officeDocument/2006/relationships/image" Target="/ppt/media/image41.png" Id="R5ead043000834ff3" /><Relationship Type="http://schemas.openxmlformats.org/officeDocument/2006/relationships/image" Target="/ppt/media/image4.jpeg" Id="R5b7a296801d84501" /><Relationship Type="http://schemas.openxmlformats.org/officeDocument/2006/relationships/image" Target="/ppt/media/image5.jpeg" Id="R3fba6db23f5e4822" /><Relationship Type="http://schemas.openxmlformats.org/officeDocument/2006/relationships/notesSlide" Target="/ppt/notesSlides/notesSlide38.xml" Id="R543e9b6dbfdb427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cf4b2547a4734" /><Relationship Type="http://schemas.openxmlformats.org/officeDocument/2006/relationships/image" Target="/ppt/media/image42.png" Id="R7ad8c9d0c67c4c30" /><Relationship Type="http://schemas.openxmlformats.org/officeDocument/2006/relationships/notesSlide" Target="/ppt/notesSlides/notesSlide39.xml" Id="R71665cdd44c946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f32a525c245eb"/>
          <a:stretch xmlns:a="http://schemas.openxmlformats.org/drawingml/2006/main"/>
        </p:blipFill>
        <p:spPr>
          <a:xfrm xmlns:a="http://schemas.openxmlformats.org/drawingml/2006/main">
            <a:off x="10096500" y="377204"/>
            <a:ext cx="1638300" cy="36954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8DFBB-CB81-4756-88C9-5281DFA5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HARMONYOS SDD · RALPH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78317-775B-457B-8CE1-89F42A25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181818"/>
                </a:solidFill>
              </a:defRPr>
            </a:pPr>
            <a:r>
              <a:rPr sz="3900" b="1" i="0">
                <a:solidFill>
                  <a:srgbClr val="181818"/>
                </a:solidFill>
              </a:rPr>
              <a:t>使用 AI 进阶能力</a:t>
            </a:r>
          </a:p>
          <a:p xmlns:a="http://schemas.openxmlformats.org/drawingml/2006/main">
            <a:pPr algn="l">
              <a:buNone/>
              <a:defRPr sz="3900" b="1" i="0">
                <a:solidFill>
                  <a:srgbClr val="181818"/>
                </a:solidFill>
              </a:defRPr>
            </a:pPr>
            <a:r>
              <a:rPr sz="3900" b="1" i="0">
                <a:solidFill>
                  <a:srgbClr val="181818"/>
                </a:solidFill>
              </a:rPr>
              <a:t>实现较为复杂的需求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7B371-1012-4FEA-B211-A78C9FE0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C7000B"/>
                </a:solidFill>
              </a:defRPr>
            </a:pPr>
            <a:r>
              <a:rPr sz="1800" b="1" i="0">
                <a:solidFill>
                  <a:srgbClr val="C7000B"/>
                </a:solidFill>
              </a:rPr>
              <a:t>从需求拆解、开发、验证，到问题定位与协同闭环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A9A7D-4A74-4B6D-9AC9-4F70F40A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不是提示词技巧课，也不是单纯的项目复盘。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用真实 MDM 与 FreeRDP GPU 问题，训练把复杂需求变成可信结果。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CB31D-924A-419B-B299-5D35A1B6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1100"/>
            <a:ext cx="4914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D3219-F163-4D2B-BF91-EE2C463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7000B"/>
                </a:solidFill>
              </a:defRPr>
            </a:pPr>
            <a:r>
              <a:rPr sz="1350" b="1" i="0">
                <a:solidFill>
                  <a:srgbClr val="C7000B"/>
                </a:solidFill>
              </a:rPr>
              <a:t>核心标准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C7000B"/>
                </a:solidFill>
              </a:defRPr>
            </a:pPr>
            <a:r>
              <a:rPr sz="1350" b="1" i="0">
                <a:solidFill>
                  <a:srgbClr val="C7000B"/>
                </a:solidFill>
              </a:rPr>
              <a:t>代码不是终点，系统事实能够被追踪、复现和审阅才算交付。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CBFA7-6970-4CB8-A57C-37136819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066800"/>
            <a:ext cx="521970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7a4242cac4c7f"/>
          <a:stretch xmlns:a="http://schemas.openxmlformats.org/drawingml/2006/main"/>
        </p:blipFill>
        <p:spPr>
          <a:xfrm xmlns:a="http://schemas.openxmlformats.org/drawingml/2006/main">
            <a:off x="6267450" y="1676400"/>
            <a:ext cx="4914900" cy="3276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0AB4D-2ADA-49F7-806F-74FE1C08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2930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218B57"/>
                </a:solidFill>
              </a:defRPr>
            </a:pPr>
            <a:r>
              <a:rPr sz="1350" b="1" i="0">
                <a:solidFill>
                  <a:srgbClr val="218B57"/>
                </a:solidFill>
              </a:rPr>
              <a:t>培训目标：讲清方法 → 现场做一轮 → 能迁移到新问题</a:t>
            </a:r>
          </a:p>
        </p:txBody>
      </p:sp>
    </p:spTree>
    <p:extLst>
      <p:ext uri="{BB962C8B-B14F-4D97-AF65-F5344CB8AC3E}">
        <p14:creationId xmlns:p14="http://schemas.microsoft.com/office/powerpoint/2010/main" val="323632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D6DC8D-C940-4902-A5E4-842D2189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02  开场｜先定义可信交付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61653-58F7-4541-A8CE-0A364664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501E9-1667-4609-9CAD-3F743D74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52B5C-CD42-4FB1-9BF3-5B57BC41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两小时跑通一条主闭环，再做一次跨域迁移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B8DB3-2CA4-4F4A-9B03-BFDA54E6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MDM 冻结行为语义，GPU 建立同帧证据；两条主线共用一套工程控制法。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FBE8A-A40D-43E1-9AD7-C934C305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0AC64-1B8F-485D-82E6-BE45DC75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019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247E5-6FAB-4E36-9A21-72D7AD54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DD955-06F6-4152-91FE-E10E8173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BFD5F-2961-45F2-B7D4-56B42ED3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24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需求闭合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58800-E5FF-4AFF-8AF5-7380BC7D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43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对象 · 分叉 · EARS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1E332-AE3F-4EF7-9500-08E3D1E0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1935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37E97-A6F5-48C9-BB95-C372F5E0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812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2C0C2-9DCB-420E-BE31-41A993A0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24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规格到任务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3FBE7-1A39-46EA-8C39-DE31326D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43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不变量 · 边界 · 任务卡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AAC0C-76D0-4604-8914-D51A00FF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1935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54F13-D38E-4593-84CE-F67C19AF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812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B76B4-9567-4EA7-978C-F884516B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两轮 Ralph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F07AD-ECA7-4E81-B654-FE0DE65E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43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RED · 实现 · 回滚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61CA5-DAB2-4C66-9001-F8A1E7E1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1935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075B19-D3B8-4B9A-A7E0-E8917DCE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812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75978-F5BF-4EAE-99D2-F9F005CE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24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平台验收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F8AD0-BA14-4FE2-B461-1DA2BB3F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43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MCP · 回读 ·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2E5942-982F-4D43-9F48-E116BED6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1935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B8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23886F-7171-4C05-B711-68ABAEB2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812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F1F29-E717-4C97-B1C2-1BEE89D7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24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GPU 迁移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0E9CA1-CCEE-4ADF-8DBD-1D0B1383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43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同帧证据 · 生命周期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4A3A29-93A1-47C0-AA54-F78FB53D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296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86C013-4316-4098-8380-D0E79C39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768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最终交付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38E119-3D81-45F8-ABE6-49313915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57800"/>
            <a:ext cx="794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spec · Task Card · patch · acceptance · progress · evidence · GPU diagnosis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6A121D-6567-483B-9315-2580551D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510DD4-2D32-48F7-9775-59D8035B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最终交付：spec · design · Task Card · patch · acceptance · progress · evidence · GPU diagnosis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2C556B-6AA3-42FD-BCB6-F531F378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02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1e4c5990f4551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46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CD42E4-2193-4E94-99B6-3210BEFF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03  开场｜先定义可信交付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E69E2-D831-4E3D-ACEE-78DA934B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87A96-DFC4-4B73-A66F-D6C1AF26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7F265-AC58-45B2-A9FB-A7EFA67A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复杂任务每轮必须留下六类证据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ED538-D0D4-43FC-8E48-FC60134E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每一轮只推进一个可验证问题，并让执行轨迹与最终系统状态同时成立。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EA5FD-2911-4C24-92D7-FB7C337E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D8A67-7545-407B-830B-D2FB2534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F9483-00BD-430B-A400-4C79A6CB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6741D9"/>
                </a:solidFill>
              </a:defRPr>
            </a:pPr>
            <a:r>
              <a:rPr sz="1650" b="1" i="0">
                <a:solidFill>
                  <a:srgbClr val="6741D9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D07AE-D54B-4AA5-9538-FD571309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792C4-9A37-4F7F-AED2-F208C23C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冻结本轮唯一结果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9296E-497D-400B-BFD2-6CE36C6F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95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C7000B"/>
                </a:solidFill>
              </a:defRPr>
            </a:pPr>
            <a:r>
              <a:rPr sz="2250" b="1" i="0">
                <a:solidFill>
                  <a:srgbClr val="C7000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0B9C6-93F7-4761-B27F-09E5D754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953D0-067C-4FD9-9C8D-C1EA1116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C7000B"/>
                </a:solidFill>
              </a:defRPr>
            </a:pPr>
            <a:r>
              <a:rPr sz="1650" b="1" i="0">
                <a:solidFill>
                  <a:srgbClr val="C7000B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11CB7-9CF0-4270-83F4-0A62C6F4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016F8-0DF7-402A-B2B1-C465E331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制造可解释失败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99392-F08A-494F-A3E8-BD95E233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95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C7000B"/>
                </a:solidFill>
              </a:defRPr>
            </a:pPr>
            <a:r>
              <a:rPr sz="2250" b="1" i="0">
                <a:solidFill>
                  <a:srgbClr val="C7000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A8F7B-14C6-4356-A10A-A65CA5D6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3B30E-ADE5-474C-AA4C-1F4F5FC0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86FB4"/>
                </a:solidFill>
              </a:defRPr>
            </a:pPr>
            <a:r>
              <a:rPr sz="1650" b="1" i="0">
                <a:solidFill>
                  <a:srgbClr val="286FB4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42E0C-BE2E-4E37-85A3-174BFED2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44EA86-5D64-400A-B712-D8DC4D9F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窄测、构建、设备回读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7623E-E6D3-45AF-A541-1EEA2252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C7000B"/>
                </a:solidFill>
              </a:defRPr>
            </a:pPr>
            <a:r>
              <a:rPr sz="2250" b="1" i="0">
                <a:solidFill>
                  <a:srgbClr val="C7000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CAD54-BD0A-4ACB-9725-1E72C01E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F03292-90E2-4A35-9462-CD73E0E7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18B57"/>
                </a:solidFill>
              </a:defRPr>
            </a:pPr>
            <a:r>
              <a:rPr sz="1650" b="1" i="0">
                <a:solidFill>
                  <a:srgbClr val="218B57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901DE-56DE-40B3-84CC-EB5EF06E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LEARN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0B6A94-D484-42F7-97AF-28E6487C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修正假设与下一任务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D1B709-87D6-4BB0-A97F-0F0ADB9C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216CE2-8341-49F0-9958-BD8E3672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每轮只问三件事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8FF87A-E619-42D9-96FB-A7AC99A9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495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失败是否与目标行为同源？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修改是否保持最小边界？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最终系统事实是否可回读？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AD1907-C1E3-4A1C-9BD8-A43D3670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38600"/>
            <a:ext cx="5619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1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936296-5530-4A59-A88A-6F445BEA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48150"/>
            <a:ext cx="516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6741D9"/>
                </a:solidFill>
              </a:defRPr>
            </a:pPr>
            <a:r>
              <a:rPr sz="1650" b="1" i="0">
                <a:solidFill>
                  <a:srgbClr val="6741D9"/>
                </a:solidFill>
              </a:rPr>
              <a:t>MCP 负责取证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6741D9"/>
                </a:solidFill>
              </a:defRPr>
            </a:pPr>
            <a:r>
              <a:rPr sz="1650" b="1" i="0">
                <a:solidFill>
                  <a:srgbClr val="6741D9"/>
                </a:solidFill>
              </a:rPr>
              <a:t>工程师负责判断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3982E6-FBA6-4F17-A1F9-FD6D34C8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439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CB2219-1634-4ABB-B1B0-72E08040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本页结论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9BB83E-61C4-487C-B269-05ACF1B7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43550"/>
            <a:ext cx="908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不把“跑过一次”误判为“已经完成”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9580D1-F41C-4974-9460-B8D75E1A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751AF2-3FAA-4838-AB2A-51E7CA98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不把“跑过一次”误判为“已经完成”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69840D-1A5D-4066-9A2D-44C52C7D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03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0301ca65644d6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018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9D4E1F-9B58-43EE-87FE-CD92E6B0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04  第一幕｜需求 → 可测试规格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4B35E-BF21-4266-8D84-BBC4ECE8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DFB20-6F60-40CB-94BF-71A7E183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43E2D-4A57-417D-840C-E74EF0B3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先认识五个对象，再谈“防火墙开关”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AB06D-7B98-45A1-892D-75832A24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Account、Policy、Intent、Deployment、systemRuleId 的真相来源不同，不能混成一个状态。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D7EB8-C7DA-4106-8DE7-F14C05AB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21202-8FE6-4206-A087-C4B0380A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383C0-7FF9-4B2F-939E-57379227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三个控制问题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A2C06-E767-4784-9CC6-42CC5ABB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69833-AB23-4D8F-B055-F8390581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当前覆盖谁？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EB719-237C-4120-B9A1-81FC287D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Account Set 来自 OS account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C74A5-4337-4BED-9203-81AE5036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6741D9"/>
                </a:solidFill>
              </a:defRPr>
            </a:pPr>
            <a:r>
              <a:rPr sz="1500" b="1" i="0">
                <a:solidFill>
                  <a:srgbClr val="6741D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01F19-D897-42A8-BE29-3519E276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用户想要什么？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75FB2-14E6-42C4-B93D-11188A74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Mode / Intent 来自业务输入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66B5D-9C4F-4C9E-8F67-5E8153F4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18B57"/>
                </a:solidFill>
              </a:defRPr>
            </a:pPr>
            <a:r>
              <a:rPr sz="1500" b="1" i="0">
                <a:solidFill>
                  <a:srgbClr val="218B5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CBCA7-53D0-411D-BF89-543B8015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系统实际是什么？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755D2-BFD7-49AC-AE8A-40601C10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Policy / Rules 来自 MDM getter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2EDB8-C38A-4EF6-9CB0-1E96B31E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A86BB9-FA36-4DB9-A0BC-D426F0CD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78698-1B12-472D-A5D2-550993FF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95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L1 Account 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B969C-C052-4D89-8018-785BE736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14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账号快照与 signature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65A01-E428-4624-B780-94863D22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8E0B8-772E-48DF-B550-3FBC6737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663BF6-C88E-4C69-8DBA-6A82687A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71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L2 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987718-5A76-4433-A973-1D30D6F6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isOpen 与默认动作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FFF101-90E9-4802-9842-DA44C0E4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67322A-F5AD-44C3-B397-8DCF54F2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CDD7D5-5253-45A9-86EE-31F51A7D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L3 Intent / Deployment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E81170-4D4E-46AA-8FAA-1539631D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业务规则与每用户落点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1160E4-67FA-4C2F-9CF5-4355D3C0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46BE27-B264-45DA-97EA-C18AFEBA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3D1360-7741-429F-8CFC-47644FDD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244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L4 systemRuleId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C645C3-586F-4F99-810B-0F57BDDC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434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系统资源身份与回滚重映射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A8CC3B-5D95-40E6-BA4C-FD3360BC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29300"/>
            <a:ext cx="716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D7F449-01AC-4F87-86A2-DEA478C8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962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控制目标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64BBC2-2E3A-4CED-A756-646707AC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436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目标：先分清对象与真相源，再定义“已应用”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E6ADA3-E7B7-4CCD-ABCB-52988538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B24107-3614-41BD-AA59-3E28C838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目标：先分清对象与真相源，再定义“已应用”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30AA61-D7A1-4B6A-81D6-9B303B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04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03000d4484f83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73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0F69EF-C072-440A-93F0-AC0C0F67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05  第一幕｜需求 → 可测试规格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E95EA-D509-4F64-A193-7D4D848C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B0D0A-6700-4E72-9C35-2DF01834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18E6F-A74D-4E3E-ADB0-50D7B315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原始需求的问题不是长，而是决定被藏起来了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5A999-7C6A-4A38-A1BD-5CE13A1A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“先不要改”不是拖延，而是在实现前冻结事实源、失败语义和验收口径。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14E9E-0F86-492E-89A9-08D5B30E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1A20F-B5DB-41EE-8123-BFF806F4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207CB-790C-4F93-A173-82A34726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真实 Session 原话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308DF-A406-4F64-B76B-EDE5C295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04C17-786E-4BCE-9C0D-B5AA1938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必须冻结的四个分叉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6C4E6-7246-466B-BADC-510C2409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READ-ONLY 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2F1D7-3791-4977-8B88-17E2A1D9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OPEN 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FCDC8-CD75-49A2-BB00-0E3689D6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EEC13-B2D3-43E9-BAD5-C0684726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用户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DB5D4-B654-43A2-9C47-142F6E4B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先不要改，先看看怎么改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15E47-C87D-48B6-A134-3BE729A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BA2431-5D73-4A67-B702-732EF3B6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313D7-0033-487E-B2DD-83359974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实时拿到账号信息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2E113-63F7-45E1-9B7D-70ADA750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E2391-382B-4175-A4CF-DDA21B01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本轮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C9CEC-0A48-49B4-B79D-F3CF5D73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只输出方案与验收点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20A01-5821-4D5D-903C-95387CD0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FE9AA-D424-4FE9-B50B-05769CEB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禁止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087BC-6E04-43F2-932D-FFB84DA9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凭命名猜 API 或行为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6D24D0-8A7E-4FEA-8548-3A7A5620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账号事实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8D4F1-2A58-4845-9DD7-66824516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事件参数 / 缓存 / OS 快照？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9CC29-1FF1-47AB-8E1E-9648799E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E63591-7630-4847-AD93-43350CF1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部分失败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76606E-029D-4F0C-A969-7D887408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保留成功 / 整体回滚？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B4CE9B-4102-494D-9128-92AE4BA7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EE8489-5D32-4205-B696-5B585068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已应用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5A50FB-4F80-4AF7-9825-A578781C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mode / signature / system truth？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E8F34A-3A72-4193-B4EC-EC5E6C9F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3F3E28-E2B5-4CEA-AE39-C7A33B6A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跨进程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DEC10B-AFFC-4DC9-9C07-F9D960D4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Extension 如何通知 UI？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3CA976-F1AC-4FB3-AAA8-B5D93B22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CC36FF-BEB3-40A3-A64C-8AA9D7EC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DAE72B-E4E4-4F72-8801-60031D23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先找会改变状态、调用顺序、补偿或验收的歧义。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8FEE14-6E01-48AA-894C-6C6C7D1D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9F04BD-B46C-4C87-B89C-85C9425C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先找会改变状态、调用顺序、补偿或验收的歧义。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B7A37E-DC23-4689-B6DA-7131DF87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05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3b469902a48ab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006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773120-6B3C-44C3-89B2-2046AC0B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06  第一幕｜需求 → 可测试规格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71B54-8118-40C2-AD29-09CD46F5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D8AE8-4875-4807-9FA6-E56347F6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A953D-32F7-42A8-96D9-2DF5DC3E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实践：先让 AI 找分叉，人来冻结语义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C50B6-9110-40BB-B0F4-01C7FD0F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现场先复制约束 Prompt，再区分“AI 可分析”与“人必须拍板”的边界。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07F59-BE0C-4B0F-8415-F96B1639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F2E5C-8745-470D-B1E5-42ADE6C2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4198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B8E69-5153-468C-B5F9-3FA3DF6D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419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B8C21-29DD-438F-AD05-85AB49C1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07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PROMPT｜直接复制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F3EBF-EF77-47B0-B0FD-892E087A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60007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不要设计方案，不要写代码。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只找会改变状态、调用顺序、补偿或验收的歧义。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每项给出至少两个互斥答案及其工程影响。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06FC5-A5AE-4AC0-B642-FF064149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9980C-70E2-45C4-9EAD-73A09432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95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学员要冻结的五件事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208BB-B0AE-4BFF-A0FA-1EE7E7C1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5747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事实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CE3CD-2D62-438A-8BBF-0F90BF01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3842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账号集合以谁为准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12053-6D02-4FCB-A5C9-8A70A988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24200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C091C-05B9-4A7B-8DBD-B62175EC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480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失败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20625-138A-4F02-8F13-0E51064E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2897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best-effort 或 rollback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240AA-A563-40D5-9E35-43D787DD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14750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294F2-F7A0-48E0-9582-2A0CC051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3857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提交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75B82-4CD2-4BA4-8729-4427555F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1952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唯一 commit 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94A3A-55D4-4075-9998-366FBBF2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05300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C17D35-C6E1-49A1-A2EA-2E89602F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29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6B6E8D-4A8F-4E1E-887C-E9B6EEE1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1007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UI 与系统的口径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FE2A8-A0CB-4F12-A0EC-162BF128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48250"/>
            <a:ext cx="4114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89AEAA-5027-412F-AE8D-FA4B5621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816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现场产出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2C8497-6DC5-47D7-9610-EDAFE580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625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spec.md / Open Decisions；高影响项只能是明确答案或 OPEN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9BB11A-684B-4998-BA88-D45D3831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641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C7000B"/>
                </a:solidFill>
              </a:defRPr>
            </a:pPr>
            <a:r>
              <a:rPr sz="1650" b="1" i="0">
                <a:solidFill>
                  <a:srgbClr val="C7000B"/>
                </a:solidFill>
              </a:rPr>
              <a:t>2 人一组 · 3 分钟找分叉 · 1 分钟全班冻结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AAA9AB-FA74-4969-8B62-367F7418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64530B-E7EC-422E-AAB3-0CFE24C5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现场动作：2 人一组标记“事实问题 / 产品决策”；高影响 OPEN 不得进入实现。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AD8060-1B61-4E72-98C0-76B16631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06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e952949664768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33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523FAA-19F6-4264-9A35-821DC367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07  第一幕｜需求 → 可测试规格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D3855-968B-44C1-A4FE-21B2445A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5CE68-576D-4531-83C8-4DA19B40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EE7A5-A144-44BB-8C43-C8DCE872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EARS 让一句“自动同步”直接长出测试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A8366-6E36-450D-AB5F-AFBE4447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把触发、前置状态、系统动作和超时语义写进一句规格，测试边界就自然出现。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AE42B-D5C9-4D4E-8F23-B39C5184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EC256-CFBC-4C9D-8104-56A518CB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03755-1CF8-4A62-A90D-95CD226D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Before：模糊需求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9FD93-4136-4F66-A9C4-3107A2F8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1408A-23EF-494B-8547-A7CCDA6C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After：可测试规格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219C4-474F-4423-AD4A-095BEBBE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ONE SENTENCE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C4A6F-C55C-4BED-A636-4EB953A2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EARS / FR-ACC-001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53C5A-FC0A-4994-96A6-0141EEFF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B2335-227E-460A-B61D-339CBC22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原话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E4642A-870E-41DC-B8F8-A34FCFF0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新增账号后自动同步防火墙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B6CFD-0687-42DA-BC8D-D13BEAEA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DE339-E8DC-459E-8DD8-FA827AE5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缺失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3A329-375B-408C-B658-A5AF0E40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何时读取账号事实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EF090-0C28-45D9-BC7B-6E167697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8D5AC-906D-4975-A97E-3F646DB7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缺失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B478EF-BF18-4CDE-BDD3-5BCDEB75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读不到 trigger 怎么办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9C598-6725-43C8-A422-02EF0422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4E6D77-C187-4CE1-8F6A-8555F2C2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缺失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2D5FB1-67EA-4859-9641-01C3E0BF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是否允许旧快照 dispatch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AF538-717D-4973-A06B-2303366E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WHEN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575B37-361F-4A39-939E-9EC06B1B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收到 account-added(123)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B5F6A9-D0DD-44C8-946D-0CD82FD2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A13C4C-BC99-48EC-B5C7-064039F7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WHILE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B4206E-9A84-49D2-8E79-39A4274A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public 且 desiredEnabled=true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BD27B8-5F3D-49FE-9C9A-8C3450DE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6469EE-6855-44BB-B34B-CC2D0C88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SHALL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2936BF-DBD7-4D71-B4F5-7F3E37B1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在包含 123 的快照上重放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4B3874-E50C-4C70-B706-E97962E9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3C17D7-0F66-4EA7-82CF-AAD73178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IF / THEN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651426-00E8-483B-A5B6-D3415893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5 次仍缺失则不 dispatch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80F94C-9491-4F94-8D89-BD2CB466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556966-0BEC-4158-A167-1A285F0A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CAA956-DD08-4B61-8A61-358CC818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规格一旦冻结，RED、GREEN、timeout 和日志字段都能被明确验收。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46871F-B9F7-4CB3-A3B0-1BCAF8AA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DBF8B1-EB0B-4F87-A5F3-E572BB50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规格一旦冻结，RED、GREEN、timeout 和日志字段都能被明确验收。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6B3862-0AA5-4ACA-A2D8-2257B182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07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7e8adb8fa4248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889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2DF674-3BC9-48CE-AC2D-3C8A7426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08  第一幕｜需求 → 可测试规格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78F94-D427-4A19-AFAC-B8E531CD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AA624-0760-4B80-89C5-BADD0C52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E0C75-233A-4360-8AA7-874524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行为矩阵先冻结“什么时候回滚”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F94BF-E531-4144-B258-96A25E65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失败语义不是统一答案：总开关、模式切换、新增规则和编辑 DNS 的事务边界不同。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B8B07-79FB-4FD4-A7D2-59B18353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70681-CE99-4C3A-97F1-0C7D05F7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F77E4-A381-4CDB-8FB4-DCBFDE9D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Best-effort 语义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14E3-7595-4D2A-9E8F-AC4FA458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1342E-9941-4525-8E44-E477E8F4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All-or-nothing 语义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8119B-2D62-4F71-95D7-72379FE3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KEEP SUCCESSES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CEA2F-7AD8-4262-9A72-C10E1D4E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ROLLBACK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82175-5F0B-4E57-99B3-C68D28B3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FBB87-CD7B-49F6-BE56-C917856B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重复开启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30748-645A-4E85-9A49-CBEEC8DD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UI no-op，不再写系统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52510-448B-4ED3-A9A8-F8DCA5F6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2B83D3-B43D-4C35-8139-FEBC9D00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总开关失败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C67930-BC30-4921-9F52-25A4451C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成功账号保留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CC0DEA-E8AA-4086-A293-4D500125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9EE20-8666-4024-BB8B-C4747063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本地提交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23D201-1844-4D3C-8A08-D379B6D4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不写 desiredEnabled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BF60BF-695F-4521-AD7F-009717DC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6BD5F-06B9-4E6A-AFEA-EFDEBB71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C6BBB-1632-49CB-A4D2-58AB564E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允许部分系统状态变化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912886-3904-43DD-A207-D7025E17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public + 新账号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9497BE-93E0-4D8C-9A3A-72E3EC99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在最新快照上重放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C2AACA-8E39-4FFB-AA68-AEF128C5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88385C-67BE-49D3-86C2-7E43177F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模式失败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20C5E-9FEC-4648-89EF-0D245803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尝试恢复旧快照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5195E5-887C-4CC5-AD8E-EF4747E8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A0BD5A-89A1-4BB4-98DA-A18C7FA3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本地提交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832196-1E60-4893-9B22-B42C6603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不写 mode / signature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458444-FA6C-4715-9B75-70AAFA5B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7ACB07-2EA8-446C-AAFF-E8CF8C0D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重复 signature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64BB8C-4D19-4749-A90B-558F597B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幂等跳过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3C612B-DF8A-4A83-8685-97D0483D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42C7BD-AB73-41AF-A039-65D95CFC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0C1A5D-17F1-45B9-9D7F-7C416171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不是所有失败都必须回滚；事务边界先由规格决定。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57B495-8A00-4FD2-B7BA-31E068EB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C0FD44-B4CD-4D7B-98BC-AB0D0D45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不是所有失败都必须回滚；事务边界先由规格决定。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1DF5D7-9CB5-458E-A5B7-5A67C8F2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08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f050f22294418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96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2F126F-A2DA-4F20-94CC-807A159C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09  第二幕｜规格 → 可执行任务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9FE5D-FF03-443A-A6D1-52DF7897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C42F3-5289-4744-AD32-DE33D475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87F28-DEFD-479E-8BB0-2B5F09A6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五类状态必须分开，才能定义“已应用”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7CE87-DD3B-45FA-8E81-20570E98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Intent、local apply、system truth、UI projection 与 read error 不能互相替代。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2CDAF-45D3-4C2B-8C8C-EA2FE005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4CA7E-14ED-4025-BAB1-21B9A5A2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1EF15-5346-4B7A-9AF7-43611C4C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不能单独证明成功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FED90-85BC-4961-B355-71EBB480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B43BE-03AB-4B49-846F-502E547F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最终事实与错误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BC150-A747-4AC7-ABFB-7467E8BF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PROJECTION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C9D13-CE48-4897-B048-C10B159C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SYSTEM TRUTH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9B159-A09D-49EA-9D55-0FB4FE61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1408D-BD12-4A17-961E-D535B540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User intent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72269-A6D5-4C31-92CD-64508CEB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desiredEnabled=true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2A313-E2E4-440C-94A9-125FA9D2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033E1-DB68-4BE2-96F6-664B6096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Local apply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A74E5-6D31-40DD-A888-47042F8B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mode=public + signature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360F5-14CD-491E-9E06-4C97FD79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BFC48-5E11-4B26-943C-2DC9BFAF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UI projection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9C039-0D0D-4F4B-940E-2CF023EA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开关与模式文案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02D1C-9BE3-4F3C-911C-F4E3D657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19882-1073-41FE-9C82-C77F4DD2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风险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1ED94D-4415-452E-B80E-52696F63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页面正确可能只是投影正确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815405-6A60-400B-BF55-4AFBBECD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System policy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DB9CD2-B698-4819-8591-1468B85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每用户 isOpen / default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D0B50B-3837-4D87-81A4-CB6F899D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F1321B-2EA4-4928-8FE3-9CF3FA21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System rules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4B1D1C-3A9E-4CCD-8E50-670E33AB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每用户规则与数量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D61821-C39C-4E8B-A7D1-1024E6A6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537AEF-EA74-4108-837E-47CF7C14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Read error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F4E6BE-6B31-4F67-8371-BF2BE499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读取失败必须保留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0EBFC6-E0C1-43DC-ADAA-073BC0D4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9094B9-631D-47E9-8235-24BE2A0C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结论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5F1BD6-7AD3-497B-B65D-515C7110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失败时降为 UNKNOWN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01E3E4-E19C-46A6-A725-184A1EF8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C51B2C-5721-4227-A063-DDEAF0E2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E8926F-B4EC-4E1E-AC9F-298FA19A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currentMode=public 不等于 public 已覆盖最新账号集合。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AF8541-FDC1-4305-A6E9-95347D00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84DA8D-4859-4C09-A518-DD9A2E82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currentMode=public 不等于 public 已覆盖最新账号集合。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C9202F-5C1F-4EC7-BD4F-B039D641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09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c542aed844315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978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DED219-B2E9-4D39-821B-AE4DA60C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10  第二幕｜规格 → 可执行任务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EF8F2-BC0F-4364-8EE5-00371B09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4E31C-4891-4EEA-A0A7-6FE1C4B2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DBB26-5251-485A-842D-5C31DFBC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真相源决定不变量，也暴露当前 GAP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9E0FE-3DE9-4796-854D-C83591BF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把不可破坏的条件写清楚，AI 才知道哪些局部修改看似成功、实际越界。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C5981-DCD3-4639-8A2D-6EF8DC74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49AA3-237F-4341-AD8B-70EDAB68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7CAC9-EFD1-433E-93E6-B5035056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三个判断问题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8BF02-3EE8-4BF6-B5FB-623BC228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4756E-797C-49D7-9588-69C50820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写操作基于谁？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227DB-2769-4076-93B4-B68C1869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一个明确、已记录的账号快照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F4C6B-80A4-4965-A059-C8E6B966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6741D9"/>
                </a:solidFill>
              </a:defRPr>
            </a:pPr>
            <a:r>
              <a:rPr sz="1500" b="1" i="0">
                <a:solidFill>
                  <a:srgbClr val="6741D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F08F6-3258-4937-BCEE-900C5768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什么时候提交？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5B337-E1CA-4593-AA3C-DB52A6C5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系统操作全部成功后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12388-1E04-4203-8934-5E9C3692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18B57"/>
                </a:solidFill>
              </a:defRPr>
            </a:pPr>
            <a:r>
              <a:rPr sz="1500" b="1" i="0">
                <a:solidFill>
                  <a:srgbClr val="218B5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404D1-2D13-4E00-BE08-7B77BCBB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读取失败算什么？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20D1E-9979-4F64-925C-7A74A79B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不能当成系统确实为空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56A5E-3763-472B-8F9F-95780558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98850-6B31-40BE-94B6-D8DB91EF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45F13-607D-4338-9218-BC8793A3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95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I1 快照一致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4F57D0-6B4A-4644-850A-3589DFCF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14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同一轮写操作使用同一账号集合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6959E2-E9A7-43B8-965C-45F32363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B5E184-D56C-4BD1-A2C6-16DC3EFD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E5636-C340-444E-AF3D-8D563ADB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71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I2 保留 isOpen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C58DDE-8F22-4B03-8EB1-4DB28791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模式切换不覆盖总开关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C39FC4-AA13-4A6F-BB5C-9C1C5AC7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2DC400-FADD-43BB-900E-E8236D60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7455B9-07C2-4746-99BC-D49F38C5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I3 恢复后重映射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1F938B-E1C6-434D-992E-4F47B5B1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deployment 指向新 systemRuleId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79FCC5-F3F4-423B-86B7-E2B0BCA2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9774D7-7EDF-428F-8981-7A10DBE5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921736-F99E-46FA-B020-4A313884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244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I4 唯一提交点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6518A2-54FF-4633-9F73-07780FE0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434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成功后写 mode + signature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1B1325-05C2-4CE4-8970-485A113C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29300"/>
            <a:ext cx="716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4EB4FC-7D41-4C66-92E6-9A3D19DF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962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控制目标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F227D0-1762-4096-B009-1AE073C7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436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CURRENT GAP：系统读取失败仍可能被 fallback 抹成空集合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8651CA-61FC-4B14-B3C7-2F214872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F237E1-C3CC-4381-85A3-9099260E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CURRENT GAP：系统读取失败仍可能被 fallback 抹成空集合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CC7E99-2909-41BF-A0D7-0435C5A5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10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a4ea71a9540b0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9939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D8DD9F-7FF4-4EFB-9E1D-83AC906F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11  第二幕｜规格 → 可执行任务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B02E8-E449-4B21-91B9-5C70A91D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A1B03-FF9F-4AF4-9316-E7991AB8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84BBC-4C09-4E8A-B419-F86F37FD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进程边界比类图更早决定设计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7A739-B638-40F4-BB8A-DED41BF1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Extension 和 UI 不共享内存；事件、事务与页面刷新必须分成不同职责。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DD349-2C3F-4276-8121-9E525E8B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0623C-650F-4B37-A288-EACBDAA8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7419C-E597-4B80-85FE-DE25FD82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三个边界问题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EE3B6-58FE-44D5-9BEF-ECDD0B9B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CCD43-52F0-4B7E-AD13-9CACA59B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事件在哪里产生？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56CB2-596E-4A65-9BD5-3E701D8F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EnterpriseAdmin Extension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BEBBF-6ED9-4287-BAA7-281D555E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6741D9"/>
                </a:solidFill>
              </a:defRPr>
            </a:pPr>
            <a:r>
              <a:rPr sz="1500" b="1" i="0">
                <a:solidFill>
                  <a:srgbClr val="6741D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42CC4-625E-43C3-A59E-5E53F378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事务在哪里执行？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8D3B4-C491-4D20-986E-8D20B764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Firewall Handler / Repository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4F2F6-FD4F-4C4D-93FA-DEEAE704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18B57"/>
                </a:solidFill>
              </a:defRPr>
            </a:pPr>
            <a:r>
              <a:rPr sz="1500" b="1" i="0">
                <a:solidFill>
                  <a:srgbClr val="218B5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4F794-8503-45FA-A655-347A7CE8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页面如何得知？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F4CF7-C032-4C96-A5FF-FBE5C85F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CommonEvent + 路由刷新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37904-1399-4ECF-B22A-0A35FE4F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85651-AB8B-43DD-BD6F-CE524467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2D5DE-AEC4-47D4-BAB9-B59975E9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95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L1 Extension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7CC13-0737-4F9B-B797-7230BE6B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14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接收账号变化事件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D0560C-786A-4905-AD3C-20857DF9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DEB1A-1211-4013-88C8-7B1DCE09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3819F3-DD21-4E9E-8A7D-FD046481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71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L2 Coordinator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3CCB6-93EE-4CFD-8246-3FBBE843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读取稳定快照并调度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1E5E70-27AC-4F51-8A98-0D9D43E2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0AA5C0-0A68-413D-A4A9-77B4E2AC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1696FF-04DF-4C11-87F4-A1A76A4E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L3 Handler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8692C8-9F9C-42B8-97BD-1F2C559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reconcile、补偿与提交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E49FFA-51D2-4200-B692-E47216DA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D86F41-5DAA-401E-8F1A-B88E03E9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700AFB-5825-4567-A470-55D13854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244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L4 UIAbility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88B164-124F-4895-B4AE-7F52FABF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434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跨进程消费事实并刷新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F1976E-5DA8-40A7-A640-55506D3F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29300"/>
            <a:ext cx="716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B45D52-91EB-46EC-AB23-D5B1667A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962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控制目标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C7F785-AF22-4CDF-A822-207936B6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436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CommonEvent 负责传递事实，不负责 policy / rule rollback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13F71B-A79A-4B83-A331-AD543A7C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141CE5-577A-4BBB-9EA8-C9EBC702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CommonEvent 负责传递事实，不负责 policy / rule rollback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F0E70D-D358-4C11-BB3E-843677A0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11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700c0dcfb4292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4339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1FD722-AC4B-4D59-98DB-C26F5B38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12  第二幕｜规格 → 可执行任务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E045C-9B8F-499C-A9FB-3BBF7486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75EDF-2964-42C6-8749-77A5D490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B4821-04CE-4026-B4D1-EF479ACB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一行追踪关系，限制 AI 只改必要边界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B5EC1-64C5-438B-9C1C-4700BB3A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需求、设计、实现锚点和验证证据必须连成一行，否则任务边界无法审计。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6F0BD-BC5C-4B3F-B1D9-D2CFEDDA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8664A-D752-406D-9E40-1F1B40F2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7F25A-8DA6-4CB7-98DB-255F1E91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账号稳定快照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625E9-048C-4D4A-B7E3-1C3A7F56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78DA3-62B7-438F-AA0B-85688F6E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事务与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BF117-D927-4F65-81BE-D37F775B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FR-ACC-001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5E11B-0777-4B0D-BD8C-361E42B7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FR-MODE-002 / FR-ID-001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BDB3C-F1E1-44EE-852B-34AC9571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D5D47-D639-4E11-BCAE-6A5D1DBF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设计决定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2F1A5-BCFF-4348-824B-DAA7C2A6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trigger 可见才有效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AA198-813F-498D-BCF8-B447B51E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B1AC0-C46A-4165-BC92-1E43CDA4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实现锚点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B7ADC-8AB5-4AE5-9DE5-156BD0CA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loadStableSnapshot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E404B-782A-4241-B841-C463BEFE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ECB6B-412A-423F-A477-9C94E6D0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RED / GREEN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CE53A-BD4F-4453-8F9F-A966A16B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retry log + handler 次数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CD12B0-F5E4-43FB-840E-F174C5AB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43374-E210-41F2-B3FF-C3EF004E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允许修改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D2E2D4-EB52-43FC-A047-BD7AA7F0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Coordinator + 对应测试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5C7A57-63B1-4B9A-8E65-5EDB5877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设计决定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79CD52-7B62-4E72-A460-A7C44A2E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失败整体补偿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466422-5BD7-4995-B8FF-D3C72EA0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0277D3-A40E-4B89-95BB-02E0FD3A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实现锚点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B7704F-A313-4195-8F12-499617E6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rollbackToSnapshot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F5B19B-1C88-47DD-B4E8-1DF639D8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BA3E97-F507-41FB-A944-DF201FF2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identity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2E357D-F9F6-4420-8796-65FD3CFF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remapDeployments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D443A7-402F-422E-ABC1-CA63FDE2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427C3B-5451-43E1-BDCD-2D4B8156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5142C1-DD3C-44E4-BC12-FE855748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fault injection + getter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F9218A-7881-4364-A83E-54BEEAAB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BE056F-0045-4B40-BA9B-7A3DF206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E5AD0F-16E1-4A11-8086-4D1AE144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追踪矩阵不是文档装饰，它决定下一轮 AI 可以碰哪里。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A97CCA-B82A-420A-88BA-E7E72063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CFCFC0-F2D4-4C52-BC39-79C03D5D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追踪矩阵不是文档装饰，它决定下一轮 AI 可以碰哪里。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A63A76-0276-4E05-8D8E-5A716EFD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12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d8f244d4b42c1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2412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379C0A-5718-4115-ADE5-8ED23C12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13  第二幕｜规格 → 可执行任务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DC135-B5E2-434C-8026-25169247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E67B7-E99A-49A3-8CFE-5BCDCB0F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C3408-5DB5-4B6A-A98C-CFF8C8C0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实践：先做只读勘察，不让 AI 猜代码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C98F8-C09F-43F6-BA34-44194EA2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T00 只允许搜索与引用；七项输出全部可定位后，才把上下文交给实现轮次。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A43A3-FD20-49CC-930C-725BC8EB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B8967-94D4-4831-82D1-C86A7F8B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9A4AA-59FA-4BF7-95E2-FBC1EB30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T00 / 只读勘察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55FF3-6A07-497D-BCFE-76B0F272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NO PRODUCTION EDIT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795E6-8CE5-4B12-ABB3-7949C4D2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定位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79E30-F80F-44E5-A37B-7F5ADCE2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860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入口 / 事实源 / 副作用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B3445-851A-4504-BF97-8E5E07A0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5BACE-6422-4FEA-AE02-8F4EE48B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C136E-0375-4184-A8EC-39F280DC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956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commit point / 现有测试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B3992-37A0-41E5-AB8A-7B2326A7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E1CD6-F0C1-4F60-BDDD-9CFF5EC0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B44AB-063C-4F03-9563-4A92D2C0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052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相关提交 / Spec 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BE9DD-CCA3-4504-8A24-5F9B51BF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9C822-8A35-44A6-950D-18A03EB0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禁止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9E20D-8FC5-4634-98D1-3A1212E8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14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改生产文件；凭命名猜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77F6C-A851-4AF6-80FC-85056182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6959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022956641490f"/>
          <a:stretch xmlns:a="http://schemas.openxmlformats.org/drawingml/2006/main"/>
        </p:blipFill>
        <p:spPr>
          <a:xfrm xmlns:a="http://schemas.openxmlformats.org/drawingml/2006/main">
            <a:off x="6503151" y="2209800"/>
            <a:ext cx="4500648" cy="31242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A0227-39C8-4488-8940-7C9A7828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2599F7-6766-4847-9EF5-18D6C506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证据边界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5CB1B5-2A60-4A7F-8C3E-1361EE96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通过：每个函数、测试和能力都能在仓库定位；未知项标 GAP，不得编造。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F3BC2E-D25A-43CA-9AF7-6452D9FA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3C6924-22D8-4398-B7CA-F74AE64E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通过：每个函数、测试和能力都能在仓库定位；未知项标 GAP，不得编造。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02FE25-0C7F-46C2-BCB0-027CC73B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13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c8fef70a14ec9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208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3F359F-E0B8-4A7F-B149-A7338943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14  第二幕｜规格 → 可执行任务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AE040-92EF-4FD1-985E-350BEBCE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08661-045B-4923-8073-B7FD44D7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69523-0F72-4030-BE54-E9145AF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任务卡只允许一个可观察结果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84D98-44C6-4670-9AF1-B62D3165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按可验证依赖切任务，而不是按页面、类或文件数量切。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F4D17-ADB8-472F-9D3E-AC0FD824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A9ABA-39BF-4CB0-AC1F-260ED128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7334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FD774-1E1B-4CB5-84CE-9C2C0637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7334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D0B8F-C676-46E2-AB9C-5D1CF36C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99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TASK CARD｜一轮只交付一个可观察结果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F3D3C-0E53-4E18-957C-DCC6753E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69151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T01 — account-added 等到 trigger 可见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Requirement: FR-ACC-001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Allowed: AccountChangeCoordinator + 对应测试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Forbidden: UI、Firewall Handler、Repository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RED: [100,112] → [100,112] → [100,112,123]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GREEN: handler 只执行一次，参数包含 123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STOP: 窄测/回归绿；diff 不越界；progress 已记录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6A0C8-D4AA-4667-80AA-D96440FE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66DFA-A3A8-4FB2-A681-219AB6B0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336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现场改写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F2631-20D2-4F47-9C63-3B090D87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289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81818"/>
                </a:solidFill>
              </a:defRPr>
            </a:pPr>
            <a:r>
              <a:rPr sz="1800" b="1" i="0">
                <a:solidFill>
                  <a:srgbClr val="181818"/>
                </a:solidFill>
              </a:rPr>
              <a:t>把“实现多用户防火墙”</a:t>
            </a:r>
          </a:p>
          <a:p xmlns:a="http://schemas.openxmlformats.org/drawingml/2006/main">
            <a:pPr algn="l">
              <a:buNone/>
              <a:defRPr sz="1800" b="1" i="0">
                <a:solidFill>
                  <a:srgbClr val="181818"/>
                </a:solidFill>
              </a:defRPr>
            </a:pPr>
            <a:r>
              <a:rPr sz="1800" b="1" i="0">
                <a:solidFill>
                  <a:srgbClr val="181818"/>
                </a:solidFill>
              </a:rPr>
              <a:t>改写成一张 7 行任务卡。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EEABC-F510-4B02-A86D-B5CD1285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37DD8-437F-41A7-A63B-6E84A487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481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检查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1E20D-E70A-4266-9A36-DA14FFE6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290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可判断：未完成还是越界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4808A-89DD-42CC-B728-AD794ECA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6245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A9E2F-3742-4DF6-B3BC-32085B09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958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检查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47336-D453-40E9-89FD-A6A8EDA8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767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禁止“顺便重构”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E2D36-CA18-4053-9DE6-29FA51D3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ADD80E-4BF8-40AB-84B1-79BF34A4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435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通过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1EDBD1-691B-42B0-8195-634AF081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244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测试绿 / diff 不越界 / progress 已写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B444A-BA53-48E5-B5B4-696B1A5E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BD237A-8337-45FA-B9E7-94BF6368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任务卡限制的是 AI 的自由度，也定义了本轮何时必须停止。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4401F8-4D98-4365-BEC6-52BFF004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14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1c502e660489b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8102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26F4A9-38FD-4A74-8143-3CD2349E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15  第三幕｜两轮 Ralph 与故障定位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68B06-AB28-4593-94EA-2C63ADF0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238D9-D6A0-4BE1-A63C-200D955E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DF5D2-CBCD-4BD7-8B85-F2E90DDE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Round 1：先看见一个解释得通的 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A6359-D9A2-4B91-B3DF-DA0355F4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真实 RED 失败在目标断言；BUILD SUCCESSFUL 与退出码 0 不能替测试做结论。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C04B6-3222-45A7-9F58-5D3DC501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7CC4A-6BF5-4764-814B-971217FE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477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EEA89-9261-4FC3-9635-499CC884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47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355F4-990F-4A4B-8CEF-9CDF7D0D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REAL RED｜用例级失败输出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08EEE-D2D2-4F34-A9EC-B32393B9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60579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ERROR: Error in should wait until added account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appears before dispatching handlers,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expect 1 equals 2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account-change-coordinator.test.ets:77:26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BUILD SUCCESSFUL in 16 s 961 ms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HVIGOR_EXIT=0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163C4-BA38-41B2-AF35-8E2AC6D1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B1197-8023-41CE-BF8D-C51E2D5B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让学员先判断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0B8C0-9E5A-4173-A679-3F3A507B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9850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181818"/>
                </a:solidFill>
              </a:defRPr>
            </a:pPr>
            <a:r>
              <a:rPr sz="1950" b="1" i="0">
                <a:solidFill>
                  <a:srgbClr val="181818"/>
                </a:solidFill>
              </a:rPr>
              <a:t>构建成功 + 退出码 0，</a:t>
            </a:r>
          </a:p>
          <a:p xmlns:a="http://schemas.openxmlformats.org/drawingml/2006/main">
            <a:pPr algn="l">
              <a:buNone/>
              <a:defRPr sz="1950" b="1" i="0">
                <a:solidFill>
                  <a:srgbClr val="181818"/>
                </a:solidFill>
              </a:defRPr>
            </a:pPr>
            <a:r>
              <a:rPr sz="1950" b="1" i="0">
                <a:solidFill>
                  <a:srgbClr val="181818"/>
                </a:solidFill>
              </a:rPr>
              <a:t>这轮到底是 PASS 还是 FAIL？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83886-4C91-4FB3-A502-082FCC7A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76650"/>
            <a:ext cx="381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BD32B-BCE5-45E2-800A-E34AB242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100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翻牌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2681B-42D5-46B1-BA5D-ED63770C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909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FAIL：目标断言已经失败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039C4-6C48-4C84-BF46-0C625E99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24350"/>
            <a:ext cx="381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7F983-F98E-4FA2-B947-7AD83A8C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最早异常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F20A0-F571-4C5E-9E2E-C2ABB0C4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386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旧快照只读一次便提前 dispatch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5E39D-923F-40A7-96D1-41569466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72050"/>
            <a:ext cx="381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D59CD-234B-4EDE-A83C-97525756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05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进入实现条件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295BE-0913-4697-99C2-8A738778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863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只有目标断言失败；环境与无关用例正常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D8F4E5-1564-49FA-B490-DCEBE07F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301C4-662E-4E98-AD48-9388F3AD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RED 必须与目标行为同源，环境失败不能推动实现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D67889-4687-405C-9B97-1A6D3203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15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b345d46a94b63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570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A1B318-CFF2-46C7-B0EE-5DDD62A0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16  第三幕｜两轮 Ralph 与故障定位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7E926-90E1-425B-A082-2C8E1051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97728-D8CE-48B2-B79E-AF37D085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884CC-6C57-4D88-93F0-B80454D2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Round 1：AI 只补最小状态转换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6F480-726D-438B-A0C7-B3AF3CAA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实现只负责等待 trigger 可见；不改 Handler、不伪造账号、不吞掉读取失败。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A16CB-9380-44E4-8DE1-3D9D3C88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DC3CE-EC50-4AC6-AA17-F83397A9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BF618-9F97-49CA-B4D8-302D2787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三个禁止动作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EA319-E2C8-477B-8FD1-1E634F17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C0014-6F2A-4994-B542-1FA8CB0E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不要改 Handler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B1E19-8ED7-4991-882D-353A7044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本轮只动快照稳定逻辑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B7B6B-01C8-4308-A2EF-C719F264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6741D9"/>
                </a:solidFill>
              </a:defRPr>
            </a:pPr>
            <a:r>
              <a:rPr sz="1500" b="1" i="0">
                <a:solidFill>
                  <a:srgbClr val="6741D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CD880-B2E0-4DA1-AE0D-F33A345D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不要 append trigger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27051-B274-4C3B-9974-1143DCE1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事件参数不是系统事实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AC4F9-97A7-42E5-BB79-50842D50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18B57"/>
                </a:solidFill>
              </a:defRPr>
            </a:pPr>
            <a:r>
              <a:rPr sz="1500" b="1" i="0">
                <a:solidFill>
                  <a:srgbClr val="218B5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E4674-5A55-46D8-8616-7F33562B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不要吞失败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19020-9212-42F7-A350-106060C8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读取失败与空集合分开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227B6-3755-45B8-AD2D-42FE320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0A933-B3CF-4810-8449-16CED807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AB3B2-5C71-432C-AFE4-EF5DA314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95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S1 EVENT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395E5-9B8F-4893-ADF2-60B4B151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14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account-added(123)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3FA75-C1BA-4243-90EC-C366ED03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38650-0708-4C91-B47B-DCA26DE6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61D13D-8B49-4239-8710-4ECD378E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71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S2 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A2753-F85A-46AE-8BB5-06FEC61C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最多 5 次读取系统账号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8CF3BF-207D-43DD-A015-04FE7918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668C94-C08E-4A2C-BF59-75E54E01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A2B7C6-1B18-4713-8330-5860626E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S3 VALID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0E9471-CC91-473B-85F8-25A01D9F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快照包含 123 才返回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9C2503-8EE1-402E-A8BC-D721B478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72E772-17CD-42D9-BEDB-234B1377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C5040F-1E18-464D-B52D-3404017C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244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S4 TIMEOUT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B5A843-37C0-48EF-B770-CE09D747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434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不 dispatch、不提交旧事实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AEA024-0892-4770-A7A5-CA5077E5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29300"/>
            <a:ext cx="716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C303DC-3132-44D0-B974-EB8B293C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962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控制目标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D518D1-63BD-4AAD-B9DB-C397C390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436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最小修改：只补一段可验证的状态转换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E5134D-8A9C-4765-896B-4C3F9AB5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5A16FC-E480-47B2-8D7D-D935AF81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最小修改：只补一段可验证的状态转换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C3CC36-FC2E-40DD-BDAF-69E66B95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16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b0366c9664f95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1373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65AB07-B9BD-4410-B84F-D7B22EE1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17  第三幕｜两轮 Ralph 与故障定位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E97B9-79E2-40F1-8491-70F2723B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B022B-9387-4874-894A-A976B516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25F40-B626-4531-B1A3-33F55E2D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长任务的记忆写在 progress，不在聊天记录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FD971-66C8-4EEC-8F36-0F6BD622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每轮只加载 spec、当前任务、progress 和 evidence 索引，避免上下文随会话膨胀。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A849D-1B0D-4023-B751-9CDA1179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6DC56-7108-48CE-9B29-8098877C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CF172-B4DC-49DC-A5D8-40B6B498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progress.md 本轮记录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811A6-E00C-4EE0-99D1-339AF1BD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DURABLE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89C43-1E07-4459-96F7-CF40B3CF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假设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28DA0-7AD2-48A6-B173-60EC0530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860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事件先于账号查询可见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C69E7-9A48-4182-8A0B-9C5E9A9C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C6581-7C0F-49E4-BA22-FAE2E9A0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42A5F-9B80-47E6-9D9D-08AD1AD9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956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前两读无 123，第三读出现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6877A-B687-4919-BCA5-09580F33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EA8F1-4F74-4DC8-AC60-EFC1A694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新事实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6D268-8AD0-44E5-B6FF-895C5BA3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052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稳定是 trigger 可见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D214E-F0E9-492D-B823-F3A65655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B63F3-1CE7-4360-B17A-177ABF24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Next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FD975-3F5E-4836-88F7-F2257113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14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进入故障注入与回滚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80382-ED6A-4A38-8921-38959CE5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6959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9594c68224fed"/>
          <a:stretch xmlns:a="http://schemas.openxmlformats.org/drawingml/2006/main"/>
        </p:blipFill>
        <p:spPr>
          <a:xfrm xmlns:a="http://schemas.openxmlformats.org/drawingml/2006/main">
            <a:off x="6038850" y="2244035"/>
            <a:ext cx="5429250" cy="305573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CCBEEB-227D-4E2F-BB91-BFB8BEC3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C2B6A6-F60E-4C49-8634-21F4948E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证据边界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63D1C-66F3-4E0F-ABDF-4CD03A1B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任务进度是跨会话的工程事实，不是聊天摘要。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B98B37-4C01-4D7E-9860-E6EE35C0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2FA6BA-0240-4171-92EB-32BF472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任务进度是跨会话的工程事实，不是聊天摘要。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43E463-CAEE-4C7E-A69C-F141DC13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17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7e6f2f9e24f41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4785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C12CC4-0018-471D-B9E4-510488CC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18  第三幕｜两轮 Ralph 与故障定位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C57E1-57BD-41B1-A86A-E9602240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5717D-5663-4C88-A21B-A9B42ECA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5FBA0-FC65-467E-8C21-D9775B9E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DEBUG：先找最早异常，不从 UI 倒推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264BB-E092-4A92-A5F3-9CC080A9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真实 Session 连续推翻三次猜测，最终把问题定位到跨进程传播和局部消费者。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45760-D9DC-400E-A947-E37A8997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7817A-790A-489D-A309-51422808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E7E31-C3EC-4AFD-8119-F2DF4395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真实 Session 的四轮假设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851AF-7393-4FEB-9285-AAFE8F87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86FB4"/>
                </a:solidFill>
              </a:defRPr>
            </a:pPr>
            <a:r>
              <a:rPr sz="1650" b="1" i="0">
                <a:solidFill>
                  <a:srgbClr val="286FB4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33A20-09CE-47AB-A95A-AE8FDB70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刷新慢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CAF52-C917-4CEA-9DB3-6795F47A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812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延迟 2 秒仍复现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47CE0-08BF-475A-9C00-C04070F4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812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7000B"/>
                </a:solidFill>
              </a:defRPr>
            </a:pPr>
            <a:r>
              <a:rPr sz="1350" b="1" i="0">
                <a:solidFill>
                  <a:srgbClr val="C7000B"/>
                </a:solidFill>
              </a:rPr>
              <a:t>推翻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79466-34D7-40B2-985D-4FF7456C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EF178-AF23-43C6-8D29-DC05CB8F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86FB4"/>
                </a:solidFill>
              </a:defRPr>
            </a:pPr>
            <a:r>
              <a:rPr sz="1650" b="1" i="0">
                <a:solidFill>
                  <a:srgbClr val="286FB4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5C2E1-1AB6-4CA9-B4CC-1A3E4F5B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Provider 没读到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4B3E1-0F14-4449-80B7-FED153BF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670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raw=[100,114]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3921E-BFAB-4FAA-8A13-9C171104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670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218B57"/>
                </a:solidFill>
              </a:defRPr>
            </a:pPr>
            <a:r>
              <a:rPr sz="1350" b="1" i="0">
                <a:solidFill>
                  <a:srgbClr val="218B57"/>
                </a:solidFill>
              </a:rPr>
              <a:t>读取成立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3C4FC-84B6-4408-9D58-15643343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9DF41-3015-45AD-8ACA-41235FB4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C7000B"/>
                </a:solidFill>
              </a:defRPr>
            </a:pPr>
            <a:r>
              <a:rPr sz="1650" b="1" i="0">
                <a:solidFill>
                  <a:srgbClr val="C7000B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9036A-A9FE-42A3-848B-53A04AAF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静态状态可通知 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48D39E-2689-489D-AB1C-1028B3B0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528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Extension / UI 两进程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C0AE4-5075-4177-A77C-295FB670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52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7000B"/>
                </a:solidFill>
              </a:defRPr>
            </a:pPr>
            <a:r>
              <a:rPr sz="1350" b="1" i="0">
                <a:solidFill>
                  <a:srgbClr val="C7000B"/>
                </a:solidFill>
              </a:rPr>
              <a:t>推翻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D6911E-201D-4E18-A6E8-8E381AF7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9FB7D5-AF4C-40A4-8ED0-31F09D13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C7000B"/>
                </a:solidFill>
              </a:defRPr>
            </a:pPr>
            <a:r>
              <a:rPr sz="1650" b="1" i="0">
                <a:solidFill>
                  <a:srgbClr val="C7000B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1B0E2A-C42C-4BFB-81E4-09EB3766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CommonEvent 已全部完成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2FFE9-A116-486C-AA20-86D32AB6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386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卡片绿，规则/记录未绿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3C744C-87E2-49C5-AA6B-6C8757E3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386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86A00"/>
                </a:solidFill>
              </a:defRPr>
            </a:pPr>
            <a:r>
              <a:rPr sz="1350" b="1" i="0">
                <a:solidFill>
                  <a:srgbClr val="B86A00"/>
                </a:solidFill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74DC66-AED1-47AA-8524-E03C5D00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F6392F-0D21-4781-AC80-A5C1DC05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982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8DEF19-EBA3-4745-B7E1-EDD0E4B5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86FB4"/>
                </a:solidFill>
              </a:defRPr>
            </a:pPr>
            <a:r>
              <a:rPr sz="1650" b="1" i="0">
                <a:solidFill>
                  <a:srgbClr val="286FB4"/>
                </a:solidFill>
              </a:rPr>
              <a:t>最早异常：事实已经产生，但没有跨进程、按职责传播到所有依赖者。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B48DD4-73D9-493C-9554-00BB0272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CCBEF8-93BC-48E8-A00C-1C0432E8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最早异常：事实已产生，但没有按职责传播到所有依赖者。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C1E21B-9AC3-45B1-A6AD-8374F4E0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18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d3ca63f9243d5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0167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7F93ED-E78E-4C81-B109-F8727C69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19  第三幕｜两轮 Ralph 与故障定位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EEC97-BD77-467B-9C83-088CBE5C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C1E06-7D18-4C45-9C2B-FA80F791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8A1A1-C626-4E75-A96C-F608FB6A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先由规格决定事务边界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40A46-C21A-4E90-BD7F-4B77BD6E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总开关允许部分成功；模式切换、新增规则和 DNS 编辑需要不同的补偿策略。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80D64-4506-4360-B620-B98FEE06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FB703-B16A-4B48-8BA6-2A15A6AD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656C1-2B2D-4E6F-876C-0EC6C544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允许部分成功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44813-25A6-43B5-9118-632AAC5E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BA440-6270-45B0-9E55-08991906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必须补偿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4BA77-6170-44E8-835F-D653AEC4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BEST-EFFORT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518B1-E5A9-4525-80A8-DB6FE92F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TRANSACTIONAL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DFF9E-8B15-4D66-9488-D7ACA854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66482-C29F-4E7C-AE63-C0197E9A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操作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4AB1A-1315-4AB7-9983-6DB81B52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总开关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B4E14-C2FF-4564-BC25-2CECE442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3A335-1F5D-436C-B4C2-3C9E2630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失败后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086A70-52A8-4CFE-98A5-F3FE3DA9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成功账号保持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8D516-C1FF-4CFD-87A9-D9D42070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21E19-69F5-4687-8A80-037EC172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本地提交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D98D8-8DD0-49F8-89D3-12291A7B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不写 desired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C40A2-0F11-44B4-9367-D64BECCE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0C9C7-D094-47A8-9C4B-DD0A7C1A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DB999-8C62-4134-8B47-F17D1F14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逐账号原始结果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47073-222A-44D8-AF19-E53C6381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模式切换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717233-9ECC-4429-AD3D-D3548A40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失败后恢复旧快照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12AD6F-862A-4C6B-B6F4-72F0D947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058D1C-4243-4FD4-98FD-D06DEE02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新增规则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4B7AD1-EA3A-45CD-B0EB-B22D7AEF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删除已成功 deployment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8BE40E-9CFA-48AE-A33D-141DC9B4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5D761D-6823-4371-A063-589C44EA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DNS 编辑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B18BC3-51B8-4DF6-B60D-4EF82122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重建旧 DNS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4FF6BC-AB9C-409C-AB71-0ED31579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4CD0C4-CD1E-465E-A99B-35CF1919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identity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F5227D-8E5A-453A-9948-04B2BB6A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保存恢复后的新 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8BCE00-2D12-4A3D-8676-EB2C78FB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3F88DF-F113-45EA-A54E-30FDCB7A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A4DE10-687D-418F-8148-2AE0EC5C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同一个“失败”在不同操作中，可以拥有完全不同的业务语义。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F751E7-B064-4020-97FE-5ADD9D0E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A8A2B9-0D87-486A-BC81-47F60FDD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同一个“失败”在不同操作中，可以拥有完全不同的业务语义。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7A60C7-A53C-414A-BCF8-DE3899F2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19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036dc79aa4bb1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997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E3AED1-3619-4F1E-A155-A1666BDE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20  第三幕｜两轮 Ralph 与故障定位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28609-E9FF-4FC2-A8D5-03721EFF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39E5B-2238-4F88-92D6-B720507A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F0DCA-D882-42AB-8640-FA323A1F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成功路径先锁住唯一 commit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E6E5A-4396-46F6-902F-5A8B18BC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只有系统 policy 与预置 rules 全部成功，目标 mode 和 signature 才能持久化。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DA8C9-A376-49BD-8286-F2512C39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744D8-0704-4DAE-BC95-54412CC2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BEAA3-B119-4FD0-A030-AD668C6F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6741D9"/>
                </a:solidFill>
              </a:defRPr>
            </a:pPr>
            <a:r>
              <a:rPr sz="1650" b="1" i="0">
                <a:solidFill>
                  <a:srgbClr val="6741D9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1F834-1506-40F2-9515-66A6E02C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49EEE-77C9-48CF-8333-D507EB69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读取有效账号集合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49DDB-B401-4428-A816-11FB3A62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95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C7000B"/>
                </a:solidFill>
              </a:defRPr>
            </a:pPr>
            <a:r>
              <a:rPr sz="2250" b="1" i="0">
                <a:solidFill>
                  <a:srgbClr val="C7000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4F0DA-5538-4F63-9B4A-2CA4FA27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6AFD0-F09D-4FF4-8EBB-D0CE6324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C7000B"/>
                </a:solidFill>
              </a:defRPr>
            </a:pPr>
            <a:r>
              <a:rPr sz="1650" b="1" i="0">
                <a:solidFill>
                  <a:srgbClr val="C7000B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1D834-A9B5-4817-B238-282FD5CB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05590-63E4-40B7-B6BA-1A144B95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写各用户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0D03E-7B7B-4080-BCFC-88E878E9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95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C7000B"/>
                </a:solidFill>
              </a:defRPr>
            </a:pPr>
            <a:r>
              <a:rPr sz="2250" b="1" i="0">
                <a:solidFill>
                  <a:srgbClr val="C7000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A0D7C-6DAF-40E7-93F5-B60E9F86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D36CCC-6F08-4AE6-A897-E89124A3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86FB4"/>
                </a:solidFill>
              </a:defRPr>
            </a:pPr>
            <a:r>
              <a:rPr sz="1650" b="1" i="0">
                <a:solidFill>
                  <a:srgbClr val="286FB4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2FB8B-F295-4D59-B943-1F07A457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63BC1-4F42-48E1-B45A-F43422DB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下发预置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758FA-F5FE-4DF3-8FF9-8B6FB46A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C7000B"/>
                </a:solidFill>
              </a:defRPr>
            </a:pPr>
            <a:r>
              <a:rPr sz="2250" b="1" i="0">
                <a:solidFill>
                  <a:srgbClr val="C7000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6A6122-6B17-4B2D-B23C-D2C55653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3A65A6-E1D0-4184-8C51-44B61800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18B57"/>
                </a:solidFill>
              </a:defRPr>
            </a:pPr>
            <a:r>
              <a:rPr sz="1650" b="1" i="0">
                <a:solidFill>
                  <a:srgbClr val="218B57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78F8FA-378B-448D-AE93-59038F18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COMMIT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C6C8AF-43FC-4B56-9EA1-6B5160AF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写 mode + signature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D67F3-554F-4931-9C16-00FED305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7749F4-DB97-496C-8C18-61314A1E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提交前必须同时成立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E3B2E5-C872-4E3F-9B50-71141B88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495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账号快照有效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所有系统写入成功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没有未处理失败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补偿路径可执行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86952B-2199-4E3A-97AB-F2F31F31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38600"/>
            <a:ext cx="5619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1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89D910-06CA-471F-9FE3-B67A5E32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48150"/>
            <a:ext cx="516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6741D9"/>
                </a:solidFill>
              </a:defRPr>
            </a:pPr>
            <a:r>
              <a:rPr sz="1650" b="1" i="0">
                <a:solidFill>
                  <a:srgbClr val="6741D9"/>
                </a:solidFill>
              </a:rPr>
              <a:t>绿色节点之前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6741D9"/>
                </a:solidFill>
              </a:defRPr>
            </a:pPr>
            <a:r>
              <a:rPr sz="1650" b="1" i="0">
                <a:solidFill>
                  <a:srgbClr val="6741D9"/>
                </a:solidFill>
              </a:rPr>
              <a:t>禁止持久化目标 apply state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5BF465-0264-46A8-B8CE-FCBF24FB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439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194A7B-96BD-4490-826F-C4B65A6F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本页结论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50D082-542F-4EED-906B-566EB842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43550"/>
            <a:ext cx="908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任何一个系统动作失败，都先补偿旧快照再判断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7F5A2B-EE38-4DA9-9E12-C4B81EA9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98740A-3F64-43A7-8B6B-4DC7AD21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任何一个系统动作失败，都先补偿旧快照再判断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DFD888-C8D7-40FB-8487-25B6BEB3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20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d9d913e614f8f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893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FBEF4C-80E6-417B-87F5-7FFCAA2D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21  第三幕｜两轮 Ralph 与故障定位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ECBB6-5D14-441A-AD56-F24F434B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3913D-40B5-4895-9C46-4250D479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8AE9A-255B-4B8B-8EFB-44F31368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Round 2：在账号 123 的第 2 条规则注入失败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8E6E0-4A26-472D-887E-749A173D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确定性故障注入用来验证事务语义，不伪装成历史 Session 的原始事件。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51D03-D857-4BBA-A116-BB2B66AF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E3B37-B180-4430-9345-E4499F1B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29DA9-C037-40AF-A08A-B7E9B45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故障注入场景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4655B-0CCE-4E24-9EF7-A41E2FA2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11ADA-4D43-4EE9-9969-5BD24660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四个核心断言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5842B-2129-4109-AA1A-A774D7F9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TEACHING COMPOSITE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049D3-EF7C-4474-9B53-7BD1CCF1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7856D-3A16-43D4-B014-85B9542B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04D1C-9826-4CB2-B720-1BECC0E9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初始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7C2C5-BDE7-480D-8042-D498761C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public + enabled + [100,112]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A82FD-DB90-47A3-853D-65509DDF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A7F1F-394D-4CFA-92D7-3713C5AE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313FF-890C-4BAC-B5E2-00CDC248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重放到 [100,112,123]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EE27E-4400-47B4-B697-DCA53DD4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ADB39-F809-4C7D-B967-62F9159F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注入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81783-79ED-44C9-B738-3CA107FE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123 的第 2 次 addRule 失败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25E9A0-8FB5-441D-866D-64FAFD73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DA4C50-63B0-4ED1-AA5F-230EF995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要求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EDD89F-B574-4CE5-AD6D-17E8C0DA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留下可回读的补偿证据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445512-EAF1-4077-BE76-96749090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提交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57BB32-81EC-42FF-9505-84257992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目标 mode/signature 不提交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D8881D-F181-4E28-A5E4-ADD10941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819311-3457-47D2-A9F6-29442AE4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恢复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11089F-5DAC-4E05-AFB1-BE0C8B02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旧 policy/rules 被尝试恢复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4F7039-F62E-402D-A675-9820E63D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35CF63-270B-4ECA-8F63-118E07C0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残留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F2430E-24EC-4FD5-B3CF-B96FF859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目标规则不得残留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81E641-C40D-41DA-9894-0E3B991E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B4A2AE-BD4D-4D9B-AB42-49CC84E9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mapping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8802BC-ADBB-4CCD-9725-F93C9E89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指向恢复后新 systemRuleId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F8195D-DE01-4F3E-87CF-CCEE06A2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FE3E39-250B-43D7-9357-C0E82F2B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8241DD-757B-4EFE-8DAA-3F194D57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故障注入必须稳定、可重复，并与冻结的失败语义一一对应。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8382D6-4607-4FE6-B15C-E08D187C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6A6128-D26B-4625-94D2-752DBCC9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故障注入必须稳定、可重复，并与冻结的失败语义一一对应。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508600-7727-40B5-B535-B1B25075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21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617fb839246c0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112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E1C17F-1B15-4A45-B59E-E069AB06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22  第三幕｜两轮 Ralph 与故障定位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BCB1C-9C65-4E60-9745-67914689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CF87F-9B37-4D34-8908-8112C9D0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2E744-EF32-4050-9C11-2AFFAE0A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回滚最难的是 identity，不是把旧对象写回去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78774-3794-44AB-BD05-8F13E12A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业务 intent 保持稳定，但系统资源重建后会获得新的 systemRuleId。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C39BE-7E71-416B-BC16-FBB00751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45862-FA14-44D5-B407-62B9577C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690D8-4A95-4C0A-A147-903C2196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失败前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82B60-8436-4586-B080-EF3BB50B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CC6A6-4F45-43FD-A781-1AC81AC5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回滚重建后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AEEA6-DD53-41C2-8570-A903559C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OLD RESOURCE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1AA5E-648D-4395-9787-1AD514C5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NEW RESOURCE 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13AAB-4963-4C69-BC7F-5557DAF6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CD97E-5724-46FD-B967-88842EAB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Intent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F2AE6-BAA6-472C-AEE4-195E78D0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8D90F-B522-4E23-82F5-497EC185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8953DF-9F5D-4E93-9157-223494C4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User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19FF5-5698-4D39-9FE8-565F4E68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F2D95-EB2C-4867-B9FD-DF83043F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811C7F-7165-429E-9C9B-E471AFB3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systemRuleId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8BE20-E146-4309-8D8B-93D30C0F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8001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6DFAF-F7D1-48FA-9E86-98801F9A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BBBB62-1807-4FBD-A90B-62B0DB2C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E8D2F3-BAA5-4B20-A5B5-9A92A68F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R1 → 100 → 8001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614A21-5F27-4F51-827B-E607F5B6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Rollback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10CAD1-9D5E-4034-9CC9-7EC71470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old 8001 → add again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52EA0-0C1A-4C2E-9347-8D305FFD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6BB64-1CF6-456B-841B-EAF57141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new 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7807E5-A629-49FC-8ED0-7D76F69E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9417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EA16A9-812C-4128-8B04-358AD8F0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E08E4C-E7B8-4721-A4AA-845B7023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Intent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B9FB66-16AE-47FB-863D-553D77D2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R1 仍然稳定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9271A3-2A13-4ECF-AF16-A02962E1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57C617-2103-4585-86AB-45A474E0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Deployment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24BD99-6C9A-4288-8E01-4D0AA9E1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R1 → 100 → 9417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09DFF6-FAD0-4E24-8BEB-F5032E58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11B27E-1FFA-48D1-92B0-7FD88848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1B20F8-3E63-4542-9228-3ADF366D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业务 identity 要稳定；系统 resource identity 允许在补偿后变化。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4D893D-58A6-4563-BD36-0F8B63CC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49574B-FDC6-4F10-965C-2190010D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业务 identity 要稳定；系统 resource identity 允许在补偿后变化。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47A8C2-72E9-45A5-BFA8-507D5465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22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d723162e040a3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878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B48B5F-C0F6-40CA-A247-A11C3B8E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23  第四幕｜平台门与系统验收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443E7-5A05-43F6-A7F2-CF47D11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D2A39-90F8-438E-8600-E797CAE8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3E88D-C5BE-4836-8C6F-23FB6410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代码正确之前，先过四道平台门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52845-E351-437F-ABCC-BF42785E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SDK、权限、管理员和设备条件失败时，结论是 BLOCKED 或 UNKNOWN，不要改业务代码。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1F3A5-5E93-436F-934A-9D7A2B05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F7A1B-6A99-4735-81CF-36B55538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3B5FB-98A4-46B1-B1D2-AF482936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开发环境预检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1BB79-DAE3-4D68-8C4E-7729FAF8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0450D-AEAF-4A8E-AD80-2C398238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运行环境预检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13181-8CAB-4654-B2D7-BF876F4A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SDK / PERMISSION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F8B9D-0A1C-4F2E-A2EB-A38F548B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ADMIN / DEVICE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EAF05-F925-4FAE-9927-046B470F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93DD8-245C-4991-825D-552BD8EA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SDK /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9D571-859E-4F0D-8F7B-9C02B782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目标类型与 API level 存在？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142B1-EC7A-499B-88E8-2091C0B0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834F0-F6A0-4F93-9CC8-C3126BBD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失败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35787-41E3-4838-9AE3-AB2E2E54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BLOCKED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55CC3-363C-43B1-803E-94D263EF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5AC72-3D7A-480D-ABA1-2F2CFC72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Permission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14EEA4-5FD7-4B9D-9E9F-A7F2E4FA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权限与签名 ACL 匹配？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F2F5A-89FD-4352-9DC2-820AD22B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1C0029-37AA-45C8-BFCE-C46FCCD0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失败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8956B-663E-4192-B674-FA6792EF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BLOCKED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9A7F6C-4C62-4FEA-836C-847118FD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Admin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491479-B0CC-499F-918D-6533A6A1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企业管理员已激活？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5826C2-7B3A-4B7F-A8A6-A392CE6B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853C20-FDCC-480B-83E5-B2E29D5E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失败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FE9D54-83B7-4B0F-BEF1-64C84F94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BLOCKED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786646-AD01-4095-9E70-7B7B8C2A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028E7C-FE60-42F3-9755-FB3697F8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Device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5DE2AD-A316-4E25-A332-8BA57752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账号、网络、包版本可确认？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EAFC42-2B37-4845-A8A8-FDF4975A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BDE886-CC5C-485A-860F-E8EEA47E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失败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837396-8CEA-4CC1-846F-FEA41CA7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UNKNOWN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EA0210-F506-4EDB-86C7-5768F57A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AADED1-0AA9-4C02-B470-690E4528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82A320-4BD2-45FD-8E35-C8EA64C4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平台预检失败时，业务 diff 再漂亮也不能形成 GREEN。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B18F46-F9C0-42EE-853B-4EE48524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C4A914-10CD-4794-9EC3-57C63A96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平台预检失败时，业务 diff 再漂亮也不能形成 GREEN。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B653A0-5B1F-4856-8A86-0918BAAA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23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9cb15c0514b34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40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46D7D0-C341-4F31-B94F-7D23AEE7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24  第四幕｜平台门与系统验收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6867F-3A42-46C8-870C-AAFA6624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0ADE0-E4CA-47C8-9967-B93CFC3E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24EB1-48C2-4C8F-87EC-569ADEDA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跨进程事件传事实，业务事务仍留在 Handler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05C04-15B0-4636-80DA-C70F58FF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事件接收、系统读取、业务 reconcile、事实发布和 UI 刷新必须分别记录。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C3038-84D4-4EE5-BE33-D167D812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ED6A6-83BD-4E08-BAA5-B3FC4F19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CCEF0-2451-48C7-9854-B521F931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真实 Session 纠偏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8C161-A570-41A9-9D3F-D4214B38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43B2E-2A5E-47B5-9D1A-E2BEBD8B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真实纠偏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8A727-A4E2-4932-9ABD-6947B787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“两个进程，静态的传递不行”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76472-237B-487A-BBFE-27207E1F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6741D9"/>
                </a:solidFill>
              </a:defRPr>
            </a:pPr>
            <a:r>
              <a:rPr sz="1500" b="1" i="0">
                <a:solidFill>
                  <a:srgbClr val="6741D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7DC19-2248-49B1-BF07-57223273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局部 GREEN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31497-73A1-4B7A-90DB-600EEFB1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卡片刷新；规则与记录未刷新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3BBA1-8E13-4D8A-916E-BFE0A2B8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18B57"/>
                </a:solidFill>
              </a:defRPr>
            </a:pPr>
            <a:r>
              <a:rPr sz="1500" b="1" i="0">
                <a:solidFill>
                  <a:srgbClr val="218B5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E846B-26CD-4719-8339-15398CB2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遥测缺口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48BEB-9357-4DE3-9CBA-668E7C33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历史只能按 time/source/signature 关联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35B8B-26F7-4C65-B7DD-2A725146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C473C-9B8F-4FD3-BFD2-A41AAC19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3337D-369F-4A70-A8B0-F166D7DE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95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P1 eventReceived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A3172-EAA1-495D-BC42-EAD53917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14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Extension 收到 account 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23871-3390-43E5-9CEF-8AD5C96D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B83AC-B254-4695-9FCE-B719BE9F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2F5915-4574-4992-B868-275BD988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71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P2 businessSucceeded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484C9E-7318-40CE-B537-A02AB5A6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Handler 完成 reconcile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DD914F-F896-44A9-A0A1-1BA75377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62E2AA-469B-46F5-B768-BED5CFD5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9599A5-3F34-4513-80E7-00AC7CB0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P3 factPublished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C66C01-62F2-4BCE-A9E4-CB0C30FC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CommonEvent 发布稳定事实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E7B6AD-D166-4A42-A935-46384C7A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F40477-29A7-4C4A-A34A-D7B11157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95E98D-0977-402C-9865-40C0C128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244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P4 uiRefreshed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BD7B4D-6EF6-481A-97AD-5A54AD3F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434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所有依赖消费者完成刷新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941491-A7D2-4F13-9BE0-805286BF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29300"/>
            <a:ext cx="716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E372AC-0FC7-4316-8664-D32982C3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962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控制目标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604694-EB16-4B5E-AF4E-E58FCE07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436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CommonEvent 解决传递，不自动完成规则重放、记录刷新或事务补偿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A79E93-ABC5-486A-93C2-13F2880D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459F81-F200-4E6D-AE1D-716ABB56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CommonEvent 解决传递，不自动完成规则重放、记录刷新或事务补偿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C81AD8-5259-4746-954D-DFCF4E06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24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e68495ae24720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166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4C2745-8CC3-42CF-8B5E-3A26DCC1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25  第四幕｜平台门与系统验收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3EA3B-0375-4229-82E6-E085AF65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862BF-D9D4-4585-9C1A-AACBABCF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7C04E-D3AE-4F1F-B945-2BC2A360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MCP 是证据执行器，不是事实制造器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BDB8F-CA13-446A-AF72-CFDA5A13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工具成功、业务成功和系统最终状态是三种不同结论，必须分层判定。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03F80-61F1-4E9C-AF23-0337D9D9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3A2FB-DDA6-4952-9CDE-3DBF5632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ECBCF-FC13-4887-8DEE-DAFDD583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Protocol / Tool 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27EA8-5848-4F27-A484-34A3A647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43B9E-C122-47F0-BFAF-6AA7A78A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Business / System 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BCE5D-7BCD-4247-8110-C49B52E1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35718-BEEE-444D-8979-12548D8A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002A2-9D81-4886-A437-6DEF44B4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C4297-D0E9-404B-B399-3E952A52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Protocol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E55D1-2DF6-4BB5-9DA5-02FDE481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参数满足 Schema？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67CDF-F636-431D-8F6C-149C203C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18F76-5CA1-4B3F-8079-E8578A82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Tool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55265-E9FF-42EE-A9F1-7BFC2505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调用返回、退出码、artifact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3BFEED-EEE1-46D2-B4EE-7FC13DB9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E46B4-9E4B-4F0F-9AE4-1231E11E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UI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4A44A8-7793-43CD-B26C-052FECBF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toggle_firewall 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B589C-8B86-433F-AD11-FDC5912A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0B07E5-8390-46E1-8A67-669B7DA1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UI tree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6F1DD9-781D-4BC5-8BF0-17BA68BA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false → true PRESENT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94AC71-0861-4FE9-ADB6-C980A424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Internal getter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E56D52-6D3B-44F2-AF3A-C2C15D1D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getPolicy/listRules PRESENT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D1C31-217F-4398-9DE1-24C39603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1768E-C44C-4B09-9362-4228F1B8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Acceptance bridge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DB745E-6684-48DD-BFBF-4491C92E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get_runtime_state MISSING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4003E4-C1C6-4A5F-8B07-DA4EE960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1C7259-EB93-45FD-997D-55CD4372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System readback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86B204-85A0-4177-A9CE-A8FAACE9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per-user policy/rules 缺失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168B7F-F909-4AF0-A4E7-E5AAD0F9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5F55FD-E4E6-4D73-B6E3-5AF901A7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Final verdict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8E1ADE-AB61-45D5-B26B-90BB7109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UNKNOWN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D24697-0AB3-4BE4-A2C9-86963BAA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0A995B-EA89-4D85-8C14-811C63FB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6761C4-C667-4811-834B-59DF321B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用 UI 证据证明 UI；没有系统回读时，不替系统层下 PASS。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374B49-9EAF-4375-B736-6BEEF5D8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A444B8-0D8B-4F64-AF7B-B33E3331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用 UI 证据证明 UI；没有系统回读时，不替系统层下 PASS。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9F5683-B742-4DA4-9E1F-189F8EB6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25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11b4fe1294df5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68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92D03F-18EF-4842-86E5-9AD9B071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26  第四幕｜平台门与系统验收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27A21-4325-43C3-8F9F-C9A9812B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648B1-B4F4-4F31-B8E7-8469DE8B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F4552-AE93-4509-B506-7BC5CF23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实践：把验收写成可执行的系统契约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1A799-D358-4B29-8524-2692906C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先冻结结构化回读 Schema 与 PASS 规则，再决定是否需要补只读 bridge。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7B52E-044F-4487-AFDF-1D053F6A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CF638-B720-4546-956C-8F49D86A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72465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50F4A-25D8-4BDA-AC4E-D94980CC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724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A062E-7F06-46D1-A690-A87CD58A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T03｜STRUCTURED ACCEPTANCE READBACK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D9160-71D7-488A-ADCE-D2175518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630555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{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"result": "PASS|FAIL|UNKNOWN",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"accounts": [100,112,123],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"mode": "public",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"signature": "100,112,123",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"users": [{"id":123,"isOpen":true,"ruleCount":4}],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"failures": [],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"evidence": {"device":"...","timestamp":"..."}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3F9A0-0697-436C-9159-F34EC0C1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9DFA6-88B5-4064-97A5-5DD24410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判定规则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D79E1-364D-4923-A4D7-93E53DF5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3524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E6932-EB55-4967-AD8E-47AEF7B0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051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F27C1-9213-421D-8999-CDA5A6C0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系统账号、policy、规则、mapping 全一致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51298-94A3-485B-A5FE-BD56F01D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95650"/>
            <a:ext cx="3524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6C9A4-BFAB-4825-B5DE-B1779CB6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FAIL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70FED-35F2-4A1E-8B3A-9ECBF3B1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09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读到明确不一致或业务错误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07B0D-BC09-4432-B02C-4E557015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19550"/>
            <a:ext cx="3524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91F6E-BDD0-4A59-9678-A85E1E64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529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UNKNOWN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0C58D-80C1-4877-9EFD-12AB13A1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338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关键 getter 失败或字段缺失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B89D6C-5939-46C2-8E21-58358B49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530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课堂任务：写 Schema 与判定表，</a:t>
            </a:r>
          </a:p>
          <a:p xmlns:a="http://schemas.openxmlformats.org/drawingml/2006/main">
            <a:pPr algn="l">
              <a:buNone/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不是 5 分钟临时开发 getter。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E191A-5910-40AB-8085-879B1CD0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CD437F-3729-417D-9336-451A1035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现场产出 JSON Schema + 判定表；不在 5 分钟内临时开发 getter，截图只作辅证。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C4B2B4-BE16-4DA6-AB1A-116DB4C8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26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ce8937ea145bf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340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E72FF8-4744-482B-B0E5-092AFF12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27  第四幕｜平台门与系统验收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44FA4-B570-4C6F-85AD-3C6CE417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FED8F-8513-4764-8598-B3ED8976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85351-98B2-42F6-83E5-9911FD48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MDM Checkpoint：交付一条完整证据链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B82A1-634E-49F0-A634-9E97D9D8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同伴 Reviewer 同时检查执行轨迹与系统 Outcome；Implementer 不能独自给自己打分。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F7105-E825-4B04-BB2D-9DAD8B15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4AC6A-9491-4AC2-BD7E-B7BF0DF7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B6C0F-5463-4A5B-88AF-B514B0C0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同伴验收六问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90BE0-BCAB-4081-A9E1-5A18B03A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INDEPENDENT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82E91-CF0F-48AC-98C4-CA8A3368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规格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80978-CF6F-42CC-892D-FBDD67CD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860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事实、失败语义、提交点冻结？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C7250-8962-4671-AE71-CDC09EC6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A75CD-B551-4A7D-BFA9-E31571BB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实现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02F9A-CC5F-4EAB-A5F4-524EEC2D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956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T01/T02 是否真的 RED→GREEN？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D97EE-F7B9-4D52-8C46-2A796AF2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4E08B-D367-4FFB-98F6-497FAC3F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设备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FE6DD-A406-4C09-9342-7A2B4EBE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052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真机证据与 UNKNOWN 诚实？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98CE2-02E0-4858-8705-7B1E1EEC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4F833-5543-4CB9-9D54-588844F9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90DE5-28C4-40CA-AC56-BFEFFA76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14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diff 完全落在允许范围？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CA0D2-4E52-456D-98B4-EAD6E965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6959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937e9923d41b0"/>
          <a:stretch xmlns:a="http://schemas.openxmlformats.org/drawingml/2006/main"/>
        </p:blipFill>
        <p:spPr>
          <a:xfrm xmlns:a="http://schemas.openxmlformats.org/drawingml/2006/main">
            <a:off x="6038850" y="2641277"/>
            <a:ext cx="5429250" cy="226124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9ADCC2-0D10-462A-BA94-50D332B7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ED9CE-5762-4AD1-8305-FC92A431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证据边界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4E096E-76CD-4347-8D0D-AEE3AC8C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Outcome 决定最终结论；Trace 用于解释可信度、复现过程和发现越界。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F881E2-072F-455B-8CB3-E573BCC7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F092E4-61C3-4AF1-B55D-41A0D8C4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Outcome 决定最终结论；Trace 用于解释可信度、复现过程和发现越界。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5B1893-8E31-439B-9FEA-D822D5B0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27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85b0ffef04e2c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4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EF19B9-4898-4244-880C-85B8F1E6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案例二｜从 30W+ 开源库到 HarmonyOS 远控 GPU 硬解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B027E-8454-442D-AA36-5EF43348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BB25F-9EF4-4772-A7FD-9E1FBE9A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案例二 · 方法落地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AC986-E701-4F74-870C-8A1D0A57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先把“卡”说清楚：这是一个复杂需求，不是一句“上 GPU”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72F37-3250-4DE4-A50A-FB9CE454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先分离事实、假设和待测项；否则 AI 会把猜测包装成方案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647D0-B0AE-4CB9-AC7A-AC41E000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4FB505-86F4-4BC0-9F19-33AC5014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192E0A-46EB-429B-8DC9-5C781981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复杂需求的第一步不是写代码，而是把问题边界和证据状态写清楚。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1BBCB8-C03A-4F30-8ACF-ADD39C49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28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13c0266a547eb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d56e70ef8487b"/>
          <a:srcRect xmlns:a="http://schemas.openxmlformats.org/drawingml/2006/main" l="0" t="10294" r="0" b="102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095500"/>
            <a:ext cx="4857750" cy="25717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CA966C-31FA-47F2-A122-48080FA5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1390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B9AA46-C953-4C0B-B1FA-7F64FC6B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▶ 现场演示场景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4A6E2F-1AEF-4E49-93AC-7E9CE74D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远控连接正常，但视频播放卡顿；此时不能直接把原因等同于“CPU 解码慢”。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D707C6-4CCF-49F7-8112-32874F4C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95500"/>
            <a:ext cx="2762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FCCC70-7AA1-449D-9EA8-7CF5E749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955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3D820D-8D0B-4D50-9A0D-C33D667D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288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559,355 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CEE3A1-D5CF-4582-81DF-5ED46CC5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717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约 2,014 个文件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跨 ArkTS / C / C++ / 平台 API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C43CBE-3A9E-4657-A03E-6893E499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8765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BEAC4A-2E42-4E14-A963-15F0C47A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9525">
            <a:solidFill>
              <a:srgbClr val="03985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0BED96-6F74-42CF-A3F7-396DEF25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28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已知事实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C56F49-2CE7-4103-A2DB-835C8DDB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视频场景可复现卡顿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CPU before/after 尚未测量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8D758F-4950-4433-A1A3-C5A0708E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29000"/>
            <a:ext cx="2762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3F17E2-16B7-40BA-A55E-AB660DD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29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9525">
            <a:solidFill>
              <a:srgbClr val="F7900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AC342F-3070-432A-8222-ABC208D4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623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工作假设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7EA6CD-1995-4B18-B963-30C99B00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05250"/>
            <a:ext cx="243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软件解码 / 拷贝 / 调度 / 缩放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都可能是瓶颈，必须逐项证伪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4A7571-0015-4CA2-B352-CE9486C0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876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40A18E-B676-42F1-BA13-BD4F0EB6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0837B1-4A33-43F3-8BEF-5304A7B3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证据状态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48C726-06AC-4B00-A201-F1558444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功能：可观察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性能：PENDING / UNKNOWN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结论：暂不宣称已优化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B875CC-0FC5-4269-B900-59091AC0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5300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989227-0927-46EA-ADB5-9E771301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863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需求拆解口径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A7E082-8F29-42E3-8422-72835734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3872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症状 → 事实/假设 → 代码边界 → 验收证据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BD21C3-4169-4CA1-B60A-60293295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816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先定义“如何证明对”，再让 AI 设计“怎么做”。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AFE884-D811-4758-936B-BF9A6A9C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8966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CE2FE99-F757-425E-87A6-2EE70E3E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文档证据  01-问题与基线.md</a:t>
            </a:r>
          </a:p>
        </p:txBody>
      </p:sp>
    </p:spTree>
    <p:extLst>
      <p:ext uri="{BB962C8B-B14F-4D97-AF65-F5344CB8AC3E}">
        <p14:creationId xmlns:p14="http://schemas.microsoft.com/office/powerpoint/2010/main" val="1265189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7E9CE2-568C-4D77-BC67-582A590F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案例二｜从 30W+ 开源库到 HarmonyOS 远控 GPU 硬解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B97D8-F27A-4AA3-95F6-CF3D29FF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4102D-61A1-4AFF-B39B-9D46BAA2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案例二 · 方法落地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CEAF2-45BB-4310-814A-62BE3359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AI 如何快速熟悉 55.9 万行代码，而不让上下文爆炸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3C5E8-35C2-4E0E-999F-30131127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先建立四层认知地图，再按问题逐层缩小读取范围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EFE4F-9206-4C87-8857-A2E672C3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2FE91F-74F8-455F-843E-6518571B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54779F-EC35-4624-A15D-DADEF33F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让 AI 记住“地图和证据”，而不是把整个仓库塞进上下文。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9215A7-90E6-4041-8D0D-4AD13F8B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29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8e3359b794ea0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DB97A1-9F45-49A3-B188-6805D5F5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251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544A2F-302D-4CC2-A60D-F9945A69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8F763F-1D88-4BAC-BE9F-B8F2BC9B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① 入口层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A8BC31-0A65-4E62-9C1B-9CC7D88B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连接入口、能力开关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先找到谁决定启用视频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6D6993-D1F6-4760-9C27-585C3B51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251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9D6171-7F96-4403-82AA-D1286BCE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9525">
            <a:solidFill>
              <a:srgbClr val="03985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02F9E5-2E5C-4762-B271-B9AAAA25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28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② 边界层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FE786C-EDE9-4D24-BF12-EFA24F4F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ArkTS ↔ C++ ↔ C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只读取跨语言契约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99468E-1206-4425-A6A4-50859A72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251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D3197E-BCBD-4FD7-8D1F-F05BD9ED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83A8C2A-383B-4BA4-8ABF-D03D015E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28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③ 主链层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0127B6-7237-4850-B37E-419FDF0D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receive → decode → render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追踪一帧，不追完整仓库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7FDB88-263B-4213-BE71-A9B82B21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95500"/>
            <a:ext cx="251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44927F-102C-421A-8985-FDC1B5B0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95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9855"/>
          </a:solidFill>
          <a:ln xmlns:a="http://schemas.openxmlformats.org/drawingml/2006/main" w="9525">
            <a:solidFill>
              <a:srgbClr val="03985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78E5F9-5EE9-4FBD-AF9A-DB7EC4DB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④ 验证层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D80C64-3098-482D-BB4D-2E9BCE97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日志、帧号、耗时、画面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每个判断留下证据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C646E2A-D71F-49DA-A250-722D2C64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上下文预算：从地图到锚点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05F7BE-DE8D-4F45-B540-C306C076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3143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67D9C13-ABDA-4644-AA44-BBD38B8B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仓库级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A88306-5490-457B-B65E-7A2FC55B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目录 / 构建 / 语言边界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60F68C-A0B1-4909-B4E1-3D651493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529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F020410-6FF6-40A7-9151-C8CF18C8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3143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CAC6C8-17EA-4D8A-9BEF-7AC19C03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148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模块级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9191416-A7E2-490D-AAB8-7EE70155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915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入口 / 数据结构 / 关键调用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6B53E49-B8E5-41D9-879B-B60780BC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529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7B6D46-E706-4E6D-A2F2-831ABDCB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71950"/>
            <a:ext cx="3143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03985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92F4F49-5710-458F-990A-A7DE1978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148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问题级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A0812CF-FBD8-48D4-9DDA-91EE5ADE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2915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同一帧的 5–10 个代码锚点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C72BFC6-797F-47D8-93AE-ED0ED358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0545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A5AF8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7A5AF8"/>
                </a:solidFill>
                <a:latin typeface="Calibri"/>
                <a:ea typeface="Calibri"/>
                <a:cs typeface="Calibri"/>
              </a:rPr>
              <a:t>原则：只保留“当前判断所需的最小证据集”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69B7281-3FF1-4F08-996E-17A9790E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8966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9220D7A-C097-4B45-A901-0C652F21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文档证据  02-大代码库认知地图.md</a:t>
            </a:r>
          </a:p>
        </p:txBody>
      </p:sp>
    </p:spTree>
    <p:extLst>
      <p:ext uri="{BB962C8B-B14F-4D97-AF65-F5344CB8AC3E}">
        <p14:creationId xmlns:p14="http://schemas.microsoft.com/office/powerpoint/2010/main" val="13466251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7E59F-D8D5-4806-B08A-8F9DA3C9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案例二｜从 30W+ 开源库到 HarmonyOS 远控 GPU 硬解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96AF5-DB93-4BD0-85A0-4CC406A3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5F2FA-9D98-403A-9577-216D228D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案例二 · 方法落地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3C16E-A1C2-4111-BEDC-5EB312CD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研究其他平台，不是照抄代码，而是提炼可迁移契约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69980-B82D-4910-B438-DB087A80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比较输入、输出、生命周期、线程和 fallback，再映射到 HarmonyOS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9A835-3995-4710-B471-790A27CC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1F97D2-5620-400A-8F68-16CA4652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795633-EBDF-4E81-B3CB-D299AC40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跨平台调研的产物应是“契约差异表”，不是一段平台名词摘要。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5E1B8-5739-498C-9A06-F18F0AC3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30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5539d66ff4ced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3B79BD-2B63-4E59-927F-8CFC48B0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2514600" cy="2524125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B194A-59C4-4865-82B2-D2A333CD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269E1F-F5B7-49EE-98BE-F781EF0C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参考软件路径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0A076E-E047-4E42-A616-F6CA8B9F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FFmpeg / OpenH264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803D62-C2DA-452F-83EE-48FA0137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2171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输入：压缩帧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输出：CPU 图像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价值：fallback 与错误语义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0604D6-EB7A-40BE-8787-9EEB0D93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2514600" cy="2524125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E64578-EA64-4549-BBF2-B4945022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E09593-2FAE-4151-9F67-D08115F1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76475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参考硬解生命周期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197BF9-280F-475E-82DB-358B7A84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9557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Windows MF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B938CB-DCC1-4C23-B704-4DF07F30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09925"/>
            <a:ext cx="2171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异步 transform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flush / drain 明确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关注 session 切换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32F7C8-D713-4B8F-84E1-F0343DD2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2514600" cy="2524125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BFE295-63B7-4CB2-9BDA-9BAF79EE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F97247-1BAE-4057-A2AE-6A5F67C2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76475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参考队列与 surface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99A749-43B7-4687-9A8F-B4EB73AC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9557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Android MediaCodec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471F91-A488-48A0-884A-D7AFAA39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09925"/>
            <a:ext cx="2171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input/output buffer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Surface 零拷贝路径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关注背压与重建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C7F674-91F1-4429-8B6D-DCBD1ED3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95500"/>
            <a:ext cx="2514600" cy="2524125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1EE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B7749C-B895-456E-89E8-DE78EDF6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FA91C2-60B0-4DA6-A3CC-2B2FC448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76475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A5AF8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A5AF8"/>
                </a:solidFill>
                <a:latin typeface="Calibri"/>
                <a:ea typeface="Calibri"/>
                <a:cs typeface="Calibri"/>
              </a:rPr>
              <a:t>目标平台契约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B3A226-A466-4EC9-8C36-C972D1F7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9557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HarmonyOS OH_AVCodec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7FBC32-712B-40AB-BF4E-8F57D746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09925"/>
            <a:ext cx="2171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callback / buffer / surface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能力查询与错误码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形成适配边界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721D16-CCCE-4151-9752-DECBD541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896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FB6AB8-2396-4F72-8313-7431064D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2D2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D92D20"/>
                </a:solidFill>
                <a:latin typeface="Calibri"/>
                <a:ea typeface="Calibri"/>
                <a:cs typeface="Calibri"/>
              </a:rPr>
              <a:t>迁移公式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AF90AF-A1CA-436E-8F71-E8C4A3D1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815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平台代码  ≠  可迁移实现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EEC584-5FCB-4B0D-9729-2B4669D3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81575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可迁移契约  =  输入/输出 + 生命周期 + 线程 + 资源 owner + fallback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0A4057-7CD5-4C66-9924-FA49FE58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53050"/>
            <a:ext cx="922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调研结果必须能回答：HarmonyOS 在哪里接入、失败时回到哪里、如何验收。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F6828E-A56C-4B6C-8F42-9D65697A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8966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7E3C40-46D3-41D8-83E5-FB4B627C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文档证据  03-跨平台实现调研.md</a:t>
            </a:r>
          </a:p>
        </p:txBody>
      </p:sp>
    </p:spTree>
    <p:extLst>
      <p:ext uri="{BB962C8B-B14F-4D97-AF65-F5344CB8AC3E}">
        <p14:creationId xmlns:p14="http://schemas.microsoft.com/office/powerpoint/2010/main" val="3940578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9DF36F-5C6A-4DF1-A085-673B509E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案例二｜从 30W+ 开源库到 HarmonyOS 远控 GPU 硬解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7FBBD-C889-4AB7-912E-3B2598E2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7DC14-4379-4E5B-8A4C-905124BD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案例二 · 方法落地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9A9C1-7CD6-4DC3-BC1D-D7A5011D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把调研结论固化为 ADR：AI 的方案为什么是对的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77B6C-CE33-41A6-8CD5-25251F30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调用链可追踪、关键决策有依据、未决项和回退路径都显式记录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4C503-ABD3-415E-9F26-CFE8D997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526BEB-4E9C-4B4E-892D-AD8E8FDB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7D2732-4139-48E8-B0FE-1CB17948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可信方案不是“听起来合理”，而是每个选择都能回到代码锚点和验收点。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C259F3-FFA5-4C4C-9C73-5C8C4ECE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31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4504209b44fac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5AE758-C2BC-4441-B871-B4490A0A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D5EA6C-E538-42AE-ADD3-66BA395F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RDP 帧到达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1097BB-A8FC-4C12-8B45-9A85F070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098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671A22-2240-4B91-A6F6-E1B6395E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0980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F7C1D0-1AF4-41A2-A649-21094AE3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0505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H.264 组帧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58E769-E2F1-46CB-BC74-FE2CCFB7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098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C31530-18D9-4146-9D64-1EA6678A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0980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03985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463039-D666-4A90-849A-C163A2DC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OH_AVCodec 输入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47D160-56AC-464E-B258-AE91AEC3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98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F1149F-5CF8-4BEA-9D48-3724A152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980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03985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4C6FE4-8229-4E28-B448-4807DD49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0505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Surface 输出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54E1DF-7F5F-4DCE-A083-9FD47A11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98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3AED10-6E9A-415B-AC0D-ACD0D2BD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0980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A8A959-59AD-47B4-A01B-9C99136F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0505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合成/缩放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A77977-5E88-416D-9AB2-181FD1BA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98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79A121-4EBC-4BBB-A6C2-74438B79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980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27A5C7-8B9F-47B7-BA5C-414F34E4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0505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窗口呈现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728167-3203-444A-9232-D9911AEB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390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03985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7F5367-F72B-4D04-BA05-692EBE55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548350-F83C-40A8-80AB-E9B91B41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895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DECISION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7CC34E-6F93-4E85-B8CC-49A4414E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建立独立硬解适配层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0C2E76-3E26-4D29-8BEC-AB80972E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隔离 FreeRDP 与 OH_AVCodec 生命周期；上层仍使用统一帧语义。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CBD6CE-8C1F-4F5B-9FF8-C39172AF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33750"/>
            <a:ext cx="3390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7900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120ABA-685D-4913-AA79-AB683C26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0520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343BDC-3CF9-40A2-9DC6-04E9555B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14725"/>
            <a:ext cx="895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9009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79009"/>
                </a:solidFill>
                <a:latin typeface="Calibri"/>
                <a:ea typeface="Calibri"/>
                <a:cs typeface="Calibri"/>
              </a:rPr>
              <a:t>DEFERRED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BA73D6-D13F-41A1-994F-45D69BC7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52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性能指标暂不判定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438089-50F2-4AF7-B07E-D21AE5BD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815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CPU、延迟、丢帧、长稳必须由同场景测量与视频证据补齐。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BEF4A3-7E86-40EF-B0F5-492E31E8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3390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492BF9C-6C8D-4781-B4F1-F5AE6639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B78B4D-0A7E-482B-A758-6C42AA94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14725"/>
            <a:ext cx="895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2D2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D92D20"/>
                </a:solidFill>
                <a:latin typeface="Calibri"/>
                <a:ea typeface="Calibri"/>
                <a:cs typeface="Calibri"/>
              </a:rPr>
              <a:t>FALLBACK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2890C1-A231-4861-A68D-4E3DE398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52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保留软件解码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A47202-8B85-47D3-929F-4DC8761D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能力查询失败、初始化失败或连续解码失败时可恢复，不让会话崩溃。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D71E89B-4EBD-4CBA-B38F-C07AE929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14975"/>
            <a:ext cx="1089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A5AF8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7A5AF8"/>
                </a:solidFill>
                <a:latin typeface="Calibri"/>
                <a:ea typeface="Calibri"/>
                <a:cs typeface="Calibri"/>
              </a:rPr>
              <a:t>ADR-GPU-001 把“为什么这样做”固化成可审计决策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A166388-904D-4230-A95E-2C88B755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8966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932B14A-5F89-45A9-AF82-D0784A4F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文档证据  04-ADR-GPU-001-HarmonyOS硬解方案.md</a:t>
            </a:r>
          </a:p>
        </p:txBody>
      </p:sp>
    </p:spTree>
    <p:extLst>
      <p:ext uri="{BB962C8B-B14F-4D97-AF65-F5344CB8AC3E}">
        <p14:creationId xmlns:p14="http://schemas.microsoft.com/office/powerpoint/2010/main" val="20206882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A08767-1DE7-4E0C-9885-FB6E6615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案例二｜从 30W+ 开源库到 HarmonyOS 远控 GPU 硬解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00D97-CF8A-4B12-9DFE-5C1AE124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27A80-4955-46BC-9017-3DD9A3F2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案例二 · 方法落地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4407D-CC51-4492-940C-8D92A4EB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先做最小能力穿刺：用最小成本证明整条链路可行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96344-178D-4566-8B67-CDD4EE8C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不先追性能；先验证初始化、送帧、取帧、显示和释放五个边界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53775-434A-4EAA-AB9E-6F84BCD7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463B2A-A7DE-4166-B4FB-F1229417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45F2AC-E9F4-4AE2-97FD-23B42CC8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穿刺的价值是尽早暴露错误假设，而不是提前写完全部工程代码。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809FED-8063-487C-B78D-D86638F1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32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266b13b28443c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08CC6B-625F-4E1C-83B7-5D629B29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1952625" cy="26098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0FED5A-CD26-478D-8144-80EF54BE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685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D6581-FA06-4F15-AF4A-32226F50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955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SP-01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F4E77F-E156-4036-8E9C-AFDB27ED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33675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能力发现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B193E4-022F-49C4-967D-524E5E6B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16478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能否找到目标 codec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输入格式是否匹配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8041B2-3D73-4237-A52A-63958A23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判定：PASS / FAIL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356970-220A-49DA-A8D0-C76FA10B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2004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1001CD-F169-4249-A5A5-BC1F2D74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114550"/>
            <a:ext cx="1952625" cy="26098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5DE3B5-5464-464C-878E-714932FC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286000"/>
            <a:ext cx="685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DA9F48-07FF-4741-AD3B-7115E97B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955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SP-02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92E094-1E5C-4A35-A6AC-71FE0595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33675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生命周期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DB6B09-5A86-43B9-9452-E762C89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209925"/>
            <a:ext cx="16478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create/configure/start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stop/destroy 可重复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61D771-6D72-4D73-9647-52E6C9C4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229100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判定：PASS / FAIL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3376E4-445F-4BC8-A8BB-D689E9C4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04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BF2DB4-1703-4557-8275-403930D1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14550"/>
            <a:ext cx="1952625" cy="26098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57E2E5-6EB8-4F79-9480-B45174FE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86000"/>
            <a:ext cx="685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5C2B27-61EE-4214-96D7-ABE2856F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955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SP-03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EABA8C-6A77-4279-9FA2-C9A5AC55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33675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送入一帧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4BA658-ECA7-4FC5-9DFE-43EBD1EC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09925"/>
            <a:ext cx="16478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帧边界、时间戳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回调线程可观察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4DAD37-87E1-4C21-9F06-8FE7F9E3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29100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判定：PASS / FAIL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CDAA9B-9FAC-411E-8C97-89912593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004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0A4F69-A6D5-40F7-91D2-8224B059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1952625" cy="26098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E0C77E-1F69-40D5-8512-9F9A0EB1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286000"/>
            <a:ext cx="685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EDF96D-D82A-4772-9506-704C0090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955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SP-04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CEA47D0-B120-48CE-A515-26CC4848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733675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输出到 Surface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C05D891-BE92-4B8D-A475-6DEAD082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209925"/>
            <a:ext cx="16478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首帧可见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顺序与帧号一致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0694370-E848-44C1-A136-3327893E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229100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判定：PASS / FAIL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F1247B-57F8-4EEF-A81F-81ED8DA6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04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CDB0963-2DD3-47FA-B9DD-DC249040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14550"/>
            <a:ext cx="1952625" cy="26098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A5F3D2-1D4E-4C0E-B3DE-B7EC4743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685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1F52D2D-E27B-4929-AEB2-F4DF30CA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955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2D2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D92D20"/>
                </a:solidFill>
                <a:latin typeface="Calibri"/>
                <a:ea typeface="Calibri"/>
                <a:cs typeface="Calibri"/>
              </a:rPr>
              <a:t>SP-05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E149C6-AE02-49C4-A01D-6AF29446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33675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失败与释放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440B04-33F0-438A-830E-4F6D8739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16478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错误码可记录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资源无泄漏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7BAA759-4B05-49E5-84E6-4A0FD187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29100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2D2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D92D20"/>
                </a:solidFill>
                <a:latin typeface="Calibri"/>
                <a:ea typeface="Calibri"/>
                <a:cs typeface="Calibri"/>
              </a:rPr>
              <a:t>判定：可恢复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09058B0-634F-4515-8125-51919F48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0896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834081-D07F-4385-A5F1-39AD5588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900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79009"/>
                </a:solidFill>
                <a:latin typeface="Calibri"/>
                <a:ea typeface="Calibri"/>
                <a:cs typeface="Calibri"/>
              </a:rPr>
              <a:t>穿刺边界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131E247-5FBB-4AC1-8E95-46094C95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5777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证明链路可行：YES / NO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636AC3F-A77B-4F2F-AD05-14AD1EBA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57775"/>
            <a:ext cx="670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暂不追求：完整优化、所有格式、极限性能、长稳结论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A0F69BA-BA21-4CE6-9E42-496DDF75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102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A5AF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7A5AF8"/>
                </a:solidFill>
                <a:latin typeface="Calibri"/>
                <a:ea typeface="Calibri"/>
                <a:cs typeface="Calibri"/>
              </a:rPr>
              <a:t>先回答最贵的未知数，再扩大实现范围。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DD0F675-453A-4733-A209-79C48890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8966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2DD8DEC-6768-4166-8825-81255DFA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文档证据  05-最小能力穿刺计划.md</a:t>
            </a:r>
          </a:p>
        </p:txBody>
      </p:sp>
    </p:spTree>
    <p:extLst>
      <p:ext uri="{BB962C8B-B14F-4D97-AF65-F5344CB8AC3E}">
        <p14:creationId xmlns:p14="http://schemas.microsoft.com/office/powerpoint/2010/main" val="49524630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99BF09-C4B1-43D4-8D54-1DD2A24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案例二｜从 30W+ 开源库到 HarmonyOS 远控 GPU 硬解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BEFB6-CD1A-4901-82C3-7E9AD416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45B58-42DA-4456-9CD4-AAC429B0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案例二 · 方法落地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6D118-F988-46AE-8D48-9202CE81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穿刺完成后再拆任务：每张卡都有输入、产物和验收证据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98D5C-7104-4722-A3F2-23EA1BB6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T-GPU-00..07 按依赖推进，避免多人/多 Agent 同时改同一条主链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B8CAF-3986-4263-BD08-9FADBB7A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BA7764-0CE1-4331-9CF3-3669D640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5F3FB9-C24F-4290-9998-1335FED3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好的任务拆解让“做完”变成可检查状态，而不是一句主观判断。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AAC216-62B0-4DA2-9C56-D46AFAE8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33</a:t>
            </a:r>
          </a:p>
        </p:txBody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18fc944074a5c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C91330-9B47-4EEE-8D80-39261BAF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2514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C635EC-ADFF-4342-9A9B-FF36E22D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76475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FA4A57-BB3C-4B71-B61C-F516AD8A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T-00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2BA2C7-1B7C-4329-9F04-DA385C72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基线与开关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4596C4-5B9C-4976-ADA6-ADDF99AD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812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AC9832-DF9F-4E87-8F82-DD0C5AE2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43125"/>
            <a:ext cx="2514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EF6C94-5009-4266-9997-FA2C9721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76475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028C6C-D9BE-4A75-8B77-445667B6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T-01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3A5C9D-5C1D-4139-AA52-5EBE1E46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6700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适配层骨架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75520F-0092-4456-B679-3EE6AC20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812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3F5E92-BE07-457F-BE4C-14A0D937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2514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4B258C-98DA-4930-A6F1-BD38FB0D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76475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1B5FD2-6D70-4445-BFC5-07C4FEBB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T-02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A7FF35-249E-410B-ADA9-D538EB26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codec 能力查询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DFE718-26E4-4A93-A9E7-085FC4C1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812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A4EC90-5EE4-4348-B25C-D8DC6F70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43125"/>
            <a:ext cx="2514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03985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A0E89C-8B7B-48CE-B0B9-19E20F9B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76475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78E8F2-1902-4FC0-9AFE-43EA50C7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T-03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90C00FF-6D3E-4B26-B3BE-86B4C1D8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6700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输入队列与组帧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02141FE-E0E5-48BB-9D3B-34259F6E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2514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03985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7BBEF83-E723-487B-9EB4-594D82CE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95725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C25FD59-74F9-4554-97C4-4EBED313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T-04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270CC6-B1E9-4394-809C-819A1077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Surface 输出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04A6DD3-36EE-4110-B552-8297A78A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005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06D8CE-6E54-4128-8400-E5C9C12D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62375"/>
            <a:ext cx="2514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1EEFF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B746904-C1DE-46F5-AB0E-C232E125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95725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3A4DD35-7A53-40BE-9F58-2F7ECF7B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052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A5AF8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A5AF8"/>
                </a:solidFill>
                <a:latin typeface="Calibri"/>
                <a:ea typeface="Calibri"/>
                <a:cs typeface="Calibri"/>
              </a:rPr>
              <a:t>T-05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5432A5F-7347-4A65-B882-A1385362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生命周期/会话切换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335AB8-07B2-46FB-8888-5CD9B2EA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005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51D2205-732C-47EF-B2EA-42013EFE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62375"/>
            <a:ext cx="2514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3F50DA3-4C78-4E4C-B897-6474A28E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95725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15C5318-6BD7-4112-8FF9-508FB8CA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2D2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D92D20"/>
                </a:solidFill>
                <a:latin typeface="Calibri"/>
                <a:ea typeface="Calibri"/>
                <a:cs typeface="Calibri"/>
              </a:rPr>
              <a:t>T-06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C9D9C7B-A5AF-4E71-B95F-5BD0F01A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862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fallback/错误恢复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54E71B6-648B-497F-A512-984A1EC2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005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89C6480-1EB7-46D5-89C4-CBD6A327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62375"/>
            <a:ext cx="2514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79009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57B0FB1-76DB-42C2-A833-5B0110BC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95725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66CC5B3-C757-410A-9586-BEC32CCC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052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9009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79009"/>
                </a:solidFill>
                <a:latin typeface="Calibri"/>
                <a:ea typeface="Calibri"/>
                <a:cs typeface="Calibri"/>
              </a:rPr>
              <a:t>T-07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42BA461-3091-47A3-8C8C-A9952714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862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验收与证据归档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A9C34A3-906C-42C6-B16F-97DDA729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↓ 穿刺证据作为开发输入；任何任务失败都回到最近一个已通过验收点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EEE85C5-E8A6-497A-8838-BCFDBC48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10896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68254FF-21AB-4918-B372-66BBC899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A5AF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7A5AF8"/>
                </a:solidFill>
                <a:latin typeface="Calibri"/>
                <a:ea typeface="Calibri"/>
                <a:cs typeface="Calibri"/>
              </a:rPr>
              <a:t>每张卡：前置条件  |  修改范围  |  产物  |  验收步骤  |  失败回滚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000C137-AD7C-4101-BE8C-15EABBAA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8966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3F830F1-865A-45AF-BFBC-99F4DFAE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文档证据  tasks/T-GPU-00..07.md</a:t>
            </a:r>
          </a:p>
        </p:txBody>
      </p:sp>
    </p:spTree>
    <p:extLst>
      <p:ext uri="{BB962C8B-B14F-4D97-AF65-F5344CB8AC3E}">
        <p14:creationId xmlns:p14="http://schemas.microsoft.com/office/powerpoint/2010/main" val="2473563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648E5-6F93-4D71-9F00-0F1E884F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案例二｜从 30W+ 开源库到 HarmonyOS 远控 GPU 硬解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7AE86-48D5-4152-A10C-A3F9E5D0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5AE38-BDF8-4CBD-A853-D4FD6EC4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案例二 · 方法落地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C8E29-00E1-4996-88EF-A045BA3F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人和 AI 怎么协同：角色可以切换，交付物不能消失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5E2AC-EA80-474C-952E-0BA5CDBB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Planner、Explorer、Implementer、Tool、Reviewer 通过文档和证据交接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3BB7C-467D-4DCE-B677-809E81B5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903409-74DE-44C3-8610-FF77E8DE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3BE7C-B9AF-4C2B-B299-AB7EC786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协同效率来自稳定的交付协议，而不是同时打开更多 Agent。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C0C9FE-7407-465B-8F09-6FE1B155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34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74cfa10bd434e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4AD934-F867-41C5-8DA5-0ECC774C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195262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90B125-4249-452D-8957-27A1E870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077C39-4EBD-4147-91EF-C7F034C5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Planner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E476E4-4575-4FDE-9F64-099FA4E4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609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把问题写成</a:t>
            </a:r>
          </a:p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假设与验收点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7083AF-A3BF-41D1-ADF2-DB6A851F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813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0E9180-B10E-40CF-BC61-A0F51C53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143125"/>
            <a:ext cx="195262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03985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28D2DD-E167-4DF0-9C81-DD26C61E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305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03B0E4-5C17-4685-B89C-47468C9B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2860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Explorer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D79ADC-EF17-44D9-9237-47F52B4D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76550"/>
            <a:ext cx="1609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定位代码锚点</a:t>
            </a:r>
          </a:p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补齐平台事实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964A05-9802-4CAA-8943-F3EB94E4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6B2880-FD24-448C-ADBA-8C2B6EC1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43125"/>
            <a:ext cx="195262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EEFF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226881-859B-43AE-9DC5-289A8D58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05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5AF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7A5AF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EED9EC-D340-41B5-8FA4-313D5324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860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Implementer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508864-8D23-4610-9E88-4036B43C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76550"/>
            <a:ext cx="1609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按任务卡改动</a:t>
            </a:r>
          </a:p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控制 blast radius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6CA3A0-1456-46A8-9BA9-34A16572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7813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DB6422-898B-40EC-A5FA-3201F114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195262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7900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BC51D8-FBF2-40A5-AE45-112DF935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305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900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79009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946554-9B8C-4F74-A87E-14D63E89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2860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Tool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C03552-FA07-4440-8362-ED39D46A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76550"/>
            <a:ext cx="1609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构建/日志/截图</a:t>
            </a:r>
          </a:p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返回原始证据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967087-362A-42A8-9293-B720E161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13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D8A2C4-DAFB-4B07-8684-638E3B7F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43125"/>
            <a:ext cx="195262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AAD734-AFB2-4B6E-8903-291236CE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5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2D2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D92D2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75F091-E014-444E-9817-5A9D3E40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860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Reviewer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6A1EEF-4AFE-4D46-816B-F6378878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76550"/>
            <a:ext cx="1609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证伪结论</a:t>
            </a:r>
          </a:p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判定 PASS/UNKNOWN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1B6DBBE-F3B9-49A3-9285-4200D216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协同不是“谁来写”，而是“交接时必须留下什么”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03751F-5332-4F34-B5E6-DE11C166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C88C07-398D-4453-8B13-B160BDCA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问题基线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8EFDCE-5067-41F6-A2A5-BFCE8F6C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434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C63BE4-10C0-4859-8674-540B2920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720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A4660A-A53B-4778-AF13-6AA0F3DC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81525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代码地图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C17C7C3-0C45-42D1-94D9-D6A8137D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434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68CBC71-F9A3-4D6A-8CA8-A465A613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55B4CB-DD23-4BD0-AA2C-98A021EF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81525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平台调研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774C18-482F-4913-8037-F030441E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434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E4FE62-8CDF-490C-A77D-274BE220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720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46DD63-533E-41FF-B3FC-782C1324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81525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ADR / Spike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9E1E48-88BE-4C4F-88E2-914C35D3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434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7C20AA-417F-468B-B395-9205A6A1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1979BC-2FC3-4F82-B0E9-5BF8F5E1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81525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任务卡 / 验收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89D1630-78EF-453D-811B-8C9E4F0A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08966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815B58B-72B7-4C90-AECE-278836D0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2D2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D92D20"/>
                </a:solidFill>
                <a:latin typeface="Calibri"/>
                <a:ea typeface="Calibri"/>
                <a:cs typeface="Calibri"/>
              </a:rPr>
              <a:t>人负责：目标、风险、证据标准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DB2AA27-5F5F-4468-9EBF-10699FC6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86375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AI 负责：搜索、归纳、实现、验证循环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9BE23A0-ECB9-44EB-AF2E-6A04C909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86375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共同负责：对 UNKNOWN 保持诚实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A298DDC-AA48-4A3D-90C9-DB4EA271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8966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B7C5A00-7591-470B-9834-3420CB8F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文档证据  tasks/README.md</a:t>
            </a:r>
          </a:p>
        </p:txBody>
      </p:sp>
    </p:spTree>
    <p:extLst>
      <p:ext uri="{BB962C8B-B14F-4D97-AF65-F5344CB8AC3E}">
        <p14:creationId xmlns:p14="http://schemas.microsoft.com/office/powerpoint/2010/main" val="126089207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AAFA7F-B6E1-4F51-BF34-432C3BBA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案例二｜从 30W+ 开源库到 HarmonyOS 远控 GPU 硬解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CC5BB-63F3-4409-947C-30DEBD56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EDE90-51E5-463E-8BBA-B670D371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案例二 · 方法落地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0F0E4-3CCE-478E-9F2A-C5E7A562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AI 开发遇错时怎么处理：先保留现场，再证伪判断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DF3AF-D59B-4B7E-9294-FDD6D337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Stop → Preserve → Locate → Falsify → Repair，把失败变成下一轮输入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BDE68-6C1B-47E3-89D8-AB45B1E3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DA706D-E83D-41D7-BFE8-14EC3C77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291C2F-A6EF-4767-AE4C-5840AB56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错误不是让 AI 重写一遍的理由；错误是缩小问题空间的证据。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C98DF2-A767-4DAF-AA4A-0B9F24CD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35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4cfbf19ee4228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8D0651-DFB4-452D-BEA4-AF74B0BE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028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F5882F-071E-4BBE-859A-D98FC83C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STOP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9A4501-66BB-4A96-BDEC-FB34FF39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停止扩散修改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C6A733-FEA1-4403-9A42-CF77FE19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FA5D81-0C12-44D9-9BB0-2C5ED0BF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028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2A95A5-675C-48E1-8FAA-B42DD3C3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3367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PRESERVE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10506A-C91A-45CF-B288-38A13E7A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保存日志/截图/输入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7A80DE-9E13-48F7-827D-96110AF4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19AC17-F1D1-4B01-812E-0554FE0A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028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6D6AD3-0303-4BC8-B904-A45032A8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2422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LOCATE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59928A-D966-4E1D-AC9D-1E6901A5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147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锁定第一处异常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13842F-14CD-4A78-8673-28D8138C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764A43-C67D-48F4-B025-E1B155CE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1028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ACA9F6-2D8B-4267-BB0C-D1FB653E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1477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2D2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D92D20"/>
                </a:solidFill>
                <a:latin typeface="Calibri"/>
                <a:ea typeface="Calibri"/>
                <a:cs typeface="Calibri"/>
              </a:rPr>
              <a:t>FALSIFY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7C55EC-CEF8-486D-8CCF-4A0A765C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构造反例证伪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D513EA-69C0-4048-85E4-9BCEA7CD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46D09D-BCC7-4B4D-AB0C-09A191DC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028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B3A615-D0CC-4E45-BBBC-D58F4F91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REPAIR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B2329AC-ED9A-4085-ABA9-B3C126EB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最小修复并回归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CD8ADD-E7D3-4726-BBAA-681B2BED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69723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3f8871a0f42e8"/>
          <a:srcRect xmlns:a="http://schemas.openxmlformats.org/drawingml/2006/main" l="0" t="5254" r="0" b="52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1050" y="2209800"/>
            <a:ext cx="6743700" cy="251460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8D0B61-5558-4122-B53E-2241D655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A98FD9-F307-4F8F-A202-7B7FB952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33625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失败视频 · 13s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EF3913B-7893-4603-BFD1-10BFA3A5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10896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92D16B3-DC87-4E02-9E63-AC29918D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D2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D92D20"/>
                </a:solidFill>
                <a:latin typeface="Calibri"/>
                <a:ea typeface="Calibri"/>
                <a:cs typeface="Calibri"/>
              </a:rPr>
              <a:t>现场证据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1CEEE44-1F65-4C14-A201-2712247C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05400"/>
            <a:ext cx="939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黑屏 ≠ codec 一定失败：可能是 Surface 未绑定、输出未释放、会话已销毁或帧顺序错误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CE3A413-DF33-4247-AF0B-2EA6238B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29250"/>
            <a:ext cx="939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排障记录要写“哪个假设被推翻”，避免下一轮 AI 重复同样的错误。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8DEA96-520A-46C2-9D97-D031E031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8966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5AEB02C-55F1-47F9-BFB4-F681A782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文档证据  07-开发排障复盘.md</a:t>
            </a:r>
          </a:p>
        </p:txBody>
      </p:sp>
    </p:spTree>
    <p:extLst>
      <p:ext uri="{BB962C8B-B14F-4D97-AF65-F5344CB8AC3E}">
        <p14:creationId xmlns:p14="http://schemas.microsoft.com/office/powerpoint/2010/main" val="63347731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45CE53-A459-4A9C-84A2-A27FBA7D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案例二｜从 30W+ 开源库到 HarmonyOS 远控 GPU 硬解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753EC-01A1-4F5C-BA8C-81399676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D997C-227D-457C-8AD0-F95B44A6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案例二 · 方法落地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3DAB0-A6FB-4EA7-B311-78737B57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怎么判断 AI 的结论不成立：同一帧做双重评估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73119-B4C7-4437-BCF1-4D770DB7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Trace Eval 证明链路经过了哪里；Outcome Eval 证明用户真正看到了什么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24FAC-897A-40C1-BC14-C3893FAD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17A3BE-ABBC-4E74-911E-C52E382C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61698C-26A3-4217-B5FA-488C4759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只有链路和结果同时成立，才能把 UNKNOWN 更新为 PASS。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33795E-EC56-4CB8-9FB9-93EB22D3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36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bf82feda04525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A23923-9AD1-4E6C-A478-D10DAB01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50958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6BD1AD-B0F2-434A-A13F-173C5CF3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752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932852-4A80-4986-85B9-ABE033DA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TRACE EVAL · 链路证据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4BA27C-5276-4668-9911-623A2296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同一 frameId = 1042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94F4CD-806A-4C35-963A-E090B559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1. receive: 1042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24125A-8750-466C-B74E-4AFD05F6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2. queue-in: 1042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1FD079-FA9C-4E16-B18E-FBCC2551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3. codec-out: 1042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D6FEA9-EFF2-40F9-A120-4321DB98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148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4. surface-release: 1042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A9314A-1698-4E39-A86B-C8E4F28D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14550"/>
            <a:ext cx="50958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03985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C5DA08-24B4-4455-86E5-46F88C75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05050"/>
            <a:ext cx="1847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7CD9CA-585C-4A9E-8697-52AE6074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14575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OUTCOME EVAL · 用户结果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FB53E4-E87B-471F-9D4A-9D34122F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81300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画面真的更新了吗？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D3722E-DADE-4607-9B41-326FFC87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861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✓  首帧可见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ECAC0C-42D9-410A-BD89-797030F2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6290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✓  画面非黑屏/非旧帧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10B315-5010-4C9A-A992-8743D4BF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719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□  交互后持续刷新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76F995-D94E-4164-8D4C-F323276A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3148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□  会话切换后可恢复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0F57B84-8B43-46C8-B702-E831DB92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91125"/>
            <a:ext cx="10896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39D387-44B5-4B3E-B912-11C2BBCD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D2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D92D20"/>
                </a:solidFill>
                <a:latin typeface="Calibri"/>
                <a:ea typeface="Calibri"/>
                <a:cs typeface="Calibri"/>
              </a:rPr>
              <a:t>判定规则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461D5B-793B-47D4-9092-2CF64D22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76850"/>
            <a:ext cx="929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Trace PASS + Outcome PASS = PASS　|　任一缺失 = UNKNOWN　|　明确反例 = FAIL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EEF24E9-8C08-4301-9B0F-FD4D21FD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8966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7E51FB-42DF-462F-9E40-901A39FC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文档证据  07-开发排障复盘.md</a:t>
            </a:r>
          </a:p>
        </p:txBody>
      </p:sp>
    </p:spTree>
    <p:extLst>
      <p:ext uri="{BB962C8B-B14F-4D97-AF65-F5344CB8AC3E}">
        <p14:creationId xmlns:p14="http://schemas.microsoft.com/office/powerpoint/2010/main" val="84596575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90324B-661A-4E9E-9111-277DB35F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案例二｜从 30W+ 开源库到 HarmonyOS 远控 GPU 硬解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51CFD-4034-4381-82FE-B8C29BC9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36FF4-70B5-4610-B934-F3D076AC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案例二 · 方法落地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E2660-6709-4ACE-8D39-106193ED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穿刺成功不等于可交付：还要补齐五类工程能力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5B713-3746-4896-BDA0-372DE92E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生命周期、队列背压、资源 owner、软件回退和长稳必须进入验收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1DF3C-1310-4287-A5B1-8051502D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A35396-7072-4FBC-AF86-1A5AC894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E14E02-93CD-41E6-B0AE-64AA068C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工程化就是把“偶尔能跑”变成“边界清楚、失败可控、持续可验”。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3CEAE9-0258-4383-B2A3-5F63FCED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37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afb7b3c04441c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C22593-5B7C-41AD-ACA0-8BE36FDA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952625" cy="28003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2CE20B-5078-4CBE-B33C-E66A6590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23A1A8-E1CF-4A18-93FF-F2EC746B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生命周期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A4860F-6AA7-49D6-8352-1C2D50B2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16097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重复连接/断开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stop/destroy 幂等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会话切换无旧资源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F3EC51-E7C8-4A66-AC0F-C0FA3C03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16478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324FFC-BFD7-43BE-80B8-B7213C92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495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必须有验收记录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A3647DF-FBEF-469A-8642-B057E3B8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133600"/>
            <a:ext cx="1952625" cy="28003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3985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DF96A2-E747-4A03-B338-42984A78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305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189F39B-FB1A-4FA2-8BF5-3FBB83F4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860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队列背压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D47818-806F-410D-AC23-726717ED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95600"/>
            <a:ext cx="16097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输入高水位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丢帧策略明确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不得无限堆积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85D03B-BC2D-4FE9-933C-8CB7201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419600"/>
            <a:ext cx="16478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34A3FA-457A-432A-991C-35804358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429125"/>
            <a:ext cx="1495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必须有验收记录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A66D68-7A7F-4AC4-9710-C9F2EF01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33600"/>
            <a:ext cx="1952625" cy="28003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7A5AF8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88473C-91E3-4313-82FD-ECE58584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05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10FCAE-36A0-4C1A-8F4A-A83FCBF1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860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资源 Owner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1084ECC-1D28-4E7A-BEF4-65BC11A5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95600"/>
            <a:ext cx="16097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Surface / codec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线程与释放方唯一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异常路径可追踪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58049C5-3835-4308-9882-1D186F40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19600"/>
            <a:ext cx="16478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876A943-E6A9-43C9-8AC5-92FB5F7A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29125"/>
            <a:ext cx="1495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必须有验收记录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528F0C-85BC-43A3-B4DE-DD4C080F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33600"/>
            <a:ext cx="1952625" cy="28003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DD7765-F3F8-4423-82C7-0F26B6FC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305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21D6F8-671E-4C46-B55A-572745C1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2860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软件回退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DB4F38-B129-45B5-9D53-05A6AE45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95600"/>
            <a:ext cx="16097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能力不足或连续失败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自动回到软件路径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会话不中断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F7936B3-C547-44C1-9AF4-97F47694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419600"/>
            <a:ext cx="16478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13DE28A-4FA0-417E-B90B-51E5FB65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29125"/>
            <a:ext cx="1495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必须有验收记录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E58E389-D505-4050-A938-F6E0B962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33600"/>
            <a:ext cx="1952625" cy="28003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C3772C1-62B6-469A-BFE5-0B888E18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5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050AB22-BFEC-4A8D-BACC-98B0BEF9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860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长稳与回归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3BB4066-5BAC-40FF-827C-959BEC9B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95600"/>
            <a:ext cx="16097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持续播放/交互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内存与句柄稳定</a:t>
            </a:r>
          </a:p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CPU 指标待测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D943E29-51C0-4D26-AF9D-2825F756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19600"/>
            <a:ext cx="16478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3250ACD-40FB-47DA-8A18-88DA5DAF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29125"/>
            <a:ext cx="1495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性能：UNKNOWN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483520A-F9EA-4E58-9367-4F59D02C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08966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BD5FA65-A0DE-4C1F-813B-F22914D7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6732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验收不是最后一次演示，而是每种失败模式都有：触发条件、可观察信号、恢复动作、判定状态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01F1470-A915-4644-9B4B-363B67D6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8966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8BBC713-6CA6-4CB8-A466-CF3D2994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文档证据  06-工程验收计划.md</a:t>
            </a:r>
          </a:p>
        </p:txBody>
      </p:sp>
    </p:spTree>
    <p:extLst>
      <p:ext uri="{BB962C8B-B14F-4D97-AF65-F5344CB8AC3E}">
        <p14:creationId xmlns:p14="http://schemas.microsoft.com/office/powerpoint/2010/main" val="20209891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1BECC9-3BF9-4404-B364-72977167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案例二｜从 30W+ 开源库到 HarmonyOS 远控 GPU 硬解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53E9A-9435-4E41-B912-02F24801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D6AF4-E870-42B8-AD3D-CE916F6E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案例二 · 方法落地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FD530-DD10-4613-821D-55BF89CD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最终结果为什么可信：结论必须与证据状态一一对应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2CB25-C5B8-48EF-A281-12FDE999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功能、架构、性能分别判定 PASS / FAIL / UNKNOWN，不用一张成功图掩盖未测项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4B1BD-706B-433F-9F94-D70A28BE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3EC548-14A7-4B2C-ACD5-E7F3B52F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D552BC-8777-4021-A9D8-D7EB5B34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AI 可信不是因为一次答对，而是因为错误能被发现、结果能被复现、结论能被审计。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F634F4-6694-4CEC-B101-4A9BD300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38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d043000834ff3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ECCC8F-1EF6-4820-9511-B772FA20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2D2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D92D20"/>
                </a:solidFill>
                <a:latin typeface="Calibri"/>
                <a:ea typeface="Calibri"/>
                <a:cs typeface="Calibri"/>
              </a:rPr>
              <a:t>问题现场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a296801d84501"/>
          <a:srcRect xmlns:a="http://schemas.openxmlformats.org/drawingml/2006/main" l="0" t="9286" r="0" b="9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343150"/>
            <a:ext cx="3333750" cy="18097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99E2BF-D871-4F99-B01B-7F603E0B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AD630C-D751-4672-B33D-93D15D60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BEFORE · 体验卡顿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FB337F-3B2F-43DE-83C7-66EE6EC7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47875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验证现场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a6db23f5e4822"/>
          <a:srcRect xmlns:a="http://schemas.openxmlformats.org/drawingml/2006/main" l="29715" t="0" r="297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0" y="2343150"/>
            <a:ext cx="3524250" cy="18097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D9D8C2-705A-444B-AC8A-2DD2046E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57450"/>
            <a:ext cx="1447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CAE3CD-3559-4D33-AEAF-67ECE106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669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▶ AFTER 视频 · 16s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319C4B-D7D8-4B5E-B8A7-4F66ED8D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47875"/>
            <a:ext cx="35814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18AE84-12A9-41E0-A925-DAF09988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0980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验收矩阵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BF3F8B-D87B-438A-AF32-E2672693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首帧/连续画面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5A6396-335B-4821-B16C-91F3F1D7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D170C9-D713-4342-8513-7CE91D3C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7652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PASS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5C3F7B-0F47-4C78-9B7C-3CA031F9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7182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硬解调用链证据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CC550C-669C-416D-83CF-7CF4228F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90875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0D4AD8-0E6F-46C8-B4E8-C790F1E1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00400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3985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39855"/>
                </a:solidFill>
                <a:latin typeface="Calibri"/>
                <a:ea typeface="Calibri"/>
                <a:cs typeface="Calibri"/>
              </a:rPr>
              <a:t>PASS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854DD8-C3A2-46A6-BEAB-B2E740B6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失败可回退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E05C0A-90DC-44C1-9322-AAB95954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07CE26-C5B4-47E6-AE80-8E3F6B44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2427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9009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79009"/>
                </a:solidFill>
                <a:latin typeface="Calibri"/>
                <a:ea typeface="Calibri"/>
                <a:cs typeface="Calibri"/>
              </a:rPr>
              <a:t>待补回归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249F52-3949-475B-B2D4-3732164C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1957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CPU / 延迟 / 长稳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72B292-BD30-40D1-85F1-4C050489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38625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025669-7DC4-492E-8245-AB2EF5AF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48150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2D2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D92D20"/>
                </a:solidFill>
                <a:latin typeface="Calibri"/>
                <a:ea typeface="Calibri"/>
                <a:cs typeface="Calibri"/>
              </a:rPr>
              <a:t>UNKNOWN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E3779B-3077-4F96-BACB-6FD369B8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7086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9F8A56-DE66-4010-B004-762B65B1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70E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570EF"/>
                </a:solidFill>
                <a:latin typeface="Calibri"/>
                <a:ea typeface="Calibri"/>
                <a:cs typeface="Calibri"/>
              </a:rPr>
              <a:t>为什么可以相信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E0BE5D-14BD-48DC-8706-A9EE5A0D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39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D2939"/>
                </a:solidFill>
                <a:latin typeface="Calibri"/>
                <a:ea typeface="Calibri"/>
                <a:cs typeface="Calibri"/>
              </a:rPr>
              <a:t>① 结论能回到代码与日志　② 错误判断可被反例推翻　③ 未测项保持 UNKNOWN　④ 视频/任务卡/验收记录可复现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E43BD1-7BE9-4951-97F4-B69957E8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34000"/>
            <a:ext cx="3581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2D2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D92D20"/>
                </a:solidFill>
                <a:latin typeface="Calibri"/>
                <a:ea typeface="Calibri"/>
                <a:cs typeface="Calibri"/>
              </a:rPr>
              <a:t>性能结论仍为 UNKNOWN：这不是缺点，而是证据纪律。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3A5214-7E94-4842-AD51-41E02673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8966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BD79CE2-6FB5-4A35-A9EA-3F23E674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文档证据  06-工程验收计划.md + 视频证据</a:t>
            </a:r>
          </a:p>
        </p:txBody>
      </p:sp>
    </p:spTree>
    <p:extLst>
      <p:ext uri="{BB962C8B-B14F-4D97-AF65-F5344CB8AC3E}">
        <p14:creationId xmlns:p14="http://schemas.microsoft.com/office/powerpoint/2010/main" val="34272710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C93C44-DEDE-4EBC-8694-8F1F39B0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39  收束｜把方法带回项目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3B020-DF9E-42AC-93ED-DD9C13AC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DE8B3-956C-4CAB-9E66-79D874A2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CE5D4-F822-43E0-8A75-CC462C76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把方法带回项目，只保留七个问题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5F0F0-0521-418C-9066-4B7EF6AB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下一次遇到复杂需求，先用七问建立边界、证据和停止条件，再允许 AI 修改。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FBC1B-1E14-4E12-85E2-161FCA7F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1DE8A-DBF7-4D98-A358-D06DAECC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DDE5B-1CBE-4649-89DD-AE7BBFAC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七问带回项目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8BEEA-D509-4871-A625-D99F256B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768FB-788B-4CA9-BE4A-BD66E0BA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336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哪些词会分叉？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01AA9-8733-4AE0-B860-3799B4EE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29D18-4439-4631-AEFA-5888E20F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E1270-2957-4D09-84A4-1297E933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最终真相源在哪里？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97018-DC33-47AC-9820-F59D733E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088A7-9603-4116-AF46-07E5834E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95964-3DB3-4EDD-B497-20BEE7D0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052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哪些不变量不能破坏？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698DF-6153-4B0F-BC9A-4CAEA41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597B8-8B3B-471C-B666-F44A94FC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98E01-353C-46AA-9335-9A41565F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AI 这一轮只允许改哪里？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30532-ECE3-4775-8FDA-5C5CF48E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7ED630-A4FB-4672-A9AE-0A3AEFF6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C924B-5B64-4FE0-A949-95EE23EF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336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怎样制造同源 RED？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1204A5-6743-4A13-919C-18E251E1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BB587-0E7B-48D0-8F4B-47F5F775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94D145-A5C1-42E0-AB90-666DCF2C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194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最早异常在哪里？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CA0CD-263B-427F-A632-4EEEC977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5A8072-FE80-41C8-A824-2B1CCAAC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A243CD-03BB-4968-8BDD-6CA84F77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什么证据满足后必须停止？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15A57C-CF66-4223-A794-7A0434F0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461A5-548F-4356-B108-3699CD07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4762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47D653-7E1F-49D4-BF21-977DC13B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10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1 分钟迁移题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2F84F7-2B29-4A77-BCDE-E91A8CAF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149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权限页首次为空、二次正常：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写出事实源、最早异常、RED 与停止条件。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禁止只答“加延迟”。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72D74E-AAC7-4309-883F-416D8C1E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268B8E-6CBD-434B-A629-04ECC20A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1 分钟迁移：权限页首次为空、二次正常——写出事实源、最早异常、RED 与停止条件；禁止答“加延迟”。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AE94D3-10A3-498D-8707-5C87E021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39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8c9d0c67c4c30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051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2026-09-01T06:52:53.0510000Z</dcterms:created>
  <dcterms:modified xsi:type="dcterms:W3CDTF">2026-09-01T06:52:53.0510000Z</dcterms:modified>
</coreProperties>
</file>