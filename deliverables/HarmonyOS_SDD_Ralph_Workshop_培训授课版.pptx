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6cca9161a84b1a" /><Relationship Type="http://schemas.openxmlformats.org/officeDocument/2006/relationships/extended-properties" Target="/docProps/app.xml" Id="R84d25c91cc70464c" /><Relationship Type="http://schemas.openxmlformats.org/officeDocument/2006/relationships/officeDocument" Target="/ppt/presentation.xml" Id="Re347058006c64d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52f092eef3425f"/>
  </p:sldMasterIdLst>
  <p:notesMasterIdLst>
    <p:notesMasterId xmlns:r="http://schemas.openxmlformats.org/officeDocument/2006/relationships" r:id="R50808532548844fe"/>
  </p:notesMasterIdLst>
  <p:sldIdLst>
    <p:sldId xmlns:r="http://schemas.openxmlformats.org/officeDocument/2006/relationships" id="256" r:id="R7787d7bf422e47b2"/>
    <p:sldId xmlns:r="http://schemas.openxmlformats.org/officeDocument/2006/relationships" id="257" r:id="R646c0fd80829486d"/>
    <p:sldId xmlns:r="http://schemas.openxmlformats.org/officeDocument/2006/relationships" id="258" r:id="R3fbfff61b5d44f00"/>
    <p:sldId xmlns:r="http://schemas.openxmlformats.org/officeDocument/2006/relationships" id="259" r:id="R906fd5741c9d4895"/>
    <p:sldId xmlns:r="http://schemas.openxmlformats.org/officeDocument/2006/relationships" id="260" r:id="Re6254cb0b9e04853"/>
    <p:sldId xmlns:r="http://schemas.openxmlformats.org/officeDocument/2006/relationships" id="261" r:id="Ra7b19c3ea1654c78"/>
    <p:sldId xmlns:r="http://schemas.openxmlformats.org/officeDocument/2006/relationships" id="262" r:id="Re12debaf5e474c72"/>
    <p:sldId xmlns:r="http://schemas.openxmlformats.org/officeDocument/2006/relationships" id="263" r:id="R6bfe6e76c06843ba"/>
    <p:sldId xmlns:r="http://schemas.openxmlformats.org/officeDocument/2006/relationships" id="264" r:id="R4550e8d26f3e4cdf"/>
    <p:sldId xmlns:r="http://schemas.openxmlformats.org/officeDocument/2006/relationships" id="265" r:id="R2de48c1aca6a491b"/>
    <p:sldId xmlns:r="http://schemas.openxmlformats.org/officeDocument/2006/relationships" id="266" r:id="R5101495306374053"/>
    <p:sldId xmlns:r="http://schemas.openxmlformats.org/officeDocument/2006/relationships" id="267" r:id="R158f6df7e9884d3a"/>
    <p:sldId xmlns:r="http://schemas.openxmlformats.org/officeDocument/2006/relationships" id="268" r:id="R8119461916434054"/>
    <p:sldId xmlns:r="http://schemas.openxmlformats.org/officeDocument/2006/relationships" id="269" r:id="R36cfdde14d084611"/>
    <p:sldId xmlns:r="http://schemas.openxmlformats.org/officeDocument/2006/relationships" id="270" r:id="R261e8886d47f4530"/>
    <p:sldId xmlns:r="http://schemas.openxmlformats.org/officeDocument/2006/relationships" id="271" r:id="R148e468e86a14d69"/>
    <p:sldId xmlns:r="http://schemas.openxmlformats.org/officeDocument/2006/relationships" id="272" r:id="Rfb3e14bb93074f3f"/>
    <p:sldId xmlns:r="http://schemas.openxmlformats.org/officeDocument/2006/relationships" id="273" r:id="R0d4b8fbb16d44c80"/>
    <p:sldId xmlns:r="http://schemas.openxmlformats.org/officeDocument/2006/relationships" id="274" r:id="R638b6bc941394d6e"/>
    <p:sldId xmlns:r="http://schemas.openxmlformats.org/officeDocument/2006/relationships" id="275" r:id="R24aab48352224296"/>
    <p:sldId xmlns:r="http://schemas.openxmlformats.org/officeDocument/2006/relationships" id="276" r:id="R65874c18efab4b6b"/>
    <p:sldId xmlns:r="http://schemas.openxmlformats.org/officeDocument/2006/relationships" id="277" r:id="R86ae9c0c6c2e47af"/>
    <p:sldId xmlns:r="http://schemas.openxmlformats.org/officeDocument/2006/relationships" id="278" r:id="R4a63cdd1fcc04ed9"/>
    <p:sldId xmlns:r="http://schemas.openxmlformats.org/officeDocument/2006/relationships" id="279" r:id="R72a0a5a424ad4174"/>
    <p:sldId xmlns:r="http://schemas.openxmlformats.org/officeDocument/2006/relationships" id="280" r:id="R5092b6317b9b49f6"/>
    <p:sldId xmlns:r="http://schemas.openxmlformats.org/officeDocument/2006/relationships" id="281" r:id="Rafa24b09f3dc4e28"/>
    <p:sldId xmlns:r="http://schemas.openxmlformats.org/officeDocument/2006/relationships" id="282" r:id="Red76474865614033"/>
    <p:sldId xmlns:r="http://schemas.openxmlformats.org/officeDocument/2006/relationships" id="283" r:id="R8cb5c4da457e470f"/>
    <p:sldId xmlns:r="http://schemas.openxmlformats.org/officeDocument/2006/relationships" id="284" r:id="Rac8596fd8d7a4acd"/>
    <p:sldId xmlns:r="http://schemas.openxmlformats.org/officeDocument/2006/relationships" id="285" r:id="Rd90e17fa4837486c"/>
    <p:sldId xmlns:r="http://schemas.openxmlformats.org/officeDocument/2006/relationships" id="286" r:id="Rb5219c34445d42de"/>
    <p:sldId xmlns:r="http://schemas.openxmlformats.org/officeDocument/2006/relationships" id="287" r:id="R32be2e0ff19744c8"/>
    <p:sldId xmlns:r="http://schemas.openxmlformats.org/officeDocument/2006/relationships" id="288" r:id="Rb372049683e84dfd"/>
    <p:sldId xmlns:r="http://schemas.openxmlformats.org/officeDocument/2006/relationships" id="289" r:id="R9d7638bf0b1f4c1d"/>
    <p:sldId xmlns:r="http://schemas.openxmlformats.org/officeDocument/2006/relationships" id="290" r:id="Rc103cd539bd24d26"/>
    <p:sldId xmlns:r="http://schemas.openxmlformats.org/officeDocument/2006/relationships" id="291" r:id="R812e1e55d8174187"/>
    <p:sldId xmlns:r="http://schemas.openxmlformats.org/officeDocument/2006/relationships" id="292" r:id="R3806c88bba9243af"/>
    <p:sldId xmlns:r="http://schemas.openxmlformats.org/officeDocument/2006/relationships" id="293" r:id="Ra4308bfd90ae449d"/>
    <p:sldId xmlns:r="http://schemas.openxmlformats.org/officeDocument/2006/relationships" id="294" r:id="R8887e95b6eca45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e924ea3c15498b" /><Relationship Type="http://schemas.openxmlformats.org/officeDocument/2006/relationships/slideMaster" Target="/ppt/slideMasters/slideMaster1.xml" Id="R1152f092eef3425f" /><Relationship Type="http://schemas.openxmlformats.org/officeDocument/2006/relationships/notesMaster" Target="/ppt/notesMasters/notesMaster1.xml" Id="R50808532548844fe" /><Relationship Type="http://schemas.openxmlformats.org/officeDocument/2006/relationships/presProps" Target="/ppt/presProps.xml" Id="R1b3c0526533b43fb" /><Relationship Type="http://schemas.openxmlformats.org/officeDocument/2006/relationships/tableStyles" Target="/ppt/tableStyles.xml" Id="R15c3baaacffe4167" /><Relationship Type="http://schemas.openxmlformats.org/officeDocument/2006/relationships/slide" Target="/ppt/slides/slide1.xml" Id="R7787d7bf422e47b2" /><Relationship Type="http://schemas.openxmlformats.org/officeDocument/2006/relationships/slide" Target="/ppt/slides/slide2.xml" Id="R646c0fd80829486d" /><Relationship Type="http://schemas.openxmlformats.org/officeDocument/2006/relationships/slide" Target="/ppt/slides/slide3.xml" Id="R3fbfff61b5d44f00" /><Relationship Type="http://schemas.openxmlformats.org/officeDocument/2006/relationships/slide" Target="/ppt/slides/slide4.xml" Id="R906fd5741c9d4895" /><Relationship Type="http://schemas.openxmlformats.org/officeDocument/2006/relationships/slide" Target="/ppt/slides/slide5.xml" Id="Re6254cb0b9e04853" /><Relationship Type="http://schemas.openxmlformats.org/officeDocument/2006/relationships/slide" Target="/ppt/slides/slide6.xml" Id="Ra7b19c3ea1654c78" /><Relationship Type="http://schemas.openxmlformats.org/officeDocument/2006/relationships/slide" Target="/ppt/slides/slide7.xml" Id="Re12debaf5e474c72" /><Relationship Type="http://schemas.openxmlformats.org/officeDocument/2006/relationships/slide" Target="/ppt/slides/slide8.xml" Id="R6bfe6e76c06843ba" /><Relationship Type="http://schemas.openxmlformats.org/officeDocument/2006/relationships/slide" Target="/ppt/slides/slide9.xml" Id="R4550e8d26f3e4cdf" /><Relationship Type="http://schemas.openxmlformats.org/officeDocument/2006/relationships/slide" Target="/ppt/slides/slide10.xml" Id="R2de48c1aca6a491b" /><Relationship Type="http://schemas.openxmlformats.org/officeDocument/2006/relationships/slide" Target="/ppt/slides/slide11.xml" Id="R5101495306374053" /><Relationship Type="http://schemas.openxmlformats.org/officeDocument/2006/relationships/slide" Target="/ppt/slides/slide12.xml" Id="R158f6df7e9884d3a" /><Relationship Type="http://schemas.openxmlformats.org/officeDocument/2006/relationships/slide" Target="/ppt/slides/slide13.xml" Id="R8119461916434054" /><Relationship Type="http://schemas.openxmlformats.org/officeDocument/2006/relationships/slide" Target="/ppt/slides/slide14.xml" Id="R36cfdde14d084611" /><Relationship Type="http://schemas.openxmlformats.org/officeDocument/2006/relationships/slide" Target="/ppt/slides/slide15.xml" Id="R261e8886d47f4530" /><Relationship Type="http://schemas.openxmlformats.org/officeDocument/2006/relationships/slide" Target="/ppt/slides/slide16.xml" Id="R148e468e86a14d69" /><Relationship Type="http://schemas.openxmlformats.org/officeDocument/2006/relationships/slide" Target="/ppt/slides/slide17.xml" Id="Rfb3e14bb93074f3f" /><Relationship Type="http://schemas.openxmlformats.org/officeDocument/2006/relationships/slide" Target="/ppt/slides/slide18.xml" Id="R0d4b8fbb16d44c80" /><Relationship Type="http://schemas.openxmlformats.org/officeDocument/2006/relationships/slide" Target="/ppt/slides/slide19.xml" Id="R638b6bc941394d6e" /><Relationship Type="http://schemas.openxmlformats.org/officeDocument/2006/relationships/slide" Target="/ppt/slides/slide20.xml" Id="R24aab48352224296" /><Relationship Type="http://schemas.openxmlformats.org/officeDocument/2006/relationships/slide" Target="/ppt/slides/slide21.xml" Id="R65874c18efab4b6b" /><Relationship Type="http://schemas.openxmlformats.org/officeDocument/2006/relationships/slide" Target="/ppt/slides/slide22.xml" Id="R86ae9c0c6c2e47af" /><Relationship Type="http://schemas.openxmlformats.org/officeDocument/2006/relationships/slide" Target="/ppt/slides/slide23.xml" Id="R4a63cdd1fcc04ed9" /><Relationship Type="http://schemas.openxmlformats.org/officeDocument/2006/relationships/slide" Target="/ppt/slides/slide24.xml" Id="R72a0a5a424ad4174" /><Relationship Type="http://schemas.openxmlformats.org/officeDocument/2006/relationships/slide" Target="/ppt/slides/slide25.xml" Id="R5092b6317b9b49f6" /><Relationship Type="http://schemas.openxmlformats.org/officeDocument/2006/relationships/slide" Target="/ppt/slides/slide26.xml" Id="Rafa24b09f3dc4e28" /><Relationship Type="http://schemas.openxmlformats.org/officeDocument/2006/relationships/slide" Target="/ppt/slides/slide27.xml" Id="Red76474865614033" /><Relationship Type="http://schemas.openxmlformats.org/officeDocument/2006/relationships/slide" Target="/ppt/slides/slide28.xml" Id="R8cb5c4da457e470f" /><Relationship Type="http://schemas.openxmlformats.org/officeDocument/2006/relationships/slide" Target="/ppt/slides/slide29.xml" Id="Rac8596fd8d7a4acd" /><Relationship Type="http://schemas.openxmlformats.org/officeDocument/2006/relationships/slide" Target="/ppt/slides/slide30.xml" Id="Rd90e17fa4837486c" /><Relationship Type="http://schemas.openxmlformats.org/officeDocument/2006/relationships/slide" Target="/ppt/slides/slide31.xml" Id="Rb5219c34445d42de" /><Relationship Type="http://schemas.openxmlformats.org/officeDocument/2006/relationships/slide" Target="/ppt/slides/slide32.xml" Id="R32be2e0ff19744c8" /><Relationship Type="http://schemas.openxmlformats.org/officeDocument/2006/relationships/slide" Target="/ppt/slides/slide33.xml" Id="Rb372049683e84dfd" /><Relationship Type="http://schemas.openxmlformats.org/officeDocument/2006/relationships/slide" Target="/ppt/slides/slide34.xml" Id="R9d7638bf0b1f4c1d" /><Relationship Type="http://schemas.openxmlformats.org/officeDocument/2006/relationships/slide" Target="/ppt/slides/slide35.xml" Id="Rc103cd539bd24d26" /><Relationship Type="http://schemas.openxmlformats.org/officeDocument/2006/relationships/slide" Target="/ppt/slides/slide36.xml" Id="R812e1e55d8174187" /><Relationship Type="http://schemas.openxmlformats.org/officeDocument/2006/relationships/slide" Target="/ppt/slides/slide37.xml" Id="R3806c88bba9243af" /><Relationship Type="http://schemas.openxmlformats.org/officeDocument/2006/relationships/slide" Target="/ppt/slides/slide38.xml" Id="Ra4308bfd90ae449d" /><Relationship Type="http://schemas.openxmlformats.org/officeDocument/2006/relationships/slide" Target="/ppt/slides/slide39.xml" Id="R8887e95b6eca45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237b1ac88542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9c3fcace8f4ed5" /><Relationship Type="http://schemas.openxmlformats.org/officeDocument/2006/relationships/notesMaster" Target="/ppt/notesMasters/notesMaster1.xml" Id="Rbfa43a40093e4a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b00a0a91b74f94" /><Relationship Type="http://schemas.openxmlformats.org/officeDocument/2006/relationships/notesMaster" Target="/ppt/notesMasters/notesMaster1.xml" Id="R57479a2201ec43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a01a81323341f8" /><Relationship Type="http://schemas.openxmlformats.org/officeDocument/2006/relationships/notesMaster" Target="/ppt/notesMasters/notesMaster1.xml" Id="Rd1661f6d93104d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1d833ff8d54d19" /><Relationship Type="http://schemas.openxmlformats.org/officeDocument/2006/relationships/notesMaster" Target="/ppt/notesMasters/notesMaster1.xml" Id="R4afdd9f9e46945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c5b6d1eb9f4abd" /><Relationship Type="http://schemas.openxmlformats.org/officeDocument/2006/relationships/notesMaster" Target="/ppt/notesMasters/notesMaster1.xml" Id="R601869ab6f1b46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20613a029b4512" /><Relationship Type="http://schemas.openxmlformats.org/officeDocument/2006/relationships/notesMaster" Target="/ppt/notesMasters/notesMaster1.xml" Id="Rcc6b27d99cd548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4890322e5b4cce" /><Relationship Type="http://schemas.openxmlformats.org/officeDocument/2006/relationships/notesMaster" Target="/ppt/notesMasters/notesMaster1.xml" Id="Rbf6917be844546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a403273ef643ad" /><Relationship Type="http://schemas.openxmlformats.org/officeDocument/2006/relationships/notesMaster" Target="/ppt/notesMasters/notesMaster1.xml" Id="R1d19395e4c404c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ffe7dcd47545f7" /><Relationship Type="http://schemas.openxmlformats.org/officeDocument/2006/relationships/notesMaster" Target="/ppt/notesMasters/notesMaster1.xml" Id="R079320cb32454cc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1af7156c0d4cc6" /><Relationship Type="http://schemas.openxmlformats.org/officeDocument/2006/relationships/notesMaster" Target="/ppt/notesMasters/notesMaster1.xml" Id="Rec8ad1c35e3d4dd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6535561bfcd4ddc" /><Relationship Type="http://schemas.openxmlformats.org/officeDocument/2006/relationships/notesMaster" Target="/ppt/notesMasters/notesMaster1.xml" Id="R4478fd3caa5a4f8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a9044d29aa141d8" /><Relationship Type="http://schemas.openxmlformats.org/officeDocument/2006/relationships/notesMaster" Target="/ppt/notesMasters/notesMaster1.xml" Id="Rbe5771f4ac4648e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55c987ade364e4f" /><Relationship Type="http://schemas.openxmlformats.org/officeDocument/2006/relationships/notesMaster" Target="/ppt/notesMasters/notesMaster1.xml" Id="Rcdcec6f62322459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e60b62de1db4c36" /><Relationship Type="http://schemas.openxmlformats.org/officeDocument/2006/relationships/notesMaster" Target="/ppt/notesMasters/notesMaster1.xml" Id="R468997ff0659446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106892d16be4af4" /><Relationship Type="http://schemas.openxmlformats.org/officeDocument/2006/relationships/notesMaster" Target="/ppt/notesMasters/notesMaster1.xml" Id="Ra83c54a31bec461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aca138b22d84736" /><Relationship Type="http://schemas.openxmlformats.org/officeDocument/2006/relationships/notesMaster" Target="/ppt/notesMasters/notesMaster1.xml" Id="R26127d4f12ba432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7c2353feba74698" /><Relationship Type="http://schemas.openxmlformats.org/officeDocument/2006/relationships/notesMaster" Target="/ppt/notesMasters/notesMaster1.xml" Id="R72e30a20d4dc44a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61a93e8cca64940" /><Relationship Type="http://schemas.openxmlformats.org/officeDocument/2006/relationships/notesMaster" Target="/ppt/notesMasters/notesMaster1.xml" Id="R305adeb7787f4be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c14cf6eb4fb4adf" /><Relationship Type="http://schemas.openxmlformats.org/officeDocument/2006/relationships/notesMaster" Target="/ppt/notesMasters/notesMaster1.xml" Id="R2f0d339ea4a84ae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72038674cda4183" /><Relationship Type="http://schemas.openxmlformats.org/officeDocument/2006/relationships/notesMaster" Target="/ppt/notesMasters/notesMaster1.xml" Id="R3b647f8d8b534dd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810167212124a99" /><Relationship Type="http://schemas.openxmlformats.org/officeDocument/2006/relationships/notesMaster" Target="/ppt/notesMasters/notesMaster1.xml" Id="R7480ad8555534db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65eeb7da34547f8" /><Relationship Type="http://schemas.openxmlformats.org/officeDocument/2006/relationships/notesMaster" Target="/ppt/notesMasters/notesMaster1.xml" Id="Rc8a787d47156499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7a125a0421a4df7" /><Relationship Type="http://schemas.openxmlformats.org/officeDocument/2006/relationships/notesMaster" Target="/ppt/notesMasters/notesMaster1.xml" Id="R302d058311af414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3c5a4515589473e" /><Relationship Type="http://schemas.openxmlformats.org/officeDocument/2006/relationships/notesMaster" Target="/ppt/notesMasters/notesMaster1.xml" Id="Rea3d520c32b2421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3145a46b0ee4fec" /><Relationship Type="http://schemas.openxmlformats.org/officeDocument/2006/relationships/notesMaster" Target="/ppt/notesMasters/notesMaster1.xml" Id="R264f98d2a1c7460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e3d8952f86d40c7" /><Relationship Type="http://schemas.openxmlformats.org/officeDocument/2006/relationships/notesMaster" Target="/ppt/notesMasters/notesMaster1.xml" Id="Rd81bbb55d3d246c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e6a7bf429d94875" /><Relationship Type="http://schemas.openxmlformats.org/officeDocument/2006/relationships/notesMaster" Target="/ppt/notesMasters/notesMaster1.xml" Id="Rde1ead2ed04c4b6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b9f3a485b134473" /><Relationship Type="http://schemas.openxmlformats.org/officeDocument/2006/relationships/notesMaster" Target="/ppt/notesMasters/notesMaster1.xml" Id="R9b2a781928ff47e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a8957c93d9d406d" /><Relationship Type="http://schemas.openxmlformats.org/officeDocument/2006/relationships/notesMaster" Target="/ppt/notesMasters/notesMaster1.xml" Id="Rdba6f97fbaf84a4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63e666531354fcc" /><Relationship Type="http://schemas.openxmlformats.org/officeDocument/2006/relationships/notesMaster" Target="/ppt/notesMasters/notesMaster1.xml" Id="R579eb537dc2742a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e32168811964f79" /><Relationship Type="http://schemas.openxmlformats.org/officeDocument/2006/relationships/notesMaster" Target="/ppt/notesMasters/notesMaster1.xml" Id="Rf016ba6d50a74ec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99f8857dcb84385" /><Relationship Type="http://schemas.openxmlformats.org/officeDocument/2006/relationships/notesMaster" Target="/ppt/notesMasters/notesMaster1.xml" Id="R2351d1c2611e4d2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4b606c4364e4a0f" /><Relationship Type="http://schemas.openxmlformats.org/officeDocument/2006/relationships/notesMaster" Target="/ppt/notesMasters/notesMaster1.xml" Id="Rb3c84d8ce4bf42f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9f7e37cf98d42cf" /><Relationship Type="http://schemas.openxmlformats.org/officeDocument/2006/relationships/notesMaster" Target="/ppt/notesMasters/notesMaster1.xml" Id="R2f0706468ebf4c2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dd82b6cc833485b" /><Relationship Type="http://schemas.openxmlformats.org/officeDocument/2006/relationships/notesMaster" Target="/ppt/notesMasters/notesMaster1.xml" Id="R269f78965cc9486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903a64470304ec5" /><Relationship Type="http://schemas.openxmlformats.org/officeDocument/2006/relationships/notesMaster" Target="/ppt/notesMasters/notesMaster1.xml" Id="R5361a6a95aa64ad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dcaaec367c1454d" /><Relationship Type="http://schemas.openxmlformats.org/officeDocument/2006/relationships/notesMaster" Target="/ppt/notesMasters/notesMaster1.xml" Id="R52a26e22fc7e42e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8af2562e5384a98" /><Relationship Type="http://schemas.openxmlformats.org/officeDocument/2006/relationships/notesMaster" Target="/ppt/notesMasters/notesMaster1.xml" Id="R21357f6b356a44e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c01dcf5d124443c" /><Relationship Type="http://schemas.openxmlformats.org/officeDocument/2006/relationships/notesMaster" Target="/ppt/notesMasters/notesMaster1.xml" Id="R0df9edb949e042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画面
# 使用 AI 进阶能力实现较为复杂的需求
**从需求拆解、开发、验证，到问题定位与协同闭环**
&gt; 需求 → 规格 → 任务 → 代码 → 调试 → 证据
主视觉建议：左侧是一句模糊需求，中央是紫色受控 AI 循环，右侧是绿色设备证据包；背景只保留真实设备、测试结果和日志的低透明度拼贴。
![真实 SecurityTool 防火墙域名规则页面](harmonyos-sdd-workshop-media/mdm/firewall-domain-rule-created.jpeg)
&lt;sub&gt;这张真机图只能证明规则已出现在 UI；它不能单独证明每个账号的系统 policy/rules 已正确下发。开场让学员先说“它能证明什么、不能证明什么”。&lt;/sub&gt;
讲师备注
开场不要先解释 SDD 名词。先问：“AI 说改完了、单测也过了，但新增账号没有策略，这算完成吗？”让学员明确本课的完成定义不是代码生成，而是系统事实可证明。
课名里的“较为复杂”要在这一页说清楚：不是代码行数多，而是需求存在分叉、状态跨用户与进程、实现跨工具与会话、失败会留下部分状态、最终结果必须由设备事实验证。课名里的“进阶能力”则对应上下文工程、Workflow / Agent 分工、工具调用、长任务记忆、评估反证和协同交接。
两个案例不是为了炫技。MDM 展示复杂业务如何被拆成可实现规格；GPU 展示现象模糊时如何先取证再改。课程结束后，学员应能把方法迁移到任何 HarmonyOS 复杂需求。
演示动作
快速展示一组对照：绿色单测输出 + 真机上账号 123 未收敛的日志。此时不解释原因，只留下悬念。
通过条件
学员能复述：**AI 输出只是候选变更，测试与设备事实共同决定是否完成。**
素材
- MDM 首页真机截图
- 一段单测全绿输出
- 一段账号新增后未收敛的设备日志
---
转入下一页
本页结论收束后，下一页进入“两小时跑通一条主闭环，再做一次跨域迁移”。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C:\Users\mu\Desktop\code\harmonyos-sdd-ralph-workshop\harmonyos-sdd-workshop-media\mdm\firewall-domain-rule-created.jpeg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上一页解决“使用 AI 进阶能力
实现较为复杂的需求”，这一页继续回答“两小时跑通一条主闭环，再做一次跨域迁移”。
画面
**MDM 主闭环｜TEACHING COMPOSITE**
&gt; 设备当前处于 `public` 且防火墙已开启，已覆盖账号 `[100,112]`。系统收到 `account-added(123)` 后，先等待账号事实稳定，再把 public policy / preset rules 补到最新账号集合。若账号 123 的第 2 条规则下发失败，必须恢复旧状态，不得保存目标 signature，并留下可回读证据。
```mermaid
flowchart LR
    A[账号 123 新增] --&gt; B[稳定快照]
    B --&gt; C[模式重放]
    C --&gt; D[故障注入]
    D --&gt; E[补偿与回读]
```
讲师备注
这条英雄任务由三个真实问题组合：账号快照时序、跨进程事实传播、模式重放失败补偿。课程后面遇到的“已经开启/关闭、重复事件、部分失败、systemRuleId、MCP 回读”都挂到这条主闭环上；第 28–38 页再把同一套控制方法迁移到 GPU 证据诊断，而不是开启一门新课。
冻结课堂语义：
- 新增事件第一次读到 `[100,112]` 不是稳定；直到包含触发账号 123 才可 dispatch。
- public/private 账号集合变化时重放模式；custom 只同步默认 policy，不自动扩大旧自定义规则作用域。
- 模式重放是事务：失败后尝试整体补偿，并重建恢复后的 deployment identity。
- 总开关部分失败不是同一语义，后面专门比较。
演示动作
在白板或画布上固定写出 `100 / 112 / 123`，后续所有需求、测试与日志都沿用这三个 ID。
通过条件
所有小组使用同一英雄任务，不按模块分组拆散主链。
素材
- 账号集合变化示意图
- `FirewallAccountChangeHandler.ets`
- `FirewallModeSwitchService.ets`
---
转入下一页
本页结论收束后，下一页进入“复杂任务每轮必须留下六类证据”。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上一页解决“两小时跑通一条主闭环，再做一次跨域迁移”，这一页继续回答“复杂任务每轮必须留下六类证据”。
画面
```mermaid
flowchart TD
    A[Task：本轮唯一结果] --&gt; B[RED：制造可解释失败]
    B --&gt; C[AI：最小 Diff]
    C --&gt; D[Verify：窄测与回归]
    D --&gt; E[Evidence：日志与系统事实]
    E --&gt; F{停止条件满足？}
    F -- 否 --&gt; A
    F -- 是 --&gt; G[提交结果]
```
**可选对照图（PPT 制作时与上方 Mermaid 二选一）**
![Autonomous Agent：Human、LLM、Environment、Feedback 与 Stop](harmonyos-sdd-workshop-media/anthropic/autonomous-agent-loop.png)
&lt;sub&gt;讲师读图：Agent 不是“连续生成代码”，而是在环境反馈中行动，并在检查点接受人类判断或满足停止条件。图源：Anthropic《Building Effective Agents》。&lt;/sub&gt;
每轮写入 `progress.md`：
`假设 / RED 命令与输出 / 修改文件 / GREEN 输出 / 新事实 / 剩余风险 / Stop 或 Next`
讲师备注
SDD 负责“要到哪里、边界是什么”；Ralph Loop 是“一次走多远、何时停止”的一种 Harness；MCP 只是 Verify 阶段的执行器。不要把三者画成并列方法，也不要把课程讲成某个模型或框架的使用说明。
停止条件必须可执行：窄测试绿、相关回归绿、diff 在任务允许范围、设备事实与规格一致。权限、签名、设备或 getter 阻塞时，结论是 `UNKNOWN`，记录阻塞并停止，不继续猜测。
**Anthropic 方法锚点**：`Building Effective Agents` 强调 Agent 每一步都要从环境获取 ground truth，并用 checkpoint 与 stopping condition 控制执行；其 Agent 工程最佳实践进一步强调“给 Agent 一个它能运行的检查”，否则它只能在“看起来完成”时停下。本课把这一观点具体化为四级检查：目标 RED/GREEN、相关回归、HAP 构建、真机 getter / 帧级证据。截图是可读信号，但不能替代更强的系统事实。
演示动作
展示两份短 `progress.md`：Round 1 解决账号可见性；Round 2 解决模式重放失败补偿。让学员看到“循环真正发生”。
通过条件
学员能区分 `PASS / FAIL / UNKNOWN`，并知道 UNKNOWN 不是失败，也不是可以伪装成 PASS。
素材
- 附录 D 任务卡模板
- 附录 E `progress.md` 模板
---
# 第一幕：把 MDM 原始需求变成可执行规格
转入下一页
本页结论收束后，下一页进入“先认识五个对象，再谈“防火墙开关””。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上一页解决“复杂任务每轮必须留下六类证据”，这一页继续回答“先认识五个对象，再谈“防火墙开关””。
画面
```mermaid
flowchart TB
    A[业务模式 public/private/custom] --&gt; B[用户级 Policy]
    A --&gt; C[业务规则 Intent]
    C --&gt; D[用户级 Deployment]
    D --&gt; E[系统规则 systemRuleId]
```
| 对象 | 作用 | 真相来源 |
|---|---|---|
| Account Set | 当前应该覆盖谁 | OS account API |
| Policy | `isOpen` 与默认动作 | MDM system getter |
| Intent | 用户想表达的业务规则 | Local repository |
| Deployment | Intent 在各用户的落点 | Local mapping + system ID |
讲师备注
新员工最容易把“账号”当 UI 筛选条件，把一条业务规则直接等同一个系统 rule。实际一条 `FirewallRuleIntent(localRuleId, targetUserIds=[100,123])` 会展开为多个 deployment，每个 deployment 拥有独立 `systemRuleId`。
还要把三个维度拆开：
- `isOpen`：总开关。
- `mode`：默认动作与预置规则策略。
- `rules`：显式规则集合。
提交 `deaf8f27` 的真实故障就是旧实现把模式切换与 `isOpen=true` 绑定，导致“已经关闭，切模式又打开”。它比抽象解释状态分层更适合开场。
演示动作
打开 `models/firewall/FirewallModels.ets` 或设计文档，只定位 Intent、Deployment、Policy 三个结构；暂不浏览 UI。
通过条件
学员能解释为什么恢复系统规则后，不能继续使用旧 `systemRuleId`。
素材
- `entry/src/main/ets/models/firewall/FirewallModels.ets`
- commit `0ad3c1fa`、`deaf8f27`
---
转入下一页
本页结论收束后，下一页进入“原始需求的问题不是长，而是决定被藏起来了”。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上一页解决“先认识五个对象，再谈“防火墙开关””，这一页继续回答“原始需求的问题不是长，而是决定被藏起来了”。
画面
&gt; 防火墙支持 public / private / custom 三种模式和总开关；面向全部本地账号下发；账号增删后自动同步；处理已经开启/关闭、重复操作、部分失败和页面刷新。
**SESSION FACT｜问题不是一次说清楚的**
&gt; “先不要改，先看看要怎么改，怎么实时拿到账号信息。”
这句话同时冻结了三件事：本轮禁止写代码、当前目标是找到系统事实源、输出必须是方案与验收点。
只高亮四个实现分叉：
1. “全部账号”以事件参数、缓存还是 OS 快照为准？
2. 部分失败时保留成功结果，还是整体回滚？
3. “已应用”由本地 mode、signature 还是系统回读决定？
4. Extension 完成后，UI 如何跨进程获得事实？
讲师备注
AI 直接拿到这段话时，往往会自行补齐业务决策：用当前登录账号、对所有失败统一 try/catch、操作成功后直接改 UI、用内存单例通知页面。这些实现都可能编译通过，但不一定是正确产品语义。真实 Session 里，用户先后追问“后面如果还有数据怎么办”“这样可拓展性怎么样”“这个修改感觉是在打补丁”，说明需求澄清不是一次生成文档，而是持续关闭会改变实现路径的分叉。
课程不要求学员一开始知道答案，只要求先把“会导致不同代码路径”的问题列出来。判断标准：不同答案是否会改变状态模型、系统调用顺序、回滚、测试或验收？如果会，就是必须关闭的歧义。
演示动作
先只投屏原始需求，让 AI 输出名词、状态、触发器、失败点和待决问题；再揭示 Session 原话，让学员标出新增的权限、目标和停止条件。禁止给代码和架构。
通过条件
至少得到 8 个会改变实现的待决问题；没有出现“建议使用 MVVM”之类泛化方案。
素材
- 原始需求卡
- 推荐 Prompt：附录 C
---
转入下一页
本页结论收束后，下一页进入“实践：先让 AI 找分叉，人来冻结语义”。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上一页解决“原始需求的问题不是长，而是决定被藏起来了”，这一页继续回答“实践：先让 AI 找分叉，人来冻结语义”。
画面
**输入**：英雄任务 + 当前领域对象。
**AI 允许做**：列出实现分叉，并说明每个分叉会影响哪类代码或测试。
**人必须决定**：账号事实、重复操作、部分失败、提交点、UI 展示口径。
**交付**：`spec.md / Open Decisions`，每项只有 `OPEN` 或明确答案。
Prompt 约束：
```text
不要设计方案，不要写代码。
只找会改变状态、调用顺序、补偿或验收的歧义。
每项给出至少两个互斥答案及其工程影响。
```
讲师备注
课堂揭晓的核心决定：
- 账号事件只是触发器，OS account snapshot 才是事实。
- `account-added` 当前稳定条件是“快照包含 triggerAccountId”，不是连续两次读取相同。
- 首页总开关写入覆盖全部用户，但展示只读当前/管理用户；这是 `CURRENT`，不是全局一致性证明。
- 模式切换失败整体补偿；总开关部分失败保留成功账号。这两条并不矛盾，因为事务边界由规格决定。
- UI 刷新与业务 reconcile 分离，CommonEvent 传递事实，不承担业务事务。
演示动作
2 人一组，3 分钟标记 AI 输出中的“事实问题”和“产品决策”；最后 1 分钟全班冻结课堂答案。
通过条件
不允许把仍为 `OPEN` 的高影响问题直接交给 AI 实现。
素材
- `AccountChangeCoordinator.ets`
- `FirewallPolicyService.ets`
- commit `c0c1bc9f`、`b8339196`
---
转入下一页
本页结论收束后，下一页进入“EARS 让一句“自动同步”直接长出测试”。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上一页解决“实践：先让 AI 找分叉，人来冻结语义”，这一页继续回答“EARS 让一句“自动同步”直接长出测试”。
画面
**Before**
&gt; 新增账号后自动同步防火墙。
**After — TEACHING / FR-ACC-001**
```text
WHEN 收到 account-added(123)，
WHILE 当前模式为 public 且 desiredEnabled=true，
THE SYSTEM SHALL 在包含 123 的账号快照上重放模式；
IF 5 次读取后仍不包含 123，
THEN SHALL 不 dispatch、不提交 signature，并记录 timeout。
```
讲师备注
EARS 不是为了写得像规范，而是把测试输入、前置状态、动作、结果和失败分支放进同一句话。课堂 ID 是教学资产，明确标注 `TEACHING`，避免学员误以为仓库已有这些编号。
真实实现参数：新增事件会以约 200 ms 间隔最多重试 5 次；到达包含触发账号的快照才 dispatch。删除事件当前只读一次，没有对称等待，这是后续高级 GAP。
演示动作
让学员把“重复事件不要重复下发”改写成一条 EARS；答案必须出现排序 signature 和提交条件。
通过条件
语句能直接导出至少一个成功测试和一个失败/超时测试。
素材
- `account-change-coordinator.test.ets`
- T01 RED 基线：`4b372d0d` + 从 `c0c1bc9f` 提取的目标测试
- commit `c0c1bc9f`
---
转入下一页
本页结论收束后，下一页进入“行为矩阵先冻结“什么时候回滚””。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上一页解决“EARS 让一句“自动同步”直接长出测试”，这一页继续回答“行为矩阵先冻结“什么时候回滚””。
画面
| 场景 | 系统动作 | 本地提交 | 失败语义 |
|---|---|---|---|
| 重复开启 | UI no-op | 不变 | 不再写系统 |
| 总开关部分失败 | 全用户 best-effort | 不写 `desiredEnabled` | 成功用户保留 |
| public + 新账号 | 最新快照重放 | 成功后写 mode/signature | 失败整体补偿 |
| 重复 signature | 不重放 | 不变 | 幂等跳过 |
&gt; **不是所有失败都必须回滚；事务边界先由规格决定。**
讲师备注
这是整堂课最重要的业务判断。`FirewallPage.handleToggleWithAuth` 处理“已经开/关”的 UI no-op；`FirewallPolicyService.setFirewallEnabledForAllUsers` 自身仍会认证、读取并逐用户写入。不要把 UI 层 no-op 误讲成 Service 幂等。
总开关部分失败时，100/102 成功、101 失败，成功用户不回滚，但 `desiredEnabled` 不保存，结果返回 false。模式切换不同：先快照，失败后恢复 policy/rules/mapping。完整矩阵放附录 B，PPT 只展示四个最能改变实现的场景。
演示动作
让学员给“空账号集合”和“custom 新增账号”补两行，只说预期，不写代码。
通过条件
任何人都能根据矩阵回答：失败后系统哪些变化保留、本地哪些状态能提交。
素材
- `FirewallPolicyService.ets`
- `FirewallModeSwitchService.ets`
- `service.test.ets`
---
# 第二幕：把规格变成 AI 不容易越界的设计与任务
转入下一页
本页结论收束后，下一页进入“五类状态必须分开，才能定义“已应用””。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上一页解决“行为矩阵先冻结“什么时候回滚””，这一页继续回答“五类状态必须分开，才能定义“已应用””。
画面
| 状态层 | 示例 | 能否单独证明成功 |
|---|---|---|
| User intent | `desiredEnabled=true` | 不能 |
| Local apply record | `mode=public, signature=100,112,123` | 不能 |
| System truth | 每用户 policy / rules | 可以作为最终事实 |
| UI projection | 顶部开关、模式文案 | 不能 |
醒目结论：`currentMode=public` **不等于** public 已覆盖最新账号集合。
讲师备注
还存在第 5 类“事件/运行态”：trigger、pending、inFlight、retry count。它决定何时开始 reconcile，但不能取代账号事实。
`CURRENT GAP`：`saveModeApplyState` 通过两个独立 `setValue + flush` 保存 mode 和 signature，第二次失败可能形成半提交；快照/回滚也没有完整恢复旧 apply state。课程主任务先把它写入风险清单，不假装已经解决。可作为高级任务把 mode/signature 收敛到单一原子记录。
演示动作
给出 `public + signature=100,112`，再新增账号 123，问“当前状态叫什么？”正确答案是模式意图仍为 public，但 apply coverage 已陈旧。
通过条件
学员不再用 UI 状态或本地 mode 单独判定系统已应用。
素材
- `FirewallLocalRepository.ets`
- `FirewallOverviewViewModel.ets`
---
转入下一页
本页结论收束后，下一页进入“真相源决定不变量，也暴露当前 GAP”。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上一页解决“五类状态必须分开，才能定义“已应用””，这一页继续回答“真相源决定不变量，也暴露当前 GAP”。
画面
**TEACHING：英雄任务的四条不变量**
1. 所有写操作基于一个明确、已记录的账号快照。
2. 模式切换只改变默认动作 / 规则，必须保留旧 `isOpen`。
3. 失败补偿后，本地 deployment 指向恢复后新生成的 `systemRuleId`。
4. 只有系统操作全部成功，才提交目标 mode 与 account signature。
**CURRENT GAP**：系统读取失败不能被当成“系统确实为空”。
讲师备注
仓库当前 `FirewallSystemRepository.listRules` 失败时可能回退为 `[]`，本地 mapping 读取失败也可能回退为空。这样所谓“完整快照”无法区分真实空集合与读取失败，后续 clear 可能产生破坏性动作。
因此课堂设计要增加 snapshot validity：每个 truth source 必须返回 `OK(value)` 或 `ERROR(evidence)`；只要关键读取失败，事务在写入前终止。不要让 AI 用 `catch { return [] }` 把未知变成事实。
演示动作
让 AI 搜索所有返回空数组的 catch 分支，并按“真实空 / 降级空 / 错误被吞”分类；此轮禁止改代码。
通过条件
设计文档明确列出：事实源、失败表达、写入前置条件、禁止的 fallback。
素材
- `FirewallSystemRepository.ets`
- `FirewallLocalRepository.ets`
- `FirewallModeSwitchService.createSnapshot`
---
转入下一页
本页结论收束后，下一页进入“进程边界比类图更早决定设计”。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上一页解决“真相源决定不变量，也暴露当前 GAP”，这一页继续回答“进程边界比类图更早决定设计”。
画面
```mermaid
flowchart TB
    A[EnterpriseAdmin Extension] --&gt; B[AccountChangeCoordinator]
    B --&gt; C[Handler：业务 reconcile]
    C --&gt; D[MDM API + Local Repository]
    B --&gt; E[CommonEvent：稳定账号事实]
    E --&gt; F[UIAbility / ViewModel 刷新]
```
- Extension 与 UI 不是共享内存。
- CommonEvent 负责跨进程通知，不负责事务。
- UI / ViewModel 的互斥只保护 UI 入口，不是全局 writer lock。
讲师备注
提交 `53751b2e` 将协调器改为 handler registry；`cecf6d17` 让稳定账号事实即使某个 handler 失败也继续发布，避免一个业务消费者阻断整个 UI 刷新链。
必须指出真实边界：`FirewallPage` / `FirewallOverviewViewModel` 的模式与开关互斥，只覆盖 UI 进程；Extension 触发的 account reconcile 与 UI 操作之间仍没有全局写串行器。这是 `CURRENT GAP`，不能说“Coordinator 已串行所有写操作”。
演示动作
打开 Extension、Coordinator、EntryAbility 三处代码，先用历史已有的 `accountId / signature / process` 标注日志位置，再让学员补设计跨进程 `eventId`；明确后者是遥测改进，不是历史已有字段。
通过条件
学员能回答：业务处理失败后为什么仍可能需要发布账号事实，以及 UI lock 为什么不能防止 Extension 并发写。
素材
- `AccountChangeCoordinator.ets`
- `FirewallAccountChangeHandler.ets`
- commit `53751b2e`、`cecf6d17`、`f6886182`
---
转入下一页
本页结论收束后，下一页进入“一行追踪关系，限制 AI 只改必要边界”。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上一页解决“进程边界比类图更早决定设计”，这一页继续回答“一行追踪关系，限制 AI 只改必要边界”。
画面
| 需求 | 设计决定 | 实现锚点 | 验证证据 |
|---|---|---|---|
| FR-ACC-001 | 新增账号必须等 trigger 可见 | `loadStableSnapshot` | RED/GREEN + retry log |
| FR-MODE-002 | 模式失败整体补偿 | `rollbackToSnapshot` | fault injection + getter |
| FR-ID-001 | 恢复后重映射 ID | `remapDeployments` | mapping 与系统 ID 对齐 |
页尾：**追踪矩阵不是文档装饰，它决定下一轮 AI 可以碰哪里。**
讲师备注
课堂只展示英雄任务三行；完整追踪矩阵放附录。每一行必须能回答：为什么改、哪个边界负责、先看到什么失败、最后用什么事实验收。
不允许“为了更优雅”同时重构 ViewModel、Repository、Service。若失败首先发生在 snapshot 时序，本轮文件边界就只允许 Coordinator 与对应测试。设计的价值之一，是帮 AI 拒绝无关改动。
演示动作
让学员选 FR-ACC-001，圈出允许修改的两个文件和明确禁止的 UI / Store 文件。
通过条件
一条需求可以顺向追到证据，也能从一个 diff 反向说明它服务哪个需求。
素材
- 附录 C 设计模板
- 附录 D 任务卡模板
---
转入下一页
本页结论收束后，下一页进入“实践：先做只读勘察，不让 AI 猜代码”。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上一页解决“一行追踪关系，限制 AI 只改必要边界”，这一页继续回答“实践：先做只读勘察，不让 AI 猜代码”。
画面
**T00 / Read-only Exploration**
**输入**：FR-ACC-001、仓库根目录、英雄任务。
**只允许**：搜索入口、调用链、真相源、写入点、提交点、测试和历史提交。
**禁止**：修改生产文件；凭命名推断行为；给出未经代码支持的 API。
**输出七项**：
`入口 / 事实源 / 副作用 / commit point / 现有测试 / 相关提交 / Spec Gap`
![Coding Agent 高层时序：先澄清，再携带上下文搜索、修改与测试](harmonyos-sdd-workshop-media/anthropic/coding-agent-flow.png)
&lt;sub&gt;讲师读图：把上半段“Clarify / Refine”对应需求拆解，把下半段“Search / Write / Test”对应开发验证；两段之间传递的是收敛后的上下文，不是整段聊天。图源：Anthropic《Building Effective Agents》。&lt;/sub&gt;
讲师备注
这是 AI 使用中最省返工的一步。推荐让 AI 先用 `rg` 找符号，再读最短调用链，再用 `git log -S` / `git show` 解释为什么代码现在这样。提交历史是证据，不是课程结构。
英雄任务的真实入口包括：`AccountChangeCoordinator.loadStableSnapshot/runOnce`、`FirewallAccountChangeHandler.handle`、`FirewallModeSwitchService.createSnapshot/applyModeToUsers/rollbackToSnapshot/remapDeployments`。
**Anthropic 方法锚点**：Anthropic 的 Agent 工程实践建议将 Explore、Plan、Implement 分开，避免在尚未理解代码时直接解决错误问题。T00 就是这个原则的 HarmonyOS 版本：勘察轮次保持只读，输出必须引用文件、函数、测试和历史提交；冻结 Spec Gap 与修改边界后，再用干净的实现轮次执行任务。探索过程可以很宽，但交给实现轮次的上下文必须收敛。
演示动作
现场运行一次只读 Prompt；若 AI 输出了不存在的 `firewall.get_runtime_state`，当场标红并要求提供定义位置。
通过条件
输出中的每个函数、测试和能力都能在仓库中定位；未知项标记 GAP，不得编造。
素材
- `repos/security_tool`
- commit `94ff17e7`、`c0c1bc9f`、`0b5edc5f`
---
转入下一页
本页结论收束后，下一页进入“任务卡只允许一个可观察结果”。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C:\Users\mu\Desktop\code\harmonyos-sdd-ralph-workshop\harmonyos-sdd-workshop-media\anthropic\coding-agent-flow.png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上一页解决“实践：先做只读勘察，不让 AI 猜代码”，这一页继续回答“任务卡只允许一个可观察结果”。
画面
```text
T01 — account-added 等到 trigger 可见
Requirement: FR-ACC-001
Allowed: AccountChangeCoordinator + 对应测试
Forbidden: UI、Firewall Handler、Repository
RED: [100,112] → [100,112] → [100,112,123]
GREEN: handler 只执行一次，参数包含 123
STOP: 窄测/回归绿；diff 不越界；progress 已记录
```
&gt; 任务按“可验证依赖”切，不按页面、类或文件数量切。
讲师备注
推荐四张任务卡：
- T00：只读勘察。
- T01：新增账号稳定快照。
- T02：模式重放故障与补偿。
- T03：设备验收 getter / evidence contract。
当前生产 `wait()` 使用真实 `setTimeout` 且为私有实现，不能在讲义里伪装成可直接 mock 的测试。课堂有两种诚实做法：使用仓库现有 Hamock 测试结构与短等待；或先把 `Clock / RetryPolicy` 注入作为独立设计任务，再写确定性测试。
**Anthropic 方法锚点**：`Effective Harnesses for Long-Running Agents` 观察到长任务最常见的失败是一次做太多、留下半实现，或看到已有进度后提前宣布完成。其应对方式是一次只推进一个 feature，完成后留下干净状态、Git 记录和 progress。T01/T02/T03 因此不是按页面或类拆分，而是按“一个可观察结果＋一个可执行停止条件”拆分；不得通过删除测试、扩大范围或顺手重构制造假完成。
演示动作
学员将一个“实现多用户防火墙”大任务改写成上面的一张 7 行任务卡。
通过条件
本轮失败时能明确判断：是任务没完成，还是任务定义越界；不存在“顺便重构”。
素材
- `entry/src/test/firewall/account-change-coordinator.test.ets`
- 附录 D
---
# 第三幕：让受控循环真正跑两轮
转入下一页
本页结论收束后，下一页进入“Round 1：先看见一个解释得通的 RED”。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上一页解决“任务卡只允许一个可观察结果”，这一页继续回答“Round 1：先看见一个解释得通的 RED”。
画面
**目标行为**：新增账号事件到达时，旧快照不能进入 handler。
```text
Read #1  [100,112]       → reject
Read #2  [100,112]       → reject
Read #3  [100,112,123]   → dispatch once
```
RED 断言：
- 在第 1、2 次读取后 handler 调用数为 0。
- 第 3 次读取后 handler 调用数为 1。
- dispatch snapshot 包含 123。
- 超时路径不 dispatch、不 publish 旧快照。
讲师备注
不要展示一段无法运行的伪 Hamock 代码。现场材料应提前在当前仓库环境中跑过，并保留真实命令与失败输出。测试先失败的原因必须与需求一致，而不是 import、mock 或 SDK 配置错误。
当前实现所谓 stable 不是“两次读取完全相同”，而是新增场景中“包含 triggerAccountId”。`account-removed` 当前读一次即处理；可把“删除事件仍看到 123”作为高级 RED，但不要混进 T01。
演示动作
在全模块测试中运行目标用例并保存 `unit-test-red.txt`。真实 RED 是 `expect 1 equals 2`：基线只读一次就 dispatch，而测试要求等到第二次快照出现 123。让学员用一句话解释它与 FR-ACC-001 的关系。
```text
ERROR: Error in should wait until added account appears before dispatching handlers,
expect 1 equals 2
BUILD SUCCESSFUL ...
HVIGOR_EXIT=0
```
这里故意保留 Hvigor 的反直觉输出：命令横幅和退出码看起来成功，目标用例仍然失败。判定必须读取用例级错误或 `test_result.txt`。
通过条件
只有目标断言失败；环境错误、编译错误或无关用例失败不能进入实现阶段。
素材
- `account-change-coordinator.test.ets`
- commit `c0c1bc9f`
- `evidence/mdm/t01-red-green.md`
---
转入下一页
本页结论收束后，下一页进入“Round 1：AI 只补最小状态转换”。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C:\Users\mu\Desktop\code\harmonyos-sdd-ralph-workshop\evidence\mdm\t01-red-green.md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上一页解决“Round 1：先看见一个解释得通的 RED”，这一页继续回答“Round 1：AI 只补最小状态转换”。
画面
```text
event = account-added(123)
repeat at most 5 times:
  snapshot = readSystemAccounts()
  if snapshot contains 123:
    return VALID(snapshot)
  wait 200ms
return TIMEOUT
```
AI 修改约束：
- 不改 handler 业务。
- 不把 trigger 直接 append 到快照。
- 读取失败与空集合保持可区分。
- timeout 不 dispatch 旧事实。
讲师备注
“把 123 加进数组”会让测试绿，却伪造 OS 事实；这正是需要人工审查的 AI 捷径。实现还要考虑协调器已有的 debounce、single-flight 和 pending 语义，不能为一个重试分支破坏全局调度。
**SESSION FACT｜错误方案必须进入课堂**
&gt; “延迟 2S 还是拿不到，你分析得不对吧。”
这句话不是要求把 2 秒改成 5 秒，而是在否定“只是系统数据刷新慢”的假设。让学员回答：延迟改变了等待时间，但是否改变了事实源、进程边界和发布机制？若没有，就不能把继续加延迟称为最小实现。
代码已经存在相应实现，课堂可以采用“遮住关键分支，让 AI 按任务卡补齐”的训练仓，或使用历史提交前的版本。若直接在当前 HEAD 上演示，应改为高级缺口，例如移除事件对称稳定条件。
演示动作
让 AI 先输出计划和预计 diff，再允许写；完成后展示实际 diff，只审查状态转换与越界文件。最后运行同一条命令，确认目标用例记录 `result=Success`；覆盖率报告器仍出现的 `00507008` 单独记为工具链 GAP，不能混进本轮业务 GREEN。
通过条件
T01 窄测试转绿，相关 coordinator 回归通过，修改文件不超出 Allowed。
素材
- `AccountChangeCoordinator.loadStableSnapshot`
- `AccountChangeCoordinator.runOnce`
- T01 GREEN：`c0c1bc9f`
- `evidence/mdm/t01-red-green.md`
---
转入下一页
本页结论收束后，下一页进入“长任务的记忆写在 progress，不在聊天记录”。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上一页解决“Round 1：AI 只补最小状态转换”，这一页继续回答“长任务的记忆写在 progress，不在聊天记录”。
画面
| Round | 假设 | 证据 | Stop / Next |
|---|---|---|---|
| 1 | 事件先于账号查询可见 | 前两读无 123，第三读出现 | GREEN；进入故障注入 |
| 2 | 模式重放失败会污染 apply state | 用户 123 第 2 条 add 失败 | 回滚后 getter 再判断 |
![Prompt Engineering 与 Context Engineering 对比](harmonyos-sdd-workshop-media/anthropic/prompt-vs-context-engineering.png)
&lt;sub&gt;讲师读图：左边只优化一次输入；右边每轮都从文档、工具、记忆和历史中筛选上下文。课堂中 `spec + current task + progress + evidence index` 就是右侧 Curation 的具体实现。图源：Anthropic《Effective Context Engineering for AI Agents》。&lt;/sub&gt;
`progress.md` 本轮新增事实：
&gt; “稳定”是 trigger 可见，不是连续读相同；删除事件尚无对称等待。
讲师备注
每轮至少记录七项：hypothesis、RED command/output、files changed、GREEN command/output、new fact、remaining risk、stop reason。这样换人、换会话或上下文压缩后，AI 仍从事实继续，而不是重新猜一遍。
不要把长聊天复制进 progress。它是外部控制面：一句事实对应一份证据，一条风险对应下一张任务卡。
**Anthropic 方法锚点**：`Effective Context Engineering for AI Agents` 将上下文视为有限注意力预算，目标不是把资料全部塞进去，而是保留能最大化当前任务成功率的最小高信号信息；对长任务，结构化记笔记比保留完整聊天更可靠。因此新会话只加载 spec、当前 task、progress、相关代码和证据索引：保留架构决定、未解决风险、修改文件和验证命令，丢弃重复搜索过程与大段原始工具输出。
演示动作
做一次上下文 A/B：A 组获得压缩后的长聊天，B 组只获得 `spec + current task + progress + related files + evidence index`。两组都要在 90 秒内写出下一步、禁止范围和缺失证据，再比较谁引入了更多未经支持的假设。
通过条件
另一组只读 `progress.md` 就能复现已完成行为、剩余风险与停止原因。
素材
- 附录 E `progress.md` 模板
- `unit-test-red.txt` / `unit-test-green.txt`
---
转入下一页
本页结论收束后，下一页进入“DEBUG：先找最早异常，不从 UI 倒推”。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C:\Users\mu\Desktop\code\harmonyos-sdd-ralph-workshop\harmonyos-sdd-workshop-media\anthropic\prompt-vs-context-engineering.png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上一页解决“长任务的记忆写在 progress，不在聊天记录”，这一页继续回答“DEBUG：先找最早异常，不从 UI 倒推”。
画面
**SESSION FACT｜假设阶梯**
| 轮次 | 当前假设 | 新证据 | 判定 |
|---|---|---|---|
| 1 | 系统账号查询只是刷新慢 | 延迟 2 秒后现象不变 | 假设被推翻 |
| 2 | `SystemUserProvider` 没读到新事实 | Provider raw=`[100,114]`，snapshot signature=`100,114` | Provider 读取成立 |
| 3 | 进程内静态状态能通知页面 | Extension 与 UI 位于两个进程 | 传播边界错误 |
| 4 | 接入 CommonEvent 即全部完成 | 卡片刷新，但已有规则和记录未刷新 | 只得到局部 GREEN |
最早异常不是“页面没刷新”，而是：**事实已经产生，但没有跨进程、按职责传播到所有依赖者。**
讲师备注
本页优先沿账号主线展示“延迟补丁 → Provider 日志 → 进程边界 → 局部 GREEN”的推理。它训练的是：每轮只保留一个可证伪假设，并明确什么证据会推翻它。
第二个可选案例是提交 `4906f7d3 → 06864339 → 78fca089`：public 规则把可选字段 `remoteIps: undefined` 带进 MDM API，真机 `addNetFirewallRule` 返回 401；随后收敛为只有有效字段才进入 payload，并保留原始错误码供上层映射。这个案例用于说明“最早异常也可能位于 payload 契约”，不要与账号传播根因混成一次历史故障。
平台真实缺少企业管理员能力常见错误码为 `9200001`；201 是权限 / admin 状态类映射之一。课堂不要把模拟错误码当唯一真机事实。
演示动作
先给出前两轮证据，让学员选择下一条最小日志；揭示跨进程事实后，再让他们解释为什么 CommonEvent 只带来了局部 GREEN。时间允许时再打开 `FirewallRuleUtils.ets` 的 401 diff 作为迁移练习。
通过条件
定位结论能被具体日志、进程事实或系统返回推翻；不能只写“可能是缓存、权限或参数”。
素材
- commit `4906f7d3`、`06864339`、`78fca089`
- 账号变化 Session 证据卡（附录 L1）
- `FirewallRuleUtils.ets`
- `FirewallSystemRepository.ets`
---
转入下一页
本页结论收束后，下一页进入“先由规格决定事务边界”。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C:\Users\mu\Desktop\code\harmonyos-sdd-ralph-workshop\evidence\mdm\account-cross-process-log.md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上一页解决“DEBUG：先找最早异常，不从 UI 倒推”，这一页继续回答“先由规格决定事务边界”。
画面
| 操作 | 当前语义 | 部分失败后 | 本地提交 |
|---|---|---|---|
| 总开关 | Best-effort | 成功账号保持 | 不写 desired |
| 模式切换 | All-or-nothing | 尝试整体补偿 | 不写 mode/signature |
| 新增规则 | Collect-all + rollback | 删除已成功 deployment | 不写 intent/mapping |
| DNS 目标编辑 | Remove + add | 重建旧 DNS | 保存恢复后的新 ID |
讲师备注
必须修正两个常见误讲：
1. 当前多用户 Create 会继续尝试全部目标账号、收集失败，再统一回滚；不是“第二个失败就停止第三个”。如果课程要讲 fail-fast，必须标为 TARGET 规格。
2. 不是所有 DNS 相关编辑都 remove+add；只有 `nextIntent.type === RULE_DNS` 走替换。`DNS → IP` 当前走 retained deployment 原地 update，测试 `should update retained deployments in place when editing DNS to IP` 固化了该行为。
这页核心是让学员理解：事务不是统一模板，操作的业务承诺不同，补偿策略就不同。
演示动作
让学员分别给总开关与模式切换写一句失败后断言，观察是否错误地把两者都要求 rollback。
通过条件
任务卡明确写出“允许保留什么、必须恢复什么、什么时候提交本地状态”。
素材
- `FirewallPolicyService.setFirewallEnabledForAllUsers`
- `FirewallModeSwitchService.applyModeToUsers`
- `FirewallRuleMutationService.ets`
---
转入下一页
本页结论收束后，下一页进入“成功路径先锁住唯一 commit point”。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上一页解决“先由规格决定事务边界”，这一页继续回答“成功路径先锁住唯一 commit point”。
画面
```mermaid
flowchart TD
    A[读取有效快照] --&gt; B[清理受管规则]
    B --&gt; C[写各用户 Policy]
    C --&gt; D[下发预置 Rules]
    D --&gt; E{全部成功？}
    E -- 是 --&gt; F[提交 mode + signature]
    E -- 否 --&gt; G[补偿旧快照]
```
只在绿色节点之后，目标 apply state 才能被持久化。
讲师备注
真实 `FirewallModeSwitchService.applyModeToUsers` 已经体现“快照→清理→应用 policy/rules→成功才保存→失败 rollback”。课堂先让学员把成功路径写成测试，再注入失败；不要在同一轮同时生成完整正向与所有回滚分支。
`CURRENT GAP`：mode/signature 双 key 保存不是原子操作，旧 apply state 也未完整进入 rollback。画面保持主流程简洁，备注中必须诚实标出风险。
提交 `deaf8f27` 还证明模式写入必须保留各用户旧 `isOpen`；不要因为目标是 public 就把开关偷偷设为 true。
演示动作
打开 `applyModeToUsers`，让学员在代码中标出 read barrier、side effects、commit point 和 compensation entry。
通过条件
代码中只有一个可解释的目标状态提交点；任何早于它的本地写都被视为风险。
素材
- `FirewallModeSwitchService.ets`
- commit `deaf8f27`、`0b5edc5f`
---
转入下一页
本页结论收束后，下一页进入“Round 2：在账号 123 的第 2 条规则注入失败”。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上一页解决“成功路径先锁住唯一 commit point”，这一页继续回答“Round 2：在账号 123 的第 2 条规则注入失败”。
画面
**T02 / Mode transaction fault**
`TEACHING`：这是从真实失败语义抽取的确定性故障注入，不表示同一历史 Session 恰好在账号 123 的第 2 条规则失败。
初始：`public + enabled + users=[100,112]`
目标：重放到 `[100,112,123]`
注入：账号 123 的第 2 次 `addRule` 返回失败。
四个核心断言：
1. 目标 `mode/signature` 不提交。
2. 旧 policy / rules 被尝试恢复。
3. 已新增的目标规则不残留。
4. deployment 指向恢复后新 `systemRuleId`。
讲师备注
先列出预期系统调用顺序，再让 AI 写 fault-injection test。测试要覆盖“补偿本身也可能失败”的证据输出，但无需在画面塞满所有断言。
现有 `FirewallFailedItem` 没有结构化 `phase=forward|compensate`，rollback 失败主要靠 `errorMessage` 推断。这是观测性 GAP。建议课堂 TARGET 返回：`userId / operation / phase / originalCode / rollbackCode / localRuleId / systemRuleId`。
演示动作
运行 RED；把失败点从第 2 条规则移动到 local save，观察事务期望是否仍成立。AI 只能修改 ModeSwitch 与对应测试。
通过条件
测试先红后绿；失败证据能区分 forward 与 compensate；本地没有伪造目标 signature。
素材
- `service.test.ets`
- `FirewallModeSwitchService.rollbackToSnapshot`
- commit `0b5edc5f`
---
转入下一页
本页结论收束后，下一页进入“回滚最难的是 identity，不是把旧对象写回去”。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上一页解决“Round 2：在账号 123 的第 2 条规则注入失败”，这一页继续回答“回滚最难的是 identity，不是把旧对象写回去”。
画面
```text
Before failure
  intent R1 → user 100 → systemRuleId 8001
Rollback re-add
  old rule 8001 → add again → new systemRuleId 9417
After rollback
  intent R1 → user 100 → systemRuleId 9417
```
&gt; 业务 identity 要稳定；系统 resource identity 允许在补偿后变化。
讲师备注
如果只恢复系统规则、不更新 deployment mapping，下一次编辑或删除仍会针对 8001，形成“画面看起来恢复，后续操作全部错位”的延迟故障。
真实代码通过 `remapDeployments` 维护 old→new ID。DNS 目标编辑的 remove+add 也有相同问题；恢复旧 DNS 时，新 add 仍会产生新 ID。最有价值的断言不是“规则数量恢复”，而是本地 mapping 与系统返回的新 ID 一致。
演示动作
在测试 fake repository 中让 re-add 返回固定新 ID 9417；故意保留旧 mapping，观察下一次 delete 的目标 ID。
通过条件
补偿后立即执行一次 edit/delete 仍能命中真实系统规则；mapping 不是靠旧快照原样写回。
素材
- `FirewallModeSwitchService.remapDeployments`
- `FirewallRuleMutationService.applyDnsReplaceUpdateTransaction`
- commit `0b5edc5f`、`76e7f6e6`
---
# 第四幕：让代码越过 HarmonyOS 平台门并形成设备证据
转入下一页
本页结论收束后，下一页进入“代码正确之前，先过四道平台门”。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上一页解决“回滚最难的是 identity，不是把旧对象写回去”，这一页继续回答“代码正确之前，先过四道平台门”。
画面
| Gate | 预检问题 | 失败结论 |
|---|---|---|
| SDK / API | 目标 API、API level、类型定义存在？ | BLOCKED |
| Permission / ACL | `ENTERPRISE_MANAGE_NETWORK` 等权限与签名匹配？ | BLOCKED |
| Admin | 企业管理员已激活、应用身份正确？ | BLOCKED |
| Device | 账号、网络、HDC endpoint、包版本可确认？ | UNKNOWN |
页尾：**平台预检失败时不要改业务代码。**
讲师备注
多用户账号读取还涉及 `GET_LOCAL_ACCOUNT_IDENTIFIERS`；仓库演进曾经历 activated accounts、权限约束、最终回到系统账号事实源。提交 `8f99fc27` / `9ea957d2` 可用于解释 API 与权限如何共同决定实现。
真机缺少企业管理能力可见 `9200001` 等错误；参数非法常见 401 / 2100001；DNS 冲突场景可见 29400007。不要只显示翻译后的 Toast，要保留原始 code、operation、userId 和 sanitized payload。
演示动作
用 MCP 列设备、查询包版本、构建 debug HAP；再在真机上确认 admin 激活和账号列表。任何门失败就写入 `acceptance.md / Preconditions`。
通过条件
四道 Gate 全有明确 PASS；无法确认的一项标 UNKNOWN，并停止“业务已完成”的结论。
素材
- `entry/src/main/module.json5`
- `SystemUserProvider.ets`
- `harmonyos-dev-mcp/README.md`
---
转入下一页
本页结论收束后，下一页进入“跨进程事件传事实，业务事务仍留在 Handler”。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上一页解决“代码正确之前，先过四道平台门”，这一页继续回答“跨进程事件传事实，业务事务仍留在 Handler”。
画面
```mermaid
sequenceDiagram
    participant X as Admin Extension
    participant C as Coordinator
    participant H as Firewall Handler
    participant U as UIAbility
    X-&gt;&gt;C: account-added(123)
    C-&gt;&gt;C: 读取稳定账号快照
    C-&gt;&gt;H: reconcile(snapshot)
    C--&gt;&gt;U: publish account fact
    U-&gt;&gt;U: 按当前路由刷新
```
**SESSION FACT｜关键纠偏**
&gt; “这是两个进程，你用这种静态的传递不行。”
| 接入 CommonEvent 后 | 结果 |
|---|---|
| 黑/白名单卡片 | 已刷新 |
| 已有防火墙规则 | 未刷新 |
| 操作记录 | 未刷新 |
结论：事件送达只是 `factPublished`；它不自动等于 `businessSucceeded` 或 `allConsumersReconciled`。
三个边界：
- Handler 失败不应吞掉稳定账号事实。
- CommonEvent 不能承担 policy/rule rollback。
- UI 互斥不覆盖 Extension 与 UI 的全局并发写。
讲师备注
页面第 11 页讲“架构为什么这样分”，本页讲“运行时如何调试”。历史真机日志已经证明 Extension 收到删除事件、Provider 读到 `[100,114]`、Coordinator dispatch 且 Handler 返回成功；同一链路没有 UI 进程日志，且 `previous=` 暴露首次 diff 基线不可信。
历史日志没有统一 `eventId`，不能为了课件完整而补造。目前只能用 `time window + source + trigger + signature + process` 关联；显式 `eventId/runId` 应作为下一张可观测性任务卡。因而这里讲“两进程、四阶段”，其中事件接收、事实读取、业务 reconcile 有证据，UI 消费只有局部 GREEN。
提交 `0650b8eb` 展示 Extension 与 UI 不能依赖进程内单例；`cecf6d17` 展示 handler 失败与账号事实发布是两种结果。这里还要保留 `CURRENT GAP`：缺少覆盖所有 writer 的全局串行策略。
演示动作
先给学员真实脱敏日志，要求判断哪些阶段有直接证据、哪些仍是 UNKNOWN；再给出 CommonEvent 后“卡片已刷新、规则和记录未刷新”的局部结果，分别填写 `eventReceived`、`businessSucceeded`、`factPublished`、`uiRefreshed`。最后让学员设计下一版 `eventId` 字段，而不是假设历史已经有它。
通过条件
日志能区分 `factPublished`、`businessSucceeded`、`uiRefreshed` 三个布尔结果，而不是一个“成功”。
素材
- `AccountChangeCoordinator.ets`
- `AccountChangeEventBus.ets`
- commit `0650b8eb`、`cecf6d17`
- `evidence/mdm/account-cross-process-log.md`
---
转入下一页
本页结论收束后，下一页进入“MCP 是证据执行器，不是事实制造器”。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C:\Users\mu\Desktop\code\harmonyos-sdd-ralph-workshop\evidence\mdm\account-cross-process-log.md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上一页解决“跨进程事件传事实，业务事务仍留在 Handler”，这一页继续回答“MCP 是证据执行器，不是事实制造器”。
画面
**SESSION FACT｜18 个工具真机测试暴露的四层结果**
| 结果层 | 关键问题 | 典型证据 |
|---|---|---|
| Protocol | 外部客户端请求是否满足 MCP Schema？ | 参数校验、requestId、协议错误 |
| Tool | 工具是否被调用并正常返回？ | tool result、退出码、artifact path |
| Business | 目标业务动作是否执行成功？ | 原始错误码、业务对象、日志链 |
| System | 设备最终状态是否真的改变？ | system getter、系统接口回读 |
**E2E FACT｜`FW-STATUS-001` 的真实结果摘要**
```text
tool action       toggle_firewall        PASS
UI before/after   false → true            PASS
evidence source   ui_tree                 PRESENT
internal getter   getPolicy/listRules     PRESENT
acceptance bridge get_runtime_state       MISSING
final verdict     UNKNOWN at system layer
```
CURRENT 已覆盖 build/install/launch、UI tree/action/screenshot 与 HiLog，App 内部也已有 `getNetFirewallPolicy` / `getNetFirewallRules` 读取。TARGET 是把现有读取通过测试专用只读 bridge 暴露为结构化验收事实。若课前未准备，系统验收只能是 `UNKNOWN`。
讲师备注
`harmonyos-dev-mcp` 当前明确提供设备发现、构建、安装、运行、UI 自动化、日志查询和截图。`security_tool` 的 action map 有 `firewall.toggle_status → toggle_firewall`，但没有 `firewall.get_runtime_state`。
现有 `status_toggle.json` 主要确认页面文字仍可见，并允许 `allow_unknown:true`；它不能证明所有账号的 `getNetFirewallPolicy(userId)` / `getNetFirewallRules(userId)` 正确。提交 `72cd7d47` 删除正式 E2E 的 mock/scripted 结果通道，正好强调：模拟结果不能冒充真机验收。
**Anthropic 方法锚点**：`Writing Effective Tools for Agents` 建议优先建设少量高价值、边界清晰的工具，而不是把每个底层 API 薄包装后全部暴露；工具返回也应优先提供与下一步决策相关的高信号上下文。映射到本课：`build_app`、`logs_query`、`firewall.get_runtime_state` 应分别回答“能否构建”“最早异常在哪”“系统最终事实是什么”；默认返回状态、原因码、关键对象和 evidence path，大日志按需读取，避免一次调用污染 Agent 上下文。
可选方法图放讲师备注，不与真实证据争夺画面中心：
![Augmented LLM：Retrieval、Tools 与 Memory 共同扩展模型](harmonyos-sdd-workshop-media/anthropic/augmented-llm.png)
&lt;sub&gt;讲师读图：MCP 位于 Tools，不是“第三个大脑”；Retrieval 负责取上下文，Memory / progress 负责跨轮保留事实，三者都只能为判断提供输入。图源：Anthropic《Building Effective Agents》。&lt;/sub&gt;
演示动作
给学员一份“tool returned ok，但设备策略未改变”的结果，让他们分别填写 Protocol、Tool、Business、System；再打开 action map 与 `status_toggle.json` 找出缺失的最终事实。
通过条件
没有人把截图、UI 文案或 mock JSON 当作系统 policy/rules 的最终证据。
素材
- `repos/harmonyos-dev-mcp/README.md`
- `scripts/e2e/tools/bridge_action_map.json`
- `scripts/e2e/cases/firewall/status_toggle.json`
- commit `72cd7d47`
- MCP 全工具真机测试 Session 证据卡（附录 L2）
- `evidence/mdm/firewall-runtime-readback.md`
---
转入下一页
本页结论收束后，下一页进入“实践：把验收写成可执行的系统契约”。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C:\Users\mu\Desktop\code\harmonyos-sdd-ralph-workshop\evidence\mdm\firewall-runtime-readback.md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上一页解决“MCP 是证据执行器，不是事实制造器”，这一页继续回答“实践：把验收写成可执行的系统契约”。
画面
**T03 / Structured Acceptance Readback — TARGET**
```json
{
  "result": "PASS|FAIL|UNKNOWN",
  "accounts": [100, 112, 123],
  "mode": "public",
  "signature": "100,112,123",
  "users": [{"id": 123, "isOpen": true, "ruleCount": 4}],
  "failures": [],
  "evidence": {"device": "...", "timestamp": "..."}
}
```
操作链：`build → install → activate admin → trigger → logs → getter → screenshot`
**课堂任务不是 5 分钟现场开发 getter，而是先冻结证据契约和 PASS 规则。**
讲师备注
仓库已经有 App 内部 system repository getter；本页要补的是“自动验收如何稳定调用并结构化返回”的边界。课前最佳做法：准备一个测试专用、只读、最小权限的 app bridge，直接调用现有 getter，返回每用户 policy、受管规则、local apply record 和读取错误；不要通过 UI 文字二次解析。
契约必须保留：设备 ID、包版本/commit、账号快照、每用户结果、原始错误码、采集时间。读取任一关键真相源失败时 `result=UNKNOWN`，不能返回空数组并 PASS。
演示动作
给学员 UI 文案、成功日志和一份缺字段的 runtime JSON，让他们先设计 JSON Schema、PASS 判定和 UNKNOWN 条件。只有课前已经准备预构建 getter 时才运行真实回读；主课堂不在 5 分钟内临时开发 bridge。
通过条件
PASS 必须同时满足：系统账号集合、各用户 policy、预期规则、local signature/mapping 一致；截图只做辅证。
素材
- 附录 F 验收结果模板
- `FirewallSystemRepository.ets`
- `FirewallLocalRepository.ets`
- `evidence/mdm/firewall-runtime-readback.md`
---
转入下一页
本页结论收束后，下一页进入“MDM Checkpoint：交付一条完整证据链”。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C:\Users\mu\Desktop\code\harmonyos-sdd-ralph-workshop\evidence\mdm\firewall-runtime-readback.md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上一页解决“实践：把验收写成可执行的系统契约”，这一页继续回答“MDM Checkpoint：交付一条完整证据链”。
画面
**同伴验收只问六件事**
1. `spec.md` 是否冻结账号事实、失败语义与提交点？
2. `design.md` 是否区分 intent、local apply、system truth、UI？
3. T01 是否真的出现过可解释 RED 与 GREEN？
4. T02 故障后是否恢复 identity，而非只恢复数量？
5. 设备证据是否来自真机，UNKNOWN 是否被诚实保留？
6. diff 是否完全落在任务允许边界？
结果只允许：`PASS / FAIL / UNKNOWN`。
| Eval 层 | 检查什么 | 反例 |
|---|---|---|
| Trace | Prompt、工具调用、diff、测试、是否越界 | 过程规范，但底层调用仍失败 |
| Outcome | 系统账号、policy、rules、signature、mapping | 页面偶然正确，但 AI 伪造账号事实 |
最终结论由 Outcome 决定；Trace 用于解释可信度、复现过程和发现越界行为。
![Evaluator–Optimizer：生成、独立评估、拒绝反馈与接受](harmonyos-sdd-workshop-media/anthropic/evaluator-optimizer.png)
&lt;sub&gt;讲师读图：Implementer 不能独自给自己打分。Reviewer 返回的必须是可执行反馈与缺失证据；只有达到预先冻结的 AC 才接受。图源：Anthropic《Building Effective Agents》。&lt;/sub&gt;
讲师备注
评分建议：规格 20，设计与不变量 20，执行 Trace 20，真机 Outcome 30，GPU 迁移 10。不要按代码行数、Prompt 长度或 AI 生成速度评分。
扩展题放到课后：删除账号对称稳定条件、mode/signature 原子保存、全局 writer serializer、结构化 compensation phase、读取失败不降级为空。它们是真实 GAP，但不应在主实践中继续扩张任务。
**Anthropic 方法锚点**：Anthropic 的长任务实践建议在长时间或高风险执行后加入 fresh-context adversarial review，让没有参与实现的 Reviewer 只根据计划、diff、测试和证据寻找缺口。Reviewer 不是所有小任务的固定仪式：单文件、强测试、低风险任务可以由确定性检查完成；跨进程、事务、权限、GPU 或接近模型可靠边界的任务才值得承担独立评估开销。课堂中的相邻小组互审就是人工版本：不读取实现者的长聊天和自我解释，只读取 spec、task、diff、progress 与 evidence pack，报告需求遗漏、越界修改和证据不足，不评价个人代码风格。
演示动作
相邻小组交换 evidence pack，4 分钟内只按六问给结论，并指出一条最早缺失证据。
通过条件
每组拥有可独立检查的完整包；没有“我本机应该是好的”这种口头通过。
素材
- 附录 A Runbook
- 附录 G 评分表
---
# 第五幕：把同一方法迁移到 AVC420 / AVC444
转入下一页
本页结论收束后，下一页进入“GPU 问题先走 Evidence-first”。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C:\Users\mu\Desktop\code\harmonyos-sdd-ralph-workshop\harmonyos-sdd-workshop-media\anthropic\evaluator-optimizer.png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上一页解决“MDM Checkpoint：交付一条完整证据链”，这一页继续回答“GPU 问题先走 Evidence-first”。
画面
**能力回扣**：Eval 与反证｜先冻结现象和缺失证据，不让 AI 从“黑屏”直接跳到 decoder/shader。
**MDM：Feature-first**
`需求 → 规格 → 设计 → RED → 实现 → 系统回读`
**GPU：Evidence-first**
`现象 → 帧级证据 → 可证伪假设 → 设计 → 最小修改 → 同帧验收`
&gt; 当“卡顿”还不能对应到某个边界时，直接让 AI 优化代码只会扩大搜索空间。
![真实远程桌面播放场景：只用于建立 workload，不直接证明卡顿原因](harmonyos-sdd-workshop-media/freerdp-stutter-scenario.jpeg)
![故障录屏关键帧：连接后远程窗口持续黑屏](harmonyos-sdd-workshop-media/gpu-failure-black-screen-contact.jpg)
**先让学员选，不先公布答案**：看到黑屏，你的第一步是改 shader、换 decoder、加线程，还是冻结现象并采证？要求每组选一项，并写出它能被什么证据推翻。
讲师备注
GPU 不是第二门 48 分钟原理课，而是方法迁移：学员要学会把“视频卡、拖拽卡、白帧”变成 frameId 可追踪的问题，并判断是 decode、queue、compose、present 还是上游内容。
交付只有一张 `gpu-diagnosis.md`：现象、路径、最早异常、被排除的层、下一轮唯一修改边界、反证、验收字段。
#### 讲师带入话术
&gt; “大家现在看到的是一个黑色远程窗口。先别告诉我怎么修，只告诉我：哪些是摄像机能拍到的事实，哪些是你脑中自动补出来的解释？”
把现场答案写成三栏：
| 直接事实 | 可能解释 | 还缺什么 |
|---|---|---|
| 连接后远程内容区持续黑色 | decoder 没输出 | command/decode callback 与 PTS |
| 外层 HarmonyOS 窗口仍可操作 | GPU 没有挂死 | RenderService、owner、present 事实 |
| 黑色持续超过一个刷新周期 | target 被清黑 | first remote update、retained readiness |
然后揭示本课约束：本轮只交付诊断，不以“画面暂时恢复”作为成功。学员会立刻意识到，需求不是“让它不黑”，而是“找出第一处违反显示契约的边界”。
#### 学员现场产出
```markdown
Symptom: 连接后远程内容区连续 13.7s 黑色
Known: 外层 UI 可响应；尚无完整同帧 trace
Unknown: command 是否到达、decoded content 是否有效、谁持有输出
First probe: command(codecId/frameId) + owner + EndFrame/present
Forbidden: 换 decoder、改 shader、加线程
```
演示动作
播放 13 秒黑屏录屏，先做三列记录：`直接观察 / 推测 / 尚缺证据`。第一轮不允许回答“上硬解”“改 GPU”或“加线程”。
[▶ 播放：连接后持续黑屏（13.7 秒）](harmonyos-sdd-workshop-media/gpu-failure-black-screen-13s.mp4)
通过条件
每个判断都能说出需要哪条日志或指标来证明 / 推翻。
素材
- 黑屏故障录屏与关键帧联系表
- AVC420 / AVC444 各一段真实 HiLog
---
转入下一页
本页结论收束后，下一页进入“先分开两条真实数据路径”。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C:\Users\mu\Desktop\code\harmonyos-sdd-ralph-workshop\harmonyos-sdd-workshop-media\gpu-failure-black-screen-contact.jpg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上一页解决“GPU 问题先走 Evidence-first”，这一页继续回答“先分开两条真实数据路径”。
画面
**能力回扣**：上下文工程｜只加载当前 command 实际经过的 codec、consumer 与 owner，不把所有 GPU 代码塞进上下文。
```mermaid
flowchart TB
    A[FreeRDP SurfaceCommand] --&gt; B{Codec path}
    B --&gt;|AVC420| C[OH_AVCodec → opaque NativeBuffer]
    C --&gt; D[EGLImage / External OES → RGBA retained FBO]
    B --&gt;|AVC444| E[单 Decoder → mapped NV12/NV21]
    E --&gt; F[LC 更新 → retained Y/U/V textures]
    D --&gt; G[XComponent / NativeWindow]
    F --&gt; G
```
- GDI snapshot/base 只参与 AVC420 的可信 base / retained 合成；但 GPU 未消费当前命令时，420 与 444 都可能回到原生 GDI 路径，不能把“背景参与方式”和“失败回退路径”混为一谈。
- 420 的核心是 **opaque import + dirty rect + RGBA retained**。
- 444 的核心是 **mapped planes + LC + Y/U/V retained**。
![NativeBuffer 阶段色块样本](harmonyos-sdd-workshop-media/nativebuffer-test-pattern.png)
![RGBA renderer 阶段色块样本](harmonyos-sdd-workshop-media/rgba-renderer-test-pattern.png)
**课堂追问**：两张图肉眼几乎一致，能否据此证明它们走了同一条 Buffer 路径？答案必须回到代码入口、Buffer 类型和日志，而不是“看起来一样”。
讲师备注
这是必须纠正的架构事实：AVC420 retained surface 不是“4:2:0 composite”，而是 GL RGBA Texture + FBO；解码输出经 `OH_NativeBuffer → EGLImage → GL_TEXTURE_EXTERNAL_OES` 写入 dirty rect。
AVC444 才会把解码输出映射为 NV12/NV21 planes，并更新独立 Y/U/V texture state。不要把 stride / sliceHeight / plane offset 作为两个 codec 的共同 compositor 入口。
#### 逐步揭示：三个“看起来一样、实际不同”的事实
1. **协商事实**：服务器/客户端确认支持 AVC444，只能说明能力成立。
2. **命令事实**：每条 `SurfaceCommand.codecId` 才决定本条命令走 420 还是 444。
3. **输出事实**：`RenderOutputOwner` 决定谁有权向 XComponent 写入。
课堂先展示 `confirmed=avc444`，让学员举手判断；再展示历史同一时段计数 `avc420:389 avc444:0`。翻牌答案不是“协商错了”，而是：**能力确认、命令分流、输出所有权是三个不同层级的真相源。**
#### 小组任务：画出一条命令的身份证
```text
sessionId → frameId → codecId → consumer → retained state → owner → target
```
每个箭头必须写代码符号或日志字段。任何一格只能写“推测”的组，不允许进入实现阶段。
演示动作
在代码中分别定位 `Avc420GpuCompositorImpl` 与 `Avc444GpuCompositorImpl::State`，画出每条路径的“协议对象→Buffer→retained state→present”。
通过条件
学员能说明为什么不能写一个“通用 NV12 upload”同时替换 420 与 444。
素材
- `surface/avc420_gpu_compositor_internal.cpp`
- `surface/avc444_gpu_compositor_internal.cpp`
---
转入下一页
本页结论收束后，下一页进入“实践：用同一个 frameId 还原一帧”。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上一页解决“先分开两条真实数据路径”，这一页继续回答“实践：用同一个 frameId 还原一帧”。
画面
**能力回扣**：工具契约｜日志工具必须返回能串起同一帧的身份字段；学员产出 `last-good / first-abnormal`。
**G01 / Instrument only**
本轮禁止改变 renderer、queue policy 与 codec fallback，只补一条公共事件结构：
```text
runId sessionId frameId seq tsUs path event pts
queueDepth queueAgeMs durationUs owner targetEpoch result reason
```
其中 `targetEpoch` 是 **TARGET telemetry**：当前实现还没有完整的 task-carried surface generation 契约，课堂中必须标 GAP，不能伪装成现成字段。
必须串出：
`command → enqueue/decode → retained update → EndFrame → swap/present`
分别为 AVC420、AVC444 找到第一处缺失或异常事件。
![连接与诊断采集界面：用于说明采集入口，不作为队列正确性的证据](harmonyos-sdd-workshop-media/freerdp-render-queue.jpeg)
讲师备注
AI 任务卡要限制日志开销：采样策略、周期聚合、错误全量、禁止打印 bitstream 和敏感画面数据。当前仓库已有 avg/max/count、queue depth、max EndFrame gap 等诊断；不要在课程中声称已有 P95，除非这轮真的实现并验证。
MCP 可负责构建、安装、启动、日志查询与保存，但帧级字段必须由应用 HiLog / diagnostics 提供。先建立可关联 schema，后续每轮都复用，不要每次发明新日志。
当前本地 `harmony/out` 日志只能证明若干阶段事件，例如 AVC444 prewarm 与 mapped-plane 路径，**还没有一条完整的同帧 command→decode→retained→EndFrame→present 证据**。因此这页的课堂目标是补观测，不是拿残缺日志宣布 PASS。
**真实协同片段**：
&gt; 人：来的本来就是区域的，不要跟全屏绑定，要自己合成哈。
&gt;
&gt; AI：据此撤回“把当前 Buffer 当完整 Surface”的假设，把修改边界收窄到 retained RGBA FBO：SurfaceCommand 只更新 dirty rect，EndFrame 再提交完整 composite。
这段对话适合先遮住 AI 回答，只展示人的一句纠偏，让学员写出“需求语义发生了什么变化”。
#### 课堂重构示例：完整帧与断链帧
下面是**教学用目标格式**，不是声称本地已有完整日志：
```text
seq=101 frame=714 path=420 event=command       queueDepth=3 owner=gdi
seq=102 frame=714 path=420 event=decodeOutput  durationUs=3810 result=ok
seq=103 frame=714 path=420 event=retainedRect  rect=640,220,320,180 result=ok
seq=104 frame=714 path=420 event=endFrame      matched=true
seq=105 frame=714 path=420 event=present       owner=avc420Gpu result=ok
```
再删除第 103 行，并把第 105 行改成 `result=skipped reason=notReady`。让学员回答：
- 最早异常是 present skipped，还是 retainedRect 缺失？
- 下一轮探针应放在 decoder callback、renderer，还是 EndFrame？
- 什么日志出现后会推翻“retained update 没执行”的假设？
翻牌原则：**最终失败负责描述现象，最早断链负责选择修改层。**
演示动作
四人协同实操：A 控制复现场景，B 用 MCP 构建/安装/抓日志，C 让 AI 只做同 frameId 排序与缺口标注，D 负责反证。保存 `gpu-frame-trace.txt`，禁止让 AI 在这一轮改 renderer。
通过条件
同一帧至少能跨越 command、decode、compose/present 三层；缺失层被明确写成下一轮观测任务。
素材
- `Avc420GpuCompositor::Diagnostics`
- `Avc444GpuCompositor::Diagnostics`
- MCP `logs_query`
---
转入下一页
本页结论收束后，下一页进入“指标只负责选择下一层，不替你下结论”。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C:\Users\mu\Desktop\code\harmonyos-sdd-ralph-workshop\harmonyos-sdd-workshop-media\freerdp-render-queue.jpeg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上一页解决“实践：用同一个 frameId 还原一帧”，这一页继续回答“指标只负责选择下一层，不替你下结论”。
画面
**能力回扣**：Eval 与反证｜指标只路由下一步调查，不能替代可证伪假设和同帧 Outcome。
| 证据组合 | 最可能边界 | 下一轮只验证 |
|---|---|---|
| decode 高、queue 低 | codec / 输入格式 | 硬解输出与 PTS |
| decode 低、queue age 高 | worker / 背压 | 排队与顺序 |
| compose 高 | texture / dirty rect | import、shader、rect |
| 全段低但画面白 | 上游内容 / readiness | first abnormal frame |
页尾：FPS 是结果指标；**最早异常 + 分段耗时 + queue age** 才能选择修改层。
![远程视频与窗口交互场景](harmonyos-sdd-workshop-media/freerdp-frame-pacing.jpeg)
**带入问题**：CPU 低、decode 低，但画面仍卡，下一条日志应该放在 decoder 里，还是 queue→EndFrame/present 边界？先说反证，再选层。
讲师备注
矩阵是训练样例，不是自动根因分类器。必须同时记录设备、分辨率、codec、drag 场景和样本窗口。平均值会隐藏尖峰；仓库当前没有完整 P95 时，应写“建议新增 percentile telemetry”，不能伪造数字。
白帧不一定是 GPU 输出错误。先判断 primary / decoded content 是否已经白，再检查 retained state、readiness、owner 与 swap。
#### 三个真实历史片段，训练“指标只选层”
| 历史现象 | 已有事实 | 不应得出的结论 | 下一步 |
|---|---|---|---|
| 登录阶段长时间停顿 | location redirection 曾引入同步 60s 等待 | GPU 太慢 | 先验证 channel 初始化与同步等待 |
| 常态约 21.6fps，随后远端更新约 6.9fps | 本地 RenderService 无明显 hitch、CPU 低 | 本地 GPU 必然正常 | 继续比较上游 update rate 与 present rate |
| resize 阶段 RDPGFX 输入约 24fps，输出一度约 2.8fps | 同时出现 clear/progressive/GDI background surge | 解码器性能不足 | 查 target/retained 重建和背景灌入 |
这里故意把一个“非 GPU 根因”混入 GPU 章节：学员如果看到卡顿就只改 compositor，说明还没有真正掌握 Evidence-first。
#### 讲师翻牌
平均 decode 低只能排除“持续解码耗时高”，不能排除输出频率低、队列老化、一次长尾、上游没送内容或生命周期错位。每次只允许选一个下一层，并写出推翻自己的日志。
演示动作
先播放修复后 16 秒动态录屏，让学员观察“视频连续播放、窗口切换、遮挡恢复”分别验证了什么；再给两组指标样例：A `decode=3ms, queueAge=95ms`；B 各段都低但首个 decoded sample 全白。让学员分别写下一条证伪日志。
[▶ 播放：视频播放与窗口交互验证（16 秒）](harmonyos-sdd-workshop-media/gpu-validation-video-playback-16s.mp4)
通过条件
答案只选择一个边界，且给出能推翻该假设的反证。
素材
- GPU 训练日志 A/B
- 附录 F 诊断卡
---
转入下一页
本页结论收束后，下一页进入“HarmonyOS 适配难在 Buffer 与 Surface 生命周期”。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C:\Users\mu\Desktop\code\harmonyos-sdd-ralph-workshop\harmonyos-sdd-workshop-media\freerdp-frame-pacing.jpeg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上一页解决“指标只负责选择下一层，不替你下结论”，这一页继续回答“HarmonyOS 适配难在 Buffer 与 Surface 生命周期”。
画面
**能力回扣**：需求与边界冻结｜把“支持 GPU 送显”拆成对象身份、所有权、生命周期和重建后的不变量。
| 移植问题 | HarmonyOS 需要显式处理 | 验证证据 |
|---|---|---|
| Codec 输出 | OH_AVCodec 异步输入/输出、NativeBuffer 生命周期 | callback、PTS、format |
| GPU 导入 | EGLImage / External OES 或 MapPlanes | format、stride、planes |
| 输出目标 | XComponent / NativeWindow create、resize、destroy | generation、size、owner |
| 失败回退 | 释放 owner、恢复 GDI producer/presenter | transition reason |
![缩放与 compositor 场景：引出 retained 尺寸和 target 尺寸必须同步](harmonyos-sdd-workshop-media/freerdp-compositor-scale.jpeg)
讲师备注
“Qt 已经鸿蒙化”并不等于 Windows/Android 的媒体与渲染路径可以原样搬过来。Qt 解决 UI/框架适配，远控视频仍要面对 HarmonyOS 的 OH_AVCodec、OH_NativeBuffer、EGL 与 XComponent 生命周期。
不要泛化为“Windows 一定用 Media Foundation”。课堂只比较当前项目的真实边界：原 FreeRDP native GDI fallback 与应用侧 GPU compositor。Surface destroy/recreate 是高频真实故障源，必须用 generation 或 target identity 防止旧回调写新窗口。
**CURRENT / GAP 必须分开**：当前代码能观察 target create/resize/destroy 与 owner reset，但还没有完整的“任务携带 surfaceGeneration，提交前再次校验”的闭环。`targetEpoch` 是下一轮设计任务，不是现状能力。
本地历史还出现过 resize 后旧的 `2432×1360` composite 被提交到新的 `3120×1885` target，而新内容实际是 `3120×1872`，最终在任务栏上方残留旧内容。这是典型的“每一帧都解码成功，但 target/retained 生命周期错位”。
#### Resize 故障时间线
```mermaid
sequenceDiagram
    participant S as Surface/XComponent
    participant Q as Worker Queue
    participant R as Retained Composite
    S-&gt;&gt;S: target 2432×1360 active
    Q-&gt;&gt;R: commands for old size
    S-&gt;&gt;S: recreate target 3120×1885
    Q--&gt;&gt;S: old callback arrives
    R--&gt;&gt;S: present old 2432×1360 composite
    S-&gt;&gt;S: remote content settles at 3120×1872
    Note over S,R: 任务栏上方残留旧内容
```
让学员在四处选一个最小防线：入队时、decode callback、retained update、present 前。推荐答案是任务携带 target identity，并在真正写 target 前再次校验；只在入队时检查不足以阻止晚到回调。
#### 生命周期验收问题
- 谁拥有 NativeBuffer，什么时候 release？
- target destroy 后，队列里的旧 task 是清空、标 stale 还是允许完成但禁止 present？
- retained state 的尺寸变化是重建、裁剪还是迁移？
- owner reset 与 compositor 资源释放是否在同一生命周期闭环？
演示动作
旋转、切后台或销毁 XComponent，观察 target changed、owner transition 与 retained state 日志；确认旧 frame 不再 present。
通过条件
设计中明确 Buffer 所有权、释放方、Surface generation 与旧回调处理规则。
素材
- `surface/xcomponent_native_host.cpp`
- `surface/surface_bridge.cpp`
- `surface/render_output_owner.cpp`
---
转入下一页
本页结论收束后，下一页进入“项目里其实是两层、三套 OH_AVCodec 接入”。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C:\Users\mu\Desktop\code\harmonyos-sdd-ralph-workshop\harmonyos-sdd-workshop-media\freerdp-compositor-scale.jpeg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上一页解决“HarmonyOS 适配难在 Buffer 与 Surface 生命周期”，这一页继续回答“项目里其实是两层、三套 OH_AVCodec 接入”。
画面
**能力回扣**：任务边界｜AI 必须先证明当前命令进入哪套接入，再获得修改对应文件的权限。
| 接入 | 所在层 | 角色 |
|---|---|---|
| `h264_ohos_decoder*.c` | FreeRDP codec subsystem | 原生 GDI decode / fallback |
| `Avc420HardwareDecoder` | App AVC420 compositor | opaque NativeBuffer → EGL |
| `Avc444HardwareDecoder` | App AVC444 compositor | mapped planes → LC 合成 |
公共生命周期：`create → configure → callbacks → start → push input → consume output → release/reset`
&gt; 公共的是 codec 生命周期，不是 420/444 的合成语义。
讲师备注
如果 AI 只搜索 `h264_ohos_decoder.c`，它会把优化写到 FreeRDP GDI fallback，却不影响应用侧 GPU compositor；反过来也一样。T00 勘察必须先确定用户看到的卡顿路径当前由哪个 owner 与 decoder 消费。
真实日志曾出现 `confirmed=avc444`，但实际命令计数却是 `avc420:389 avc444:0`。这说明“协商能力确认”不等于“当前每条 SurfaceCommand 的实际 codec 路径”；真正的分流事实要看命令里的 `codecId` 与实际 consumer。
解码成功只证明拿到输出 Buffer；还必须验证 format、PTS、buffer ownership、retained update、EndFrame 与 present。不要把 callback 返回当成“画面已显示”。
#### 三套接入的课堂路径卡
| 路径 | 入口问题 | 输出对象 | 最终需要的直接事实 |
|---|---|---|---|
| FreeRDP `h264_ohos_decoder*.c` | native GDI fallback 是否消费？ | GDI 可用像素/primary | `HarmonyEndPaint` 与 GDI presenter |
| App `Avc420HardwareDecoder` | 当前命令是否为 AVC420？ | opaque `OH_NativeBuffer` | EGLImage import、dirty rect retained、owner |
| App `Avc444HardwareDecoder` | 当前命令 LC 是多少？ | mapped NV12/NV21 planes | plane layout、luma/chroma readiness、EndFrame |
建议让三组分别扮演一条路径。讲师只给一条日志，各组必须说“这是不是我的证据”。这样比讲师连续解释三遍更容易让大家记住边界。
#### 常见误判
- 改了 FreeRDP fallback decoder，却用 App compositor 的 FPS 宣称优化成功。
- 看到了 decoder output callback，就把状态写成“已显示”。
- 因为类名都有 `HardwareDecoder`，就抽出一个共享的 Buffer upload 实现。
演示动作
先只给学员 `confirmed=avc444`，让其预测实际路径；再揭示 `avc420:389 avc444:0`。随后用 `rg` 搜三套 decoder，分别标注调用入口、输出对象和最终 presenter；让 AI 解释本轮修改为什么只属于其中一套。
通过条件
代码 diff 落在真实数据路径；没有“改了 fallback，却拿 GPU compositor 日志宣称生效”。
素材
- `FreeRDP/libfreerdp/codec/h264_ohos_decoder.c`
- `surface/avc420_gpu_compositor_internal.cpp`
- `surface/avc444_gpu_compositor_internal.cpp`
---
转入下一页
本页结论收束后，下一页进入“实践：420 验证 import，444 验证 plane math”。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上一页解决“项目里其实是两层、三套 OH_AVCodec 接入”，这一页继续回答“实践：420 验证 import，444 验证 plane math”。
画面
**能力回扣**：Workflow 与 Agent｜固定小样本验证走 Workflow；AI 只解释失败位于 import、layout 还是 shader。
**AVC420 / opaque output**
- `OH_NativeBuffer` 能否创建 EGLImage？
- External OES 纹理采样方向、裁剪与色彩是否正确？
- dirty rect 外像素是否由 RGBA retained FBO 保留？
**AVC444 / mapped output**
- `MapPlanes` 返回的 Y / UV offset、rowStride、pixelStride？
- NV12 与 NV21 的 U/V 顺序？
- sliceHeight / 对齐是否导致越界或错色？
![420：NativeBuffer import 色块](harmonyos-sdd-workshop-media/nativebuffer-test-pattern.png)
![420：RGBA retained 输出色块](harmonyos-sdd-workshop-media/rgba-renderer-test-pattern.png)
图片只能证明“输出视觉一致”；420 的 import 成功必须由 EGLImage/OES 日志证明，444 的 plane math 必须由 runtime planes 与边界检查证明。两张漂亮图都不能替代结构化证据。
讲师备注
这页必须分栏，不能再把 NV12 plane 计算当作 AVC420 compositor 的公共步骤。420 当前走 opaque NativeBuffer import；444 需要 mapped-plane 校验并上传到纹理。
为 444 准备一个 8×4 小 Buffer 练习，要求学员根据 runtime planes 而不是 `width*height` 猜偏移。为 420 准备色块和局部 dirty rect，验证 retained 区域不被清空。所有检查先在小样本完成，再回到 1080p/4K 性能。
#### 8×4 AVC444 plane math 实操
给定 runtime 返回：
```text
width=8 height=4 format=NV12
Y:  offset=0  rowStride=16 pixelStride=1 sliceHeight=4
UV: offset=64 rowStride=16 pixelStride=2 sliceHeight=2
bufferSize=96
```
学员计算：
- `Y(5,2) = offsetY + 2*16 + 5 = 37`
- 对应 chroma block：`uvRow=(2/2)*16=16`，`uvCol=(5/2)*2=4`
- NV12：`U=64+16+4=84`，`V=85`
- 若 runtime 报 NV21，U/V 顺序交换，但 rowStride、offset 仍以 runtime 为准。
故意给一个错误答案 `UV offset = width*height = 32`。让学员指出它忽略了 Y rowStride 与 sliceHeight；即使 8×4 小图“碰巧没崩”，放到对齐更大的 Buffer 也会错色或越界。
#### AVC420 dirty-rect 实操
1. 用 8×4 棋盘格 seed 完整 RGBA FBO。
2. 只更新 rect `(2,1)-(6,3)` 为红色。
3. 对 rect 内外分别计算像素 hash。
4. PASS：rect 内变化，rect 外 hash 不变；并有 EGLImage/OES import 成功事实。
这里不比较 420 与 444 谁“更快”，只验证各自最容易被错误抽象掉的契约。
演示动作
让 AI 生成只读 Buffer inspector 与色块 test pattern，不允许改正式 shader；分别保存 import result 和 plane layout。
通过条件
420 的证据包含 EGLImage import + rect 结果；444 的证据包含真实 planes、格式与无越界检查。任一路都不能用另一条路径的证据代替。
素材
- `OH_NativeBuffer` / EGL 日志
- `Avc444HardwareDecoder::MapDecodedFrame`
- 色块与 dirty-rect 测试帧
---
转入下一页
本页结论收束后，下一页进入“AVC420 先有可信背景，才能接管输出”。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C:\Users\mu\Desktop\code\harmonyos-sdd-ralph-workshop\harmonyos-sdd-workshop-media\nativebuffer-test-pattern.png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上一页解决“实践：420 验证 import，444 验证 plane math”，这一页继续回答“AVC420 先有可信背景，才能接管输出”。
画面
**能力回扣**：最小实现｜对象存在不等于内容 ready；接管前先用不变量阻止 AI 通过“强制显示”制造假 GREEN。
```mermaid
flowchart TD
    A[AVC420 command] --&gt; B{覆盖完整 Surface？}
    B -- 是 --&gt; C[同步 decode / composite]
    B -- 否 --&gt; D{有同尺寸可信 GDI snapshot？}
    D -- 是 --&gt; E[seed RGBA retained FBO]
    D -- 否 --&gt; F[不 suppress，继续 GDI]
    E --&gt; C
    C --&gt; G[claim Avc420Gpu owner]
```
首次 takeover 同步消费借用的 command 数据；进入 Active 后才深拷贝 stream / rect 并异步入队。
讲师备注
AVC420 retained state 是 RGBA FBO：GDI base 与 AVC dirty rect 在同一 retained composite 中更新。局部更新没有可信背景时，不能以黑底或空纹理接管，否则拖拽后会出现缺块。
这里加入一段真实“错误方向→语义纠偏→设计收敛”的案例：早期方案把 dirty-region AVC420 输出当完整帧直接 OES present，日志出现 `lastFullSurface=no`，绿块、黑块与暴露区域无法避免；人的一句“来的本来就是区域的，不要跟全屏绑定，要自己合成哈”冻结了需求语义，随后才转向 retained RGBA FBO。
另一条白帧案例也可对照：GDI primary buffer 在 resize/init 后已存在，但尚无真实远端更新，内容本身是白像素；native 又请求 repaint，于是白帧被正确地“显示”出来。最终修复不是改 ArkTS Stack、clear color 或 shader，而是在真实 `HarmonyEndPaint` 后才标记 primary renderable。
#### 白帧案例：让学员跟着证据排除
| 轮次 | 观察/实验 | 结论 |
|---:|---|---|
| 1 | 改 ArkTS 首帧 gate | 不能解释 native 已提交的白像素 |
| 2 | 去掉外层 Stack/wrapper | 白帧仍在，排除页面叠层为主因 |
| 3 | Surface create 时 clear black | 只能改变底色，后续 repaint 仍覆盖为白 |
| 4 | 检查 GDI primary | buffer 已存在，但尚未收到真实 remote update，像素本身为白 |
| 5 | 追到 repaint 请求 | rdpgfx connected 后主动请求当前帧，readiness 尚未建立 |
| 修复 | 只有真实 `HarmonyEndPaint` 后置 ready | 未 ready 时跳过 current-frame repaint |
讲师在第 3 轮暂停，让学员投票：“继续查 GLES，还是检查被提交内容本身？”这能非常直观地训练“显示正确不等于内容正确”。
#### 与 AVC420 takeover 的共同原则
白帧 readiness gate 和 partial command 的可信背景要求，本质都是：**对象存在不等于内容可用；接管输出前必须证明 retained/base 已经具备业务意义上的完整性。**
可信 GDI snapshot 至少要满足 target 可用、尺寸匹配、时间新鲜、像素有效。当前日志会报告 snapshot 失败与 `maxAgeMs=500`，但不会输出真实 `snapshot age=...`；若需要年龄，标为 TARGET telemetry，不能把示例 920ms 当现有字段。
0 dirty rect、inter-frame command 与 synthetic EndFrame 也要进入测试。`frameOpen=false` 时 FreeRDP bridge 会构造 synthetic matched callback，解释了部分帧为何可以立即走完边界。
演示动作
依次输入：full update、partial+fresh snapshot、partial+no snapshot；观察 owner 是否只在前两种接管。随后让学员用遮罩盖住右半屏，只拖动左侧窗口，检查 rect 外旧像素是否保留。
通过条件
无可信背景的 partial command 不抑制 GDI；接管后 rect 外旧像素保持不变。
素材
- `Avc420GpuCompositor::OnSurfaceCommand`
- `SeedBackgroundBeforeTakeover`
- commit `a9c05d2`、`a6918ba1`
---
转入下一页
本页结论收束后，下一页进入“AVC420 的稳定性来自状态与顺序”。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上一页解决“AVC420 先有可信背景，才能接管输出”，这一页继续回答“AVC420 的稳定性来自状态与顺序”。
画面
**能力回扣**：Harness 与范围控制｜队列、owner 与 fail-open 需要明确状态和停止条件；清 cache 不授权删除整条路径。
状态：`Detached → Active ↔ TargetPaused`；致命失败进入 `Failed`，后续成功可再次直接接管。
三条审查提醒：
- `failures &gt;= 3` 与 `ignoredUpdates &gt;= 6` 是生命周期累计计数，不是“连续 N 次”。
- Active 队列深度达到 24 后会先压缩 backlog，尽量保留最新匹配 EndFrame；若压缩后仍达到硬上限 720，enqueue 失败，当前 command 转同步处理，可能越过旧队列工作，属于顺序 GAP。
- fail-open 释放 GPU owner 并恢复 GDI pipeline，不代表 GDI 能在同一帧立即完整恢复。
讲师备注
当前状态枚举是 `Detached / Active / TargetPaused / Failed`。不要画一个不存在的 Bootstrapping 状态；bootstrap 是接管过程，不一定是公开 state。
普通 AVC pending 需要匹配 EndFrame 再 present，但 AVC420 存在明确例外：无 AVC pending 的 GDI-only 更新可立即提交；deferred GDI-only 可在匹配 EndFrame 提交；target 恢复可重呈现 retained composite。不要讲成“所有 present 必须 EndFrame”。
历史排查中曾因“降低延迟”丢弃 25 个旧 SurfaceCommand。对全帧视频这听起来合理，但 dirty-region AVC420 的旧命令可能包含未被后帧覆盖的像素，删除它们等于破坏画面状态。课堂让学员先回答：**局部更新队列能否套用 latest-frame-wins？**
**SESSION FACT｜范围失控不是技术细节**
&gt; “我只让你把 cache 清除掉，你给我全删除了，反思一下，不要改代码了。”
这条反馈用于检查 Agent 的授权边界：用户授权的是移除一个未提交的 cache 尝试，不是删除整条 NativeBuffer/EGLImage 路径。即使删除后能够编译，也属于 Trace FAIL。学员必须从 Task Card 中指出 Allowed object、Forbidden changes 和触发停手的用户指令。
#### 队列桌面推演
```text
C100: 更新左上角 A       E100
C101: 更新右下角 B       E101
C102: 更新窗口标题 C     E102
```
如果只保留 C102/E102，最终 composite 并不等于“最新完整帧”，因为 C102 没有覆盖 A/B。当前安全压缩逻辑在 depth≥24 时丢 prewarm 与旧 EndFrame，保留所有 SurfaceCommand，并优先保留最新 matched EndFrame；若没有 matched，再保留最新 EndFrame。
但这仍没有消除所有风险：压缩后若深度仍达到 720，当前 command 可能 enqueue 失败并转同步处理，于是它有机会越过旧队列。学员要把这个结论写成 **ordering GAP**，而不是简单写“有上限所以安全”。
#### 故障注入判定表
| 注入 | 希望看到 | 不能承诺 |
|---|---|---|
| target 暂不可用 | `TargetPaused`，保留可重呈现状态 | 当前帧仍立即显示 |
| 累计 failures≥3 | `Failed` / fail-open / owner 释放 | GDI 同帧无缝接管 |
| queue 接近 720 | compaction 统计与 ordering 告警 | command 永不乱序 |
演示动作
先给出 cache 清理前后的 diff 摘要，让学员在 60 秒内判定是否越界以及应该回滚哪一部分；再进行 target 暂不可用、累计失败、队列接近 720 三种故障推演。
通过条件
诊断报告区分状态、owner、累计计数和 queue ordering；没有把 fail-open 写成无缝恢复保证。
素材
- `avc420_gpu_compositor.h/.cpp`
- `avc420_gpu_compositor_internal.cpp`
- commit `93c6207`、`d789bb5`
---
转入下一页
本页结论收束后，下一页进入“AVC444 的关键是 LC 与单 Decoder”。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上一页解决“AVC420 的稳定性来自状态与顺序”，这一页继续回答“AVC444 的关键是 LC 与单 Decoder”。
画面
**能力回扣**：参考实现与契约｜先对齐 FreeRDP 的帧语义，再决定哪些 HarmonyOS 接口实现可以不同。
| LC | 要解码的内容 | retained 更新 |
|---:|---|---|
| 0 | stream1=luma，stream2=chroma | Y + U/V |
| 1 | stream1=luma | Y，并初始化/保留 base chroma |
| 2 | stream1=chroma | U/V，保留 Y |
**一个硬件 decoder 顺序消费 luma / chroma**，按流准备 SPS/PPS 与 reset/resync；不是两路普通视频并行播放。
**先问再揭晓**：为什么不用两个 decoder 并行解 luma 与 chroma？让学员从“参考状态、SPS/PPS、reset/resync、LC=1/2 retained readiness”四个词中选两个组成反证。
讲师备注
解码输出经 MapPlanes 得到 NV12/NV21，再由 shader 按 dirty rect 更新 retained Y/U/V textures。v1/v2 chroma 的变换要以 FreeRDP CPU 路径作为 oracle 做已知帧对照，“接近参考模型”不能写成 bit-exact，除非测试已经证明。
`CURRENT GAP`：AVC444 的 `kMaxWorkerTasks=720` 当前主要累加 `queueOverLimit` 后仍继续 push，不是真正硬上限；Surface destroy 时外层 owner 会重置，但 compositor 资源与 active 生命周期没有像 420 一样完整闭合。两项都应进入风险与验收，而不是当成已实现特性。
#### LC 顺序推演
```mermaid
sequenceDiagram
    participant C as SurfaceCommand
    participant D as Single Decoder
    participant R as Retained Y/U/V
    C-&gt;&gt;D: LC=0 stream1(luma)
    D-&gt;&gt;R: update Y
    C-&gt;&gt;D: LC=0 stream2(chroma)
    D-&gt;&gt;R: update U/V
    C-&gt;&gt;R: EndFrame → present if ready
    C-&gt;&gt;D: LC=2 chroma only
    D-&gt;&gt;R: update U/V, preserve Y
```
课堂准备三张 readiness 卡：`Y ready`、`UV ready`、`pending EndFrame`。学员每处理一条 LC 命令就翻卡：
- LC=0：本轮需要更新 Y 与 UV。
- LC=1：更新 Y，并要求 base chroma 已初始化/可保留。
- LC=2：更新 UV，必须已有可保留的 Y。
如果第一条可见命令就是 LC=2 且 `lumaReady=false`，正确动作是拒绝错误接管或保持 UNKNOWN，不是用黑色 Y plane 勉强 present。
#### 为什么单 Decoder 更重要
这里的 luma/chroma 不是两段互不相关的视频。两个 decoder 会各自维护参数集和参考状态；在 reset/resync、SPS/PPS 与跨命令参考关系上产生分叉。并行看似更快，却可能先破坏协议语义。
演示动作
用 LC=0、1、2 各一条命令，检查 decoder 调用顺序、retained luma/chroma readiness 与 EndFrame present。
通过条件
没有为 luma/chroma 创建两个互相失去参考状态的 decoder；LC 更新后未更新的 plane 保持旧值。
素材
- `Avc444GpuCompositorImpl::State`
- `Avc444GpuRenderer::ApplyLuma/ApplyChroma*`
- commit `5370d34`、`227c1a9`
---
转入下一页
本页结论收束后，下一页进入“420 / 444 共守输出契约，但不能共用实现假设”。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上一页解决“AVC444 的关键是 LC 与单 Decoder”，这一页继续回答“420 / 444 共守输出契约，但不能共用实现假设”。
画面
**能力回扣**：Outcome Eval｜两条路径分别验证，但最终都要提交 owner、frame、target 与可见结果一致的证据包。
**公共输出契约**
1. 任一时刻只有一个 `RenderOutputOwner` 写 XComponent。
2. 首次接管前 retained state 必须完整可信。
3. 普通 pending frame 只在匹配 real / synthetic EndFrame present。
4. **TARGET / GAP**：Surface generation 变化后，旧 task/callback 必须因 `targetEpoch` 不匹配而被拒绝；当前实现尚未完整闭环。
**诊断挑战**
- Case 420：decode 4ms，queue age 110ms，队列满后同步 fallback。
- Case 444：decode/compose 都低，LC=2 到达但 luma readiness=false。
![修复后动态验证关键帧：视频、窗口切换与遮挡恢复](harmonyos-sdd-workshop-media/gpu-validation-video-playback-contact.jpg)
讲师备注
必须拆开 AVC420 的两套状态：应用侧 `RenderOutputOwner::Avc420Gpu` 决定谁可写 XComponent；FreeRDP 侧 `avc420GpuOutputActive` 决定原生 GDI decode / presenter 是否 suppress。二者不同步会出现“双写”或“无人写”。
Case 420 的第一假设是 backpressure 与队列顺序，不是继续换 decoder；Case 444 的第一假设是首次接管 readiness / 命令序列，不是色彩转换。详细答案与反证见附录 F。
#### 最终验收矩阵
| 契约 | 420 直接证据 | 444 直接证据 | 当前可判 |
|---|---|---|---|
| 唯一输出 owner | owner transition + GDI suppress 对齐 | owner transition + GDI skip | 有完整同 runId 日志才 PASS |
| 首次接管完整可信 | full command 或 fresh GDI seed | Y/UV readiness 与 LC 序列 | 缺 readiness 字段则 UNKNOWN |
| 匹配帧边界 present | command/EndFrame/present 同 frameId | LC update/EndFrame/present 同 frameId | 本地现有日志尚不完整 |
| dirty/retained 正确 | rect 外 hash 不变 | 未更新 plane 保留旧值 | 小样本 + 真机画面共同证明 |
| target 重建安全 | targetEpoch 拒绝旧 task | targetEpoch 拒绝旧 callback | **TARGET/GAP** |
| 背压有界且保序 | compaction + 720 后顺序证明 | 当前 720 只是软计数 | 仍有 GAP，不能总 PASS |
最终视频只回答“用户可见交互是否恢复”；协议和生命周期是否满足，仍由日志、状态与反证决定。
![连接后多步交互：打开内容、页面变化、右键操作](harmonyos-sdd-workshop-media/gpu-e2e-interaction-public.jpg)
#### 学员一分钟汇报模板
&gt; 现象是____；实际路径是____；最早异常在____；我们只修改____；反证是____；当前 PASS 项为____，UNKNOWN/GAP 为____；下一轮不应继续改____。
演示动作
每组任选一个 Case，写出：最早异常、下一轮唯一修改边界、反证、需要保存的同 frameId 日志。最后播放正向录屏，但只允许对契约逐项判定：视频动了不等于全 PASS；没有同帧日志与 targetEpoch 证据的条目仍是 UNKNOWN。
[▶ 播放：修复后动态验证（16 秒）](harmonyos-sdd-workshop-media/gpu-validation-video-playback-16s.mp4)
通过条件
诊断没有跨 codec 套用错误假设；输出 owner、readiness、EndFrame、Surface generation 均有证据。
素材
- `render_output_owner.h/.cpp`
- `ohos_rdpgfx_surface.c`
- `gpu-diagnosis.md`
---
转入下一页
本页结论收束后，下一页进入“把方法带回项目，只保留七个问题”。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C:\Users\mu\Desktop\code\harmonyos-sdd-ralph-workshop\harmonyos-sdd-workshop-media\gpu-validation-video-playback-contact.jpg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上一页解决“420 / 444 共守输出契约，但不能共用实现假设”，这一页继续回答“把方法带回项目，只保留七个问题”。
画面
```mermaid
flowchart TD
    A[事实] --&gt; B[规格]
    B --&gt; C[任务]
    C --&gt; D[RED]
    D --&gt; E[最小 Diff]
    E --&gt; F[系统证据]
```
**可选收束主视觉（PPT 制作时与上方 Mermaid 二选一）**
![质量的瑞士奶酪模型：自动评估、人工审阅和真实运行共同拦截缺陷](harmonyos-sdd-workshop-media/anthropic/eval-quality-layers.png)
&lt;sub&gt;讲师读图：任何单层检查都有孔洞。映射到本课就是测试、构建、日志、getter、截图/视频与同伴 Reviewer 叠加；只有多层证据对齐，才允许 PASS。图源：Anthropic《Demystifying Evals for AI Agents》。&lt;/sub&gt;
下一次拿到复杂需求，只问七个问题：
1. 哪些词会让实现分叉？
2. 最终真相在哪一层？
3. 哪些不变量绝不能破坏？
4. 本轮只允许 AI 改哪个边界？
5. 怎样先制造一个可解释的 RED？
6. 最早异常证据在哪里？
7. 什么证据满足后，本轮必须停止？
**一分钟迁移题**
&gt; 权限页面第一次进入数据为空，第二次进入正常。
每组必须用七问给出：一个最小只读勘察任务、一条可证伪假设、一项禁止修改范围和一个最终事实来源。不得直接回答“加延迟”或“页面初始化问题”。
讲师备注
用两个案例做最后对照：MDM 的关键是先由规格冻结多用户与事务语义；GPU 的关键是先由证据缩小未知边界。但两者最后都落到同一个外部循环：任务小、失败真、diff 窄、证据可追踪、停止条件明确。
再把七问映射回开场的六项进阶能力：前 3 问控制需求与上下文，第 4–5 问控制 Agent 边界和可验证实现，第 6 问依赖工具取得环境事实，第 7 问由 Eval 与风险匹配的 Reviewer 决定停止。这样学员离场时记住的是一套复杂需求交付框架，而不是 Ralph、MCP 或某个模型名称。
请学员展示最终包，不再展示聊天窗口。讲师最后强调：AI 可以加速探索、测试、实现和取证，但产品决策、真相源、事务边界和 PASS 判定仍由工程师负责。
演示动作
每组用 30 秒说出一条“原本准备让 AI 猜、现在改为先冻结或先取证”的真实工作项。
通过条件
学员带走的是可复用工作流与模板，而不是两个项目答案。
素材
- MDM evidence pack
- `gpu-diagnosis.md`
- 七问行动卡
---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C:\Users\mu\Desktop\code\harmonyos-sdd-ralph-workshop\harmonyos-sdd-workshop-media\anthropic\eval-quality-layers.png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b9bc8f764247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af32903f754d21" /><Relationship Type="http://schemas.openxmlformats.org/officeDocument/2006/relationships/slideLayout" Target="/ppt/slideLayouts/slideLayout1.xml" Id="R5e20612f28b74d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20612f28b74d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0c224977734c39" /><Relationship Type="http://schemas.openxmlformats.org/officeDocument/2006/relationships/image" Target="/ppt/media/image.png" Id="R1445a80868bd487e" /><Relationship Type="http://schemas.openxmlformats.org/officeDocument/2006/relationships/image" Target="/ppt/media/image.jpeg" Id="R93bd95cfb3eb412d" /><Relationship Type="http://schemas.openxmlformats.org/officeDocument/2006/relationships/notesSlide" Target="/ppt/notesSlides/notesSlide1.xml" Id="R94d6741777de42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f40303f5ca414c" /><Relationship Type="http://schemas.openxmlformats.org/officeDocument/2006/relationships/image" Target="/ppt/media/image2.png" Id="R982980f9e8f54f67" /><Relationship Type="http://schemas.openxmlformats.org/officeDocument/2006/relationships/notesSlide" Target="/ppt/notesSlides/notesSlide2.xml" Id="R0b743fd32ff643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c77dc209ba4b3e" /><Relationship Type="http://schemas.openxmlformats.org/officeDocument/2006/relationships/image" Target="/ppt/media/image3.png" Id="Rd11de32bf8ef4722" /><Relationship Type="http://schemas.openxmlformats.org/officeDocument/2006/relationships/notesSlide" Target="/ppt/notesSlides/notesSlide3.xml" Id="Rf6562e67874c4e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3477069504950" /><Relationship Type="http://schemas.openxmlformats.org/officeDocument/2006/relationships/image" Target="/ppt/media/image4.png" Id="R7a48ea6684224913" /><Relationship Type="http://schemas.openxmlformats.org/officeDocument/2006/relationships/notesSlide" Target="/ppt/notesSlides/notesSlide4.xml" Id="R709fd317ec2740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b3777bee214d3c" /><Relationship Type="http://schemas.openxmlformats.org/officeDocument/2006/relationships/image" Target="/ppt/media/image5.png" Id="R9db13a9f24614f72" /><Relationship Type="http://schemas.openxmlformats.org/officeDocument/2006/relationships/notesSlide" Target="/ppt/notesSlides/notesSlide5.xml" Id="R93b20569c56444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86f3fa86d14b34" /><Relationship Type="http://schemas.openxmlformats.org/officeDocument/2006/relationships/image" Target="/ppt/media/image6.png" Id="Rf4cb33afc35543db" /><Relationship Type="http://schemas.openxmlformats.org/officeDocument/2006/relationships/notesSlide" Target="/ppt/notesSlides/notesSlide6.xml" Id="R95d0bf6de77342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56cee33674fbc" /><Relationship Type="http://schemas.openxmlformats.org/officeDocument/2006/relationships/image" Target="/ppt/media/image7.png" Id="R9feedbec912f4dbc" /><Relationship Type="http://schemas.openxmlformats.org/officeDocument/2006/relationships/notesSlide" Target="/ppt/notesSlides/notesSlide7.xml" Id="R31bf1a92d98b4e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3511f033ca4050" /><Relationship Type="http://schemas.openxmlformats.org/officeDocument/2006/relationships/image" Target="/ppt/media/image8.png" Id="R071cd3233b2a4668" /><Relationship Type="http://schemas.openxmlformats.org/officeDocument/2006/relationships/notesSlide" Target="/ppt/notesSlides/notesSlide8.xml" Id="R1e46c6b496fe4a4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10d8986d7744c1" /><Relationship Type="http://schemas.openxmlformats.org/officeDocument/2006/relationships/image" Target="/ppt/media/image9.png" Id="Re2a27e0bdf324a7a" /><Relationship Type="http://schemas.openxmlformats.org/officeDocument/2006/relationships/notesSlide" Target="/ppt/notesSlides/notesSlide9.xml" Id="R37637c5a7e51482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8739a7070448a" /><Relationship Type="http://schemas.openxmlformats.org/officeDocument/2006/relationships/image" Target="/ppt/media/image10.png" Id="Ra03f15ef2c934d4b" /><Relationship Type="http://schemas.openxmlformats.org/officeDocument/2006/relationships/notesSlide" Target="/ppt/notesSlides/notesSlide10.xml" Id="R1f9b2b6bce9c466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3c12927724535" /><Relationship Type="http://schemas.openxmlformats.org/officeDocument/2006/relationships/image" Target="/ppt/media/image11.png" Id="Rc02a1d6b4e0945ad" /><Relationship Type="http://schemas.openxmlformats.org/officeDocument/2006/relationships/notesSlide" Target="/ppt/notesSlides/notesSlide11.xml" Id="Rd0de04d19556453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583dd5853d499a" /><Relationship Type="http://schemas.openxmlformats.org/officeDocument/2006/relationships/image" Target="/ppt/media/image12.png" Id="Rd207df9c915e4ef2" /><Relationship Type="http://schemas.openxmlformats.org/officeDocument/2006/relationships/notesSlide" Target="/ppt/notesSlides/notesSlide12.xml" Id="R0df5f3a22fdf4d9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890dba7a744059" /><Relationship Type="http://schemas.openxmlformats.org/officeDocument/2006/relationships/image" Target="/ppt/media/image13.png" Id="Rb03de8a1202b4782" /><Relationship Type="http://schemas.openxmlformats.org/officeDocument/2006/relationships/image" Target="/ppt/media/image14.png" Id="Rdf8eceb25f1a46fc" /><Relationship Type="http://schemas.openxmlformats.org/officeDocument/2006/relationships/notesSlide" Target="/ppt/notesSlides/notesSlide13.xml" Id="R6de88f563fb9417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af35be06341ca" /><Relationship Type="http://schemas.openxmlformats.org/officeDocument/2006/relationships/image" Target="/ppt/media/image15.png" Id="Rd15ff358177c4d50" /><Relationship Type="http://schemas.openxmlformats.org/officeDocument/2006/relationships/notesSlide" Target="/ppt/notesSlides/notesSlide14.xml" Id="R610fd72357b742f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6eeec58754980" /><Relationship Type="http://schemas.openxmlformats.org/officeDocument/2006/relationships/image" Target="/ppt/media/image16.png" Id="R98677ace02c14f78" /><Relationship Type="http://schemas.openxmlformats.org/officeDocument/2006/relationships/notesSlide" Target="/ppt/notesSlides/notesSlide15.xml" Id="R09c9a185c6e741a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89d9b420a4959" /><Relationship Type="http://schemas.openxmlformats.org/officeDocument/2006/relationships/image" Target="/ppt/media/image17.png" Id="R35519dee35fc41f5" /><Relationship Type="http://schemas.openxmlformats.org/officeDocument/2006/relationships/notesSlide" Target="/ppt/notesSlides/notesSlide16.xml" Id="R0fc85c73834e4a9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60c90fddb14925" /><Relationship Type="http://schemas.openxmlformats.org/officeDocument/2006/relationships/image" Target="/ppt/media/image18.png" Id="R6597fb1e893e4a39" /><Relationship Type="http://schemas.openxmlformats.org/officeDocument/2006/relationships/image" Target="/ppt/media/image19.png" Id="R5c766b7e19454c15" /><Relationship Type="http://schemas.openxmlformats.org/officeDocument/2006/relationships/notesSlide" Target="/ppt/notesSlides/notesSlide17.xml" Id="Raa10c9e2acde4ae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7a1c94d4d242e9" /><Relationship Type="http://schemas.openxmlformats.org/officeDocument/2006/relationships/image" Target="/ppt/media/image20.png" Id="R9e1fa91e86d04ced" /><Relationship Type="http://schemas.openxmlformats.org/officeDocument/2006/relationships/notesSlide" Target="/ppt/notesSlides/notesSlide18.xml" Id="Raf435bbff8fb455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0da8015a347c5" /><Relationship Type="http://schemas.openxmlformats.org/officeDocument/2006/relationships/image" Target="/ppt/media/image21.png" Id="R6ab9f305497e4daa" /><Relationship Type="http://schemas.openxmlformats.org/officeDocument/2006/relationships/notesSlide" Target="/ppt/notesSlides/notesSlide19.xml" Id="R3d43a4ba1aee400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825012e794b21" /><Relationship Type="http://schemas.openxmlformats.org/officeDocument/2006/relationships/image" Target="/ppt/media/image22.png" Id="R71ed9bb61fb348cf" /><Relationship Type="http://schemas.openxmlformats.org/officeDocument/2006/relationships/notesSlide" Target="/ppt/notesSlides/notesSlide20.xml" Id="R0fb2bfe2a308424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cd859b202c4047" /><Relationship Type="http://schemas.openxmlformats.org/officeDocument/2006/relationships/image" Target="/ppt/media/image23.png" Id="R1b624aafa0c34c91" /><Relationship Type="http://schemas.openxmlformats.org/officeDocument/2006/relationships/notesSlide" Target="/ppt/notesSlides/notesSlide21.xml" Id="R76882f264f504ec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3d2da7802b40d9" /><Relationship Type="http://schemas.openxmlformats.org/officeDocument/2006/relationships/image" Target="/ppt/media/image24.png" Id="Rdc8f0a88817541c7" /><Relationship Type="http://schemas.openxmlformats.org/officeDocument/2006/relationships/notesSlide" Target="/ppt/notesSlides/notesSlide22.xml" Id="R03083befd4e64e4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6b0b7502594946" /><Relationship Type="http://schemas.openxmlformats.org/officeDocument/2006/relationships/image" Target="/ppt/media/image25.png" Id="R44aff6bc66b24df2" /><Relationship Type="http://schemas.openxmlformats.org/officeDocument/2006/relationships/notesSlide" Target="/ppt/notesSlides/notesSlide23.xml" Id="R91fe5c4ee4e94e1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756268fb9743b1" /><Relationship Type="http://schemas.openxmlformats.org/officeDocument/2006/relationships/image" Target="/ppt/media/image26.png" Id="R0417220a01d940f9" /><Relationship Type="http://schemas.openxmlformats.org/officeDocument/2006/relationships/notesSlide" Target="/ppt/notesSlides/notesSlide24.xml" Id="R1ccaa11ab1b24d4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8676033dd94e60" /><Relationship Type="http://schemas.openxmlformats.org/officeDocument/2006/relationships/image" Target="/ppt/media/image27.png" Id="Rbf0e1624797c4164" /><Relationship Type="http://schemas.openxmlformats.org/officeDocument/2006/relationships/notesSlide" Target="/ppt/notesSlides/notesSlide25.xml" Id="Ra8e4e51ccd9041c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9fff52a81b46a8" /><Relationship Type="http://schemas.openxmlformats.org/officeDocument/2006/relationships/image" Target="/ppt/media/image28.png" Id="Rdb4a60be07014727" /><Relationship Type="http://schemas.openxmlformats.org/officeDocument/2006/relationships/notesSlide" Target="/ppt/notesSlides/notesSlide26.xml" Id="Rcca1c4cbde114b7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1eccd99db47c3" /><Relationship Type="http://schemas.openxmlformats.org/officeDocument/2006/relationships/image" Target="/ppt/media/image29.png" Id="R22c5e20b1af64fb0" /><Relationship Type="http://schemas.openxmlformats.org/officeDocument/2006/relationships/image" Target="/ppt/media/image30.png" Id="Re71191709dc44300" /><Relationship Type="http://schemas.openxmlformats.org/officeDocument/2006/relationships/notesSlide" Target="/ppt/notesSlides/notesSlide27.xml" Id="R3d99a7f378404cc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8f60721588440b" /><Relationship Type="http://schemas.openxmlformats.org/officeDocument/2006/relationships/image" Target="/ppt/media/image2.jpeg" Id="R6ea9607686af4e6e" /><Relationship Type="http://schemas.openxmlformats.org/officeDocument/2006/relationships/image" Target="/ppt/media/image31.png" Id="R31a085b227d74f19" /><Relationship Type="http://schemas.openxmlformats.org/officeDocument/2006/relationships/notesSlide" Target="/ppt/notesSlides/notesSlide28.xml" Id="R61a862990d51493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e870184ad240b1" /><Relationship Type="http://schemas.openxmlformats.org/officeDocument/2006/relationships/image" Target="/ppt/media/image32.png" Id="Rf4dec328570448f8" /><Relationship Type="http://schemas.openxmlformats.org/officeDocument/2006/relationships/notesSlide" Target="/ppt/notesSlides/notesSlide29.xml" Id="Re359849594a94a6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7d3e19be2945d8" /><Relationship Type="http://schemas.openxmlformats.org/officeDocument/2006/relationships/image" Target="/ppt/media/image3.jpeg" Id="Rafb4e53489d04bfc" /><Relationship Type="http://schemas.openxmlformats.org/officeDocument/2006/relationships/image" Target="/ppt/media/image33.png" Id="R7a6268ed61724a63" /><Relationship Type="http://schemas.openxmlformats.org/officeDocument/2006/relationships/notesSlide" Target="/ppt/notesSlides/notesSlide30.xml" Id="R311d74517af347a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fa8ab372bb4917" /><Relationship Type="http://schemas.openxmlformats.org/officeDocument/2006/relationships/image" Target="/ppt/media/image4.jpeg" Id="R473e5da17f5b45c7" /><Relationship Type="http://schemas.openxmlformats.org/officeDocument/2006/relationships/image" Target="/ppt/media/image34.png" Id="R14d53a752a8f40c7" /><Relationship Type="http://schemas.openxmlformats.org/officeDocument/2006/relationships/notesSlide" Target="/ppt/notesSlides/notesSlide31.xml" Id="R46c7ee0e87654cc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b308755af4dc6" /><Relationship Type="http://schemas.openxmlformats.org/officeDocument/2006/relationships/image" Target="/ppt/media/image5.jpeg" Id="Rbc6b83f203774199" /><Relationship Type="http://schemas.openxmlformats.org/officeDocument/2006/relationships/image" Target="/ppt/media/image35.png" Id="R9d6f5757ccaa4542" /><Relationship Type="http://schemas.openxmlformats.org/officeDocument/2006/relationships/notesSlide" Target="/ppt/notesSlides/notesSlide32.xml" Id="Rd93c77df8e04440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f62778da942b5" /><Relationship Type="http://schemas.openxmlformats.org/officeDocument/2006/relationships/image" Target="/ppt/media/image36.png" Id="Rc4488923c2494cd5" /><Relationship Type="http://schemas.openxmlformats.org/officeDocument/2006/relationships/notesSlide" Target="/ppt/notesSlides/notesSlide33.xml" Id="Re4eee526b7854ba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35ea06473d44a4" /><Relationship Type="http://schemas.openxmlformats.org/officeDocument/2006/relationships/image" Target="/ppt/media/image6.jpeg" Id="Raf3c9eaef2e24445" /><Relationship Type="http://schemas.openxmlformats.org/officeDocument/2006/relationships/image" Target="/ppt/media/image37.png" Id="Rb5f43d322e154761" /><Relationship Type="http://schemas.openxmlformats.org/officeDocument/2006/relationships/notesSlide" Target="/ppt/notesSlides/notesSlide34.xml" Id="R3ce856ebd971461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5dcb7ace224037" /><Relationship Type="http://schemas.openxmlformats.org/officeDocument/2006/relationships/image" Target="/ppt/media/image38.png" Id="Rb3490fcc55d24628" /><Relationship Type="http://schemas.openxmlformats.org/officeDocument/2006/relationships/notesSlide" Target="/ppt/notesSlides/notesSlide35.xml" Id="R2bee6d2f111d4b4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5e3b6a470b477c" /><Relationship Type="http://schemas.openxmlformats.org/officeDocument/2006/relationships/image" Target="/ppt/media/image39.png" Id="R641b824ea9ea42a1" /><Relationship Type="http://schemas.openxmlformats.org/officeDocument/2006/relationships/notesSlide" Target="/ppt/notesSlides/notesSlide36.xml" Id="Rab0f969f7305499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31c7eea704462" /><Relationship Type="http://schemas.openxmlformats.org/officeDocument/2006/relationships/image" Target="/ppt/media/image40.png" Id="R932f9227176a411a" /><Relationship Type="http://schemas.openxmlformats.org/officeDocument/2006/relationships/notesSlide" Target="/ppt/notesSlides/notesSlide37.xml" Id="R1282a2012a0f420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1864af457248d9" /><Relationship Type="http://schemas.openxmlformats.org/officeDocument/2006/relationships/image" Target="/ppt/media/image7.jpeg" Id="R1fb26d0c713b4ba8" /><Relationship Type="http://schemas.openxmlformats.org/officeDocument/2006/relationships/image" Target="/ppt/media/image41.png" Id="R615f02386c964609" /><Relationship Type="http://schemas.openxmlformats.org/officeDocument/2006/relationships/notesSlide" Target="/ppt/notesSlides/notesSlide38.xml" Id="R0f6f4974945a40a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711d0ce26b44b9" /><Relationship Type="http://schemas.openxmlformats.org/officeDocument/2006/relationships/image" Target="/ppt/media/image42.png" Id="R696d22100c3a44fe" /><Relationship Type="http://schemas.openxmlformats.org/officeDocument/2006/relationships/notesSlide" Target="/ppt/notesSlides/notesSlide39.xml" Id="R482b4500ed684c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45a80868bd487e"/>
          <a:stretch xmlns:a="http://schemas.openxmlformats.org/drawingml/2006/main"/>
        </p:blipFill>
        <p:spPr>
          <a:xfrm xmlns:a="http://schemas.openxmlformats.org/drawingml/2006/main">
            <a:off x="10096500" y="377204"/>
            <a:ext cx="1638300" cy="369541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B8DFBB-CB81-4756-88C9-5281DFA5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C7000B"/>
                </a:solidFill>
              </a:defRPr>
            </a:pPr>
            <a:r>
              <a:rPr sz="1200" b="1" i="0">
                <a:solidFill>
                  <a:srgbClr val="C7000B"/>
                </a:solidFill>
              </a:rPr>
              <a:t>HARMONYOS SDD · RALPH WORKSHOP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A78317-775B-457B-8CE1-89F42A25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5143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181818"/>
                </a:solidFill>
              </a:defRPr>
            </a:pPr>
            <a:r>
              <a:rPr sz="3900" b="1" i="0">
                <a:solidFill>
                  <a:srgbClr val="181818"/>
                </a:solidFill>
              </a:rPr>
              <a:t>使用 AI 进阶能力</a:t>
            </a:r>
          </a:p>
          <a:p xmlns:a="http://schemas.openxmlformats.org/drawingml/2006/main">
            <a:pPr algn="l">
              <a:defRPr sz="3900" b="1" i="0">
                <a:solidFill>
                  <a:srgbClr val="181818"/>
                </a:solidFill>
              </a:defRPr>
            </a:pPr>
            <a:r>
              <a:rPr sz="3900" b="1" i="0">
                <a:solidFill>
                  <a:srgbClr val="181818"/>
                </a:solidFill>
              </a:rPr>
              <a:t>实现较为复杂的需求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F7B371-1012-4FEA-B211-A78C9FE0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7180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C7000B"/>
                </a:solidFill>
              </a:defRPr>
            </a:pPr>
            <a:r>
              <a:rPr sz="1800" b="1" i="0">
                <a:solidFill>
                  <a:srgbClr val="C7000B"/>
                </a:solidFill>
              </a:rPr>
              <a:t>从需求拆解、开发、验证，到问题定位与协同闭环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5A9A7D-4A74-4B6D-9AC9-4F70F40A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24300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不是提示词技巧课，也不是单纯的项目复盘。</a:t>
            </a:r>
          </a:p>
          <a:p xmlns:a="http://schemas.openxmlformats.org/drawingml/2006/main">
            <a:pPr algn="l"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用真实 MDM 与 FreeRDP GPU 问题，训练把复杂需求变成可信结果。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6CB31D-924A-419B-B299-5D35A1B6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91100"/>
            <a:ext cx="49149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CEA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ED3219-F163-4D2B-BF91-EE2C4631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7000B"/>
                </a:solidFill>
              </a:defRPr>
            </a:pPr>
            <a:r>
              <a:rPr sz="1350" b="1" i="0">
                <a:solidFill>
                  <a:srgbClr val="C7000B"/>
                </a:solidFill>
              </a:rPr>
              <a:t>核心标准</a:t>
            </a:r>
          </a:p>
          <a:p xmlns:a="http://schemas.openxmlformats.org/drawingml/2006/main">
            <a:pPr algn="l">
              <a:defRPr sz="1350" b="1" i="0">
                <a:solidFill>
                  <a:srgbClr val="C7000B"/>
                </a:solidFill>
              </a:defRPr>
            </a:pPr>
            <a:r>
              <a:rPr sz="1350" b="1" i="0">
                <a:solidFill>
                  <a:srgbClr val="C7000B"/>
                </a:solidFill>
              </a:rPr>
              <a:t>代码不是终点，系统事实能够被追踪、复现和审阅才算交付。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CBFA7-6970-4CB8-A57C-37136819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066800"/>
            <a:ext cx="5219700" cy="449580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bd95cfb3eb412d"/>
          <a:stretch xmlns:a="http://schemas.openxmlformats.org/drawingml/2006/main"/>
        </p:blipFill>
        <p:spPr>
          <a:xfrm xmlns:a="http://schemas.openxmlformats.org/drawingml/2006/main">
            <a:off x="6267450" y="1676400"/>
            <a:ext cx="4914900" cy="32766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20AB4D-2ADA-49F7-806F-74FE1C08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829300"/>
            <a:ext cx="521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18B57"/>
                </a:solidFill>
              </a:defRPr>
            </a:pPr>
            <a:r>
              <a:rPr sz="1350" b="1" i="0">
                <a:solidFill>
                  <a:srgbClr val="218B57"/>
                </a:solidFill>
              </a:rPr>
              <a:t>培训目标：讲清方法 → 现场做一轮 → 能迁移到新问题</a:t>
            </a:r>
          </a:p>
        </p:txBody>
      </p:sp>
    </p:spTree>
    <p:extLst>
      <p:ext uri="{BB962C8B-B14F-4D97-AF65-F5344CB8AC3E}">
        <p14:creationId xmlns:p14="http://schemas.microsoft.com/office/powerpoint/2010/main" val="3236329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D6DC8D-C940-4902-A5E4-842D2189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02  开场｜先定义可信交付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61653-58F7-4541-A8CE-0A364664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501E9-1667-4609-9CAD-3F743D74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讲解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52B5C-CD42-4FB1-9BF3-5B57BC41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两小时跑通一条主闭环，再做一次跨域迁移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EB8DB3-2CA4-4F4A-9B03-BFDA54E6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MDM 冻结行为语义，GPU 建立同帧证据；两条主线共用一套工程控制法。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DFBE8A-A40D-43E1-9AD7-C934C305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D0AC64-1B8F-485D-82E6-BE45DC75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76600"/>
            <a:ext cx="10191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2247E5-6FAB-4E36-9A21-72D7AD54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6286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CDD955-06F6-4152-91FE-E10E8173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1275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0BFD5F-2961-45F2-B7D4-56B42ED3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242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81818"/>
                </a:solidFill>
              </a:defRPr>
            </a:pPr>
            <a:r>
              <a:rPr sz="1500" b="1" i="0">
                <a:solidFill>
                  <a:srgbClr val="181818"/>
                </a:solidFill>
              </a:rPr>
              <a:t>需求闭合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458800-E5FF-4AFF-8AF5-7380BC7D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943350"/>
            <a:ext cx="161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对象 · 分叉 · EARS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31E332-AE3F-4EF7-9500-08E3D1E0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19350"/>
            <a:ext cx="6286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337E97-A6F5-48C9-BB95-C372F5E0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81275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E2C0C2-9DCB-420E-BE31-41A993A0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242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81818"/>
                </a:solidFill>
              </a:defRPr>
            </a:pPr>
            <a:r>
              <a:rPr sz="1500" b="1" i="0">
                <a:solidFill>
                  <a:srgbClr val="181818"/>
                </a:solidFill>
              </a:rPr>
              <a:t>规格到任务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13FBE7-1A39-46EA-8C39-DE31326D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943350"/>
            <a:ext cx="161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不变量 · 边界 · 任务卡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3AAC0C-76D0-4604-8914-D51A00FF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19350"/>
            <a:ext cx="6286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154F13-D38E-4593-84CE-F67C19AF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81275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5B76B4-9567-4EA7-978C-F884516B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242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81818"/>
                </a:solidFill>
              </a:defRPr>
            </a:pPr>
            <a:r>
              <a:rPr sz="1500" b="1" i="0">
                <a:solidFill>
                  <a:srgbClr val="181818"/>
                </a:solidFill>
              </a:rPr>
              <a:t>两轮 Ralph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6F07AD-ECA7-4E81-B654-FE0DE65E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43350"/>
            <a:ext cx="161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RED · 实现 · 回滚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E61CA5-DAB2-4C66-9001-F8A1E7E1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19350"/>
            <a:ext cx="6286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21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075B19-D3B8-4B9A-A7E0-E8917DCE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81275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475978-F5BF-4EAE-99D2-F9F005CE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242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81818"/>
                </a:solidFill>
              </a:defRPr>
            </a:pPr>
            <a:r>
              <a:rPr sz="1500" b="1" i="0">
                <a:solidFill>
                  <a:srgbClr val="181818"/>
                </a:solidFill>
              </a:rPr>
              <a:t>平台验收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CF8AD0-BA14-4FE2-B461-1DA2BB3F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943350"/>
            <a:ext cx="161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MCP · 回读 ·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2E5942-982F-4D43-9F48-E116BED6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19350"/>
            <a:ext cx="6286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B8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23886F-7171-4C05-B711-68ABAEB2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81275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2F1F29-E717-4C97-B1C2-1BEE89D7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242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81818"/>
                </a:solidFill>
              </a:defRPr>
            </a:pPr>
            <a:r>
              <a:rPr sz="1500" b="1" i="0">
                <a:solidFill>
                  <a:srgbClr val="181818"/>
                </a:solidFill>
              </a:rPr>
              <a:t>GPU 迁移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0E9CA1-CCEE-4ADF-8DBD-1D0B1383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943350"/>
            <a:ext cx="161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同帧证据 · 生命周期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4A3A29-93A1-47C0-AA54-F78FB53D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9296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86C013-4316-4098-8380-D0E79C39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2768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最终交付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38E119-3D81-45F8-ABE6-49313915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57800"/>
            <a:ext cx="794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spec · Task Card · patch · acceptance · progress · evidence · GPU diagnosis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6A121D-6567-483B-9315-2580551D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510DD4-2D32-48F7-9775-59D8035B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最终交付：spec · design · Task Card · patch · acceptance · progress · evidence · GPU diagnosis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2C556B-6AA3-42FD-BCB6-F531F378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02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2980f9e8f54f67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6465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CD42E4-2193-4E94-99B6-3210BEFF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03  开场｜先定义可信交付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6E69E2-D831-4E3D-ACEE-78DA934B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1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87A96-DFC4-4B73-A66F-D6C1AF26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复盘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7F265-AC58-45B2-A9FB-A7EFA67A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复杂任务每轮必须留下六类证据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0ED538-D0D4-43FC-8E48-FC60134E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每一轮只推进一个可验证问题，并让执行轨迹与最终系统状态同时成立。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6EA5FD-2911-4C24-92D7-FB7C337E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D8A67-7545-407B-830B-D2FB2534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14600"/>
            <a:ext cx="21336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F9483-00BD-430B-A400-4C79A6CB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741D9"/>
                </a:solidFill>
              </a:defRPr>
            </a:pPr>
            <a:r>
              <a:rPr sz="1650" b="1" i="0">
                <a:solidFill>
                  <a:srgbClr val="6741D9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ED07AE-D54B-4AA5-9538-FD571309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479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TASK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F792C4-9A37-4F7F-AED2-F208C23C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冻结本轮唯一结果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69296E-497D-400B-BFD2-6CE36C6F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956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C7000B"/>
                </a:solidFill>
              </a:defRPr>
            </a:pPr>
            <a:r>
              <a:rPr sz="2250" b="1" i="0">
                <a:solidFill>
                  <a:srgbClr val="C7000B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80B9C6-93F7-4761-B27F-09E5D754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14600"/>
            <a:ext cx="21336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C953D0-067C-4FD9-9C8D-C1EA1116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67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C7000B"/>
                </a:solidFill>
              </a:defRPr>
            </a:pPr>
            <a:r>
              <a:rPr sz="1650" b="1" i="0">
                <a:solidFill>
                  <a:srgbClr val="C7000B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611CB7-9CF0-4270-83F4-0A62C6F4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6479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C016F8-0DF7-402A-B2B1-C465E331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05150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制造可解释失败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899392-F08A-494F-A3E8-BD95E233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956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C7000B"/>
                </a:solidFill>
              </a:defRPr>
            </a:pPr>
            <a:r>
              <a:rPr sz="2250" b="1" i="0">
                <a:solidFill>
                  <a:srgbClr val="C7000B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1A8F7B-14C6-4356-A10A-A65CA5D6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14600"/>
            <a:ext cx="21336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D3B30E-ADE5-474C-AA4C-1F4F5FC0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67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86FB4"/>
                </a:solidFill>
              </a:defRPr>
            </a:pPr>
            <a:r>
              <a:rPr sz="1650" b="1" i="0">
                <a:solidFill>
                  <a:srgbClr val="286FB4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742E0C-BE2E-4E37-85A3-174BFED2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479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VERIFY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44EA86-5D64-400A-B712-D8DC4D9F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05150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窄测、构建、设备回读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57623E-E6D3-45AF-A541-1EEA2252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956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C7000B"/>
                </a:solidFill>
              </a:defRPr>
            </a:pPr>
            <a:r>
              <a:rPr sz="2250" b="1" i="0">
                <a:solidFill>
                  <a:srgbClr val="C7000B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5CAD54-BD0A-4ACB-9725-1E72C01E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14600"/>
            <a:ext cx="21336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F03292-90E2-4A35-9462-CD73E0E7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67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18B57"/>
                </a:solidFill>
              </a:defRPr>
            </a:pPr>
            <a:r>
              <a:rPr sz="1650" b="1" i="0">
                <a:solidFill>
                  <a:srgbClr val="218B57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1901DE-56DE-40B3-84CC-EB5EF06E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479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LEARN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0B6A94-D484-42F7-97AF-28E6487C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05150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修正假设与下一任务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D1B709-87D6-4BB0-A97F-0F0ADB9C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216CE2-8341-49F0-9958-BD8E3672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每轮只问三件事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8FF87A-E619-42D9-96FB-A7AC99A9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4495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失败是否与目标行为同源？</a:t>
            </a:r>
          </a:p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修改是否保持最小边界？</a:t>
            </a:r>
          </a:p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最终系统事实是否可回读？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AD1907-C1E3-4A1C-9BD8-A43D3670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38600"/>
            <a:ext cx="5619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1E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936296-5530-4A59-A88A-6F445BEA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248150"/>
            <a:ext cx="5162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741D9"/>
                </a:solidFill>
              </a:defRPr>
            </a:pPr>
            <a:r>
              <a:rPr sz="1650" b="1" i="0">
                <a:solidFill>
                  <a:srgbClr val="6741D9"/>
                </a:solidFill>
              </a:rPr>
              <a:t>MCP 负责取证</a:t>
            </a:r>
          </a:p>
          <a:p xmlns:a="http://schemas.openxmlformats.org/drawingml/2006/main">
            <a:pPr algn="l">
              <a:defRPr sz="1650" b="1" i="0">
                <a:solidFill>
                  <a:srgbClr val="6741D9"/>
                </a:solidFill>
              </a:defRPr>
            </a:pPr>
            <a:r>
              <a:rPr sz="1650" b="1" i="0">
                <a:solidFill>
                  <a:srgbClr val="6741D9"/>
                </a:solidFill>
              </a:rPr>
              <a:t>工程师负责判断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3982E6-FBA6-4F17-A1F9-FD6D34C8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439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CB2219-1634-4ABB-B1B0-72E08040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626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本页结论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9BB83E-61C4-487C-B269-05ACF1B7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543550"/>
            <a:ext cx="908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不把“跑过一次”误判为“已经完成”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9580D1-F41C-4974-9460-B8D75E1A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751AF2-3FAA-4838-AB2A-51E7CA98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不把“跑过一次”误判为“已经完成”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69840D-1A5D-4066-9A2D-44C52C7D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03</a:t>
            </a:r>
          </a:p>
        </p:txBody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1de32bf8ef4722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0018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9D4E1F-9B58-43EE-87FE-CD92E6B0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04  第一幕｜需求 → 可测试规格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C4B35E-BF21-4266-8D84-BBC4ECE8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CDFB20-6F60-40CB-94BF-71A7E183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讲解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843E2D-4A57-417D-840C-E74EF0B3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先认识五个对象，再谈“防火墙开关”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BAB06D-7B98-45A1-892D-75832A24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Account、Policy、Intent、Deployment、systemRuleId 的真相来源不同，不能混成一个状态。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2D7EB8-C7DA-4106-8DE7-F14C05AB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821202-8FE6-4206-A087-C4B0380A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1383C0-7FF9-4B2F-939E-57379227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三个控制问题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7A2C06-E767-4784-9CC6-42CC5ABB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C7000B"/>
                </a:solidFill>
              </a:defRPr>
            </a:pPr>
            <a:r>
              <a:rPr sz="1500" b="1" i="0">
                <a:solidFill>
                  <a:srgbClr val="C7000B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169833-AB23-4D8F-B055-F8390581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574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当前覆盖谁？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6EB719-237C-4120-B9A1-81FC287D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194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Account Set 来自 OS account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1C74A5-4337-4BED-9203-81AE5036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6741D9"/>
                </a:solidFill>
              </a:defRPr>
            </a:pPr>
            <a:r>
              <a:rPr sz="1500" b="1" i="0">
                <a:solidFill>
                  <a:srgbClr val="6741D9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001F19-D897-42A8-BE29-3519E276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用户想要什么？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C75FB2-14E6-42C4-B93D-11188A74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Mode / Intent 来自业务输入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866B5D-9C4F-4C9E-8F67-5E8153F4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18B57"/>
                </a:solidFill>
              </a:defRPr>
            </a:pPr>
            <a:r>
              <a:rPr sz="1500" b="1" i="0">
                <a:solidFill>
                  <a:srgbClr val="218B57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0CBCA7-53D0-411D-BF89-543B8015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148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系统实际是什么？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6755D2-BFD7-49AC-AE8A-40601C10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768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Policy / Rules 来自 MDM getter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42EDB8-C38A-4EF6-9CB0-1E96B31E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71700"/>
            <a:ext cx="716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A86BB9-FA36-4DB9-A0BC-D426F0CD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717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778698-1B12-472D-A5D2-550993FF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955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L1 Account 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2B969C-C052-4D89-8018-785BE736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145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6666"/>
                </a:solidFill>
              </a:defRPr>
            </a:pPr>
            <a:r>
              <a:rPr sz="1275" b="0" i="0">
                <a:solidFill>
                  <a:srgbClr val="666666"/>
                </a:solidFill>
              </a:rPr>
              <a:t>账号快照与 signature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965A01-E428-4624-B780-94863D22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48000"/>
            <a:ext cx="716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48E0B8-772E-48DF-B550-3FBC6737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480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663BF6-C88E-4C69-8DBA-6A82687A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718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L2 Policy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987718-5A76-4433-A973-1D30D6F6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908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6666"/>
                </a:solidFill>
              </a:defRPr>
            </a:pPr>
            <a:r>
              <a:rPr sz="1275" b="0" i="0">
                <a:solidFill>
                  <a:srgbClr val="666666"/>
                </a:solidFill>
              </a:rPr>
              <a:t>isOpen 与默认动作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FFF101-90E9-4802-9842-DA44C0E4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24300"/>
            <a:ext cx="716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67322A-F5AD-44C3-B397-8DCF54F2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243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CDD7D5-5253-45A9-86EE-31F51A7D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481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L3 Intent / Deployment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E81170-4D4E-46AA-8FAA-1539631D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671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6666"/>
                </a:solidFill>
              </a:defRPr>
            </a:pPr>
            <a:r>
              <a:rPr sz="1275" b="0" i="0">
                <a:solidFill>
                  <a:srgbClr val="666666"/>
                </a:solidFill>
              </a:rPr>
              <a:t>业务规则与每用户落点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1160E4-67FA-4C2F-9CF5-4355D3C0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00600"/>
            <a:ext cx="716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46BE27-B264-45DA-97EA-C18AFEBA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006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3D1360-7741-429F-8CFC-47644FDD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9244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L4 systemRuleId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C645C3-586F-4F99-810B-0F57BDDC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434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6666"/>
                </a:solidFill>
              </a:defRPr>
            </a:pPr>
            <a:r>
              <a:rPr sz="1275" b="0" i="0">
                <a:solidFill>
                  <a:srgbClr val="666666"/>
                </a:solidFill>
              </a:rPr>
              <a:t>系统资源身份与回滚重映射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A8CC3B-5D95-40E6-BA4C-FD3360BC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829300"/>
            <a:ext cx="716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D7F449-01AC-4F87-86A2-DEA478C8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9626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控制目标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64BBC2-2E3A-4CED-A756-646707AC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9436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目标：先分清对象与真相源，再定义“已应用”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E6ADA3-E7B7-4CCD-ABCB-52988538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B24107-3614-41BD-AA59-3E28C838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目标：先分清对象与真相源，再定义“已应用”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C30AA61-D7A1-4B6A-81D6-9B303B9D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04</a:t>
            </a:r>
          </a:p>
        </p:txBody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48ea6684224913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3731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0F69EF-C072-440A-93F0-AC0C0F67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05  第一幕｜需求 → 可测试规格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E95EA-D509-4F64-A193-7D4D848C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B0D0A-6700-4E72-9C35-2DF01834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E18E6F-A74D-4E3E-ADB0-50D7B315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原始需求的问题不是长，而是决定被藏起来了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25A999-7C6A-4A38-A1BD-5CE13A1A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“先不要改”不是拖延，而是在实现前冻结事实源、失败语义和验收口径。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714E9E-0F86-492E-89A9-08D5B30E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51A20F-B5DB-41EE-8123-BFF806F4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8207CB-790C-4F93-A173-82A34726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真实 Session 原话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B308DF-A406-4F64-B76B-EDE5C295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B04C17-786E-4BCE-9C0D-B5AA1938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必须冻结的四个分叉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76C4E6-7246-466B-BADC-510C2409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READ-ONLY FIRST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02F1D7-3791-4977-8B88-17E2A1D9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030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OPEN DECISIONS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AFCDC8-CD75-49A2-BB00-0E3689D6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7645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3EEC13-B2D3-43E9-BAD5-C0684726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479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用户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8DB5D4-B654-43A2-9C47-142F6E4B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289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先不要改，先看看怎么改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215E47-C87D-48B6-A134-3BE729AE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BA2431-5D73-4A67-B702-732EF3B6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目标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A313D7-0033-487E-B2DD-83359974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4575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实时拿到账号信息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22E113-63F7-45E1-9B7D-70ADA750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9E2391-382B-4175-A4CF-DDA21B01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052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本轮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8C9CEC-0A48-49B4-B79D-F3CF5D73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0862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只输出方案与验收点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520A01-5821-4D5D-903C-95387CD0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BFE9AA-D424-4FE9-B50B-05769CEB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339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禁止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0087BC-6E04-43F2-932D-FFB84DA9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148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凭命名猜 API 或行为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6D24D0-8A7E-4FEA-8548-3A7A5620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479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账号事实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68D4F1-2A58-4845-9DD7-66824516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289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事件参数 / 缓存 / OS 快照？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99CC29-1FF1-47AB-8E1E-9648799E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528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E63591-7630-4847-AD93-43350CF1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766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部分失败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76606E-029D-4F0C-A969-7D887408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575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保留成功 / 整体回滚？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B4CE9B-4102-494D-9128-92AE4BA7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8145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EE8489-5D32-4205-B696-5B585068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052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已应用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5A50FB-4F80-4AF7-9825-A578781C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862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mode / signature / system truth？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E8F34A-3A72-4193-B4EC-EC5E6C9F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101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3F3E28-E2B5-4CEA-AE39-C7A33B6A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339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跨进程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DEC10B-AFFC-4DC9-9C07-F9D960D4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148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Extension 如何通知 UI？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3CA976-F1AC-4FB3-AAA8-B5D93B22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53100"/>
            <a:ext cx="971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CC36FF-BEB3-40A3-A64C-8AA9D7EC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8864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带走一句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DAE72B-E4E4-4F72-8801-60031D23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836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先找会改变状态、调用顺序、补偿或验收的歧义。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8FEE14-6E01-48AA-894C-6C6C7D1D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C9F04BD-B46C-4C87-B89C-85C9425C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先找会改变状态、调用顺序、补偿或验收的歧义。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B7A37E-DC23-4689-B6DA-7131DF87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05</a:t>
            </a:r>
          </a:p>
        </p:txBody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b13a9f24614f72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0061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773120-6B3C-44C3-89B2-2046AC0B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C7000B"/>
                </a:solidFill>
              </a:defRPr>
            </a:pPr>
            <a:r>
              <a:rPr sz="1200" b="1" i="0">
                <a:solidFill>
                  <a:srgbClr val="C7000B"/>
                </a:solidFill>
              </a:rPr>
              <a:t>06  第一幕｜需求 → 可测试规格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71B54-8118-40C2-AD29-09CD46F5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D8AE8-4875-4807-9FA6-E56347F6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实操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AA953D-32F7-42A8-96D9-2DF5DC3E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实践：先让 AI 找分叉，人来冻结语义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C50B6-9110-40BB-B0F4-01C7FD0F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现场先复制约束 Prompt，再区分“AI 可分析”与“人必须拍板”的边界。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F07F59-BE0C-4B0F-8415-F96B1639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CF2E5C-8745-470D-B1E5-42ADE6C2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641985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EB8E69-5153-468C-B5F9-3FA3DF6D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6419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8B8C21-29DD-438F-AD05-85AB49C1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607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PROMPT｜直接复制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DF3EBF-EF77-47B0-B0FD-892E087A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600075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不要设计方案，不要写代码。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只找会改变状态、调用顺序、补偿或验收的歧义。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每项给出至少两个互斥答案及其工程影响。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A06FC5-A5AE-4AC0-B642-FF064149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145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29980C-70E2-45C4-9EAD-73A09432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0955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学员要冻结的五件事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D208BB-B0AE-4BFF-A0FA-1EE7E7C1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657475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事实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2CE3CD-2D62-438A-8BBF-0F90BF01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38425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账号集合以谁为准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612053-6D02-4FCB-A5C9-8A70A988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24200"/>
            <a:ext cx="394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FC091C-05B9-4A7B-8DBD-B62175EC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48025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失败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A20625-138A-4F02-8F13-0E51064E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28975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best-effort 或 rollback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E240AA-A563-40D5-9E35-43D787DD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714750"/>
            <a:ext cx="394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2294F2-F7A0-48E0-9582-2A0CC051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38575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提交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475B82-4CD2-4BA4-8729-4427555F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819525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唯一 commit point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C94A3A-55D4-4075-9998-366FBBF2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305300"/>
            <a:ext cx="394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C17D35-C6E1-49A1-A2EA-2E89602F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429125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展示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6B6E8D-4A8F-4E1E-887C-E9B6EEE1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10075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UI 与系统的口径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EFE2A8-A0CB-4F12-A0EC-162BF128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48250"/>
            <a:ext cx="4114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89AEAA-5027-412F-AE8D-FA4B5621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1816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现场产出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2C8497-6DC5-47D7-9610-EDAFE580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1625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spec.md / Open Decisions；高影响项只能是明确答案或 OPEN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9BB11A-684B-4998-BA88-D45D3831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641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C7000B"/>
                </a:solidFill>
              </a:defRPr>
            </a:pPr>
            <a:r>
              <a:rPr sz="1650" b="1" i="0">
                <a:solidFill>
                  <a:srgbClr val="C7000B"/>
                </a:solidFill>
              </a:rPr>
              <a:t>2 人一组 · 3 分钟找分叉 · 1 分钟全班冻结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AAA9AB-FA74-4969-8B62-367F7418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64530B-E7EC-422E-AAB3-0CFE24C5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现场动作：2 人一组标记“事实问题 / 产品决策”；高影响 OPEN 不得进入实现。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AD8060-1B61-4E72-98C0-76B16631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06</a:t>
            </a:r>
          </a:p>
        </p:txBody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cb33afc35543db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2330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3523FAA-19F6-4264-9A35-821DC367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07  第一幕｜需求 → 可测试规格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5D3855-968B-44C1-A4FE-21B2445A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25CE68-576D-4531-83C8-4DA19B40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讲解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EE7A5-A144-44BB-8C43-C8DCE872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EARS 让一句“自动同步”直接长出测试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7A8366-6E36-450D-AB5F-AFBE4447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把触发、前置状态、系统动作和超时语义写进一句规格，测试边界就自然出现。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BAE42B-D5C9-4D4E-8F23-B39C5184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8EC256-CFBC-4C9D-8104-56A518CB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E03755-1CF8-4A62-A90D-95CD226D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Before：模糊需求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59FD93-4136-4F66-A9C4-3107A2F8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D1408A-23EF-494B-8547-A7CCDA6C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After：可测试规格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5219C4-474F-4423-AD4A-095BEBBE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ONE SENTENCE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2C4A6F-C55C-4BED-A636-4EB953A2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030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EARS / FR-ACC-001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353C5A-FC0A-4994-96A6-0141EEFF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7645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7B2335-227E-460A-B61D-339CBC22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479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原话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E4642A-870E-41DC-B8F8-A34FCFF0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289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新增账号后自动同步防火墙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9B6CFD-0687-42DA-BC8D-D13BEAEA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8DE339-E8DC-459E-8DD8-FA827AE5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缺失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63A329-375B-408C-B658-A5AF0E40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4575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何时读取账号事实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CEF090-0C28-45D9-BC7B-6E167697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78D5AC-906D-4975-A97E-3F646DB7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052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缺失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B478EF-BF18-4CDE-BDD3-5BCDEB75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0862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读不到 trigger 怎么办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C9C598-6725-43C8-A422-02EF0422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4E6D77-C187-4CE1-8F6A-8555F2C2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339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缺失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2D5FB1-67EA-4859-9641-01C3E0BF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148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是否允许旧快照 dispatch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4AF538-717D-4973-A06B-2303366E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479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WHEN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575B37-361F-4A39-939E-9EC06B1B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289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收到 account-added(123)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B5F6A9-D0DD-44C8-946D-0CD82FD2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528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A13C4C-BC99-48EC-B5C7-064039F7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766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WHILE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B4206E-9A84-49D2-8E79-39A4274A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575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public 且 desiredEnabled=true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BD27B8-5F3D-49FE-9C9A-8C3450DE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8145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6469EE-6855-44BB-B34B-CC2D0C88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052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SHALL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2936BF-DBD7-4D71-B4F5-7F3E37B1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862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在包含 123 的快照上重放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4B3874-E50C-4C70-B706-E97962E9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101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3C17D7-0F66-4EA7-82CF-AAD73178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339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IF / THEN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651426-00E8-483B-A5B6-D3415893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148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5 次仍缺失则不 dispatch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80F94C-9491-4F94-8D89-BD2CB466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53100"/>
            <a:ext cx="971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556966-0BEC-4158-A167-1A285F0A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8864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带走一句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CAA956-DD08-4B61-8A61-358CC818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836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规格一旦冻结，RED、GREEN、timeout 和日志字段都能被明确验收。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46871F-B9F7-4CB3-A3B0-1BCAF8AA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DBF8B1-EB0B-4F87-A5F3-E572BB50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规格一旦冻结，RED、GREEN、timeout 和日志字段都能被明确验收。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6B3862-0AA5-4ACA-A2D8-2257B182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07</a:t>
            </a:r>
          </a:p>
        </p:txBody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eedbec912f4dbc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2889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D2DF674-3BC9-48CE-AC2D-3C8A7426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08  第一幕｜需求 → 可测试规格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C78F94-D427-4A19-AFAC-B8E531CD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8AA624-0760-4B80-89C5-BADD0C52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讲解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EE0C75-233A-4360-8AA7-874524BC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行为矩阵先冻结“什么时候回滚”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2F94BF-E531-4144-B258-96A25E65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失败语义不是统一答案：总开关、模式切换、新增规则和编辑 DNS 的事务边界不同。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CB8B07-79FB-4FD4-A7D2-59B18353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70681-CE99-4C3A-97F1-0C7D05F7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BF77E4-A381-4CDB-8FB4-DCBFDE9D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Best-effort 语义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14E3-7595-4D2A-9E8F-AC4FA458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01342E-9941-4525-8E44-E477E8F4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All-or-nothing 语义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08119B-2D62-4F71-95D7-72379FE3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KEEP SUCCESSES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1CEA2F-7AD8-4262-9A72-C10E1D4E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030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ROLLBACK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682175-5F0B-4E57-99B3-C68D28B3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7645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2FBB87-CD7B-49F6-BE56-C917856B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479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重复开启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130748-645A-4E85-9A49-CBEEC8DD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289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UI no-op，不再写系统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D52510-448B-4ED3-A9A8-F8DCA5F6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2B83D3-B43D-4C35-8139-FEBC9D00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总开关失败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C67930-BC30-4921-9F52-25A4451C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4575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成功账号保留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CC0DEA-E8AA-4086-A293-4D500125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59EE20-8666-4024-BB8B-C4747063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052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本地提交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23D201-1844-4D3C-8A08-D379B6D4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0862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不写 desiredEnabled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BF60BF-695F-4521-AD7F-009717DC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06BD5F-06B9-4E6A-AFEA-EFDEBB71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339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结论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6C6BBB-1632-49CB-A4D2-58AB564E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148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允许部分系统状态变化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912886-3904-43DD-A207-D7025E17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479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public + 新账号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9497BE-93E0-4D8C-9A3A-72E3EC99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289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在最新快照上重放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C2AACA-8E39-4FFB-AA68-AEF128C5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528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88385C-67BE-49D3-86C2-7E43177F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766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模式失败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F20C5E-9FEC-4648-89EF-0D245803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575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尝试恢复旧快照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5195E5-887C-4CC5-AD8E-EF4747E8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8145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A0BD5A-89A1-4BB4-98DA-A18C7FA3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052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本地提交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832196-1E60-4893-9B22-B42C6603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862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不写 mode / signature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458444-FA6C-4715-9B75-70AAFA5B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101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7ACB07-2EA8-446C-AAFF-E8CF8C0D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339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重复 signature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64BB8C-4D19-4749-A90B-558F597B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148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幂等跳过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3C612B-DF8A-4A83-8685-97D0483D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53100"/>
            <a:ext cx="971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42C7BD-AB73-41AF-A039-65D95CFC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8864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带走一句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0C1A5D-17F1-45B9-9D7F-7C416171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836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不是所有失败都必须回滚；事务边界先由规格决定。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57B495-8A00-4FD2-B7BA-31E068EB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7C0FD44-B4CD-4D7B-98BC-AB0D0D45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不是所有失败都必须回滚；事务边界先由规格决定。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1DF5D7-9CB5-458E-A5B7-5A67C8F2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08</a:t>
            </a:r>
          </a:p>
        </p:txBody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1cd3233b2a4668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696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2F126F-A2DA-4F20-94CC-807A159C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09  第二幕｜规格 → 可执行任务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D9FE5D-FF03-443A-A6D1-52DF7897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C42F3-5289-4744-AD32-DE33D475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讲解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87F28-DEFD-479E-8BB0-2B5F09A6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五类状态必须分开，才能定义“已应用”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E7CE87-DD3B-45FA-8E81-20570E98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Intent、local apply、system truth、UI projection 与 read error 不能互相替代。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32CDAF-45D3-4C2B-8C8C-EA2FE005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34CA7E-14ED-4025-BAB1-21B9A5A2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31EF15-5346-4B7A-9AF7-43611C4C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不能单独证明成功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FED90-85BC-4961-B355-71EBB480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7B43BE-03AB-4B49-846F-502E547F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最终事实与错误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8BC150-A747-4AC7-ABFB-7467E8BF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PROJECTION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0C9D13-CE48-4897-B048-C10B159C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030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SYSTEM TRUTH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A9B159-A09D-49EA-9D55-0FB4FE61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7645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D1408D-BD12-4A17-961E-D535B540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479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User intent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B72269-A6D5-4C31-92CD-64508CEB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289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desiredEnabled=true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F2A313-E2E4-440C-94A9-125FA9D2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C033E1-DB68-4BE2-96F6-664B6096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Local apply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FA74E5-6D31-40DD-A888-47042F8B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4575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mode=public + signature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3360F5-14CD-491E-9E06-4C97FD79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BBFC48-5E11-4B26-943C-2DC9BFAF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052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UI projection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F9C039-0D0D-4F4B-940E-2CF023EA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0862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开关与模式文案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802D1C-9BE3-4F3C-911C-F4E3D657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819882-1073-41FE-9C82-C77F4DD2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339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风险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1ED94D-4415-452E-B80E-52696F63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148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页面正确可能只是投影正确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815405-6A60-400B-BF55-4AFBBECD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479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System policy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DB9CD2-B698-4819-8591-1468B854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289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每用户 isOpen / default action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D0B50B-3837-4D87-81A4-CB6F899D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528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F1321B-2EA4-4928-8FE3-9CF3FA21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766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System rules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4B1D1C-3A9E-4CCD-8E50-670E33AB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575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每用户规则与数量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D61821-C39C-4E8B-A7D1-1024E6A6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8145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537AEF-EA74-4108-837E-47CF7C14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052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Read error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F4E6BE-6B31-4F67-8371-BF2BE499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862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读取失败必须保留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0EBFC6-E0C1-43DC-ADAA-073BC0D4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101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9094B9-631D-47E9-8235-24BE2A0C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339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结论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5F1BD6-7AD3-497B-B65D-515C7110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148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失败时降为 UNKNOWN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01E3E4-E19C-46A6-A725-184A1EF8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53100"/>
            <a:ext cx="971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C51B2C-5721-4227-A063-DDEAF0E2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8864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带走一句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AE8926F-B4EC-4E1E-AC9F-298FA19A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836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currentMode=public 不等于 public 已覆盖最新账号集合。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AF8541-FDC1-4305-A6E9-95347D00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D84DA8D-4859-4C09-A518-DD9A2E82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currentMode=public 不等于 public 已覆盖最新账号集合。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C9202F-5C1F-4EC7-BD4F-B039D641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09</a:t>
            </a:r>
          </a:p>
        </p:txBody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a27e0bdf324a7a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0978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0DED219-B2E9-4D39-821B-AE4DA60C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10  第二幕｜规格 → 可执行任务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CEF8F2-BC0F-4364-8EE5-00371B09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4E31C-4891-4EEA-A0A7-6FE1C4B2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讲解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5DBB26-5251-485A-842D-5C31DFBC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真相源决定不变量，也暴露当前 GAP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19E0FE-3DE9-4796-854D-C83591BF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把不可破坏的条件写清楚，AI 才知道哪些局部修改看似成功、实际越界。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C5981-DCD3-4639-8A2D-6EF8DC74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049AA3-237F-4341-AD8B-70EDAB68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97CAC9-EFD1-433E-93E6-B5035056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三个判断问题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D8BF02-3EE8-4BF6-B5FB-623BC228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C7000B"/>
                </a:solidFill>
              </a:defRPr>
            </a:pPr>
            <a:r>
              <a:rPr sz="1500" b="1" i="0">
                <a:solidFill>
                  <a:srgbClr val="C7000B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F4756E-797C-49D7-9588-69C50820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574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写操作基于谁？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C227DB-2769-4076-93B4-B68C1869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194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一个明确、已记录的账号快照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1F4C6B-80A4-4965-A059-C8E6B966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6741D9"/>
                </a:solidFill>
              </a:defRPr>
            </a:pPr>
            <a:r>
              <a:rPr sz="1500" b="1" i="0">
                <a:solidFill>
                  <a:srgbClr val="6741D9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7F08F6-3258-4937-BCEE-900C5768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什么时候提交？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35B337-E1CA-4593-AA3C-DB52A6C5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系统操作全部成功后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312388-1E04-4203-8934-5E9C3692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18B57"/>
                </a:solidFill>
              </a:defRPr>
            </a:pPr>
            <a:r>
              <a:rPr sz="1500" b="1" i="0">
                <a:solidFill>
                  <a:srgbClr val="218B57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7404D1-2D13-4E00-BE08-7B77BCBB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148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读取失败算什么？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A20D1E-9979-4F64-925C-7A74A79B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768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不能当成系统确实为空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856A5E-3763-472B-8F9F-95780558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71700"/>
            <a:ext cx="716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898850-6B31-40BE-94B6-D8DB91EF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717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D45F13-607D-4338-9218-BC8793A3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955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I1 快照一致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4F57D0-6B4A-4644-850A-3589DFCF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145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6666"/>
                </a:solidFill>
              </a:defRPr>
            </a:pPr>
            <a:r>
              <a:rPr sz="1275" b="0" i="0">
                <a:solidFill>
                  <a:srgbClr val="666666"/>
                </a:solidFill>
              </a:rPr>
              <a:t>同一轮写操作使用同一账号集合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6959E2-E9A7-43B8-965C-45F32363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48000"/>
            <a:ext cx="716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B5E184-D56C-4BD1-A2C6-16DC3EFD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480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AE5636-C340-444E-AF3D-8D563ADB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718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I2 保留 isOpen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C58DDE-8F22-4B03-8EB1-4DB28791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908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6666"/>
                </a:solidFill>
              </a:defRPr>
            </a:pPr>
            <a:r>
              <a:rPr sz="1275" b="0" i="0">
                <a:solidFill>
                  <a:srgbClr val="666666"/>
                </a:solidFill>
              </a:rPr>
              <a:t>模式切换不覆盖总开关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C39FC4-AA13-4A6F-BB5C-9C1C5AC7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24300"/>
            <a:ext cx="716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2DC400-FADD-43BB-900E-E8236D60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243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7455B9-07C2-4746-99BC-D49F38C5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481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I3 恢复后重映射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1F938B-E1C6-434D-992E-4F47B5B1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671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6666"/>
                </a:solidFill>
              </a:defRPr>
            </a:pPr>
            <a:r>
              <a:rPr sz="1275" b="0" i="0">
                <a:solidFill>
                  <a:srgbClr val="666666"/>
                </a:solidFill>
              </a:rPr>
              <a:t>deployment 指向新 systemRuleId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79FCC5-F3F4-423B-86B7-E2B0BCA2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00600"/>
            <a:ext cx="716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9774D7-7EDF-428F-8981-7A10DBE5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006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921736-F99E-46FA-B020-4A313884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9244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I4 唯一提交点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6518A2-54FF-4633-9F73-07780FE0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434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6666"/>
                </a:solidFill>
              </a:defRPr>
            </a:pPr>
            <a:r>
              <a:rPr sz="1275" b="0" i="0">
                <a:solidFill>
                  <a:srgbClr val="666666"/>
                </a:solidFill>
              </a:rPr>
              <a:t>成功后写 mode + signature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1B1325-05C2-4CE4-8970-485A113C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829300"/>
            <a:ext cx="716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4EB4FC-7D41-4C66-92E6-9A3D19DF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9626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控制目标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F227D0-1762-4096-B009-1AE073C7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9436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CURRENT GAP：系统读取失败仍可能被 fallback 抹成空集合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8651CA-61FC-4B14-B3C7-2F214872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F237E1-C3CC-4381-85A3-9099260E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CURRENT GAP：系统读取失败仍可能被 fallback 抹成空集合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CC7E99-2909-41BF-A0D7-0435C5A5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10</a:t>
            </a:r>
          </a:p>
        </p:txBody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3f15ef2c934d4b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9939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D8DD9F-7FF4-4EFB-9E1D-83AC906F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11  第二幕｜规格 → 可执行任务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DB02E8-E449-4B21-91B9-5C70A91D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DA1B03-FF9F-4AF4-9316-E7991AB8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讲解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084BBC-4C09-4E8A-B419-F86F37FD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进程边界比类图更早决定设计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F7A739-B638-40F4-BB8A-DED41BF1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Extension 和 UI 不共享内存；事件、事务与页面刷新必须分成不同职责。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ADD349-2C3F-4276-8121-9E525E8B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D0623C-650F-4B37-A288-EACBDAA8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37419C-E597-4B80-85FE-DE25FD82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三个边界问题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EEE3B6-58FE-44D5-9BEF-ECDD0B9B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C7000B"/>
                </a:solidFill>
              </a:defRPr>
            </a:pPr>
            <a:r>
              <a:rPr sz="1500" b="1" i="0">
                <a:solidFill>
                  <a:srgbClr val="C7000B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DCCD43-52F0-4B7E-AD13-9CACA59B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574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事件在哪里产生？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056CB2-596E-4A65-9BD5-3E701D8F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194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EnterpriseAdmin Extension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3BEBBF-6ED9-4287-BAA7-281D555E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6741D9"/>
                </a:solidFill>
              </a:defRPr>
            </a:pPr>
            <a:r>
              <a:rPr sz="1500" b="1" i="0">
                <a:solidFill>
                  <a:srgbClr val="6741D9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442CC4-625E-43C3-A59E-5E53F378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事务在哪里执行？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F8D3B4-C491-4D20-986E-8D20B764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Firewall Handler / Repository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A4F2F6-FD4F-4C4D-93FA-DEEAE704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18B57"/>
                </a:solidFill>
              </a:defRPr>
            </a:pPr>
            <a:r>
              <a:rPr sz="1500" b="1" i="0">
                <a:solidFill>
                  <a:srgbClr val="218B57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B4F794-8503-45FA-A655-347A7CE8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148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页面如何得知？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8F4CF7-C032-4C96-A5FF-FBE5C85F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768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CommonEvent + 路由刷新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337904-1399-4ECF-B22A-0A35FE4F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71700"/>
            <a:ext cx="716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F85651-AB8B-43DD-BD6F-CE524467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717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12D5DE-AEC4-47D4-BAB9-B59975E9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955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L1 Extension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F7CC13-0737-4F9B-B797-7230BE6B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145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6666"/>
                </a:solidFill>
              </a:defRPr>
            </a:pPr>
            <a:r>
              <a:rPr sz="1275" b="0" i="0">
                <a:solidFill>
                  <a:srgbClr val="666666"/>
                </a:solidFill>
              </a:rPr>
              <a:t>接收账号变化事件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D0560C-786A-4905-AD3C-20857DF9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48000"/>
            <a:ext cx="716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1DEB1A-1211-4013-88C8-7B1DCE09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480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3819F3-DD21-4E9E-8A7D-FD046481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718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L2 Coordinator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53CCB6-93EE-4CFD-8246-3FBBE843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908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6666"/>
                </a:solidFill>
              </a:defRPr>
            </a:pPr>
            <a:r>
              <a:rPr sz="1275" b="0" i="0">
                <a:solidFill>
                  <a:srgbClr val="666666"/>
                </a:solidFill>
              </a:rPr>
              <a:t>读取稳定快照并调度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1E5E70-27AC-4F51-8A98-0D9D43E2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24300"/>
            <a:ext cx="716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0AA5C0-0A68-413D-A4A9-77B4E2AC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243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1696FF-04DF-4C11-87F4-A1A76A4E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481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L3 Handler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8692C8-9F9C-42B8-97BD-1F2C559F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671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6666"/>
                </a:solidFill>
              </a:defRPr>
            </a:pPr>
            <a:r>
              <a:rPr sz="1275" b="0" i="0">
                <a:solidFill>
                  <a:srgbClr val="666666"/>
                </a:solidFill>
              </a:rPr>
              <a:t>reconcile、补偿与提交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E49FFA-51D2-4200-B692-E47216DA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00600"/>
            <a:ext cx="716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D86F41-5DAA-401E-8F1A-B88E03E9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006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700AFB-5825-4567-A470-55D13854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9244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L4 UIAbility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88B164-124F-4895-B4AE-7F52FABF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434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6666"/>
                </a:solidFill>
              </a:defRPr>
            </a:pPr>
            <a:r>
              <a:rPr sz="1275" b="0" i="0">
                <a:solidFill>
                  <a:srgbClr val="666666"/>
                </a:solidFill>
              </a:rPr>
              <a:t>跨进程消费事实并刷新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F1976E-5DA8-40A7-A640-55506D3F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829300"/>
            <a:ext cx="716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B45D52-91EB-46EC-AB23-D5B1667A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9626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控制目标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C7F785-AF22-4CDF-A822-207936B6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9436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CommonEvent 负责传递事实，不负责 policy / rule rollback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13F71B-A79A-4B83-A331-AD543A7C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141CE5-577A-4BBB-9EA8-C9EBC702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CommonEvent 负责传递事实，不负责 policy / rule rollback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F0E70D-D358-4C11-BB3E-843677A0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11</a:t>
            </a:r>
          </a:p>
        </p:txBody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2a1d6b4e0945ad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4339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1FD722-AC4B-4D59-98DB-C26F5B38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12  第二幕｜规格 → 可执行任务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5E045C-9B8F-499C-A9FB-3BBF7486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75EDF-2964-42C6-8749-77A5D490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讲解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B4821-04CE-4026-B4D1-EF479ACB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一行追踪关系，限制 AI 只改必要边界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5B5EC1-64C5-438B-9C1C-4700BB3A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需求、设计、实现锚点和验证证据必须连成一行，否则任务边界无法审计。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6F0BD-BC5C-4B3F-B1D9-D2CFEDDA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C8664A-D752-406D-9E40-1F1B40F2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67F25A-8DA6-4CB7-98DB-255F1E91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账号稳定快照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5625E9-048C-4D4A-B7E3-1C3A7F56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378DA3-62B7-438F-AA0B-85688F6E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事务与 identity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8BF117-D927-4F65-81BE-D37F775B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FR-ACC-001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05E11B-0777-4B0D-BD8C-361E42B7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030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FR-MODE-002 / FR-ID-001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7BDB3C-F1E1-44EE-852B-34AC9571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7645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DD5D47-D639-4E11-BCAE-6A5D1DBF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479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设计决定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12F1A5-BCFF-4348-824B-DAA7C2A6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289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trigger 可见才有效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4AA198-813F-498D-BCF8-B447B51E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4B1AC0-C46A-4165-BC92-1E43CDA4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实现锚点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EB7ADC-8AB5-4AE5-9DE5-156BD0CA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4575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loadStableSnapshot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0E404B-782A-4241-B841-C463BEFE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1ECB6B-412A-423F-A477-9C94E6D0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052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RED / GREEN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FCE53A-BD4F-4453-8F9F-A966A16B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0862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retry log + handler 次数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CD12B0-F5E4-43FB-840E-F174C5AB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D43374-E210-41F2-B3FF-C3EF004E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339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允许修改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D2E2D4-EB52-43FC-A047-BD7AA7F0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148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Coordinator + 对应测试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5C7A57-63B1-4B9A-8E65-5EDB5877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479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设计决定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79CD52-7B62-4E72-A460-A7C44A2E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289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失败整体补偿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466422-5BD7-4995-B8FF-D3C72EA0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528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0277D3-A40E-4B89-95BB-02E0FD3A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766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实现锚点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B7704F-A313-4195-8F12-499617E6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575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rollbackToSnapshot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F5B19B-1C88-47DD-B4E8-1DF639D8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8145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BA3E97-F507-41FB-A944-DF201FF2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052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identity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2E357D-F9F6-4420-8796-65FD3CFF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862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remapDeployments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D443A7-402F-422E-ABC1-CA63FDE2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101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427C3B-5451-43E1-BDCD-2D4B8156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339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证据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5142C1-DD3C-44E4-BC12-FE855748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148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fault injection + getter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F9218A-7881-4364-A83E-54BEEAAB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53100"/>
            <a:ext cx="971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BE056F-0045-4B40-BA9B-7A3DF206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8864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带走一句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E5AD0F-16E1-4A11-8086-4D1AE144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836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追踪矩阵不是文档装饰，它决定下一轮 AI 可以碰哪里。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A97CCA-B82A-420A-88BA-E7E72063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CFCFC0-F2D4-4C52-BC39-79C03D5D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追踪矩阵不是文档装饰，它决定下一轮 AI 可以碰哪里。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A63A76-0276-4E05-8D8E-5A716EFD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12</a:t>
            </a:r>
          </a:p>
        </p:txBody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07df9c915e4ef2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24127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379C0A-5718-4115-ADE5-8ED23C12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C7000B"/>
                </a:solidFill>
              </a:defRPr>
            </a:pPr>
            <a:r>
              <a:rPr sz="1200" b="1" i="0">
                <a:solidFill>
                  <a:srgbClr val="C7000B"/>
                </a:solidFill>
              </a:rPr>
              <a:t>13  第二幕｜规格 → 可执行任务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DC135-B5E2-434C-8026-25169247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3E67B7-E99A-49A3-8CFE-5BCDCB0F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实操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C3408-5DB5-4B6A-A98C-CFF8C8C0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实践：先做只读勘察，不让 AI 猜代码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2C98F8-C09F-43F6-BA34-44194EA2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T00 只允许搜索与引用；七项输出全部可定位后，才把上下文交给实现轮次。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EA43A3-FD20-49CC-930C-725BC8EB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FB8967-94D4-4831-82D1-C86A7F8B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F9A4AA-59FA-4BF7-95E2-FBC1EB30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T00 / 只读勘察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855FF3-6A07-497D-BCFE-76B0F272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NO PRODUCTION EDIT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F795E6-8CE5-4B12-ABB3-7949C4D2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定位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479E30-F80F-44E5-A37B-7F5ADCE2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8860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入口 / 事实源 / 副作用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3B3445-851A-4504-BF97-8E5E07A0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A5BACE-6422-4FEA-AE02-8F4EE48B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14725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边界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1C136E-0375-4184-A8EC-39F280DC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4956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commit point / 现有测试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7B3992-37A0-41E5-AB8A-7B2326A7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0E1CD6-F0C1-4F60-BDDD-9CFF5EC0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24325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证据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3B44AB-063C-4F03-9563-4A92D2C0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1052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相关提交 / Spec Gap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EBE9DD-CCA3-4504-8A24-5F9B51BF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39C822-8A35-44A6-950D-18A03EB0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33925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禁止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69E20D-8FC5-4634-98D1-3A1212E8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7148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改生产文件；凭命名猜 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177F6C-A851-4AF6-80FC-85056182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76450"/>
            <a:ext cx="569595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3de8a1202b4782"/>
          <a:stretch xmlns:a="http://schemas.openxmlformats.org/drawingml/2006/main"/>
        </p:blipFill>
        <p:spPr>
          <a:xfrm xmlns:a="http://schemas.openxmlformats.org/drawingml/2006/main">
            <a:off x="6503151" y="2209800"/>
            <a:ext cx="4500648" cy="31242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8A0227-39C8-4488-8940-7C9A7828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53100"/>
            <a:ext cx="971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2599F7-6766-4847-9EF5-18D6C506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8864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证据边界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5CB1B5-2A60-4A7F-8C3E-1361EE96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836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通过：每个函数、测试和能力都能在仓库定位；未知项标 GAP，不得编造。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F3BC2E-D25A-43CA-9AF7-6452D9FA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3C6924-22D8-4398-B7CA-F74AE64E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通过：每个函数、测试和能力都能在仓库定位；未知项标 GAP，不得编造。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02FE25-0C7F-46C2-BCB0-027CC73B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13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8eceb25f1a46fc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208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3F359F-E0B8-4A7F-B149-A7338943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C7000B"/>
                </a:solidFill>
              </a:defRPr>
            </a:pPr>
            <a:r>
              <a:rPr sz="1200" b="1" i="0">
                <a:solidFill>
                  <a:srgbClr val="C7000B"/>
                </a:solidFill>
              </a:rPr>
              <a:t>14  第二幕｜规格 → 可执行任务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3AE040-92EF-4FD1-985E-350BEBCE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D08661-045B-4923-8073-B7FD44D7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实操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B69523-0F72-4030-BE54-E9145AF9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任务卡只允许一个可观察结果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F84D98-44C6-4670-9AF1-B62D3165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按可验证依赖切任务，而不是按页面、类或文件数量切。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F4D17-ADB8-472F-9D3E-AC0FD824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9A9ABA-39BF-4CB0-AC1F-260ED128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733425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FFD774-1E1B-4CB5-84CE-9C2C0637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7334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D0B8F-C676-46E2-AB9C-5D1CF36C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699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TASK CARD｜一轮只交付一个可观察结果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6F3D3C-0E53-4E18-957C-DCC6753E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69151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T01 — account-added 等到 trigger 可见</a:t>
            </a:r>
          </a:p>
          <a:p xmlns:a="http://schemas.openxmlformats.org/drawingml/2006/main">
            <a:pPr algn="l"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Requirement: FR-ACC-001</a:t>
            </a:r>
          </a:p>
          <a:p xmlns:a="http://schemas.openxmlformats.org/drawingml/2006/main">
            <a:pPr algn="l"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Allowed: AccountChangeCoordinator + 对应测试</a:t>
            </a:r>
          </a:p>
          <a:p xmlns:a="http://schemas.openxmlformats.org/drawingml/2006/main">
            <a:pPr algn="l"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Forbidden: UI、Firewall Handler、Repository</a:t>
            </a:r>
          </a:p>
          <a:p xmlns:a="http://schemas.openxmlformats.org/drawingml/2006/main">
            <a:pPr algn="l"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RED: [100,112] → [100,112] → [100,112,123]</a:t>
            </a:r>
          </a:p>
          <a:p xmlns:a="http://schemas.openxmlformats.org/drawingml/2006/main">
            <a:pPr algn="l"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GREEN: handler 只执行一次，参数包含 123</a:t>
            </a:r>
          </a:p>
          <a:p xmlns:a="http://schemas.openxmlformats.org/drawingml/2006/main">
            <a:pPr algn="l"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STOP: 窄测/回归绿；diff 不越界；progress 已记录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46A0C8-D4AA-4667-80AA-D96440FE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526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F66DFA-A3A8-4FB2-A681-219AB6B0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336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现场改写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8F2631-20D2-4F47-9C63-3B090D87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28900"/>
            <a:ext cx="2895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81818"/>
                </a:solidFill>
              </a:defRPr>
            </a:pPr>
            <a:r>
              <a:rPr sz="1800" b="1" i="0">
                <a:solidFill>
                  <a:srgbClr val="181818"/>
                </a:solidFill>
              </a:rPr>
              <a:t>把“实现多用户防火墙”</a:t>
            </a:r>
          </a:p>
          <a:p xmlns:a="http://schemas.openxmlformats.org/drawingml/2006/main">
            <a:pPr algn="l">
              <a:defRPr sz="1800" b="1" i="0">
                <a:solidFill>
                  <a:srgbClr val="181818"/>
                </a:solidFill>
              </a:defRPr>
            </a:pPr>
            <a:r>
              <a:rPr sz="1800" b="1" i="0">
                <a:solidFill>
                  <a:srgbClr val="181818"/>
                </a:solidFill>
              </a:rPr>
              <a:t>改写成一张 7 行任务卡。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CEEABC-F510-4B02-A86D-B5CD1285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14750"/>
            <a:ext cx="3048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F37DD8-437F-41A7-A63B-6E84A487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481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检查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D1E20D-E70A-4266-9A36-DA14FFE6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8290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可判断：未完成还是越界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84808A-89DD-42CC-B728-AD794ECA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62450"/>
            <a:ext cx="3048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CEA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9A9E2F-3742-4DF6-B3BC-32085B09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958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C7000B"/>
                </a:solidFill>
              </a:defRPr>
            </a:pPr>
            <a:r>
              <a:rPr sz="1200" b="1" i="0">
                <a:solidFill>
                  <a:srgbClr val="C7000B"/>
                </a:solidFill>
              </a:rPr>
              <a:t>检查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047336-D453-40E9-89FD-A6A8EDA8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4767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禁止“顺便重构”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CE2D36-CA18-4053-9DE6-29FA51D3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10150"/>
            <a:ext cx="3048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ADD80E-4BF8-40AB-84B1-79BF34A4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1435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通过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1EDBD1-691B-42B0-8195-634AF081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1244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测试绿 / diff 不越界 / progress 已写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9B444A-BA53-48E5-B5B4-696B1A5E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BD237A-8337-45FA-B9E7-94BF6368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任务卡限制的是 AI 的自由度，也定义了本轮何时必须停止。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4401F8-4D98-4365-BEC6-52BFF004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14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5ff358177c4d50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81028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26F4A9-38FD-4A74-8143-3CD2349E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15  第三幕｜两轮 Ralph 与故障定位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268B06-AB28-4593-94EA-2C63ADF0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7238D9-D6A0-4BE1-A63C-200D955E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CDF5D2-CBCD-4BD7-8B85-F2E90DDE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Round 1：先看见一个解释得通的 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A6359-D9A2-4B91-B3DF-DA0355F4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真实 RED 失败在目标断言；BUILD SUCCESSFUL 与退出码 0 不能替测试做结论。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BC04B6-3222-45A7-9F58-5D3DC501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37CC4A-6BF5-4764-814B-971217FE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6477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8EEA89-9261-4FC3-9635-499CC884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6477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D355F4-990F-4A4B-8CEF-9CDF7D0D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REAL RED｜用例级失败输出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108EEE-D2D2-4F34-A9EC-B32393B9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60579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ERROR: Error in should wait until added account</a:t>
            </a:r>
          </a:p>
          <a:p xmlns:a="http://schemas.openxmlformats.org/drawingml/2006/main">
            <a:pPr algn="l"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appears before dispatching handlers,</a:t>
            </a:r>
          </a:p>
          <a:p xmlns:a="http://schemas.openxmlformats.org/drawingml/2006/main">
            <a:pPr algn="l"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expect 1 equals 2</a:t>
            </a:r>
          </a:p>
          <a:p xmlns:a="http://schemas.openxmlformats.org/drawingml/2006/main">
            <a:pPr algn="l"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account-change-coordinator.test.ets:77:26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BUILD SUCCESSFUL in 16 s 961 ms</a:t>
            </a:r>
          </a:p>
          <a:p xmlns:a="http://schemas.openxmlformats.org/drawingml/2006/main">
            <a:pPr algn="l"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HVIGOR_EXIT=0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E163C4-BA38-41B2-AF35-8E2AC6D1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33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6B1197-8023-41CE-BF8D-C51E2D5B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145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让学员先判断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A0B8C0-9E5A-4173-A679-3F3A507B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09850"/>
            <a:ext cx="361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81818"/>
                </a:solidFill>
              </a:defRPr>
            </a:pPr>
            <a:r>
              <a:rPr sz="1950" b="1" i="0">
                <a:solidFill>
                  <a:srgbClr val="181818"/>
                </a:solidFill>
              </a:rPr>
              <a:t>构建成功 + 退出码 0，</a:t>
            </a:r>
          </a:p>
          <a:p xmlns:a="http://schemas.openxmlformats.org/drawingml/2006/main">
            <a:pPr algn="l">
              <a:defRPr sz="1950" b="1" i="0">
                <a:solidFill>
                  <a:srgbClr val="181818"/>
                </a:solidFill>
              </a:defRPr>
            </a:pPr>
            <a:r>
              <a:rPr sz="1950" b="1" i="0">
                <a:solidFill>
                  <a:srgbClr val="181818"/>
                </a:solidFill>
              </a:rPr>
              <a:t>这轮到底是 PASS 还是 FAIL？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483886-4C91-4FB3-A502-082FCC7A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76650"/>
            <a:ext cx="3810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CEA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7BD32B-BCE5-45E2-800A-E34AB242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8100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C7000B"/>
                </a:solidFill>
              </a:defRPr>
            </a:pPr>
            <a:r>
              <a:rPr sz="1200" b="1" i="0">
                <a:solidFill>
                  <a:srgbClr val="C7000B"/>
                </a:solidFill>
              </a:rPr>
              <a:t>翻牌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D2681B-42D5-46B1-BA5D-ED63770C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79095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FAIL：目标断言已经失败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6039C4-6C48-4C84-BF46-0C625E99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24350"/>
            <a:ext cx="3810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F7F983-F98E-4FA2-B947-7AD83A8C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577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最早异常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0F20A0-F571-4C5E-9E2E-C2ABB0C4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3865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旧快照只读一次便提前 dispatch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B5E39D-923F-40A7-96D1-41569466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972050"/>
            <a:ext cx="3810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4D59CD-234B-4EDE-A83C-97525756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105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进入实现条件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3295BE-0913-4697-99C2-8A738778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08635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只有目标断言失败；环境与无关用例正常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D8F4E5-1564-49FA-B490-DCEBE07F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E301C4-662E-4E98-AD48-9388F3AD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RED 必须与目标行为同源，环境失败不能推动实现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D67889-4687-405C-9B97-1A6D3203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15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677ace02c14f78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75701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FA1B318-CFF2-46C7-B0EE-5DDD62A0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16  第三幕｜两轮 Ralph 与故障定位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77E926-90E1-425B-A082-2C8E1051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197728-D8CE-48B2-B79E-AF37D085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讲解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9884CC-6C57-4D88-93F0-B80454D2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Round 1：AI 只补最小状态转换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B6F480-726D-438B-A0C7-B3AF3CAA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实现只负责等待 trigger 可见；不改 Handler、不伪造账号、不吞掉读取失败。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CA16CB-9380-44E4-8DE1-3D9D3C88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DC3CE-EC50-4AC6-AA17-F83397A9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EBF618-9F97-49CA-B4D8-302D2787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三个禁止动作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AEA319-E2C8-477B-8FD1-1E634F17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C7000B"/>
                </a:solidFill>
              </a:defRPr>
            </a:pPr>
            <a:r>
              <a:rPr sz="1500" b="1" i="0">
                <a:solidFill>
                  <a:srgbClr val="C7000B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3C0014-6F2A-4994-B542-1FA8CB0E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574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不要改 Handler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BB1E19-8ED7-4991-882D-353A7044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194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本轮只动快照稳定逻辑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4B7B6B-01C8-4308-A2EF-C719F264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6741D9"/>
                </a:solidFill>
              </a:defRPr>
            </a:pPr>
            <a:r>
              <a:rPr sz="1500" b="1" i="0">
                <a:solidFill>
                  <a:srgbClr val="6741D9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6CD880-B2E0-4DA1-AE0D-F33A345D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不要 append trigger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527051-B274-4C3B-9974-1143DCE1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事件参数不是系统事实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0AC4F9-97A7-42E5-BB79-50842D50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18B57"/>
                </a:solidFill>
              </a:defRPr>
            </a:pPr>
            <a:r>
              <a:rPr sz="1500" b="1" i="0">
                <a:solidFill>
                  <a:srgbClr val="218B57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3E4674-5A55-46D8-8616-7F33562B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148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不要吞失败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319020-9212-42F7-A350-106060C8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768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读取失败与空集合分开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6227B6-3755-45B8-AD2D-42FE320A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71700"/>
            <a:ext cx="716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30A933-B3CF-4810-8449-16CED807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717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6AB3B2-5C71-432C-AFE4-EF5DA314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955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S1 EVENT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9395E5-9B8F-4893-ADF2-60B4B151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145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6666"/>
                </a:solidFill>
              </a:defRPr>
            </a:pPr>
            <a:r>
              <a:rPr sz="1275" b="0" i="0">
                <a:solidFill>
                  <a:srgbClr val="666666"/>
                </a:solidFill>
              </a:rPr>
              <a:t>account-added(123)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53FA75-C1BA-4243-90EC-C366ED03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48000"/>
            <a:ext cx="716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F38650-0708-4C91-B47B-DCA26DE6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480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61D13D-8B49-4239-8710-4ECD378E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718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S2 READ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4A2753-F85A-46AE-8BB5-06FEC61C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908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6666"/>
                </a:solidFill>
              </a:defRPr>
            </a:pPr>
            <a:r>
              <a:rPr sz="1275" b="0" i="0">
                <a:solidFill>
                  <a:srgbClr val="666666"/>
                </a:solidFill>
              </a:rPr>
              <a:t>最多 5 次读取系统账号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8CF3BF-207D-43DD-A015-04FE7918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24300"/>
            <a:ext cx="716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668C94-C08E-4A2C-BF59-75E54E01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243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A2B7C6-1B18-4713-8330-5860626E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481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S3 VALID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0E9471-CC91-473B-85F8-25A01D9F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671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6666"/>
                </a:solidFill>
              </a:defRPr>
            </a:pPr>
            <a:r>
              <a:rPr sz="1275" b="0" i="0">
                <a:solidFill>
                  <a:srgbClr val="666666"/>
                </a:solidFill>
              </a:rPr>
              <a:t>快照包含 123 才返回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9C2503-8EE1-402E-A8BC-D721B478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00600"/>
            <a:ext cx="716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72E772-17CD-42D9-BEDB-234B1377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006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C5040F-1E18-464D-B52D-3404017C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9244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S4 TIMEOUT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B5A843-37C0-48EF-B770-CE09D747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434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6666"/>
                </a:solidFill>
              </a:defRPr>
            </a:pPr>
            <a:r>
              <a:rPr sz="1275" b="0" i="0">
                <a:solidFill>
                  <a:srgbClr val="666666"/>
                </a:solidFill>
              </a:rPr>
              <a:t>不 dispatch、不提交旧事实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AEA024-0892-4770-A7A5-CA5077E5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829300"/>
            <a:ext cx="716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C303DC-3132-44D0-B974-EB8B293C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9626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控制目标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D518D1-63BD-4AAD-B9DB-C397C390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9436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最小修改：只补一段可验证的状态转换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E5134D-8A9C-4765-896B-4C3F9AB5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5A16FC-E480-47B2-8D7D-D935AF81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最小修改：只补一段可验证的状态转换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CC3CC36-FC2E-40DD-BDAF-69E66B95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16</a:t>
            </a:r>
          </a:p>
        </p:txBody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519dee35fc41f5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13735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65AB07-B9BD-4410-B84F-D7B22EE1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17  第三幕｜两轮 Ralph 与故障定位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CE97B9-79E2-40F1-8491-70F2723B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6B022B-9387-4874-894A-A976B516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讲解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D25F40-B626-4531-B1A3-33F55E2D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长任务的记忆写在 progress，不在聊天记录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6FD971-66C8-4EEC-8F36-0F6BD622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每轮只加载 spec、当前任务、progress 和 evidence 索引，避免上下文随会话膨胀。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6A849D-1B0D-4023-B751-9CDA1179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16DC56-7108-48CE-9B29-8098877C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6CF172-B4DC-49DC-A5D8-40B6B498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progress.md 本轮记录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7811A6-E00C-4EE0-99D1-339AF1BD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DURABLE MEMORY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C89C43-1E07-4459-96F7-CF40B3CF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假设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528DA0-7AD2-48A6-B173-60EC0530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8860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事件先于账号查询可见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FC69E7-9A48-4182-8A0B-9C5E9A9C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4C6581-7C0F-49E4-BA22-FAE2E9A0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14725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242A5F-9B80-47E6-9D9D-08AD1AD9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4956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前两读无 123，第三读出现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46877A-B687-4919-BCA5-09580F33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5EA8F1-4F74-4DC8-AC60-EFC1A694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24325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新事实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06D268-8AD0-44E5-B6FF-895C5BA3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1052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稳定是 trigger 可见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ED214E-F0E9-492D-B823-F3A65655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1B63F3-1CE7-4360-B17A-177ABF24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33925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Next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6FD975-3F5E-4836-88F7-F2257113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7148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进入故障注入与回滚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780382-ED6A-4A38-8921-38959CE5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76450"/>
            <a:ext cx="569595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97fb1e893e4a39"/>
          <a:stretch xmlns:a="http://schemas.openxmlformats.org/drawingml/2006/main"/>
        </p:blipFill>
        <p:spPr>
          <a:xfrm xmlns:a="http://schemas.openxmlformats.org/drawingml/2006/main">
            <a:off x="6038850" y="2244035"/>
            <a:ext cx="5429250" cy="305573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CCBEEB-227D-4E2F-BB91-BFB8BEC3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53100"/>
            <a:ext cx="971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C2B6A6-F60E-4C49-8634-21F4948E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8864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证据边界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963D1C-66F3-4E0F-ABDF-4CD03A1B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836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任务进度是跨会话的工程事实，不是聊天摘要。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B98B37-4C01-4D7E-9860-E6EE35C0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2FA6BA-0240-4171-92EB-32BF472D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任务进度是跨会话的工程事实，不是聊天摘要。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43E463-CAEE-4C7E-A69C-F141DC13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17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766b7e19454c15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47854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C12CC4-0018-471D-B9E4-510488CC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18  第三幕｜两轮 Ralph 与故障定位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DC57E1-57BD-41B1-A86A-E9602240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5717D-5663-4C88-A21B-A9B42ECA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15FBA0-FC65-467E-8C21-D9775B9E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DEBUG：先找最早异常，不从 UI 倒推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C264BB-E092-4A92-A5F3-9CC080A9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真实 Session 连续推翻三次猜测，最终把问题定位到跨进程传播和局部消费者。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D45760-D9DC-400E-A947-E37A8997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67817A-790A-489D-A309-51422808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FE7E31-C3EC-4AFD-8119-F2DF4395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真实 Session 的四轮假设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E851AF-7393-4FEB-9285-AAFE8F87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86FB4"/>
                </a:solidFill>
              </a:defRPr>
            </a:pPr>
            <a:r>
              <a:rPr sz="1650" b="1" i="0">
                <a:solidFill>
                  <a:srgbClr val="286FB4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C33A20-09CE-47AB-A95A-AE8FDB70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71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1818"/>
                </a:solidFill>
              </a:defRPr>
            </a:pPr>
            <a:r>
              <a:rPr sz="1500" b="1" i="0">
                <a:solidFill>
                  <a:srgbClr val="181818"/>
                </a:solidFill>
              </a:rPr>
              <a:t>刷新慢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4CAF52-C917-4CEA-9DB3-6795F47A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812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延迟 2 秒仍复现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C47CE0-08BF-475A-9C00-C04070F4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812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7000B"/>
                </a:solidFill>
              </a:defRPr>
            </a:pPr>
            <a:r>
              <a:rPr sz="1350" b="1" i="0">
                <a:solidFill>
                  <a:srgbClr val="C7000B"/>
                </a:solidFill>
              </a:rPr>
              <a:t>推翻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D79466-34D7-40B2-985D-4FF7456C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4EF178-AF23-43C6-8D29-DC05CB8F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86FB4"/>
                </a:solidFill>
              </a:defRPr>
            </a:pPr>
            <a:r>
              <a:rPr sz="1650" b="1" i="0">
                <a:solidFill>
                  <a:srgbClr val="286FB4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35C2E1-1AB6-4CA9-B4CC-1A3E4F5B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575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1818"/>
                </a:solidFill>
              </a:defRPr>
            </a:pPr>
            <a:r>
              <a:rPr sz="1500" b="1" i="0">
                <a:solidFill>
                  <a:srgbClr val="181818"/>
                </a:solidFill>
              </a:rPr>
              <a:t>Provider 没读到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24B3E1-0F14-4449-80B7-FED153BF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670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raw=[100,114]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03921E-BFAB-4FAA-8A13-9C171104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670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18B57"/>
                </a:solidFill>
              </a:defRPr>
            </a:pPr>
            <a:r>
              <a:rPr sz="1350" b="1" i="0">
                <a:solidFill>
                  <a:srgbClr val="218B57"/>
                </a:solidFill>
              </a:rPr>
              <a:t>读取成立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53C4FC-84B6-4408-9D58-15643343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B9DF41-3015-45AD-8ACA-41235FB4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C7000B"/>
                </a:solidFill>
              </a:defRPr>
            </a:pPr>
            <a:r>
              <a:rPr sz="1650" b="1" i="0">
                <a:solidFill>
                  <a:srgbClr val="C7000B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69036A-A9FE-42A3-848B-53A04AAF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433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1818"/>
                </a:solidFill>
              </a:defRPr>
            </a:pPr>
            <a:r>
              <a:rPr sz="1500" b="1" i="0">
                <a:solidFill>
                  <a:srgbClr val="181818"/>
                </a:solidFill>
              </a:rPr>
              <a:t>静态状态可通知 UI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48D39E-2689-489D-AB1C-1028B3B0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528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Extension / UI 两进程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0C0AE4-5075-4177-A77C-295FB670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528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7000B"/>
                </a:solidFill>
              </a:defRPr>
            </a:pPr>
            <a:r>
              <a:rPr sz="1350" b="1" i="0">
                <a:solidFill>
                  <a:srgbClr val="C7000B"/>
                </a:solidFill>
              </a:rPr>
              <a:t>推翻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D6911E-201D-4E18-A6E8-8E381AF7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9FB7D5-AF4C-40A4-8ED0-31F09D13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C7000B"/>
                </a:solidFill>
              </a:defRPr>
            </a:pPr>
            <a:r>
              <a:rPr sz="1650" b="1" i="0">
                <a:solidFill>
                  <a:srgbClr val="C7000B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1B0E2A-C42C-4BFB-81E4-09EB3766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291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1818"/>
                </a:solidFill>
              </a:defRPr>
            </a:pPr>
            <a:r>
              <a:rPr sz="1500" b="1" i="0">
                <a:solidFill>
                  <a:srgbClr val="181818"/>
                </a:solidFill>
              </a:rPr>
              <a:t>CommonEvent 已全部完成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82FFE9-A116-486C-AA20-86D32AB6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386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卡片绿，规则/记录未绿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3C744C-87E2-49C5-AA6B-6C8757E3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386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86A00"/>
                </a:solidFill>
              </a:defRPr>
            </a:pPr>
            <a:r>
              <a:rPr sz="1350" b="1" i="0">
                <a:solidFill>
                  <a:srgbClr val="B86A00"/>
                </a:solidFill>
              </a:rPr>
              <a:t>PARTIAL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74DC66-AED1-47AA-8524-E03C5D00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F6392F-0D21-4781-AC80-A5C1DC05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9982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8DEF19-EBA3-4745-B7E1-EDD0E4B5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86FB4"/>
                </a:solidFill>
              </a:defRPr>
            </a:pPr>
            <a:r>
              <a:rPr sz="1650" b="1" i="0">
                <a:solidFill>
                  <a:srgbClr val="286FB4"/>
                </a:solidFill>
              </a:rPr>
              <a:t>最早异常：事实已经产生，但没有跨进程、按职责传播到所有依赖者。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B48DD4-73D9-493C-9554-00BB0272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CCBEF8-93BC-48E8-A00C-1C0432E8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最早异常：事实已产生，但没有按职责传播到所有依赖者。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C1E21B-9AC3-45B1-A6AD-8374F4E0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18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1fa91e86d04ced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01678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7F93ED-E78E-4C81-B109-F8727C69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19  第三幕｜两轮 Ralph 与故障定位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2EEC97-BD77-467B-9C83-088CBE5C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C1E06-7D18-4C45-9C2B-FA80F791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讲解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78A1A1-C626-4E75-A96C-F608FB6A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先由规格决定事务边界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B40A46-C21A-4E90-BD7F-4B77BD6E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总开关允许部分成功；模式切换、新增规则和 DNS 编辑需要不同的补偿策略。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D80D64-4506-4360-B620-B98FEE06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8FB703-B16A-4B48-8BA6-2A15A6AD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1656C1-2B2D-4E6F-876C-0EC6C544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允许部分成功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E44813-25A6-43B5-9118-632AAC5E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BBA440-6270-45B0-9E55-08991906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必须补偿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04BA77-6170-44E8-835F-D653AEC4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BEST-EFFORT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0518B1-E5A9-4525-80A8-DB6FE92F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030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TRANSACTIONAL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EDFF9E-8B15-4D66-9488-D7ACA854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7645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366482-C29F-4E7C-AE63-C0197E9A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479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操作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84AB1A-1315-4AB7-9983-6DB81B52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289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总开关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EB4E14-C2FF-4564-BC25-2CECE442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33A335-1F5D-436C-B4C2-3C9E2630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失败后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086A70-52A8-4CFE-98A5-F3FE3DA9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4575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成功账号保持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48D516-C1FF-4CFD-87A9-D9D42070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621E19-69F5-4687-8A80-037EC172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052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本地提交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AD98D8-8DD0-49F8-89D3-12291A7B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0862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不写 desired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4C40A2-0F11-44B4-9367-D64BECCE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B0C9C7-D094-47A8-9C4B-DD0A7C1A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339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证据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DDB999-8C62-4134-8B47-F17D1F14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148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逐账号原始结果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D47073-222A-44D8-AF19-E53C6381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479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模式切换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717233-9ECC-4429-AD3D-D3548A40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289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失败后恢复旧快照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12AD6F-862A-4C6B-B6F4-72F0D947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528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058D1C-4243-4FD4-98FD-D06DEE02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766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新增规则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4B7AD1-EA3A-45CD-B0EB-B22D7AEF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575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删除已成功 deployment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8BE40E-9CFA-48AE-A33D-141DC9B4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8145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5D761D-6823-4371-A063-589C44EA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052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DNS 编辑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B18BC3-51B8-4DF6-B60D-4EF82122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862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重建旧 DNS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4FF6BC-AB9C-409C-AB71-0ED31579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101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4CD0C4-CD1E-465E-A99B-35CF1919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339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identity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F5227D-8E5A-453A-9948-04B2BB6A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148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保存恢复后的新 ID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8BCE00-2D12-4A3D-8676-EB2C78FB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53100"/>
            <a:ext cx="971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3F88DF-F113-45EA-A54E-30FDCB7A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8864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带走一句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A4DE10-687D-418F-8148-2AE0EC5C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836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同一个“失败”在不同操作中，可以拥有完全不同的业务语义。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F751E7-B064-4020-97FE-5ADD9D0E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A8A2B9-0D87-486A-BC81-47F60FDD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同一个“失败”在不同操作中，可以拥有完全不同的业务语义。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7A60C7-A53C-414A-BCF8-DE3899F2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19</a:t>
            </a:r>
          </a:p>
        </p:txBody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b9f305497e4daa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39973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E3AED1-3619-4F1E-A155-A1666BDE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20  第三幕｜两轮 Ralph 与故障定位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28609-E9FF-4FC2-A8D5-03721EFF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A39E5B-2238-4F88-92D6-B720507A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讲解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3F0DCA-D882-42AB-8640-FA323A1F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成功路径先锁住唯一 commit 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E6E5A-4396-46F6-902F-5A8B18BC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只有系统 policy 与预置 rules 全部成功，目标 mode 和 signature 才能持久化。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DA8C9-A376-49BD-8286-F2512C39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8744D8-0704-4DAE-BC95-54412CC2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14600"/>
            <a:ext cx="21336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DBEAA3-B119-4FD0-A030-AD668C6F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741D9"/>
                </a:solidFill>
              </a:defRPr>
            </a:pPr>
            <a:r>
              <a:rPr sz="1650" b="1" i="0">
                <a:solidFill>
                  <a:srgbClr val="6741D9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E1F834-1506-40F2-9515-66A6E02C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479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SNAPSHOT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C49EEE-77C9-48CF-8333-D507EB69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读取有效账号集合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949DDB-B401-4428-A816-11FB3A62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956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C7000B"/>
                </a:solidFill>
              </a:defRPr>
            </a:pPr>
            <a:r>
              <a:rPr sz="2250" b="1" i="0">
                <a:solidFill>
                  <a:srgbClr val="C7000B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54F0DA-5538-4F63-9B4A-2CA4FA27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14600"/>
            <a:ext cx="21336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16AFD0-F09D-4FF4-8EBB-D0CE6324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67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C7000B"/>
                </a:solidFill>
              </a:defRPr>
            </a:pPr>
            <a:r>
              <a:rPr sz="1650" b="1" i="0">
                <a:solidFill>
                  <a:srgbClr val="C7000B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71D834-A9B5-4817-B238-282FD5CB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6479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POLICY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E05590-63E4-40B7-B6BA-1A144B95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05150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写各用户 Policy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E0D03E-7B7B-4080-BCFC-88E878E9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956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C7000B"/>
                </a:solidFill>
              </a:defRPr>
            </a:pPr>
            <a:r>
              <a:rPr sz="2250" b="1" i="0">
                <a:solidFill>
                  <a:srgbClr val="C7000B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DA0D7C-6DAF-40E7-93F5-B60E9F86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14600"/>
            <a:ext cx="21336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D36CCC-6F08-4AE6-A897-E89124A3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67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86FB4"/>
                </a:solidFill>
              </a:defRPr>
            </a:pPr>
            <a:r>
              <a:rPr sz="1650" b="1" i="0">
                <a:solidFill>
                  <a:srgbClr val="286FB4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42FB8B-F295-4D59-B943-1F07A457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479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RULES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663BC1-4F42-48E1-B45A-F43422DB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05150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下发预置 Rules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B758FA-F5FE-4DF3-8FF9-8B6FB46A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956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C7000B"/>
                </a:solidFill>
              </a:defRPr>
            </a:pPr>
            <a:r>
              <a:rPr sz="2250" b="1" i="0">
                <a:solidFill>
                  <a:srgbClr val="C7000B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6A6122-6B17-4B2D-B23C-D2C55653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14600"/>
            <a:ext cx="21336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3A65A6-E1D0-4184-8C51-44B61800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67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18B57"/>
                </a:solidFill>
              </a:defRPr>
            </a:pPr>
            <a:r>
              <a:rPr sz="1650" b="1" i="0">
                <a:solidFill>
                  <a:srgbClr val="218B57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78F8FA-378B-448D-AE93-59038F18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479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COMMIT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C6C8AF-43FC-4B56-9EA1-6B5160AF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05150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写 mode + signature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7D67F3-554F-4931-9C16-00FED305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7749F4-DB97-496C-8C18-61314A1E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提交前必须同时成立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E3B2E5-C872-4E3F-9B50-71141B88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4495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账号快照有效</a:t>
            </a:r>
          </a:p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所有系统写入成功</a:t>
            </a:r>
          </a:p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没有未处理失败</a:t>
            </a:r>
          </a:p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补偿路径可执行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86952B-2199-4E3A-97AB-F2F31F31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38600"/>
            <a:ext cx="5619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1E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89D910-06CA-471F-9FE3-B67A5E32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248150"/>
            <a:ext cx="5162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741D9"/>
                </a:solidFill>
              </a:defRPr>
            </a:pPr>
            <a:r>
              <a:rPr sz="1650" b="1" i="0">
                <a:solidFill>
                  <a:srgbClr val="6741D9"/>
                </a:solidFill>
              </a:rPr>
              <a:t>绿色节点之前</a:t>
            </a:r>
          </a:p>
          <a:p xmlns:a="http://schemas.openxmlformats.org/drawingml/2006/main">
            <a:pPr algn="l">
              <a:defRPr sz="1650" b="1" i="0">
                <a:solidFill>
                  <a:srgbClr val="6741D9"/>
                </a:solidFill>
              </a:defRPr>
            </a:pPr>
            <a:r>
              <a:rPr sz="1650" b="1" i="0">
                <a:solidFill>
                  <a:srgbClr val="6741D9"/>
                </a:solidFill>
              </a:rPr>
              <a:t>禁止持久化目标 apply state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5BF465-0264-46A8-B8CE-FCBF24FB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439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194A7B-96BD-4490-826F-C4B65A6F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626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本页结论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50D082-542F-4EED-906B-566EB842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543550"/>
            <a:ext cx="908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任何一个系统动作失败，都先补偿旧快照再判断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7F5A2B-EE38-4DA9-9E12-C4B81EA9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98740A-3F64-43A7-8B6B-4DC7AD21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任何一个系统动作失败，都先补偿旧快照再判断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DFD888-C8D7-40FB-8487-25B6BEB3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20</a:t>
            </a:r>
          </a:p>
        </p:txBody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ed9bb61fb348cf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78939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BFBEF4C-80E6-417B-87F5-7FFCAA2D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C7000B"/>
                </a:solidFill>
              </a:defRPr>
            </a:pPr>
            <a:r>
              <a:rPr sz="1200" b="1" i="0">
                <a:solidFill>
                  <a:srgbClr val="C7000B"/>
                </a:solidFill>
              </a:rPr>
              <a:t>21  第三幕｜两轮 Ralph 与故障定位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9ECBB6-5D14-441A-AD56-F24F434B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C3913D-40B5-4895-9C46-4250D479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实操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28AE9A-255B-4B8B-8EFB-44F31368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Round 2：在账号 123 的第 2 条规则注入失败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18E6E0-4A26-472D-887E-749A173D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确定性故障注入用来验证事务语义，不伪装成历史 Session 的原始事件。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E51D03-D857-4BBA-A116-BB2B66AF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CE3B37-B180-4430-9345-E4499F1B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029DA9-C037-40AF-A08A-B7E9B45C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故障注入场景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B4655B-0CCE-4E24-9EF7-A41E2FA2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A11ADA-4D43-4EE9-9969-5BD24660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四个核心断言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F5842B-2129-4109-AA1A-A774D7F9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TEACHING COMPOSITE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A049D3-EF7C-4474-9B53-7BD1CCF1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030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27856D-3A16-43D4-B014-85B9542B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7645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904D1C-9826-4CB2-B720-1BECC0E9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479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初始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17C2C5-BDE7-480D-8042-D498761C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289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public + enabled + [100,112]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6A82FD-DB90-47A3-853D-65509DDF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5A7F1F-394D-4CFA-92D7-3713C5AE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目标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C313FF-890C-4BAC-B5E2-00CDC248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4575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重放到 [100,112,123]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0EE27E-4400-47B4-B697-DCA53DD4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EADB39-F809-4C7D-B967-62F9159F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052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注入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981783-79ED-44C9-B738-3CA107FE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0862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123 的第 2 次 addRule 失败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25E9A0-8FB5-441D-866D-64FAFD73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DA4C50-63B0-4ED1-AA5F-230EF995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339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要求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EDD89F-B574-4CE5-AD6D-17E8C0DA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148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留下可回读的补偿证据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445512-EAF1-4077-BE76-96749090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479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提交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57BB32-81EC-42FF-9505-84257992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289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目标 mode/signature 不提交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D8881D-F181-4E28-A5E4-ADD10941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528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819311-3457-47D2-A9F6-29442AE4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766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恢复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11089F-5DAC-4E05-AFB1-BE0C8B02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575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旧 policy/rules 被尝试恢复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4F7039-F62E-402D-A675-9820E63D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8145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35CF63-270B-4ECA-8F63-118E07C0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052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残留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F2430E-24EC-4FD5-B3CF-B96FF859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862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目标规则不得残留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81E641-C40D-41DA-9894-0E3B991E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101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B4A2AE-BD4D-4D9B-AB42-49CC84E9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339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mapping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8802BC-ADBB-4CCD-9725-F93C9E894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148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指向恢复后新 systemRuleId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F8195D-DE01-4F3E-87CF-CCEE06A2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53100"/>
            <a:ext cx="971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FE3E39-250B-43D7-9357-C0E82F2B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8864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带走一句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8241DD-757B-4EFE-8DAA-3F194D57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836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故障注入必须稳定、可重复，并与冻结的失败语义一一对应。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A8382D6-4607-4FE6-B15C-E08D187C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06A6128-D26B-4625-94D2-752DBCC9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故障注入必须稳定、可重复，并与冻结的失败语义一一对应。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5508600-7727-40B5-B535-B1B25075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21</a:t>
            </a:r>
          </a:p>
        </p:txBody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624aafa0c34c91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91121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EE1C17F-1B15-4A45-B59E-E069AB06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22  第三幕｜两轮 Ralph 与故障定位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5BCB1C-9C65-4E60-9745-67914689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0CF87F-9B37-4D34-8908-8112C9D0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讲解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92E744-EF32-4050-9C11-2AFFAE0A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回滚最难的是 identity，不是把旧对象写回去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478774-3794-44AB-BD05-8F13E12A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业务 intent 保持稳定，但系统资源重建后会获得新的 systemRuleId。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C39BE-7E71-416B-BC16-FBB00751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945862-FA14-44D5-B407-62B9577C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E690D8-4A95-4C0A-A147-903C2196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失败前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E82B60-8436-4586-B080-EF3BB50B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9CC6A6-4F45-43FD-A781-1AC81AC5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回滚重建后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0AEEA6-DD53-41C2-8570-A903559C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OLD RESOURCE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C1AA5E-648D-4395-9787-1AD514C5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030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NEW RESOURCE 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913AAB-4963-4C69-BC7F-5557DAF6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7645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CCD97E-5724-46FD-B967-88842EAB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479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Intent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0F2AE6-BAA6-472C-AEE4-195E78D0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289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R1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B8D90F-B522-4E23-82F5-497EC185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8953DF-9F5D-4E93-9157-223494C4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User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519FF5-5698-4D39-9FE8-565F4E68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4575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100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5F2D95-EB2C-4867-B9FD-DF83043F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811C7F-7165-429E-9C9B-E471AFB3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052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systemRuleId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A8BE20-E146-4309-8D8B-93D30C0F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0862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8001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86DFAF-F7D1-48FA-9E86-98801F9A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BBBB62-1807-4FBD-A90B-62B0DB2C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339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Deployment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E8D2F3-BAA5-4B20-A5B5-9A92A68F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148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R1 → 100 → 8001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614A21-5F27-4F51-827B-E607F5B6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479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Rollback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10CAD1-9D5E-4034-9CC9-7EC71470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289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old 8001 → add again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A52EA0-0C1A-4C2E-9347-8D305FFD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528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B6BB64-1CF6-456B-841B-EAF57141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766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new ID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7807E5-A629-49FC-8ED0-7D76F69E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575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9417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EA16A9-812C-4128-8B04-358AD8F0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8145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E08E4C-E7B8-4721-A4AA-845B7023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052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Intent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B9FB66-16AE-47FB-863D-553D77D2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862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R1 仍然稳定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9271A3-2A13-4ECF-AF16-A02962E1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101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57C617-2103-4585-86AB-45A474E0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339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Deployment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24BD99-6C9A-4288-8E01-4D0AA9E1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148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R1 → 100 → 9417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09DFF6-FAD0-4E24-8BEB-F5032E58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53100"/>
            <a:ext cx="971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11B27E-1FFA-48D1-92B0-7FD88848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8864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带走一句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1B20F8-3E63-4542-9228-3ADF366D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836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业务 identity 要稳定；系统 resource identity 允许在补偿后变化。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4D893D-58A6-4563-BD36-0F8B63CC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49574B-FDC6-4F10-965C-2190010D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业务 identity 要稳定；系统 resource identity 允许在补偿后变化。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47A8C2-72E9-45A5-BFA8-507D5465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22</a:t>
            </a:r>
          </a:p>
        </p:txBody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8f0a88817541c7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38789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7B48B5F-C0F6-40CA-A247-A11C3B8E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23  第四幕｜平台门与系统验收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6443E7-5A05-43F6-A7F2-CF47D117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2D2A39-90F8-438E-8600-E797CAE8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讲解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3E88D-C5BE-4836-8C6F-23FB6410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代码正确之前，先过四道平台门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A52845-E351-437F-ABCC-BF42785E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SDK、权限、管理员和设备条件失败时，结论是 BLOCKED 或 UNKNOWN，不要改业务代码。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E1F3A5-5E93-436F-934A-9D7A2B05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5F7A1B-6A99-4735-81CF-36B55538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03B5FB-98A4-46B1-B1D2-AF482936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开发环境预检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C1BB79-DAE3-4D68-8C4E-7729FAF8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00450D-AEAF-4A8E-AD80-2C398238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运行环境预检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C13181-8CAB-4654-B2D7-BF876F4A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SDK / PERMISSION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CF8B9D-0A1C-4F2E-A2EB-A38F548B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030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ADMIN / DEVICE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BEAF05-F925-4FAE-9927-046B470F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7645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993DD8-245C-4991-825D-552BD8EA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479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SDK /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F9D571-859E-4F0D-8F7B-9C02B782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289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目标类型与 API level 存在？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B142B1-EC7A-499B-88E8-2091C0B0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4834F0-F6A0-4F93-9CC8-C3126BBD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失败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435787-41E3-4838-9AE3-AB2E2E54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4575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BLOCKED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055CC3-363C-43B1-803E-94D263EF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35AC72-3D7A-480D-ABA1-2F2CFC72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052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Permission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14EEA4-5FD7-4B9D-9E9F-A7F2E4FA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0862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权限与签名 ACL 匹配？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6F2F5A-89FD-4352-9DC2-820AD22B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1C0029-37AA-45C8-BFCE-C46FCCD0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339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失败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88956B-663E-4192-B674-FA6792EF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148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BLOCKED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9A7F6C-4C62-4FEA-836C-847118FD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479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Admin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491479-B0CC-499F-918D-6533A6A1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289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企业管理员已激活？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5826C2-7B3A-4B7F-A8A6-A392CE6B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528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853C20-FDCC-480B-83E5-B2E29D5E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766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失败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FE9D54-83B7-4B0F-BEF1-64C84F94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575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BLOCKED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786646-AD01-4095-9E70-7B7B8C2A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8145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028E7C-FE60-42F3-9755-FB3697F8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052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Device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5DE2AD-A316-4E25-A332-8BA57752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862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账号、网络、包版本可确认？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EAFC42-2B37-4845-A8A8-FDF4975A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101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BDE886-CC5C-485A-860F-E8EEA47E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339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失败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837396-8CEA-4CC1-846F-FEA41CA7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148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UNKNOWN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EA0210-F506-4EDB-86C7-5768F57A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53100"/>
            <a:ext cx="971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AADED1-0AA9-4C02-B470-690E4528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8864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带走一句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82A320-4BD2-45FD-8E35-C8EA64C4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836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平台预检失败时，业务 diff 再漂亮也不能形成 GREEN。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B18F46-F9C0-42EE-853B-4EE48524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C4A914-10CD-4794-9EC3-57C63A96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平台预检失败时，业务 diff 再漂亮也不能形成 GREEN。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B653A0-5B1F-4856-8A86-0918BAAA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23</a:t>
            </a:r>
          </a:p>
        </p:txBody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aff6bc66b24df2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0409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546D7D0-C341-4F31-B94F-7D23AEE7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24  第四幕｜平台门与系统验收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76867F-3A42-46C8-870C-AAFA6624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A0ADE0-E4CA-47C8-9967-B93CFC3E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324EB1-48C2-4C8F-87EC-569ADEDA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跨进程事件传事实，业务事务仍留在 Handler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005C04-15B0-4636-80DA-C70F58FF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事件接收、系统读取、业务 reconcile、事实发布和 UI 刷新必须分别记录。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DC3038-84D4-4EE5-BE33-D167D812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AED6A6-83BD-4E08-BAA5-B3FC4F19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CCEF0-2451-48C7-9854-B521F931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真实 Session 纠偏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E8C161-A570-41A9-9D3F-D4214B38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C7000B"/>
                </a:solidFill>
              </a:defRPr>
            </a:pPr>
            <a:r>
              <a:rPr sz="1500" b="1" i="0">
                <a:solidFill>
                  <a:srgbClr val="C7000B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043B2E-2A5E-47B5-9D1A-E2BEBD8B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574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真实纠偏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C8A727-A4E2-4932-9ABD-6947B787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194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“两个进程，静态的传递不行”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376472-237B-487A-BBFE-27207E1F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6741D9"/>
                </a:solidFill>
              </a:defRPr>
            </a:pPr>
            <a:r>
              <a:rPr sz="1500" b="1" i="0">
                <a:solidFill>
                  <a:srgbClr val="6741D9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77DC19-2248-49B1-BF07-57223273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局部 GREEN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631497-73A1-4B7A-90DB-600EEFB1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卡片刷新；规则与记录未刷新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93BBA1-8E13-4D8A-916E-BFE0A2B8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18B57"/>
                </a:solidFill>
              </a:defRPr>
            </a:pPr>
            <a:r>
              <a:rPr sz="1500" b="1" i="0">
                <a:solidFill>
                  <a:srgbClr val="218B57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BE846B-26CD-4719-8339-15398CB2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148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遥测缺口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E48BEB-9357-4DE3-9CBA-668E7C33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768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历史只能按 time/source/signature 关联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135B8B-26F7-4C65-B7DD-2A725146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71700"/>
            <a:ext cx="716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4C473C-9B8F-4FD3-BFD2-A41AAC19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717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03337D-369F-4A70-A8B0-F166D7DE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955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P1 eventReceived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FA3172-EAA1-495D-BC42-EAD53917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145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6666"/>
                </a:solidFill>
              </a:defRPr>
            </a:pPr>
            <a:r>
              <a:rPr sz="1275" b="0" i="0">
                <a:solidFill>
                  <a:srgbClr val="666666"/>
                </a:solidFill>
              </a:rPr>
              <a:t>Extension 收到 account change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B23871-3390-43E5-9CEF-8AD5C96D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48000"/>
            <a:ext cx="716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3B83AC-B254-4695-9FCE-B719BE9F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480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2F5915-4574-4992-B868-275BD988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718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P2 businessSucceeded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484C9E-7318-40CE-B537-A02AB5A6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908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6666"/>
                </a:solidFill>
              </a:defRPr>
            </a:pPr>
            <a:r>
              <a:rPr sz="1275" b="0" i="0">
                <a:solidFill>
                  <a:srgbClr val="666666"/>
                </a:solidFill>
              </a:rPr>
              <a:t>Handler 完成 reconcile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DD914F-F896-44A9-A0A1-1BA75377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24300"/>
            <a:ext cx="716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62E2AA-469B-46F5-B768-BED5CFD5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243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9599A5-3F34-4513-80E7-00AC7CB0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481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P3 factPublished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C66C01-62F2-4BCE-A9E4-CB0C30FC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671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6666"/>
                </a:solidFill>
              </a:defRPr>
            </a:pPr>
            <a:r>
              <a:rPr sz="1275" b="0" i="0">
                <a:solidFill>
                  <a:srgbClr val="666666"/>
                </a:solidFill>
              </a:rPr>
              <a:t>CommonEvent 发布稳定事实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E7B6AD-D166-4A42-A935-46384C7A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00600"/>
            <a:ext cx="716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F40477-29A7-4C4A-A34A-D7B11157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006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95E98D-0977-402C-9865-40C0C128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9244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P4 uiRefreshed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BD7B4D-6EF6-481A-97AD-5A54AD3F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434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6666"/>
                </a:solidFill>
              </a:defRPr>
            </a:pPr>
            <a:r>
              <a:rPr sz="1275" b="0" i="0">
                <a:solidFill>
                  <a:srgbClr val="666666"/>
                </a:solidFill>
              </a:rPr>
              <a:t>所有依赖消费者完成刷新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941491-A7D2-4F13-9BE0-805286BF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829300"/>
            <a:ext cx="716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E372AC-0FC7-4316-8664-D32982C3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9626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控制目标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604694-EB16-4B5E-AF4E-E58FCE07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9436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CommonEvent 解决传递，不自动完成规则重放、记录刷新或事务补偿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A79E93-ABC5-486A-93C2-13F2880D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459F81-F200-4E6D-AE1D-716ABB56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CommonEvent 解决传递，不自动完成规则重放、记录刷新或事务补偿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6C81AD8-5259-4746-954D-DFCF4E06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24</a:t>
            </a:r>
          </a:p>
        </p:txBody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17220a01d940f9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9166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4C2745-8CC3-42CF-8B5E-3A26DCC1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25  第四幕｜平台门与系统验收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83EA3B-0375-4229-82E6-E085AF65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F862BF-D9D4-4585-9C1A-AACBABCF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A7C04E-D3AE-4F1F-B945-2BC2A360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MCP 是证据执行器，不是事实制造器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CBDB8F-CA13-446A-AF72-CFDA5A13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工具成功、业务成功和系统最终状态是三种不同结论，必须分层判定。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A03F80-61F1-4E9C-AF23-0337D9D9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C3A2FB-DDA6-4952-9CDE-3DBF5632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4ECBCF-FC13-4887-8DEE-DAFDD583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Protocol / Tool 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327EA8-5848-4F27-A484-34A3A647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F43B9E-C122-47F0-BFAF-6AA7A78A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Business / System 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7BCE5D-7BCD-4247-8110-C49B52E1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EXECUTION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735718-BEEE-444D-8979-12548D8A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030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E002A2-9D81-4886-A437-6DEF44B4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7645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6C4297-D0E9-404B-B399-3E952A52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479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Protocol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E55D1-2DF6-4BB5-9DA5-02FDE481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289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参数满足 Schema？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467CDF-F636-431D-8F6C-149C203C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F18F76-5CA1-4B3F-8079-E8578A82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Tool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655265-E9FF-42EE-A9F1-7BFC2505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4575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调用返回、退出码、artifact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3BFEED-EEE1-46D2-B4EE-7FC13DB9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FE46B4-9E4B-4F0F-9AE4-1231E11E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052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UI action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4A44A8-7793-43CD-B26C-052FECBF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0862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toggle_firewall PASS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DB589C-8B86-433F-AD11-FDC5912A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0B07E5-8390-46E1-8A67-669B7DA1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339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UI tree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6F1DD9-781D-4BC5-8BF0-17BA68BA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148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false → true PRESENT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94AC71-0861-4FE9-ADB6-C980A424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479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Internal getter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E56D52-6D3B-44F2-AF3A-C2C15D1D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289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getPolicy/listRules PRESENT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6D1C31-217F-4398-9DE1-24C39603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528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71768E-C44C-4B09-9362-4228F1B8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766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Acceptance bridge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DB745E-6684-48DD-BFBF-4491C92E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575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get_runtime_state MISSING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4003E4-C1C6-4A5F-8B07-DA4EE960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8145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1C7259-EB93-45FD-997D-55CD4372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052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System readback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86B204-85A0-4177-A9CE-A8FAACE9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862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per-user policy/rules 缺失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168B7F-F909-4AF0-A4E7-E5AAD0F9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101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5F55FD-E4E6-4D73-B6E3-5AF901A7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339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Final verdict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8E1ADE-AB61-45D5-B26B-90BB7109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148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UNKNOWN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D24697-0AB3-4BE4-A2C9-86963BAA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53100"/>
            <a:ext cx="971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0A995B-EA89-4D85-8C14-811C63FB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8864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带走一句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6761C4-C667-4811-834B-59DF321B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836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用 UI 证据证明 UI；没有系统回读时，不替系统层下 PASS。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374B49-9EAF-4375-B736-6BEEF5D8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2A444B8-0D8B-4F64-AF7B-B33E3331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用 UI 证据证明 UI；没有系统回读时，不替系统层下 PASS。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9F5683-B742-4DA4-9E1F-189F8EB6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25</a:t>
            </a:r>
          </a:p>
        </p:txBody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0e1624797c4164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2682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92D03F-18EF-4842-86E5-9AD9B071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C7000B"/>
                </a:solidFill>
              </a:defRPr>
            </a:pPr>
            <a:r>
              <a:rPr sz="1200" b="1" i="0">
                <a:solidFill>
                  <a:srgbClr val="C7000B"/>
                </a:solidFill>
              </a:rPr>
              <a:t>26  第四幕｜平台门与系统验收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627A21-4325-43C3-8F9F-C9A9812B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7648B1-B4F4-4F31-B8E7-8469DE8B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实操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5F4552-AE93-4509-B506-7BC5CF23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实践：把验收写成可执行的系统契约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61A799-D358-4B29-8524-2692906C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先冻结结构化回读 Schema 与 PASS 规则，再决定是否需要补只读 bridge。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F7B52E-044F-4487-AFDF-1D053F6A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CF638-B720-4546-956C-8F49D86A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6724650" cy="360045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C50F4A-25D8-4BDA-AC4E-D94980CC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67246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AA062E-7F06-46D1-A690-A87CD58A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T03｜STRUCTURED ACCEPTANCE READBACK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2D9160-71D7-488A-ADCE-D2175518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630555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{</a:t>
            </a:r>
          </a:p>
          <a:p xmlns:a="http://schemas.openxmlformats.org/drawingml/2006/main">
            <a:pPr algn="l"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  "result": "PASS|FAIL|UNKNOWN",</a:t>
            </a:r>
          </a:p>
          <a:p xmlns:a="http://schemas.openxmlformats.org/drawingml/2006/main">
            <a:pPr algn="l"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  "accounts": [100,112,123],</a:t>
            </a:r>
          </a:p>
          <a:p xmlns:a="http://schemas.openxmlformats.org/drawingml/2006/main">
            <a:pPr algn="l"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  "mode": "public",</a:t>
            </a:r>
          </a:p>
          <a:p xmlns:a="http://schemas.openxmlformats.org/drawingml/2006/main">
            <a:pPr algn="l"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  "signature": "100,112,123",</a:t>
            </a:r>
          </a:p>
          <a:p xmlns:a="http://schemas.openxmlformats.org/drawingml/2006/main">
            <a:pPr algn="l"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  "users": [{"id":123,"isOpen":true,"ruleCount":4}],</a:t>
            </a:r>
          </a:p>
          <a:p xmlns:a="http://schemas.openxmlformats.org/drawingml/2006/main">
            <a:pPr algn="l"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  "failures": [],</a:t>
            </a:r>
          </a:p>
          <a:p xmlns:a="http://schemas.openxmlformats.org/drawingml/2006/main">
            <a:pPr algn="l"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  "evidence": {"device":"...","timestamp":"..."}</a:t>
            </a:r>
          </a:p>
          <a:p xmlns:a="http://schemas.openxmlformats.org/drawingml/2006/main">
            <a:pPr algn="l"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63F9A0-0697-436C-9159-F34EC0C1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145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69DFA6-88B5-4064-97A5-5DD24410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955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判定规则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5D79E1-364D-4923-A4D7-93E53DF5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71750"/>
            <a:ext cx="3524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1E6932-EB55-4967-AD8E-47AEF7B0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051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PASS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CF27C1-9213-421D-8999-CDA5A6C0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860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系统账号、policy、规则、mapping 全一致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851298-94A3-485B-A5FE-BD56F01D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95650"/>
            <a:ext cx="3524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CEA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46C9A4-BFAB-4825-B5DE-B1779CB6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C7000B"/>
                </a:solidFill>
              </a:defRPr>
            </a:pPr>
            <a:r>
              <a:rPr sz="1200" b="1" i="0">
                <a:solidFill>
                  <a:srgbClr val="C7000B"/>
                </a:solidFill>
              </a:rPr>
              <a:t>FAIL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E70FED-35F2-4A1E-8B3A-9ECBF3B1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099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读到明确不一致或业务错误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707B0D-BC09-4432-B02C-4E557015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19550"/>
            <a:ext cx="3524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491F6E-BDD0-4A59-9678-A85E1E64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529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UNKNOWN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20C58D-80C1-4877-9EFD-12AB13A1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1338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关键 getter 失败或字段缺失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B89D6C-5939-46C2-8E21-58358B49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5300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课堂任务：写 Schema 与判定表，</a:t>
            </a:r>
          </a:p>
          <a:p xmlns:a="http://schemas.openxmlformats.org/drawingml/2006/main">
            <a:pPr algn="l"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不是 5 分钟临时开发 getter。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FE191A-5910-40AB-8085-879B1CD0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CD437F-3729-417D-9336-451A1035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现场产出 JSON Schema + 判定表；不在 5 分钟内临时开发 getter，截图只作辅证。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C4B2B4-BE16-4DA6-AB1A-116DB4C8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26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4a60be07014727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73406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E72FF8-4744-482B-B0E5-092AFF12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27  第四幕｜平台门与系统验收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D44FA4-B570-4C6F-85AD-3C6CE417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1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7FED8F-8513-4764-8598-B3ED8976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复盘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D85351-98B2-42F6-83E5-9911FD48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MDM Checkpoint：交付一条完整证据链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1B82A1-634E-49F0-A634-9E97D9D8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同伴 Reviewer 同时检查执行轨迹与系统 Outcome；Implementer 不能独自给自己打分。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3F7105-E825-4B04-BB2D-9DAD8B15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4AC6A-9491-4AC2-BD7E-B7BF0DF7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5B6C0F-5463-4A5B-88AF-B514B0C0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同伴验收六问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090BE0-BCAB-4081-A9E1-5A18B03A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INDEPENDENT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282E91-CF0F-48AC-98C4-CA8A3368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规格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480978-CF6F-42CC-892D-FBDD67CD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8860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事实、失败语义、提交点冻结？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5C7250-8962-4671-AE71-CDC09EC6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FA75CD-B551-4A7D-BFA9-E31571BB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14725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实现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602F9A-CC5F-4EAB-A5F4-524EEC2D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4956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T01/T02 是否真的 RED→GREEN？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1D97EE-F7B9-4D52-8C46-2A796AF2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F4E08B-D367-4FFB-98F6-497FAC3F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24325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设备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AFE6DD-A406-4C09-9342-7A2B4EBE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1052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真机证据与 UNKNOWN 诚实？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A98CE2-02E0-4858-8705-7B1E1EEC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A4F833-5543-4CB9-9D54-588844F9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33925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边界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890DE5-28C4-40CA-AC56-BFEFFA76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7148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diff 完全落在允许范围？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CCA0D2-4E52-456D-98B4-EAD6E965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76450"/>
            <a:ext cx="569595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c5e20b1af64fb0"/>
          <a:stretch xmlns:a="http://schemas.openxmlformats.org/drawingml/2006/main"/>
        </p:blipFill>
        <p:spPr>
          <a:xfrm xmlns:a="http://schemas.openxmlformats.org/drawingml/2006/main">
            <a:off x="6038850" y="2641277"/>
            <a:ext cx="5429250" cy="2261245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9ADCC2-0D10-462A-BA94-50D332B7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53100"/>
            <a:ext cx="971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5ED9CE-5762-4AD1-8305-FC92A431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8864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证据边界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4E096E-76CD-4347-8D0D-AEE3AC8C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836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Outcome 决定最终结论；Trace 用于解释可信度、复现过程和发现越界。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F881E2-072F-455B-8CB3-E573BCC7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F092E4-61C3-4AF1-B55D-41A0D8C4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Outcome 决定最终结论；Trace 用于解释可信度、复现过程和发现越界。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5B1893-8E31-439B-9FEA-D822D5B0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27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1191709dc44300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944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EF19B9-4898-4244-880C-85B8F1E6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28  第五幕｜GPU 方法迁移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0B027E-8454-442D-AA36-5EF43348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FBB25F-9EF4-4772-A7FD-9E1FBE9A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AC986-E701-4F74-870C-8A1D0A57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GPU 问题先走 Evidence-first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472F37-3250-4DE4-A50A-FB9CE454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看到黑屏先冻结现象和缺失证据，不从症状直接跳到 decoder、shader 或线程。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647D0-B0AE-4CB9-AC7A-AC41E000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A0F93D-B269-456D-A03F-8E4A2D40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AFAC70-78CA-40F2-9B78-FAF980C8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两种复杂任务入口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EABB1B-C737-416F-8A9B-F91D435E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METHOD TRANSFER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50337D-554E-4733-90D2-388A61E2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MDM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0649E2-A718-465E-A27E-CEA73377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8860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需求→规格→RED→系统回读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143E61-B010-4B8F-990B-06BE3DC6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FC987E-50AB-43C5-A22A-0F6C78CB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14725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GPU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4E1ECE-CD0C-4998-8852-42096EAC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4956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现象→帧证据→可证伪假设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1DEB63-88FE-4C7E-8A1A-3F80ABBF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8F47DE-49A2-40FC-BC6D-E1512241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24325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禁止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B609E0-3E5F-44EC-B776-2495E653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1052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从黑屏直接改 shader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50266D-F69F-40F1-9A5E-6408705F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DD9FAA-1F6D-49DC-A459-8B79A801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33925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现场选择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6025D6-65E4-4E07-B620-F358BFF7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7148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哪条证据能推翻你的第一判断？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268299-563B-48C5-A64F-59831E27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76450"/>
            <a:ext cx="569595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9607686af4e6e"/>
          <a:stretch xmlns:a="http://schemas.openxmlformats.org/drawingml/2006/main"/>
        </p:blipFill>
        <p:spPr>
          <a:xfrm xmlns:a="http://schemas.openxmlformats.org/drawingml/2006/main">
            <a:off x="6038850" y="2640806"/>
            <a:ext cx="5429250" cy="2262188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923A5B-9A13-4086-AE8C-F181DCB8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53100"/>
            <a:ext cx="971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3C6BFF-0D21-4D8A-B088-E3D308EA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8864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证据边界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DDD347-A954-4CDC-B29E-96AF9179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836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Evidence-first 不是更慢，而是先缩小搜索空间。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4FB505-86F4-4BC0-9F19-33AC5014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192E0A-46EB-429B-8DC9-5C781981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Evidence-first 不是更慢，而是先缩小搜索空间。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1BBCB8-C03A-4F30-8ACF-ADD39C49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28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a085b227d74f19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189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07E9CE2-568C-4D77-BC67-582A590F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29  第五幕｜GPU 方法迁移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9B97D8-F27A-4AA3-95F6-CF3D29FF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D4102D-61A1-4AFF-B39B-9D46BAA2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讲解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0CEAF2-45BB-4310-814A-62BE3359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先分开两条真实数据路径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83C5E8-35C2-4E0E-999F-30131127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420 与 444 共用输出目标，但输入、retained state 和合成语义完全不同。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AEFE4F-9206-4C87-8857-A2E672C3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5FDEFB-78D3-4E55-AB6F-3C719BD9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8BC7E7-3DF5-447F-872C-A03030A8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三个定位问题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4797E7-CCE4-4440-B26C-3F24D6FE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C7000B"/>
                </a:solidFill>
              </a:defRPr>
            </a:pPr>
            <a:r>
              <a:rPr sz="1500" b="1" i="0">
                <a:solidFill>
                  <a:srgbClr val="C7000B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96EBF5-FB9E-43D2-AE4E-DDF2CB7E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574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命令走哪条 codec？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22D705-0F00-4889-9672-3A9F67E8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194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先证明 AVC420 或 AVC444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652664-7710-4FFB-98E0-D7BF6E99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6741D9"/>
                </a:solidFill>
              </a:defRPr>
            </a:pPr>
            <a:r>
              <a:rPr sz="1500" b="1" i="0">
                <a:solidFill>
                  <a:srgbClr val="6741D9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3C0B19-B762-43FB-A7CA-A662B30F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谁拥有输出？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E7E276-B4DE-4E97-A9D3-2EC55993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RenderOutputOwner 必须唯一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811345-18E7-48D4-9810-5162EC9C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18B57"/>
                </a:solidFill>
              </a:defRPr>
            </a:pPr>
            <a:r>
              <a:rPr sz="1500" b="1" i="0">
                <a:solidFill>
                  <a:srgbClr val="218B57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449A09-8C3B-42BB-83CC-FE86A067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148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最早异常在哪？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4F7FC7-33A5-4EE4-9AF3-6427DCE2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768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decode / queue / retained / present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FD3FB8-EA97-4038-B978-A4EB2C0A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71700"/>
            <a:ext cx="716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D2F9F9-7B31-42C0-9D2D-01402D39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717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91666E-1FE6-4690-82A0-A1155DF2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955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AVC420 decode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EA0B73-1981-4049-A646-711C94B3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145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6666"/>
                </a:solidFill>
              </a:defRPr>
            </a:pPr>
            <a:r>
              <a:rPr sz="1275" b="0" i="0">
                <a:solidFill>
                  <a:srgbClr val="666666"/>
                </a:solidFill>
              </a:rPr>
              <a:t>OH_AVCodec → opaque NativeBuffer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FCF19E-FF8C-4AD7-B83A-E1CA0076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48000"/>
            <a:ext cx="716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6C014C-6F40-41E2-B83A-560DCA4B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480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D94778-15CD-4509-91EE-08D85310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718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AVC420 compose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319C5D-3CD5-4FD9-ACDD-81FB7E9F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908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6666"/>
                </a:solidFill>
              </a:defRPr>
            </a:pPr>
            <a:r>
              <a:rPr sz="1275" b="0" i="0">
                <a:solidFill>
                  <a:srgbClr val="666666"/>
                </a:solidFill>
              </a:rPr>
              <a:t>EGLImage / OES → RGBA retained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F894D6-5BC0-49E0-9B40-3D721478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24300"/>
            <a:ext cx="716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E4C7F9-F656-4798-8F75-8F62C0A5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243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B6CAE8-FA2E-4228-A10E-353F89B1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481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AVC444 decode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394040-088C-493D-9464-33A00431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671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6666"/>
                </a:solidFill>
              </a:defRPr>
            </a:pPr>
            <a:r>
              <a:rPr sz="1275" b="0" i="0">
                <a:solidFill>
                  <a:srgbClr val="666666"/>
                </a:solidFill>
              </a:rPr>
              <a:t>单 Decoder → mapped NV12/NV21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F4F5CA-69AE-46C1-BEF9-D937FB4A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00600"/>
            <a:ext cx="716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D295AA-ED2C-490A-86F6-47F547F6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006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70F83E-2C7D-4E55-9696-2B4F46B7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9244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AVC444 compose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93F419-09B6-4E2B-883E-1A9F47B0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434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6666"/>
                </a:solidFill>
              </a:defRPr>
            </a:pPr>
            <a:r>
              <a:rPr sz="1275" b="0" i="0">
                <a:solidFill>
                  <a:srgbClr val="666666"/>
                </a:solidFill>
              </a:rPr>
              <a:t>LC 更新 → retained Y/U/V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001D20-9E7F-4A01-BC71-E0547CE8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829300"/>
            <a:ext cx="716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451DB8-75BD-456E-8A33-D1F801C2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9626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控制目标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FA741E-C258-440C-BDEB-F0197442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9436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只加载当前 command 实际经过的 codec、consumer 与 owner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2FE91F-74F8-455F-843E-6518571B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54779F-EC35-4624-A15D-DADEF33F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只加载当前 command 实际经过的 codec、consumer 与 owner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9215A7-90E6-4041-8D0D-4AD13F8B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29</a:t>
            </a:r>
          </a:p>
        </p:txBody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dec328570448f8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62518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E7E59F-D8D5-4806-B08A-8F9DA3C9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C7000B"/>
                </a:solidFill>
              </a:defRPr>
            </a:pPr>
            <a:r>
              <a:rPr sz="1200" b="1" i="0">
                <a:solidFill>
                  <a:srgbClr val="C7000B"/>
                </a:solidFill>
              </a:rPr>
              <a:t>30  第五幕｜GPU 方法迁移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96AF5-DB93-4BD0-85A0-4CC406A3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95F2FA-9D98-403A-9577-216D228D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实操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F3C16E-A1C2-4111-BEDC-5EB312CD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实践：用同一个 frameId 还原一帧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E69980-B82D-4910-B438-DB087A80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本轮只补观测，不改 renderer、queue policy 或 fallback；先找 last-good 与 first-abnormal。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39A835-3995-4710-B471-790A27CC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CFE1E5-48AA-4BAC-95B0-211D487A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62103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3A2A3D-540C-4711-A05E-B3213DEB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62103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55FD09-2025-48F1-A6A4-11C97FA0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586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G01｜INSTRUMENT ONLY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A37062-C4F4-4AC4-A058-5559253D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57912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runId sessionId frameId seq tsUs path event pts</a:t>
            </a:r>
          </a:p>
          <a:p xmlns:a="http://schemas.openxmlformats.org/drawingml/2006/main">
            <a:pPr algn="l"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queueDepth queueAgeMs durationUs owner</a:t>
            </a:r>
          </a:p>
          <a:p xmlns:a="http://schemas.openxmlformats.org/drawingml/2006/main">
            <a:pPr algn="l"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targetEpoch result reason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command → decode → retained → EndFrame → present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299640-6C7E-4718-9378-989A66FD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95500"/>
            <a:ext cx="43624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b4e53489d04bfc"/>
          <a:stretch xmlns:a="http://schemas.openxmlformats.org/drawingml/2006/main"/>
        </p:blipFill>
        <p:spPr>
          <a:xfrm xmlns:a="http://schemas.openxmlformats.org/drawingml/2006/main">
            <a:off x="7396163" y="2209800"/>
            <a:ext cx="3743325" cy="24955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4F80F6-D6BB-4CE6-9B6F-3394AD28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054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C7000B"/>
                </a:solidFill>
              </a:defRPr>
            </a:pPr>
            <a:r>
              <a:rPr sz="1650" b="1" i="0">
                <a:solidFill>
                  <a:srgbClr val="C7000B"/>
                </a:solidFill>
              </a:rPr>
              <a:t>四人协同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2BAFED-78CE-47DD-AE32-DD6DA83F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054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1818"/>
                </a:solidFill>
              </a:defRPr>
            </a:pPr>
            <a:r>
              <a:rPr sz="1500" b="1" i="0">
                <a:solidFill>
                  <a:srgbClr val="181818"/>
                </a:solidFill>
              </a:rPr>
              <a:t>A 复现场景   B MCP 抓日志   C AI 同帧排序   D 独立反证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743D5B-0DE3-4417-977E-DDBC1181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108966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E2CFDB-4A7E-4AEE-B25B-0E06DF60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531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产出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4C18D1-AB77-4D63-98E7-AE5082A2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734050"/>
            <a:ext cx="954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gpu-frame-trace.txt + last-good / first-abnormal；本轮禁止改 renderer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1F97D2-5620-400A-8F68-16CA4652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795633-EBDF-4E81-B3CB-D299AC40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四人实操：复现 / MCP 抓日志 / AI 同帧排序 / 独立反证；产出 last-good 与 first-abnormal。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35E1B8-5739-498C-9A06-F18F0AC3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30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6268ed61724a63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5787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9DF36F-5C6A-4DF1-A085-673B509E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31  第五幕｜GPU 方法迁移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7FBBD-C889-4AB7-912E-3B2598E2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37DC14-4379-4E5B-8A4C-905124BD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79A9C1-7CD6-4DC3-BC1D-D7A5011D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指标只负责选择下一层，不替你下结论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77B6C-CE33-41A6-8CD5-25251F30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decode、queue age、compose 和白屏现象只用于选择下一轮验证边界。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4C503-ABD3-415E-9F26-CFE8D997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637532-FDB2-4583-9404-F7EB8336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F40DB-12B7-4DB3-897E-88B3625E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证据组合 → 下一层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F1E789-72C1-4BCB-BAD7-9C231757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ROUTE THE INVESTIGATION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4D6323-5C40-4CA4-8CDD-D45DC2ED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decode 高 / queue 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9F3516-4D8D-4D86-837A-24D412B0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8860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验证 codec 输入与 PTS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ED8221-8C9B-4EB0-BD23-977FABDB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658330-84D2-4FCC-8D87-11AB5985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14725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decode 低 / queue age 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1859EE-F47B-4051-8C49-291E7541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4956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验证 worker 与背压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A04EEA-CDBA-4F1D-8F25-77AB9E2A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04C6BE-AEA0-490C-BF65-C63C3577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24325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compose 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E9543C-5C6B-4E71-ACE2-B8E25BB7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1052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验证 import / shader / dirty rect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F1CA2B-A6B7-4EFB-9C20-DDF33120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E93634-9326-45B1-A7A7-CC8E0B18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33925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全段低但画面白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92FFE0-D358-4CEE-BA52-B94833AC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7148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验证上游内容与 readiness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FC9D4D-459E-4070-AC3B-BE5C91A4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76450"/>
            <a:ext cx="569595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3e5da17f5b45c7"/>
          <a:stretch xmlns:a="http://schemas.openxmlformats.org/drawingml/2006/main"/>
        </p:blipFill>
        <p:spPr>
          <a:xfrm xmlns:a="http://schemas.openxmlformats.org/drawingml/2006/main">
            <a:off x="6410325" y="2209800"/>
            <a:ext cx="4686300" cy="31242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2F9070-14D8-470F-BCE9-9E56871C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53100"/>
            <a:ext cx="971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57D7E6-1A10-4C77-8419-44B2DEF3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8864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证据边界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5EE3DC-5069-4FCB-8927-392F83EB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836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FPS 是结果指标；最早异常 + 分段耗时 + queue age 才能选择修改层。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526BEB-4E9C-4B4E-892D-AD8E8FDB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7D2732-4139-48E8-B0FE-1CB17948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FPS 是结果指标；最早异常 + 分段耗时 + queue age 才能选择修改层。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C259F3-FFA5-4C4C-9C73-5C8C4ECE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31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d53a752a8f40c7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68825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A08767-1DE7-4E0C-9885-FB6E6615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32  第五幕｜GPU 方法迁移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400D97-CF8A-4B12-9DFE-5C1AE124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B27A80-4955-46BC-9017-3DD9A3F2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A4407D-CC51-4492-940C-8D92A4EB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HarmonyOS 适配难在 Buffer 与 Surface 生命周期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996344-178D-4566-8B67-CDD4EE8C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GPU 送显必须同时冻结对象身份、所有权、生命周期和 resize 后的不变量。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53775-434A-4EAA-AB9E-6F84BCD7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191163-3F5B-4530-A64B-CB23899E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145614-235F-47D5-9385-D6EE8363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四个移植边界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946134-F7B2-41A0-8284-9DA82893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BUFFER / SURFACE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BB787A-1B0E-4CC8-AE20-27305ED7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Codec 输出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A0FC51-4A89-4097-95B8-BC8E896D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8860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callback / PTS / NativeBuffer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A15995-BDBD-4550-BD20-F6572293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86609C-4716-4207-B52E-4A878A4F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14725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GPU 导入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5DDBFF-CE07-4193-B5F2-8B041689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4956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format / stride / planes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02CA34-083B-479F-A024-3E782679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EA1129-92A1-49DC-BB7C-755D29A7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24325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输出目标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8FB98E-FF08-48D8-8CAC-988C9A00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1052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create / resize / destroy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EBADC7-EA91-428D-9552-5FE77179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8358CD-D75F-4755-B6E7-372896B1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33925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失败回退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47052E-348C-4E75-B016-B70D19E6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7148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释放 owner，恢复 GDI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0DD3BF-C4E3-4EA8-A296-03EDD5A8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76450"/>
            <a:ext cx="569595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6b83f203774199"/>
          <a:stretch xmlns:a="http://schemas.openxmlformats.org/drawingml/2006/main"/>
        </p:blipFill>
        <p:spPr>
          <a:xfrm xmlns:a="http://schemas.openxmlformats.org/drawingml/2006/main">
            <a:off x="6410325" y="2209800"/>
            <a:ext cx="4686300" cy="31242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B02505-1E02-4FA8-87D3-36D69A42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53100"/>
            <a:ext cx="971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AAAC36-B321-4DCE-B984-0C9B726C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8864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证据边界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C8DB3B-24B4-462C-AE82-2AC04CC0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836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retained 尺寸、target 尺寸和 surface generation 必须同步变化。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463B2A-A7DE-4166-B4FB-F1229417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45F2AC-E9F4-4AE2-97FD-23B42CC8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retained 尺寸、target 尺寸和 surface generation 必须同步变化。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809FED-8063-487C-B78D-D86638F1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32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6f5757ccaa4542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24630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A99BF09-C4B1-43D4-8D54-1DD2A24D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33  第五幕｜GPU 方法迁移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8BEFB6-CD1A-4901-82C3-7E9AD416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145B58-42DA-4456-9CD4-AAC429B0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讲解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D6D118-F988-46AE-8D48-9202CE81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项目里其实是两层、三套 OH_AVCodec 接入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F98D5C-7104-4722-A3F2-23EA1BB6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先证明当前命令进入哪套接入，再获得修改对应文件的权限。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B8CAF-3986-4263-BD08-9FADBB7A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623B8D-49D7-45EE-A10B-F54BDB27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9871AC-2522-44D8-ABF7-C3737829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FreeRDP codec subsystem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47234A-5FD8-4134-A1C5-7B5DEF44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091462-C468-4FFB-9AE3-FD24A17A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App compositor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EFFDA1-7901-41B4-BE68-E3A3D4D2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NATIVE GDI / FALLBACK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945341-335C-45E0-8263-898A4AC5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030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420 + 444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42FD4B-CA3D-4D10-9BEE-481198F4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7645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0224AC-9B09-4C2C-971A-08992BF3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479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接入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A6E488-032D-4FAE-985F-E8BFDCDD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289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h264_ohos_decoder*.c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1DA59A-E8AB-4CB2-847E-37E0BFF9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E53922-2192-4FE7-82FA-52D640BC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角色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5828F0-DF39-4D74-99F9-A7042D7B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4575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原生 GDI decode / fallback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0C0326-77B2-4252-B6B3-2548C37B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98343F-0AAF-4D3F-8319-8D015B95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052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公共生命周期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BBA68A-6A4A-41ED-BE22-FD764711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0862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create→configure→start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0BACC8-86EE-45DD-A8CB-DE09F41D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81F4BA-E2CF-4B83-A2BA-FA6AC93A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339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修改前提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5D1D30-DE8C-46C3-97F4-578B04CD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148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命令确实经过该路径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BAD678-1EE5-45E6-84A6-B23880E8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479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AVC420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0776E0-0F30-4F9C-ADAA-1153B76B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289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opaque NativeBuffer → EGL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42D226-4E97-4762-83EE-F23575A4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528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D0B405-A05F-4118-A974-E0E8314C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766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AVC444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91EB7C-5B10-4298-9C91-67B45716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575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mapped planes → LC 合成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F60C9F-0072-4F09-AF8C-2A2AFA77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8145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4E8722-7408-43F6-823F-60BABA92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052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公共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0B7BF5-D641-4EE1-B0F6-C8EC8FFB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862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callbacks / input / output / reset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32274D-39E6-4330-AE30-F7FFB081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101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07AA9D-9F26-4C48-A835-8CA476EC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339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不同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66655D-09AA-4505-A613-651D7ACA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148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retained 与合成语义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567AA5-C8ED-4ED0-B45D-8AB3A104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53100"/>
            <a:ext cx="971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047FEB-C5A5-4531-90AB-2C856050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8864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带走一句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2F85C1-E97A-41CA-AA1E-39A8D6D6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836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公共的是 codec 生命周期，不是 420/444 的实现假设。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BA7764-0CE1-4331-9CF3-3669D640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5F3FB9-C24F-4290-9998-1335FED3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公共的是 codec 生命周期，不是 420/444 的实现假设。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AAC216-62B0-4DA2-9C56-D46AFAE8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33</a:t>
            </a:r>
          </a:p>
        </p:txBody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488923c2494cd5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5637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5648E5-6F93-4D71-9F00-0F1E884F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C7000B"/>
                </a:solidFill>
              </a:defRPr>
            </a:pPr>
            <a:r>
              <a:rPr sz="1200" b="1" i="0">
                <a:solidFill>
                  <a:srgbClr val="C7000B"/>
                </a:solidFill>
              </a:rPr>
              <a:t>34  第五幕｜GPU 方法迁移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D7AE86-48D5-4152-A10C-A3F9E5D0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5AE38-BDF8-4CBD-A853-D4FD6EC4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实操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1C8E29-00E1-4996-88EF-A045BA3F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实践：420 验证 import，444 验证 plane math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A5E2AC-EA80-474C-952E-0BA5CDBB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漂亮色块只能证明视觉一致；import 成功和 plane math 正确仍要结构化证据。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D3BB7C-467D-4DCE-B677-809E81B5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E621FD-8C25-4E45-9C7B-873450AD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554F51-3A92-4C21-A0A6-E19D9494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AVC420｜验证 import 与 dirty rect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D0BE85-6A0A-43AD-B56F-0987B8BF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46863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81818"/>
                </a:solidFill>
              </a:defRPr>
            </a:pPr>
            <a:r>
              <a:rPr sz="1500" b="0" i="0">
                <a:solidFill>
                  <a:srgbClr val="181818"/>
                </a:solidFill>
              </a:rPr>
              <a:t>EGLImage + OES 成功</a:t>
            </a:r>
          </a:p>
          <a:p xmlns:a="http://schemas.openxmlformats.org/drawingml/2006/main">
            <a:pPr algn="l">
              <a:defRPr sz="1500" b="0" i="0">
                <a:solidFill>
                  <a:srgbClr val="181818"/>
                </a:solidFill>
              </a:defRPr>
            </a:pPr>
            <a:r>
              <a:rPr sz="1500" b="0" i="0">
                <a:solidFill>
                  <a:srgbClr val="181818"/>
                </a:solidFill>
              </a:rPr>
              <a:t>8×4 棋盘格只更新 rect (2,1)-(6,3)</a:t>
            </a:r>
          </a:p>
          <a:p xmlns:a="http://schemas.openxmlformats.org/drawingml/2006/main">
            <a:pPr algn="l">
              <a:defRPr sz="1500" b="0" i="0">
                <a:solidFill>
                  <a:srgbClr val="181818"/>
                </a:solidFill>
              </a:defRPr>
            </a:pPr>
            <a:r>
              <a:rPr sz="1500" b="0" i="0">
                <a:solidFill>
                  <a:srgbClr val="181818"/>
                </a:solidFill>
              </a:rPr>
              <a:t>PASS：rect 内变化，rect 外 hash 不变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26D5F9-0591-4AFC-8B82-12B1065C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42623E-718B-4AA3-99F2-AD98710F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AVC444｜验证 runtime plane math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9D3735-D2F7-4D84-BD07-9C1C30BE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46863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EE918E-020B-4465-AAED-411D22B9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46863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407F7F-9B57-4BEF-9278-A2ABB886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8×4 NV12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7C934B-39F8-4A12-A167-CDF6CDEB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00650"/>
            <a:ext cx="4267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Y: offset=0 / stride=16</a:t>
            </a:r>
          </a:p>
          <a:p xmlns:a="http://schemas.openxmlformats.org/drawingml/2006/main">
            <a:pPr algn="l"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UV: offset=64 / stride=16</a:t>
            </a:r>
          </a:p>
          <a:p xmlns:a="http://schemas.openxmlformats.org/drawingml/2006/main">
            <a:pPr algn="l"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Y(5,2)=37；U=84；V=85</a:t>
            </a:r>
          </a:p>
          <a:p xmlns:a="http://schemas.openxmlformats.org/drawingml/2006/main">
            <a:pPr algn="l">
              <a:defRPr sz="1350" b="0" i="0">
                <a:solidFill>
                  <a:srgbClr val="F4F4F4"/>
                </a:solidFill>
              </a:defRPr>
            </a:pPr>
            <a:r>
              <a:rPr sz="1350" b="0" i="0">
                <a:solidFill>
                  <a:srgbClr val="F4F4F4"/>
                </a:solidFill>
              </a:rPr>
              <a:t>错误：UV=32（忽略 stride）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824864-7C10-4854-B392-6DEB20F7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554355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3c9eaef2e24445"/>
          <a:stretch xmlns:a="http://schemas.openxmlformats.org/drawingml/2006/main"/>
        </p:blipFill>
        <p:spPr>
          <a:xfrm xmlns:a="http://schemas.openxmlformats.org/drawingml/2006/main">
            <a:off x="6234113" y="2228850"/>
            <a:ext cx="4886325" cy="32575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930EA7-080C-40F0-982D-755A7F6C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772150"/>
            <a:ext cx="55435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C3C731-B704-4E2D-B263-BDF8B932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9055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通过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99948F-B331-4DD8-966D-B12D454B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8864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420 有 import+rect 证据；444 有真实 planes+格式+无越界检查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903409-74DE-44C3-8610-FF77E8DE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83BE7C-B9AF-4C2B-B299-AB7EC786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通过：420 有 import+dirty rect 证据；444 有真实 planes+格式+无越界检查，二者不可互证。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C0C9FE-7407-465B-8F09-6FE1B155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34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f43d322e154761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89207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AAFA7F-B6E1-4F51-BF34-432C3BBA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35  第五幕｜GPU 方法迁移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CC5BB-63F3-4409-947C-30DEBD56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CEDE90-51E5-463E-8BBA-B670D371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讲解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80F0E4-3CCE-478E-9F2A-C5E7A562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AVC420 先有可信背景，才能接管输出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ADF3AF-D59B-4B7E-9294-FDD6D337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对象存在不等于内容 ready；首次 takeover 前必须证明完整 surface 或可信同尺寸 GDI base。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9BDE68-6C1B-47E3-89D8-AB45B1E3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AB08A9-2001-4D80-AA91-872DFDC8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14600"/>
            <a:ext cx="21336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D432F3-8844-402F-AC3B-D7D16990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741D9"/>
                </a:solidFill>
              </a:defRPr>
            </a:pPr>
            <a:r>
              <a:rPr sz="1650" b="1" i="0">
                <a:solidFill>
                  <a:srgbClr val="6741D9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546230-3C54-47C1-9029-448DE4D9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479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COMMAND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9F523D-38EC-4D8C-AF7F-9E76EFAB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收到 AVC420 update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7747EC-9F53-4419-9E53-C79D6121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956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C7000B"/>
                </a:solidFill>
              </a:defRPr>
            </a:pPr>
            <a:r>
              <a:rPr sz="2250" b="1" i="0">
                <a:solidFill>
                  <a:srgbClr val="C7000B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22A4B6-8FDB-4A51-96B2-15B3FE2D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14600"/>
            <a:ext cx="21336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902751-ECC4-482E-A980-89FEF170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67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C7000B"/>
                </a:solidFill>
              </a:defRPr>
            </a:pPr>
            <a:r>
              <a:rPr sz="1650" b="1" i="0">
                <a:solidFill>
                  <a:srgbClr val="C7000B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BEBFE4-350D-415B-8DBF-3824DA72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6479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BASE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250D45-C138-4E8D-81D7-3CE48324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05150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full surface 或可信 snapshot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6D6BFF-F348-4D7E-9F0F-38809893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956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C7000B"/>
                </a:solidFill>
              </a:defRPr>
            </a:pPr>
            <a:r>
              <a:rPr sz="2250" b="1" i="0">
                <a:solidFill>
                  <a:srgbClr val="C7000B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E8603D-1E91-4428-A770-8F781748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14600"/>
            <a:ext cx="21336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B65A52-BF8A-4C56-A4A0-94C1B777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67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86FB4"/>
                </a:solidFill>
              </a:defRPr>
            </a:pPr>
            <a:r>
              <a:rPr sz="1650" b="1" i="0">
                <a:solidFill>
                  <a:srgbClr val="286FB4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AC4C5C-8D7F-4E6B-998B-439FBAF6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479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COMPOSE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9A1F69-803C-4062-BE09-7CF593EC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05150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同步 decode / composite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9AC6F7-FD8C-422D-991F-A5275F25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956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C7000B"/>
                </a:solidFill>
              </a:defRPr>
            </a:pPr>
            <a:r>
              <a:rPr sz="2250" b="1" i="0">
                <a:solidFill>
                  <a:srgbClr val="C7000B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BB227A-D054-4573-8B67-DCDE69A4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14600"/>
            <a:ext cx="21336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B82F93-5A02-41E4-9EAD-4925D87A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67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18B57"/>
                </a:solidFill>
              </a:defRPr>
            </a:pPr>
            <a:r>
              <a:rPr sz="1650" b="1" i="0">
                <a:solidFill>
                  <a:srgbClr val="218B57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B99B09-BE98-4467-ACB2-4070E1E7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479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CLAIM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DEDDCC-C05B-46CE-9552-7FFE97E3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05150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Avc420Gpu owner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FBB757-A7B8-49B3-909F-12932630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48DB4F-5B94-48CE-9C9A-8A71258F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接管前的不变量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816DAE-C16B-4943-B679-4E5EDDD6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4495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覆盖完整 Surface？</a:t>
            </a:r>
          </a:p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有同尺寸可信 GDI snapshot？</a:t>
            </a:r>
          </a:p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retained state 是否 ready？</a:t>
            </a:r>
          </a:p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当前 command 数据是否仍有效？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605588-1FAA-40CE-90DD-DF999065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38600"/>
            <a:ext cx="5619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1E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FA4447-01EE-45BA-AFD1-33E8B3AD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248150"/>
            <a:ext cx="5162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741D9"/>
                </a:solidFill>
              </a:defRPr>
            </a:pPr>
            <a:r>
              <a:rPr sz="1650" b="1" i="0">
                <a:solidFill>
                  <a:srgbClr val="6741D9"/>
                </a:solidFill>
              </a:rPr>
              <a:t>没有可信 base</a:t>
            </a:r>
          </a:p>
          <a:p xmlns:a="http://schemas.openxmlformats.org/drawingml/2006/main">
            <a:pPr algn="l">
              <a:defRPr sz="1650" b="1" i="0">
                <a:solidFill>
                  <a:srgbClr val="6741D9"/>
                </a:solidFill>
              </a:defRPr>
            </a:pPr>
            <a:r>
              <a:rPr sz="1650" b="1" i="0">
                <a:solidFill>
                  <a:srgbClr val="6741D9"/>
                </a:solidFill>
              </a:rPr>
              <a:t>就不 suppress GDI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21EFB3-FC3B-4D12-919A-4D54949C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439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C89B3B-284B-47F1-B77F-C09E5B32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626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本页结论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3F8B71-DDD8-4312-9CE9-798BC00F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543550"/>
            <a:ext cx="908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进入 Active 后才允许深拷贝 stream / rect 并异步入队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DA706D-E83D-41D7-BFE8-14EC3C77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291C2F-A6EF-4767-AE4C-5840AB56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进入 Active 后才允许深拷贝 stream / rect 并异步入队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C98DF2-A767-4DAF-AA4A-0B9F24CD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35</a:t>
            </a:r>
          </a:p>
        </p:txBody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490fcc55d24628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47731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45CE53-A459-4A9C-84A2-A27FBA7D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36  第五幕｜GPU 方法迁移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D753EC-01A1-4F5C-BA8C-81399676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1D997C-227D-457C-8AD0-F95B44A6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讲解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A3DAB0-A6FB-4EA7-B311-78737B57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AVC420 的稳定性来自状态与顺序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B73119-B4C7-4437-BCF1-4D770DB7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队列、owner 与 fail-open 必须有明确状态和停止条件，不能靠清 cache 掩盖顺序问题。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424FAC-897A-40C1-BC14-C3893FAD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000C89-2A45-447F-A3E9-527503C8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480B18-A30A-45D9-B60C-3EB25173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三个审查问题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D3A5D4-A7B4-4379-9288-2C75090D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C7000B"/>
                </a:solidFill>
              </a:defRPr>
            </a:pPr>
            <a:r>
              <a:rPr sz="1500" b="1" i="0">
                <a:solidFill>
                  <a:srgbClr val="C7000B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1AA1C7-BFB7-419A-BEEC-BA49913C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574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当前状态？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5672F8-E137-4966-AEE6-62C4AA7E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194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Detached / Active / TargetPaused / Failed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7812DA-CCD0-4E71-959F-CB2CF161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6741D9"/>
                </a:solidFill>
              </a:defRPr>
            </a:pPr>
            <a:r>
              <a:rPr sz="1500" b="1" i="0">
                <a:solidFill>
                  <a:srgbClr val="6741D9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2605A0-4275-44E7-BEAE-AE64C069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队列是否保序？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508FCB-D015-46E7-8B7F-3750D166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压缩 backlog 后仍可能同步越序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91DAE9-D1E0-4FEF-889D-48588C94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18B57"/>
                </a:solidFill>
              </a:defRPr>
            </a:pPr>
            <a:r>
              <a:rPr sz="1500" b="1" i="0">
                <a:solidFill>
                  <a:srgbClr val="218B57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ECC6CF-C3CF-41B7-93AA-2B4A3078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148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fail-open 证明什么？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00AE74-4D1E-42AD-9E9E-2AA841F9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768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6666"/>
                </a:solidFill>
              </a:defRPr>
            </a:pPr>
            <a:r>
              <a:rPr sz="1200" b="0" i="0">
                <a:solidFill>
                  <a:srgbClr val="666666"/>
                </a:solidFill>
              </a:rPr>
              <a:t>释放 owner，不等于同帧恢复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602F9B-0229-4C4B-8B9B-4387BA4E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71700"/>
            <a:ext cx="716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765480-16EB-41DB-9D0A-30BE0053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717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4D8C93-C2DD-43D3-B97E-675A5956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955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Detached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06784D-2E1B-4AA8-8E3F-BFA776BF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145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6666"/>
                </a:solidFill>
              </a:defRPr>
            </a:pPr>
            <a:r>
              <a:rPr sz="1275" b="0" i="0">
                <a:solidFill>
                  <a:srgbClr val="666666"/>
                </a:solidFill>
              </a:rPr>
              <a:t>尚未接管输出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2C119D-2EB8-4E73-80F6-0BAD261A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48000"/>
            <a:ext cx="716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BF93FC-F628-43F1-8823-EF576DD5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480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7450C1-123C-403B-85C9-FF864BD6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718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Active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859DA2-471D-48A5-8863-071CCF65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908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6666"/>
                </a:solidFill>
              </a:defRPr>
            </a:pPr>
            <a:r>
              <a:rPr sz="1275" b="0" i="0">
                <a:solidFill>
                  <a:srgbClr val="666666"/>
                </a:solidFill>
              </a:rPr>
              <a:t>GPU owner + 异步队列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85B429-A631-49F2-8D70-79089062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24300"/>
            <a:ext cx="716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5D1772-EFDE-4D84-88FE-68BB7B89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243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DA85A2-CB28-4AC0-88DA-89B8FED8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481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TargetPaused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F25454-CADA-431B-ADD6-642EA3BD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671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6666"/>
                </a:solidFill>
              </a:defRPr>
            </a:pPr>
            <a:r>
              <a:rPr sz="1275" b="0" i="0">
                <a:solidFill>
                  <a:srgbClr val="666666"/>
                </a:solidFill>
              </a:rPr>
              <a:t>surface 暂停或重建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8A5B81-BC23-4F59-AB5A-A65D5523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00600"/>
            <a:ext cx="716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B80DF3-5BE5-4775-9F7A-CD5CEAB1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006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1A4685-0C79-46B3-8E41-F17C17E4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9244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1818"/>
                </a:solidFill>
              </a:defRPr>
            </a:pPr>
            <a:r>
              <a:rPr sz="1575" b="1" i="0">
                <a:solidFill>
                  <a:srgbClr val="181818"/>
                </a:solidFill>
              </a:rPr>
              <a:t>Failed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BDC4B4-A697-45F7-BC07-2A0DADD7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434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6666"/>
                </a:solidFill>
              </a:defRPr>
            </a:pPr>
            <a:r>
              <a:rPr sz="1275" b="0" i="0">
                <a:solidFill>
                  <a:srgbClr val="666666"/>
                </a:solidFill>
              </a:rPr>
              <a:t>致命失败，后续可再次接管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0BD1D9-E8E0-498B-AF75-F9814BF0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829300"/>
            <a:ext cx="716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D6D5A7-940E-4C0D-BF2D-56903B6F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9626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控制目标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4930C8-BDD3-44BB-A7F9-986589B0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9436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累计计数不等于连续失败；顺序 GAP 必须单独验收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17A3BE-ABBC-4E74-911E-C52E382C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61698C-26A3-4217-B5FA-488C4759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累计计数不等于连续失败；顺序 GAP 必须单独验收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33795E-EC56-4CB8-9FB9-93EB22D3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36</a:t>
            </a:r>
          </a:p>
        </p:txBody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1b824ea9ea42a1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96575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090324B-661A-4E9E-9111-277DB35F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37  第五幕｜GPU 方法迁移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651CFD-4034-4381-82FE-B8C29BC9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136FF4-70B5-4610-B934-F3D076AC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讲解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2E2660-6709-4ACE-8D39-106193ED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AVC444 的关键是 LC 与单 Decoder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C5B713-3746-4896-BDA0-372DE92E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LC 决定本次更新 luma、chroma 或两者；一个 decoder 顺序消费，保持参考状态。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D1DF3C-1310-4287-A5B1-8051502D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2274ED-94AC-4BB8-8A2E-2DA8A11A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92ADEB-5667-400D-8BCC-C70C75AF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LC 对 retained 的影响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381A63-D604-42E9-890F-4A81B5FB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4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B00E5B-E2B0-4D2E-8812-A0ECC593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为什么是单 Decoder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58DA40-C359-43C0-8E7A-C973F13B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FRAME SEMANTICS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5E3BF1-C7BB-4986-B53F-728DD2E7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0300"/>
            <a:ext cx="516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REFERENCE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23A929-23AB-4A9D-B523-90698265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7645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A25DCA-6D9F-476C-9B63-763E3F4F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479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LC=0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157D3A-8196-47D9-8F01-E0DD4F64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289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luma + chroma → Y + U/V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21FD45-7B1A-43F3-A934-E66CE565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412BA6-D8ED-49B1-8CE9-E7308466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LC=1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B09BE9-C350-4655-9C1E-0B90F97D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4575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只更新 Y，保留 base chroma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FC7F46-EA3C-4399-8318-869B6F88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223291-4626-4AB0-B45D-7BEF5AD9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052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LC=2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BACD25-36D7-4091-945D-23495F94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0862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只更新 U/V，保留 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282E92-1DFE-4776-9B69-E3DBB678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BF3098-1206-4FF0-B458-3EE9C3BC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339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前提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39CDE4-1EAF-4504-8732-841E08C6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148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对应 retained readiness 已成立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ECE852-47C4-4462-83B1-30231A41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479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顺序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B5AD0B-2341-49B6-9DDB-A3536336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289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luma / chroma 依次消费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C2E882-80A7-4982-BFC2-A6663A28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528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2CC8F7-0966-4B59-B438-7DE97CA0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766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状态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406519-71D0-441C-A479-CA2B4767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575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共享参考与 SPS/PPS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F9D2ED-2B47-4169-980A-2AD7ABD2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8145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6C74FE-9A16-4EC5-8086-B7AF08CE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052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恢复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DE9C47-D584-49EB-AB6F-1A7CA9E7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8622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reset / resync 必须一致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9FE717-64D3-494A-87F1-78B91F24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10100"/>
            <a:ext cx="499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A947C9-B995-4376-B964-D543EE2B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339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741D9"/>
                </a:solidFill>
              </a:defRPr>
            </a:pPr>
            <a:r>
              <a:rPr sz="1200" b="1" i="0">
                <a:solidFill>
                  <a:srgbClr val="6741D9"/>
                </a:solidFill>
              </a:rPr>
              <a:t>反例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1179A-147D-4E1D-851F-6C12920C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14875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两个普通视频并行解码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8BFD24-1070-45D2-917E-BC41FD30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53100"/>
            <a:ext cx="971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E012C9-4D7A-4D34-9186-FAD32BDB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8864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带走一句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00A2F2-ABA4-40DF-9242-A0BF8C67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836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先对齐 FreeRDP 帧语义，再决定 HarmonyOS 接口如何实现。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A35396-7072-4FBC-AF86-1A5AC894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E14E02-93CD-41E6-B0AE-64AA068C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先对齐 FreeRDP 帧语义，再决定 HarmonyOS 接口如何实现。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3CEAE9-0258-4383-B2A3-5F63FCED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37</a:t>
            </a:r>
          </a:p>
        </p:txBody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2f9227176a411a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98915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1BECC9-3BF9-4404-B364-72977167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38  第五幕｜GPU 方法迁移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153E9A-9435-4E41-B912-02F24801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4D6AF4-E870-42B8-AD3D-CE916F6E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FD530-DD10-4613-821D-55BF89CD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420 / 444 共守输出契约，但不能共用实现假设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62CB25-C5B8-48EF-A281-12FDE999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两条路径分别验证，最终都要证明 owner、frame、target 与可见结果一致。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4B1BD-706B-433F-9F94-D70A28BE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E4E169-4D75-4AE5-8529-420739A2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F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E1F854-15DB-4700-8ABD-6321C9E0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公共输出契约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307306-1789-4F3F-A495-097D0056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OUTCOME EVAL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DA2467-B6F9-450D-BB26-FECA5F61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Owner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35E328-B013-4946-BBAB-8D713E15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8860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任一时刻只有一个 writer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E6584F-1BEF-4152-8D8C-3CC280B8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9B2759-6A41-48A1-923D-0B7A642E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14725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Retained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243194-5D3D-44D9-A25E-987F5C90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4956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首次接管前完整可信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E71003-5153-4BD9-BD7B-4BE8AFE7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211774-3B6A-4852-B78E-E5972D5C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24325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Present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2DF1CA-7EA1-4A9D-8C4E-61E26C8C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1052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匹配 real/synthetic EndFrame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1E06EF-882D-4C4E-8139-BC3D0C89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B8BD21-7E9A-4922-AC55-0EEC9CAB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33925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86FB4"/>
                </a:solidFill>
              </a:defRPr>
            </a:pPr>
            <a:r>
              <a:rPr sz="1200" b="1" i="0">
                <a:solidFill>
                  <a:srgbClr val="286FB4"/>
                </a:solidFill>
              </a:rPr>
              <a:t>targetEpoch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A9B745-BB95-49A2-8444-6E69F686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7148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1818"/>
                </a:solidFill>
              </a:defRPr>
            </a:pPr>
            <a:r>
              <a:rPr sz="1350" b="0" i="0">
                <a:solidFill>
                  <a:srgbClr val="181818"/>
                </a:solidFill>
              </a:rPr>
              <a:t>旧 task/callback 必须拒绝（GAP）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396E7D-3F7F-4DA2-BEC7-71D265A8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76450"/>
            <a:ext cx="569595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b26d0c713b4ba8"/>
          <a:stretch xmlns:a="http://schemas.openxmlformats.org/drawingml/2006/main"/>
        </p:blipFill>
        <p:spPr>
          <a:xfrm xmlns:a="http://schemas.openxmlformats.org/drawingml/2006/main">
            <a:off x="6038850" y="3206353"/>
            <a:ext cx="5429250" cy="1131094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95074A-3DA3-4930-9DA5-1C0F68D4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53100"/>
            <a:ext cx="971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AFDA2A-7FE1-4D24-ACC7-3774D973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8864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证据边界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8954B3-628B-4DC4-8824-AD1CFD99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67400"/>
            <a:ext cx="836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Case 420 查 queue age；Case 444 查 LC=2 与 luma readiness。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3EC548-14A7-4B2C-ACD5-E7F3B52F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D552BC-8777-4021-A9D8-D7EB5B34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Case 420 查 queue age；Case 444 查 LC=2 与 luma readiness。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F634F4-6694-4CEC-B101-4A9BD300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38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5f02386c964609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2710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C93C44-DEDE-4EBC-8694-8F1F39B0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C7000B"/>
                </a:solidFill>
              </a:defRPr>
            </a:pPr>
            <a:r>
              <a:rPr sz="1200" b="1" i="0">
                <a:solidFill>
                  <a:srgbClr val="C7000B"/>
                </a:solidFill>
              </a:rPr>
              <a:t>39  收束｜把方法带回项目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93B020-DF9E-42AC-93ED-DD9C13AC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609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CDE8B3-956C-4CAB-9E66-79D874A2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实操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3CE5D4-F822-43E0-8A75-CC462C76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83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81818"/>
                </a:solidFill>
              </a:defRPr>
            </a:pPr>
            <a:r>
              <a:rPr sz="2625" b="1" i="0">
                <a:solidFill>
                  <a:srgbClr val="181818"/>
                </a:solidFill>
              </a:rPr>
              <a:t>把方法带回项目，只保留七个问题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F5F0F0-0521-418C-9066-4B7EF6AB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6666"/>
                </a:solidFill>
              </a:defRPr>
            </a:pPr>
            <a:r>
              <a:rPr sz="1350" b="0" i="0">
                <a:solidFill>
                  <a:srgbClr val="666666"/>
                </a:solidFill>
              </a:rPr>
              <a:t>下一次遇到复杂需求，先用七问建立边界、证据和停止条件，再允许 AI 修改。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EFBC1B-1E14-4E12-85E2-161FCA7F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1DE8A-DBF7-4D98-A358-D06DAECC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FDDE5B-1CBE-4649-89DD-AE7BBFAC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七问带回项目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88BEEA-D509-4871-A625-D99F256B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C7000B"/>
                </a:solidFill>
              </a:defRPr>
            </a:pPr>
            <a:r>
              <a:rPr sz="1500" b="1" i="0">
                <a:solidFill>
                  <a:srgbClr val="C7000B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E768FB-788B-4CA9-BE4A-BD66E0BA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33650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哪些词会分叉？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301AA9-8733-4AE0-B860-3799B4EE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B29D18-4439-4631-AEFA-5888E20F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C7000B"/>
                </a:solidFill>
              </a:defRPr>
            </a:pPr>
            <a:r>
              <a:rPr sz="1500" b="1" i="0">
                <a:solidFill>
                  <a:srgbClr val="C7000B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9E1270-2957-4D09-84A4-1297E933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19450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最终真相源在哪里？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C97018-DC33-47AC-9820-F59D733E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3088A7-9603-4116-AF46-07E5834E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C7000B"/>
                </a:solidFill>
              </a:defRPr>
            </a:pPr>
            <a:r>
              <a:rPr sz="1500" b="1" i="0">
                <a:solidFill>
                  <a:srgbClr val="C7000B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695964-3DB3-4EDD-B497-20BEE7D0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05250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哪些不变量不能破坏？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F698DF-6153-4B0F-BC9A-4CAEA411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8597B8-8B3B-471C-B666-F44A94FC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C7000B"/>
                </a:solidFill>
              </a:defRPr>
            </a:pPr>
            <a:r>
              <a:rPr sz="1500" b="1" i="0">
                <a:solidFill>
                  <a:srgbClr val="C7000B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398E01-353C-46AA-9335-9A41565F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91050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AI 这一轮只允许改哪里？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630532-ECE3-4775-8FDA-5C5CF48E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673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7ED630-A4FB-4672-A9AE-0A3AEFF6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C7000B"/>
                </a:solidFill>
              </a:defRPr>
            </a:pPr>
            <a:r>
              <a:rPr sz="1500" b="1" i="0">
                <a:solidFill>
                  <a:srgbClr val="C7000B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CC924B-5B64-4FE0-A949-95EE23EF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33650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怎样制造同源 RED？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1204A5-6743-4A13-919C-18E251E1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99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3BB587-0E7B-48D0-8F4B-47F5F775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57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C7000B"/>
                </a:solidFill>
              </a:defRPr>
            </a:pPr>
            <a:r>
              <a:rPr sz="1500" b="1" i="0">
                <a:solidFill>
                  <a:srgbClr val="C7000B"/>
                </a:solidFill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94D145-A5C1-42E0-AB90-666DCF2C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19450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最早异常在哪里？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3CA0CD-263B-427F-A632-4EEEC977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5A8072-FE80-41C8-A824-2B1CCAAC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433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C7000B"/>
                </a:solidFill>
              </a:defRPr>
            </a:pPr>
            <a:r>
              <a:rPr sz="1500" b="1" i="0">
                <a:solidFill>
                  <a:srgbClr val="C7000B"/>
                </a:solidFill>
              </a:rPr>
              <a:t>07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A243CD-03BB-4968-8BDD-6CA84F77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05250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1818"/>
                </a:solidFill>
              </a:defRPr>
            </a:pPr>
            <a:r>
              <a:rPr sz="1650" b="1" i="0">
                <a:solidFill>
                  <a:srgbClr val="181818"/>
                </a:solidFill>
              </a:rPr>
              <a:t>什么证据满足后必须停止？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15A57C-CF66-4223-A794-7A0434F0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E461A5-548F-4356-B108-3699CD07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57750"/>
            <a:ext cx="4762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CEA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47D653-7E1F-49D4-BF21-977DC13B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010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C7000B"/>
                </a:solidFill>
              </a:defRPr>
            </a:pPr>
            <a:r>
              <a:rPr sz="1500" b="1" i="0">
                <a:solidFill>
                  <a:srgbClr val="C7000B"/>
                </a:solidFill>
              </a:rPr>
              <a:t>1 分钟迁移题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2F84F7-2B29-4A77-BCDE-E91A8CAF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314950"/>
            <a:ext cx="428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权限页首次为空、二次正常：</a:t>
            </a:r>
          </a:p>
          <a:p xmlns:a="http://schemas.openxmlformats.org/drawingml/2006/main">
            <a:pPr algn="l"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写出事实源、最早异常、RED 与停止条件。</a:t>
            </a:r>
          </a:p>
          <a:p xmlns:a="http://schemas.openxmlformats.org/drawingml/2006/main">
            <a:pPr algn="l">
              <a:defRPr sz="1350" b="1" i="0">
                <a:solidFill>
                  <a:srgbClr val="181818"/>
                </a:solidFill>
              </a:defRPr>
            </a:pPr>
            <a:r>
              <a:rPr sz="1350" b="1" i="0">
                <a:solidFill>
                  <a:srgbClr val="181818"/>
                </a:solidFill>
              </a:rPr>
              <a:t>禁止只答“加延迟”。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72D74E-AAC7-4309-883F-416D8C1E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268B8E-6CBD-434B-A629-04ECC20A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8B57"/>
                </a:solidFill>
              </a:defRPr>
            </a:pPr>
            <a:r>
              <a:rPr sz="1200" b="1" i="0">
                <a:solidFill>
                  <a:srgbClr val="218B57"/>
                </a:solidFill>
              </a:rPr>
              <a:t>1 分钟迁移：权限页首次为空、二次正常——写出事实源、最早异常、RED 与停止条件；禁止答“加延迟”。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AE94D3-10A3-498D-8707-5C87E021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666666"/>
                </a:solidFill>
              </a:defRPr>
            </a:pPr>
            <a:r>
              <a:rPr sz="1200" b="1" i="0">
                <a:solidFill>
                  <a:srgbClr val="666666"/>
                </a:solidFill>
              </a:rPr>
              <a:t>39</a:t>
            </a:r>
          </a:p>
        </p:txBody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6d22100c3a44fe"/>
          <a:stretch xmlns:a="http://schemas.openxmlformats.org/drawingml/2006/main"/>
        </p:blipFill>
        <p:spPr>
          <a:xfrm xmlns:a="http://schemas.openxmlformats.org/drawingml/2006/main">
            <a:off x="10401300" y="240130"/>
            <a:ext cx="1333500" cy="3007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0512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2026-08-31T12:42:16.2600000Z</dcterms:created>
  <dcterms:modified xsi:type="dcterms:W3CDTF">2026-08-31T12:42:16.2600000Z</dcterms:modified>
</coreProperties>
</file>