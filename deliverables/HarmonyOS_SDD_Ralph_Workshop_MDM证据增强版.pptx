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e8e5e1279a488c" /><Relationship Type="http://schemas.openxmlformats.org/officeDocument/2006/relationships/extended-properties" Target="/docProps/app.xml" Id="Rf906cba89bcb4008" /><Relationship Type="http://schemas.openxmlformats.org/officeDocument/2006/relationships/officeDocument" Target="/ppt/presentation.xml" Id="Rf526b2138cd445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64565467ed4fa8"/>
  </p:sldMasterIdLst>
  <p:notesMasterIdLst>
    <p:notesMasterId xmlns:r="http://schemas.openxmlformats.org/officeDocument/2006/relationships" r:id="R1d10f3f668fb45f3"/>
  </p:notesMasterIdLst>
  <p:sldIdLst>
    <p:sldId xmlns:r="http://schemas.openxmlformats.org/officeDocument/2006/relationships" id="256" r:id="R35505041797f48a0"/>
    <p:sldId xmlns:r="http://schemas.openxmlformats.org/officeDocument/2006/relationships" id="257" r:id="R66f1bb07f0f848dd"/>
    <p:sldId xmlns:r="http://schemas.openxmlformats.org/officeDocument/2006/relationships" id="258" r:id="R9791a11ce2e84fbf"/>
    <p:sldId xmlns:r="http://schemas.openxmlformats.org/officeDocument/2006/relationships" id="259" r:id="R61a7bb33491340c2"/>
    <p:sldId xmlns:r="http://schemas.openxmlformats.org/officeDocument/2006/relationships" id="260" r:id="Rd8d47e70764f4b53"/>
    <p:sldId xmlns:r="http://schemas.openxmlformats.org/officeDocument/2006/relationships" id="261" r:id="Re41db72caf0141c7"/>
    <p:sldId xmlns:r="http://schemas.openxmlformats.org/officeDocument/2006/relationships" id="262" r:id="R18d509f7409444d8"/>
    <p:sldId xmlns:r="http://schemas.openxmlformats.org/officeDocument/2006/relationships" id="263" r:id="R4d39ce31602b43df"/>
    <p:sldId xmlns:r="http://schemas.openxmlformats.org/officeDocument/2006/relationships" id="264" r:id="R1e1ae82682254ece"/>
    <p:sldId xmlns:r="http://schemas.openxmlformats.org/officeDocument/2006/relationships" id="265" r:id="R7a784c5fb25c43ad"/>
    <p:sldId xmlns:r="http://schemas.openxmlformats.org/officeDocument/2006/relationships" id="266" r:id="Rf46a03669d85427e"/>
    <p:sldId xmlns:r="http://schemas.openxmlformats.org/officeDocument/2006/relationships" id="267" r:id="R68af99b032fa4636"/>
    <p:sldId xmlns:r="http://schemas.openxmlformats.org/officeDocument/2006/relationships" id="268" r:id="Re2d4a13fe074472b"/>
    <p:sldId xmlns:r="http://schemas.openxmlformats.org/officeDocument/2006/relationships" id="269" r:id="R83a04f27057542b0"/>
    <p:sldId xmlns:r="http://schemas.openxmlformats.org/officeDocument/2006/relationships" id="270" r:id="R7f81ffda144748fe"/>
    <p:sldId xmlns:r="http://schemas.openxmlformats.org/officeDocument/2006/relationships" id="271" r:id="R8688ce29bc46486e"/>
    <p:sldId xmlns:r="http://schemas.openxmlformats.org/officeDocument/2006/relationships" id="272" r:id="R0eedbec971c84fd1"/>
    <p:sldId xmlns:r="http://schemas.openxmlformats.org/officeDocument/2006/relationships" id="273" r:id="R2663730d5307473b"/>
    <p:sldId xmlns:r="http://schemas.openxmlformats.org/officeDocument/2006/relationships" id="274" r:id="Rfb9bf6b09bef4d1c"/>
    <p:sldId xmlns:r="http://schemas.openxmlformats.org/officeDocument/2006/relationships" id="275" r:id="Rce4a0aaf85824df8"/>
    <p:sldId xmlns:r="http://schemas.openxmlformats.org/officeDocument/2006/relationships" id="276" r:id="R9c6c027c42f24bad"/>
    <p:sldId xmlns:r="http://schemas.openxmlformats.org/officeDocument/2006/relationships" id="277" r:id="R9ea8252527bd46ed"/>
    <p:sldId xmlns:r="http://schemas.openxmlformats.org/officeDocument/2006/relationships" id="278" r:id="R50226373fea9402a"/>
    <p:sldId xmlns:r="http://schemas.openxmlformats.org/officeDocument/2006/relationships" id="279" r:id="R50bca80284814d4f"/>
    <p:sldId xmlns:r="http://schemas.openxmlformats.org/officeDocument/2006/relationships" id="280" r:id="Rd0c55926ca3f4a33"/>
    <p:sldId xmlns:r="http://schemas.openxmlformats.org/officeDocument/2006/relationships" id="281" r:id="R10987bcc92a5417a"/>
    <p:sldId xmlns:r="http://schemas.openxmlformats.org/officeDocument/2006/relationships" id="282" r:id="R350c7581be7d4ebf"/>
    <p:sldId xmlns:r="http://schemas.openxmlformats.org/officeDocument/2006/relationships" id="283" r:id="R26118d5553cf4817"/>
    <p:sldId xmlns:r="http://schemas.openxmlformats.org/officeDocument/2006/relationships" id="284" r:id="Rb1f7b9d0c67641ed"/>
    <p:sldId xmlns:r="http://schemas.openxmlformats.org/officeDocument/2006/relationships" id="285" r:id="R0116e62dc4ea4fc1"/>
    <p:sldId xmlns:r="http://schemas.openxmlformats.org/officeDocument/2006/relationships" id="286" r:id="R74088c8e7dc1451c"/>
    <p:sldId xmlns:r="http://schemas.openxmlformats.org/officeDocument/2006/relationships" id="287" r:id="Ra80d8c172b1243b3"/>
    <p:sldId xmlns:r="http://schemas.openxmlformats.org/officeDocument/2006/relationships" id="288" r:id="R4117023c449242a1"/>
    <p:sldId xmlns:r="http://schemas.openxmlformats.org/officeDocument/2006/relationships" id="289" r:id="R2cb7fa5d35db4db1"/>
    <p:sldId xmlns:r="http://schemas.openxmlformats.org/officeDocument/2006/relationships" id="290" r:id="R3599aa27b3c4445a"/>
    <p:sldId xmlns:r="http://schemas.openxmlformats.org/officeDocument/2006/relationships" id="291" r:id="Rb1d6610130694fbe"/>
    <p:sldId xmlns:r="http://schemas.openxmlformats.org/officeDocument/2006/relationships" id="292" r:id="R5c034dce192e4d2c"/>
    <p:sldId xmlns:r="http://schemas.openxmlformats.org/officeDocument/2006/relationships" id="293" r:id="Reeb072ad98a34e6a"/>
    <p:sldId xmlns:r="http://schemas.openxmlformats.org/officeDocument/2006/relationships" id="294" r:id="R17b823c537404a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441e51782c49f8" /><Relationship Type="http://schemas.openxmlformats.org/officeDocument/2006/relationships/slideMaster" Target="/ppt/slideMasters/slideMaster1.xml" Id="R3564565467ed4fa8" /><Relationship Type="http://schemas.openxmlformats.org/officeDocument/2006/relationships/notesMaster" Target="/ppt/notesMasters/notesMaster1.xml" Id="R1d10f3f668fb45f3" /><Relationship Type="http://schemas.openxmlformats.org/officeDocument/2006/relationships/presProps" Target="/ppt/presProps.xml" Id="R1c2aff282eff4779" /><Relationship Type="http://schemas.openxmlformats.org/officeDocument/2006/relationships/tableStyles" Target="/ppt/tableStyles.xml" Id="R0dfb1020fc9145be" /><Relationship Type="http://schemas.openxmlformats.org/officeDocument/2006/relationships/slide" Target="/ppt/slides/slide1.xml" Id="R35505041797f48a0" /><Relationship Type="http://schemas.openxmlformats.org/officeDocument/2006/relationships/slide" Target="/ppt/slides/slide2.xml" Id="R66f1bb07f0f848dd" /><Relationship Type="http://schemas.openxmlformats.org/officeDocument/2006/relationships/slide" Target="/ppt/slides/slide3.xml" Id="R9791a11ce2e84fbf" /><Relationship Type="http://schemas.openxmlformats.org/officeDocument/2006/relationships/slide" Target="/ppt/slides/slide4.xml" Id="R61a7bb33491340c2" /><Relationship Type="http://schemas.openxmlformats.org/officeDocument/2006/relationships/slide" Target="/ppt/slides/slide5.xml" Id="Rd8d47e70764f4b53" /><Relationship Type="http://schemas.openxmlformats.org/officeDocument/2006/relationships/slide" Target="/ppt/slides/slide6.xml" Id="Re41db72caf0141c7" /><Relationship Type="http://schemas.openxmlformats.org/officeDocument/2006/relationships/slide" Target="/ppt/slides/slide7.xml" Id="R18d509f7409444d8" /><Relationship Type="http://schemas.openxmlformats.org/officeDocument/2006/relationships/slide" Target="/ppt/slides/slide8.xml" Id="R4d39ce31602b43df" /><Relationship Type="http://schemas.openxmlformats.org/officeDocument/2006/relationships/slide" Target="/ppt/slides/slide9.xml" Id="R1e1ae82682254ece" /><Relationship Type="http://schemas.openxmlformats.org/officeDocument/2006/relationships/slide" Target="/ppt/slides/slide10.xml" Id="R7a784c5fb25c43ad" /><Relationship Type="http://schemas.openxmlformats.org/officeDocument/2006/relationships/slide" Target="/ppt/slides/slide11.xml" Id="Rf46a03669d85427e" /><Relationship Type="http://schemas.openxmlformats.org/officeDocument/2006/relationships/slide" Target="/ppt/slides/slide12.xml" Id="R68af99b032fa4636" /><Relationship Type="http://schemas.openxmlformats.org/officeDocument/2006/relationships/slide" Target="/ppt/slides/slide13.xml" Id="Re2d4a13fe074472b" /><Relationship Type="http://schemas.openxmlformats.org/officeDocument/2006/relationships/slide" Target="/ppt/slides/slide14.xml" Id="R83a04f27057542b0" /><Relationship Type="http://schemas.openxmlformats.org/officeDocument/2006/relationships/slide" Target="/ppt/slides/slide15.xml" Id="R7f81ffda144748fe" /><Relationship Type="http://schemas.openxmlformats.org/officeDocument/2006/relationships/slide" Target="/ppt/slides/slide16.xml" Id="R8688ce29bc46486e" /><Relationship Type="http://schemas.openxmlformats.org/officeDocument/2006/relationships/slide" Target="/ppt/slides/slide17.xml" Id="R0eedbec971c84fd1" /><Relationship Type="http://schemas.openxmlformats.org/officeDocument/2006/relationships/slide" Target="/ppt/slides/slide18.xml" Id="R2663730d5307473b" /><Relationship Type="http://schemas.openxmlformats.org/officeDocument/2006/relationships/slide" Target="/ppt/slides/slide19.xml" Id="Rfb9bf6b09bef4d1c" /><Relationship Type="http://schemas.openxmlformats.org/officeDocument/2006/relationships/slide" Target="/ppt/slides/slide20.xml" Id="Rce4a0aaf85824df8" /><Relationship Type="http://schemas.openxmlformats.org/officeDocument/2006/relationships/slide" Target="/ppt/slides/slide21.xml" Id="R9c6c027c42f24bad" /><Relationship Type="http://schemas.openxmlformats.org/officeDocument/2006/relationships/slide" Target="/ppt/slides/slide22.xml" Id="R9ea8252527bd46ed" /><Relationship Type="http://schemas.openxmlformats.org/officeDocument/2006/relationships/slide" Target="/ppt/slides/slide23.xml" Id="R50226373fea9402a" /><Relationship Type="http://schemas.openxmlformats.org/officeDocument/2006/relationships/slide" Target="/ppt/slides/slide24.xml" Id="R50bca80284814d4f" /><Relationship Type="http://schemas.openxmlformats.org/officeDocument/2006/relationships/slide" Target="/ppt/slides/slide25.xml" Id="Rd0c55926ca3f4a33" /><Relationship Type="http://schemas.openxmlformats.org/officeDocument/2006/relationships/slide" Target="/ppt/slides/slide26.xml" Id="R10987bcc92a5417a" /><Relationship Type="http://schemas.openxmlformats.org/officeDocument/2006/relationships/slide" Target="/ppt/slides/slide27.xml" Id="R350c7581be7d4ebf" /><Relationship Type="http://schemas.openxmlformats.org/officeDocument/2006/relationships/slide" Target="/ppt/slides/slide28.xml" Id="R26118d5553cf4817" /><Relationship Type="http://schemas.openxmlformats.org/officeDocument/2006/relationships/slide" Target="/ppt/slides/slide29.xml" Id="Rb1f7b9d0c67641ed" /><Relationship Type="http://schemas.openxmlformats.org/officeDocument/2006/relationships/slide" Target="/ppt/slides/slide30.xml" Id="R0116e62dc4ea4fc1" /><Relationship Type="http://schemas.openxmlformats.org/officeDocument/2006/relationships/slide" Target="/ppt/slides/slide31.xml" Id="R74088c8e7dc1451c" /><Relationship Type="http://schemas.openxmlformats.org/officeDocument/2006/relationships/slide" Target="/ppt/slides/slide32.xml" Id="Ra80d8c172b1243b3" /><Relationship Type="http://schemas.openxmlformats.org/officeDocument/2006/relationships/slide" Target="/ppt/slides/slide33.xml" Id="R4117023c449242a1" /><Relationship Type="http://schemas.openxmlformats.org/officeDocument/2006/relationships/slide" Target="/ppt/slides/slide34.xml" Id="R2cb7fa5d35db4db1" /><Relationship Type="http://schemas.openxmlformats.org/officeDocument/2006/relationships/slide" Target="/ppt/slides/slide35.xml" Id="R3599aa27b3c4445a" /><Relationship Type="http://schemas.openxmlformats.org/officeDocument/2006/relationships/slide" Target="/ppt/slides/slide36.xml" Id="Rb1d6610130694fbe" /><Relationship Type="http://schemas.openxmlformats.org/officeDocument/2006/relationships/slide" Target="/ppt/slides/slide37.xml" Id="R5c034dce192e4d2c" /><Relationship Type="http://schemas.openxmlformats.org/officeDocument/2006/relationships/slide" Target="/ppt/slides/slide38.xml" Id="Reeb072ad98a34e6a" /><Relationship Type="http://schemas.openxmlformats.org/officeDocument/2006/relationships/slide" Target="/ppt/slides/slide39.xml" Id="R17b823c537404a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37cfed8f5046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8ab06e2ca647f5" /><Relationship Type="http://schemas.openxmlformats.org/officeDocument/2006/relationships/notesMaster" Target="/ppt/notesMasters/notesMaster1.xml" Id="R733ced3ad5904d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6f663f97c04c09" /><Relationship Type="http://schemas.openxmlformats.org/officeDocument/2006/relationships/notesMaster" Target="/ppt/notesMasters/notesMaster1.xml" Id="Rd766649dcda547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bdfc0db8ad46b5" /><Relationship Type="http://schemas.openxmlformats.org/officeDocument/2006/relationships/notesMaster" Target="/ppt/notesMasters/notesMaster1.xml" Id="Rb26ffd7d5cf041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78377eee7d422c" /><Relationship Type="http://schemas.openxmlformats.org/officeDocument/2006/relationships/notesMaster" Target="/ppt/notesMasters/notesMaster1.xml" Id="R22193b6617e841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92676b2e494893" /><Relationship Type="http://schemas.openxmlformats.org/officeDocument/2006/relationships/notesMaster" Target="/ppt/notesMasters/notesMaster1.xml" Id="R2a74efae2a2248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47681e4ac34ff7" /><Relationship Type="http://schemas.openxmlformats.org/officeDocument/2006/relationships/notesMaster" Target="/ppt/notesMasters/notesMaster1.xml" Id="R73bba9d10ee043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ec12db8f6e4f7a" /><Relationship Type="http://schemas.openxmlformats.org/officeDocument/2006/relationships/notesMaster" Target="/ppt/notesMasters/notesMaster1.xml" Id="Rd309f1ba7a7349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8e8e197d4d46c9" /><Relationship Type="http://schemas.openxmlformats.org/officeDocument/2006/relationships/notesMaster" Target="/ppt/notesMasters/notesMaster1.xml" Id="R39958b6f62d445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8a9348b4214567" /><Relationship Type="http://schemas.openxmlformats.org/officeDocument/2006/relationships/notesMaster" Target="/ppt/notesMasters/notesMaster1.xml" Id="Rc683ef32813542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a524414a1d4b94" /><Relationship Type="http://schemas.openxmlformats.org/officeDocument/2006/relationships/notesMaster" Target="/ppt/notesMasters/notesMaster1.xml" Id="Rfb61e62c30f447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0304e3d60c34375" /><Relationship Type="http://schemas.openxmlformats.org/officeDocument/2006/relationships/notesMaster" Target="/ppt/notesMasters/notesMaster1.xml" Id="R5e528395ffbb40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45d018ad194237" /><Relationship Type="http://schemas.openxmlformats.org/officeDocument/2006/relationships/notesMaster" Target="/ppt/notesMasters/notesMaster1.xml" Id="Rb6a4b8dd5bcf44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e0487c625d4fc3" /><Relationship Type="http://schemas.openxmlformats.org/officeDocument/2006/relationships/notesMaster" Target="/ppt/notesMasters/notesMaster1.xml" Id="R43da6486d27d4f8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08b8ca3cad44f1b" /><Relationship Type="http://schemas.openxmlformats.org/officeDocument/2006/relationships/notesMaster" Target="/ppt/notesMasters/notesMaster1.xml" Id="Rccdbf8cd08ca43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b19eb30eeef4ad2" /><Relationship Type="http://schemas.openxmlformats.org/officeDocument/2006/relationships/notesMaster" Target="/ppt/notesMasters/notesMaster1.xml" Id="R8ee9205270a2492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aa42a90633e4887" /><Relationship Type="http://schemas.openxmlformats.org/officeDocument/2006/relationships/notesMaster" Target="/ppt/notesMasters/notesMaster1.xml" Id="R4f1a1d6dfc75448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8b5192df7ff4be6" /><Relationship Type="http://schemas.openxmlformats.org/officeDocument/2006/relationships/notesMaster" Target="/ppt/notesMasters/notesMaster1.xml" Id="R231c598ac381414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4340b27b5764e17" /><Relationship Type="http://schemas.openxmlformats.org/officeDocument/2006/relationships/notesMaster" Target="/ppt/notesMasters/notesMaster1.xml" Id="R8054f96ae17d463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a06d74d5fb246d8" /><Relationship Type="http://schemas.openxmlformats.org/officeDocument/2006/relationships/notesMaster" Target="/ppt/notesMasters/notesMaster1.xml" Id="R0565f1e0ab7946f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29d1865cf3446cb" /><Relationship Type="http://schemas.openxmlformats.org/officeDocument/2006/relationships/notesMaster" Target="/ppt/notesMasters/notesMaster1.xml" Id="Rc7f1ca7f6ad1464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2030b253d014f13" /><Relationship Type="http://schemas.openxmlformats.org/officeDocument/2006/relationships/notesMaster" Target="/ppt/notesMasters/notesMaster1.xml" Id="R3d95fce4655842a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7f9f8611c0b4b95" /><Relationship Type="http://schemas.openxmlformats.org/officeDocument/2006/relationships/notesMaster" Target="/ppt/notesMasters/notesMaster1.xml" Id="R8f030340d9534e9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eb6fe23c8b84684" /><Relationship Type="http://schemas.openxmlformats.org/officeDocument/2006/relationships/notesMaster" Target="/ppt/notesMasters/notesMaster1.xml" Id="Rf36b3299922442d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49fa66ba384461e" /><Relationship Type="http://schemas.openxmlformats.org/officeDocument/2006/relationships/notesMaster" Target="/ppt/notesMasters/notesMaster1.xml" Id="Rea971f788b0a4b1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f0912a1b6404772" /><Relationship Type="http://schemas.openxmlformats.org/officeDocument/2006/relationships/notesMaster" Target="/ppt/notesMasters/notesMaster1.xml" Id="Rfb35084766f4496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ef78281fc3243ba" /><Relationship Type="http://schemas.openxmlformats.org/officeDocument/2006/relationships/notesMaster" Target="/ppt/notesMasters/notesMaster1.xml" Id="Rb2e649c123e94c9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b0d16ab5906452f" /><Relationship Type="http://schemas.openxmlformats.org/officeDocument/2006/relationships/notesMaster" Target="/ppt/notesMasters/notesMaster1.xml" Id="R2636cf6c7984496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9d7d94de25945c6" /><Relationship Type="http://schemas.openxmlformats.org/officeDocument/2006/relationships/notesMaster" Target="/ppt/notesMasters/notesMaster1.xml" Id="R970a7e34049740f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955e9a310fa41ec" /><Relationship Type="http://schemas.openxmlformats.org/officeDocument/2006/relationships/notesMaster" Target="/ppt/notesMasters/notesMaster1.xml" Id="Rc1518dfd0f67478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0f07c97de33434a" /><Relationship Type="http://schemas.openxmlformats.org/officeDocument/2006/relationships/notesMaster" Target="/ppt/notesMasters/notesMaster1.xml" Id="R515e3a00fb4b4a7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785cbbc9c0e4695" /><Relationship Type="http://schemas.openxmlformats.org/officeDocument/2006/relationships/notesMaster" Target="/ppt/notesMasters/notesMaster1.xml" Id="Rddd8e4d155f9487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bae45ec08dd48e3" /><Relationship Type="http://schemas.openxmlformats.org/officeDocument/2006/relationships/notesMaster" Target="/ppt/notesMasters/notesMaster1.xml" Id="R5a324482f7934d0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155ea8e410443b3" /><Relationship Type="http://schemas.openxmlformats.org/officeDocument/2006/relationships/notesMaster" Target="/ppt/notesMasters/notesMaster1.xml" Id="Rc93d2f09bf40415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ae4454cf8f648bd" /><Relationship Type="http://schemas.openxmlformats.org/officeDocument/2006/relationships/notesMaster" Target="/ppt/notesMasters/notesMaster1.xml" Id="Rf94bc8bcf8c4439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3975e6965e34428" /><Relationship Type="http://schemas.openxmlformats.org/officeDocument/2006/relationships/notesMaster" Target="/ppt/notesMasters/notesMaster1.xml" Id="R926c7ac9a5db48a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1a69314c9b549e9" /><Relationship Type="http://schemas.openxmlformats.org/officeDocument/2006/relationships/notesMaster" Target="/ppt/notesMasters/notesMaster1.xml" Id="Rb14066d6ae6f4fa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7dd0f882e954f3d" /><Relationship Type="http://schemas.openxmlformats.org/officeDocument/2006/relationships/notesMaster" Target="/ppt/notesMasters/notesMaster1.xml" Id="Rf53fc4c1779a458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50700c1e27c4a8b" /><Relationship Type="http://schemas.openxmlformats.org/officeDocument/2006/relationships/notesMaster" Target="/ppt/notesMasters/notesMaster1.xml" Id="R73b5fd61c2644df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302143632d74501" /><Relationship Type="http://schemas.openxmlformats.org/officeDocument/2006/relationships/notesMaster" Target="/ppt/notesMasters/notesMaster1.xml" Id="Reb09e93ba9a348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开场先让学员回答：账号新增以后，哪一层算真正完成？</a:t>
            </a:r>
          </a:p>
          <a:p xmlns:a="http://schemas.openxmlformats.org/drawingml/2006/main">
            <a:r>
              <a:t>真实问题不是页面刷新，而是事件、完整账号集合、防火墙系统状态、本地状态和跨进程 UI 的收敛。</a:t>
            </a:r>
          </a:p>
          <a:p xmlns:a="http://schemas.openxmlformats.org/drawingml/2006/main">
            <a:r>
              <a:t>本页只建立业务背景；下一页才介绍六阶段交付方法。</a:t>
            </a:r>
          </a:p>
          <a:p xmlns:a="http://schemas.openxmlformats.org/drawingml/2006/main">
            <a:r>
              <a:t>来源：case-materials/mdm/02-方案推导与决策记录.md；evidence/mdm/account-cross-process-log.md。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逐张点出六份文档的文件名，让学员知道最终要产出什么，而不是只记住六个阶段名。</a:t>
            </a:r>
          </a:p>
          <a:p xmlns:a="http://schemas.openxmlformats.org/drawingml/2006/main">
            <a:r>
              <a:t>每个阶段的出口门决定是否能进入下一步；文档不是总结，而是后续 AI Session 的输入契约。</a:t>
            </a:r>
          </a:p>
          <a:p xmlns:a="http://schemas.openxmlformats.org/drawingml/2006/main">
            <a:r>
              <a:t>现场可打开 case-materials/mdm/README.md 和六份文件的目录。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本页现场打开 01-资产同步与冲突清单.md 第 4 节。</a:t>
            </a:r>
          </a:p>
          <a:p xmlns:a="http://schemas.openxmlformats.org/drawingml/2006/main">
            <a:r>
              <a:t>让学员判断：AI 修正版为什么看起来专业却不正确？答案是把产品抽象和平台规则类型混为一谈。</a:t>
            </a:r>
          </a:p>
          <a:p xmlns:a="http://schemas.openxmlformats.org/drawingml/2006/main">
            <a:r>
              <a:t>资产同步出口门：关键需求有 ID、来源、冲突决策和证据路径；未验证平台能力进入技术穿刺。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现场练习：给出一条没有 tests 和 conflict 的需求卡，让学员指出为什么不能进入方案阶段。</a:t>
            </a:r>
          </a:p>
          <a:p xmlns:a="http://schemas.openxmlformats.org/drawingml/2006/main">
            <a:r>
              <a:t>需求卡的价值是跨文档追踪，不是 YAML 形式本身。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不要先画类图。先让学员用失败场景攻击四个方案，再选择职责边界。</a:t>
            </a:r>
          </a:p>
          <a:p xmlns:a="http://schemas.openxmlformats.org/drawingml/2006/main">
            <a:r>
              <a:t>ADR 必须包含 selected、rejected、failure semantics 和 reopen conditions。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 Hvigor 的陷阱：目标用例失败时仍可能打印 BUILD SUCCESSFUL 且退出码为 0。</a:t>
            </a:r>
          </a:p>
          <a:p xmlns:a="http://schemas.openxmlformats.org/drawingml/2006/main">
            <a:r>
              <a:t>判断必须读取用例级 ERROR 或测试结果文件。</a:t>
            </a:r>
          </a:p>
          <a:p xmlns:a="http://schemas.openxmlformats.org/drawingml/2006/main">
            <a:r>
              <a:t>可迁移原则：等待业务条件 + 有上限 + 保持旧真相，而不是记住 200ms/5 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RFC 不等于架构图。课堂重点是每个失败分支写清楚“不能改变什么”。</a:t>
            </a:r>
          </a:p>
          <a:p xmlns:a="http://schemas.openxmlformats.org/drawingml/2006/main">
            <a:r>
              <a:t>让学员从 I6 推导反例：mode 保存成功、signature 保存失败时，系统下一轮会怎么误判？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onAccountAdded 跳到 loadStableSnapshot，再追 Handler 的 custom/public/private 三分支。</a:t>
            </a:r>
          </a:p>
          <a:p xmlns:a="http://schemas.openxmlformats.org/drawingml/2006/main">
            <a:r>
              <a:t>强调前台刷新不承担业务修复；跨进程 CommonEvent 只解决传递，不自动完成规则重放。</a:t>
            </a:r>
          </a:p>
          <a:p xmlns:a="http://schemas.openxmlformats.org/drawingml/2006/main">
            <a:r>
              <a:t>本页函数名可投屏，完整实现现场打开代码。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判断 Story 是否合格：它是否有独立 oracle，失败时能明确知道哪一层不成立。</a:t>
            </a:r>
          </a:p>
          <a:p xmlns:a="http://schemas.openxmlformats.org/drawingml/2006/main">
            <a:r>
              <a:t>不要把“实现账号同步”当一个 Story；那会让一个 Session 同时修改 Provider、Coordinator、Handler、UI 和 E2E。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现场让学员把一个模糊任务改成 Packet：必须补 allowed、forbidden、acceptance 和 stop。</a:t>
            </a:r>
          </a:p>
          <a:p xmlns:a="http://schemas.openxmlformats.org/drawingml/2006/main">
            <a:r>
              <a:t>Worker Packet 是跨 Session 的最小高信号上下文，不是把全部历史复制进去。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让两位学员扮演 Worker 与 Reviewer：Worker 只执行一轮，Reviewer 决定 PASS/FAIL/UNKNOWN/NEEDS_REPLAN。</a:t>
            </a:r>
          </a:p>
          <a:p xmlns:a="http://schemas.openxmlformats.org/drawingml/2006/main">
            <a:r>
              <a:t>重点是外部记忆与停止条件，不是自动化脚本能循环多少次。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这一页现场可复制两个 commit 的测试结果对照。</a:t>
            </a:r>
          </a:p>
          <a:p xmlns:a="http://schemas.openxmlformats.org/drawingml/2006/main">
            <a:r>
              <a:t>强调同一断言、同一输入序列；不要换一条更容易通过的命令。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不要逐条念提交。只讲 R5→R6→R7 的因果链，其他轮次作为完整证据背景。</a:t>
            </a:r>
          </a:p>
          <a:p xmlns:a="http://schemas.openxmlformats.org/drawingml/2006/main">
            <a:r>
              <a:t>每轮完成后必须写“新暴露的问题”，否则 progress 只是工作日志，不是外部记忆。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 MDM 段的认知高潮：AI 完成、测试全绿和业务交付是三件不同的事。</a:t>
            </a:r>
          </a:p>
          <a:p xmlns:a="http://schemas.openxmlformats.org/drawingml/2006/main">
            <a:r>
              <a:t>让学员给 overall 判定；只要设备门和系统事实未执行，不能给 PASS。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按用户要求，本页只保留可替换区域，不重复制作 MCP 介绍。</a:t>
            </a:r>
          </a:p>
          <a:p xmlns:a="http://schemas.openxmlformats.org/drawingml/2006/main">
            <a:r>
              <a:t>转场句：工具成功只表示动作被执行；下一页 Runner 会把 assertion 和 evidence 加回来。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现场不要只讲架构图：依次打开 rule_create.json、normalizer.py、runner.py、flows/executor.py、assertions/executor.py。</a:t>
            </a:r>
          </a:p>
          <a:p xmlns:a="http://schemas.openxmlformats.org/drawingml/2006/main">
            <a:r>
              <a:t>让学员回答每一层的输入、输出、失败语义和生成证据。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先让学员看两张截图给结论，再追问：系统规则是否真的存在？答案仍是 UNKNOWN。</a:t>
            </a:r>
          </a:p>
          <a:p xmlns:a="http://schemas.openxmlformats.org/drawingml/2006/main">
            <a:r>
              <a:t>内部 getPolicy/listRules 已存在；缺的是自动验收侧结构化 readback bridge。</a:t>
            </a:r>
          </a:p>
          <a:p xmlns:a="http://schemas.openxmlformats.org/drawingml/2006/main">
            <a:r>
              <a:t>设备不可用时也能做静态路由，但最终判定不能伪装成 PASS。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**T03 / Structured Acceptance Readback — TARGET**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```json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"result": "PASS|FAIL|UNKNOWN",</a:t>
            </a:r>
          </a:p>
          <a:p xmlns:a="http://schemas.openxmlformats.org/drawingml/2006/main">
            <a:r>
              <a:t>  "accounts": [100, 112, 123],</a:t>
            </a:r>
          </a:p>
          <a:p xmlns:a="http://schemas.openxmlformats.org/drawingml/2006/main">
            <a:r>
              <a:t>  "mode": "public",</a:t>
            </a:r>
          </a:p>
          <a:p xmlns:a="http://schemas.openxmlformats.org/drawingml/2006/main">
            <a:r>
              <a:t>  "signature": "100,112,123",</a:t>
            </a:r>
          </a:p>
          <a:p xmlns:a="http://schemas.openxmlformats.org/drawingml/2006/main">
            <a:r>
              <a:t>  "users": [{"id": 123, "isOpen": true, "ruleCount": 4}],</a:t>
            </a:r>
          </a:p>
          <a:p xmlns:a="http://schemas.openxmlformats.org/drawingml/2006/main">
            <a:r>
              <a:t>  "failures": [],</a:t>
            </a:r>
          </a:p>
          <a:p xmlns:a="http://schemas.openxmlformats.org/drawingml/2006/main">
            <a:r>
              <a:t>  "evidence": {"device": "...", "timestamp": "..."}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操作链：`build → install → activate admin → trigger → logs → getter → screenshot`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**课堂任务不是 5 分钟现场开发 getter，而是先冻结证据契约和 PASS 规则。**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C:\Users\mu\Desktop\code\ppt\harmonyos-sdd-ralph-workshop\harmonyos-sdd-workshop-media\anthropic\evaluator-optimizer.png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**同伴验收只问六件事**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`spec.md` 是否冻结账号事实、失败语义与提交点？</a:t>
            </a:r>
          </a:p>
          <a:p xmlns:a="http://schemas.openxmlformats.org/drawingml/2006/main">
            <a:r>
              <a:t>2. `design.md` 是否区分 intent、local apply、system truth、UI？</a:t>
            </a:r>
          </a:p>
          <a:p xmlns:a="http://schemas.openxmlformats.org/drawingml/2006/main">
            <a:r>
              <a:t>3. T01 是否真的出现过可解释 RED 与 GREEN？</a:t>
            </a:r>
          </a:p>
          <a:p xmlns:a="http://schemas.openxmlformats.org/drawingml/2006/main">
            <a:r>
              <a:t>4. T02 故障后是否恢复 identity，而非只恢复数量？</a:t>
            </a:r>
          </a:p>
          <a:p xmlns:a="http://schemas.openxmlformats.org/drawingml/2006/main">
            <a:r>
              <a:t>5. 设备证据是否来自真机，UNKNOWN 是否被诚实保留？</a:t>
            </a:r>
          </a:p>
          <a:p xmlns:a="http://schemas.openxmlformats.org/drawingml/2006/main">
            <a:r>
              <a:t>6. diff 是否完全落在任务允许边界？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结果只允许：`PASS / FAIL / UNKNOWN`。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Eval 层 | 检查什么 | 反例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Trace | Prompt、工具调用、diff、测试、是否越界 | 过程规范，但底层调用仍失败 |</a:t>
            </a:r>
          </a:p>
          <a:p xmlns:a="http://schemas.openxmlformats.org/drawingml/2006/main">
            <a:r>
              <a:t>| Outcome | 系统账号、policy、rules、signature、mapping | 页面偶然正确，但 AI 伪造账号事实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最终结论由 Outcome 决定；Trace 用于解释可信度、复现过程和发现越界行为。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![Evaluator–Optimizer：生成、独立评估、拒绝反馈与接受](harmonyos-sdd-workshop-media/anthropic/evaluator-optimizer.png)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&lt;sub&gt;讲师读图：Implementer 不能独自给自己打分。Reviewer 返回的必须是可执行反馈与缺失证据；只有达到预先冻结的 AC 才接受。图源：Anthropic《Building Effective Agents》。&lt;/sub&gt;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C:\Users\mu\Desktop\code\ppt\harmonyos-sdd-ralph-workshop\harmonyos-sdd-workshop-media\freerdp-stutter-scenario.jpeg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**任务背景**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基于 30 万行级以上开源库实现 HarmonyOS 远控应用。用户报告播放远端视频时出现卡顿，希望评估 HarmonyOS 硬件解码与 GPU 合成方案。当前没有与源码 commit、decoder path、CPU/FPS 绑定的 before 证据，因此根因和改善幅度都不能提前下结论。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本地 FreeRDP 快照：2014 个相关源文件 / 约 559,355 行</a:t>
            </a:r>
          </a:p>
          <a:p xmlns:a="http://schemas.openxmlformats.org/drawingml/2006/main">
            <a:r>
              <a:t>用户报告：远端视频播放卡顿</a:t>
            </a:r>
          </a:p>
          <a:p xmlns:a="http://schemas.openxmlformats.org/drawingml/2006/main">
            <a:r>
              <a:t>现有媒体：某次运行可见播放/交互，但未绑定 decoder path</a:t>
            </a:r>
          </a:p>
          <a:p xmlns:a="http://schemas.openxmlformats.org/drawingml/2006/main">
            <a:r>
              <a:t>第一目标：证明当前路径、建立 before 基线</a:t>
            </a:r>
          </a:p>
          <a:p xmlns:a="http://schemas.openxmlformats.org/drawingml/2006/main">
            <a:r>
              <a:t>最终目标：硬解路径可用、可回退、可验收、可维护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harmonyos-sdd-workshop-media/gpu-cpu-stutter-before.mp4 --&gt;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当前用 `freerdp-stutter-scenario.jpeg` 做场景占位，它不证明卡顿。正式授课应替换为 20–30 秒 before 视频，并同时录入 CPU/FPS 与 codec path；拍摄脚本见 `harmonyos-sdd-workshop-media/VIDEO_TODO.md`。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![FreeRDP 视频播放卡顿场景](harmonyos-sdd-workshop-media/freerdp-stutter-scenario.jpeg)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**从“读全库”改成“回答五个问题”**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协议：H.264 从哪里进入？</a:t>
            </a:r>
          </a:p>
          <a:p xmlns:a="http://schemas.openxmlformats.org/drawingml/2006/main">
            <a:r>
              <a:t>选择：command 被 GPU compositor consumed，还是回到 original GDI？</a:t>
            </a:r>
          </a:p>
          <a:p xmlns:a="http://schemas.openxmlformats.org/drawingml/2006/main">
            <a:r>
              <a:t>输出：格式、stride、plane 是什么？</a:t>
            </a:r>
          </a:p>
          <a:p xmlns:a="http://schemas.openxmlformats.org/drawingml/2006/main">
            <a:r>
              <a:t>显示：谁拥有 Surface，何时 present？</a:t>
            </a:r>
          </a:p>
          <a:p xmlns:a="http://schemas.openxmlformats.org/drawingml/2006/main">
            <a:r>
              <a:t>证明：怎样把 decoder、frame、owner、present 绑定到同一 run？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A["gfx-&gt;SurfaceCommand"] --&gt; B["ohos_rdpgfx_surface_command"]</a:t>
            </a:r>
          </a:p>
          <a:p xmlns:a="http://schemas.openxmlformats.org/drawingml/2006/main">
            <a:r>
              <a:t>    B --&gt; C["record_avc420_gpu_candidate"]</a:t>
            </a:r>
          </a:p>
          <a:p xmlns:a="http://schemas.openxmlformats.org/drawingml/2006/main">
            <a:r>
              <a:t>    C --&gt;|ready/consumed| D["OnSurfaceCommand → worker"]</a:t>
            </a:r>
          </a:p>
          <a:p xmlns:a="http://schemas.openxmlformats.org/drawingml/2006/main">
            <a:r>
              <a:t>    D --&gt; E["ProcessCommand → OH_AVCodec"]</a:t>
            </a:r>
          </a:p>
          <a:p xmlns:a="http://schemas.openxmlformats.org/drawingml/2006/main">
            <a:r>
              <a:t>    E --&gt; F["native buffer → CompositeFrame"]</a:t>
            </a:r>
          </a:p>
          <a:p xmlns:a="http://schemas.openxmlformats.org/drawingml/2006/main">
            <a:r>
              <a:t>    F --&gt; G["pendingFrameId"]</a:t>
            </a:r>
          </a:p>
          <a:p xmlns:a="http://schemas.openxmlformats.org/drawingml/2006/main">
            <a:r>
              <a:t>    G --&gt; H["matched EndFrame → PresentComposite"]</a:t>
            </a:r>
          </a:p>
          <a:p xmlns:a="http://schemas.openxmlformats.org/drawingml/2006/main">
            <a:r>
              <a:t>    C --&gt;|not consumed| I["original SurfaceCommand"]</a:t>
            </a:r>
          </a:p>
          <a:p xmlns:a="http://schemas.openxmlformats.org/drawingml/2006/main">
            <a:r>
              <a:t>    I --&gt; J["gdi_SurfaceCommand → H264 subsystem/GDI"]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右侧放上下文预算：`1 个问题 + 1 条调用链 + 3–7 个接口 + 1 个假设 + 1 条下一步命令`。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已有后端 | 作用 | AI 应该学习什么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FFmpeg / OpenH264 | 通用软件路径 | 正确性 fallback、YUV 输出语义 |</a:t>
            </a:r>
          </a:p>
          <a:p xmlns:a="http://schemas.openxmlformats.org/drawingml/2006/main">
            <a:r>
              <a:t>| Windows Media Foundation | Windows 硬解 | 平台 decoder 生命周期与失败传播 |</a:t>
            </a:r>
          </a:p>
          <a:p xmlns:a="http://schemas.openxmlformats.org/drawingml/2006/main">
            <a:r>
              <a:t>| Android MediaCodec | 移动平台硬解 | buffer 输入输出、format change、释放 |</a:t>
            </a:r>
          </a:p>
          <a:p xmlns:a="http://schemas.openxmlformats.org/drawingml/2006/main">
            <a:r>
              <a:t>| HarmonyOS `OH_AVCodec` | 目标平台 | 能力查询、AVBuffer/Surface、stride/plane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中央结论：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共同契约：Create → Configure → Start → Input → Output → Validate → Release</a:t>
            </a:r>
          </a:p>
          <a:p xmlns:a="http://schemas.openxmlformats.org/drawingml/2006/main">
            <a:r>
              <a:t>平台差异：API、buffer ownership、output format、Surface/lifecycle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A["gfx-&gt;SurfaceCommand"] --&gt; B["ohos_rdpgfx_surface_command"]</a:t>
            </a:r>
          </a:p>
          <a:p xmlns:a="http://schemas.openxmlformats.org/drawingml/2006/main">
            <a:r>
              <a:t>    B --&gt; C["record_avc420_gpu_candidate&lt;br/&gt;原生顺序校验 + consumed policy"]</a:t>
            </a:r>
          </a:p>
          <a:p xmlns:a="http://schemas.openxmlformats.org/drawingml/2006/main">
            <a:r>
              <a:t>    C --&gt;|ready| D["Ohos...SurfaceCommandCallback"]</a:t>
            </a:r>
          </a:p>
          <a:p xmlns:a="http://schemas.openxmlformats.org/drawingml/2006/main">
            <a:r>
              <a:t>    D --&gt; E["Avc420GpuCompositor::OnSurfaceCommand"]</a:t>
            </a:r>
          </a:p>
          <a:p xmlns:a="http://schemas.openxmlformats.org/drawingml/2006/main">
            <a:r>
              <a:t>    E --&gt; F["worker → ProcessCommand"]</a:t>
            </a:r>
          </a:p>
          <a:p xmlns:a="http://schemas.openxmlformats.org/drawingml/2006/main">
            <a:r>
              <a:t>    F --&gt; G["OH_AVCodec → OH_NativeBuffer"]</a:t>
            </a:r>
          </a:p>
          <a:p xmlns:a="http://schemas.openxmlformats.org/drawingml/2006/main">
            <a:r>
              <a:t>    G --&gt; H["CompositeFrame → pendingFrameId"]</a:t>
            </a:r>
          </a:p>
          <a:p xmlns:a="http://schemas.openxmlformats.org/drawingml/2006/main">
            <a:r>
              <a:t>    H --&gt; I["matched EndFrame"]</a:t>
            </a:r>
          </a:p>
          <a:p xmlns:a="http://schemas.openxmlformats.org/drawingml/2006/main">
            <a:r>
              <a:t>    I --&gt; J["PresentQueuedUpdate → EGL swap"]</a:t>
            </a:r>
          </a:p>
          <a:p xmlns:a="http://schemas.openxmlformats.org/drawingml/2006/main">
            <a:r>
              <a:t>    C --&gt;|not consumed / takeover 前失败| K["original SurfaceCommand"]</a:t>
            </a:r>
          </a:p>
          <a:p xmlns:a="http://schemas.openxmlformats.org/drawingml/2006/main">
            <a:r>
              <a:t>    K --&gt; L["gdi_SurfaceCommand → H264 subsystem / GDI"]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Architecture Decision：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在 OHOS RDPGFX bridge 保存原回调并受控拦截；</a:t>
            </a:r>
          </a:p>
          <a:p xmlns:a="http://schemas.openxmlformats.org/drawingml/2006/main">
            <a:r>
              <a:t>App compositor 直接管理 OH_AVCodec、native buffer、retained composite 与 EndFrame；</a:t>
            </a:r>
          </a:p>
          <a:p xmlns:a="http://schemas.openxmlformats.org/drawingml/2006/main">
            <a:r>
              <a:t>takeover 前失败回到 original GDI/H264 subsystem；</a:t>
            </a:r>
          </a:p>
          <a:p xmlns:a="http://schemas.openxmlformats.org/drawingml/2006/main">
            <a:r>
              <a:t>先用 AVC420 证明一帧 decode→pending→matched present→fallback；</a:t>
            </a:r>
          </a:p>
          <a:p xmlns:a="http://schemas.openxmlformats.org/drawingml/2006/main">
            <a:r>
              <a:t>AVC444、队列与生命周期在边界证实后分任务推进。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SP-01 bridge 与 compositor 进入 arm64/HAP 产物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SP-02 真机选择 hardware decoder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SP-03 一个 AVC420 sample 产生可关联的 native output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SP-04 同一 frame 完成 composite / pending / matched EndFrame present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SP-05 注入失败时回到可解释 fallback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每个节点下固定显示一条证据：build symbol、decoder name、frameId + stride/planes、owner + EndFrame、fallback reason。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Task | 主要源码边界 | 一个可观察结果 / Stop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T00 | diagnostics only | 保存同 runId before；路径不明则不归因 |</a:t>
            </a:r>
          </a:p>
          <a:p xmlns:a="http://schemas.openxmlformats.org/drawingml/2006/main">
            <a:r>
              <a:t>| T01 | `InstallRdpgfxDiagnosticsHooks`、`bridge_attach`、decoder init | bridge + hardware decoder 真机成立；只编译成功则停 |</a:t>
            </a:r>
          </a:p>
          <a:p xmlns:a="http://schemas.openxmlformats.org/drawingml/2006/main">
            <a:r>
              <a:t>| T02 | decoder input/output、`OH_AVBuffer_GetNativeBuffer` | 一帧输入输出可关联；format/native buffer 不明则停 |</a:t>
            </a:r>
          </a:p>
          <a:p xmlns:a="http://schemas.openxmlformats.org/drawingml/2006/main">
            <a:r>
              <a:t>| T03 | candidate policy、`OnSurfaceCommand`、`ProcessCommand`、`PresentEndFrame` | consumed→owner→matched present 闭环；GDI/GPU 双写则 FAIL |</a:t>
            </a:r>
          </a:p>
          <a:p xmlns:a="http://schemas.openxmlformats.org/drawingml/2006/main">
            <a:r>
              <a:t>| T04 | `EnqueueSurfaceCommand`、worker compaction | 连续队列有界；depth/age 持续增长则停 |</a:t>
            </a:r>
          </a:p>
          <a:p xmlns:a="http://schemas.openxmlformats.org/drawingml/2006/main">
            <a:r>
              <a:t>| T05 | target generation、pause/detach/recreate | resize/后台/重连拒绝 stale task；旧 target 可写则 FAIL |</a:t>
            </a:r>
          </a:p>
          <a:p xmlns:a="http://schemas.openxmlformats.org/drawingml/2006/main">
            <a:r>
              <a:t>| T06 | AVC444 candidate/compositor、LC retained state | 单 decoder + LC + EndFrame；复用 420 假设则停 |</a:t>
            </a:r>
          </a:p>
          <a:p xmlns:a="http://schemas.openxmlformats.org/drawingml/2006/main">
            <a:r>
              <a:t>| T07 | 测试/脚本/报告，生产代码冻结 | 同场景 A/B；缺 CPU/FPS/path/soak 则 UNKNOWN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sequenceDiagram</a:t>
            </a:r>
          </a:p>
          <a:p xmlns:a="http://schemas.openxmlformats.org/drawingml/2006/main">
            <a:r>
              <a:t>    participant H as Human / Planner</a:t>
            </a:r>
          </a:p>
          <a:p xmlns:a="http://schemas.openxmlformats.org/drawingml/2006/main">
            <a:r>
              <a:t>    participant E as Explorer</a:t>
            </a:r>
          </a:p>
          <a:p xmlns:a="http://schemas.openxmlformats.org/drawingml/2006/main">
            <a:r>
              <a:t>    participant I as Implementer</a:t>
            </a:r>
          </a:p>
          <a:p xmlns:a="http://schemas.openxmlformats.org/drawingml/2006/main">
            <a:r>
              <a:t>    participant T as Tool / MCP</a:t>
            </a:r>
          </a:p>
          <a:p xmlns:a="http://schemas.openxmlformats.org/drawingml/2006/main">
            <a:r>
              <a:t>    participant R as Reviewer</a:t>
            </a:r>
          </a:p>
          <a:p xmlns:a="http://schemas.openxmlformats.org/drawingml/2006/main">
            <a:r>
              <a:t>    H-&gt;&gt;E: 只读调用链与 GAP</a:t>
            </a:r>
          </a:p>
          <a:p xmlns:a="http://schemas.openxmlformats.org/drawingml/2006/main">
            <a:r>
              <a:t>    E--&gt;&gt;H: codebase map + evidence index</a:t>
            </a:r>
          </a:p>
          <a:p xmlns:a="http://schemas.openxmlformats.org/drawingml/2006/main">
            <a:r>
              <a:t>    H-&gt;&gt;I: 单张 Task Card</a:t>
            </a:r>
          </a:p>
          <a:p xmlns:a="http://schemas.openxmlformats.org/drawingml/2006/main">
            <a:r>
              <a:t>    I--&gt;&gt;T: 最小 diff + verify commands</a:t>
            </a:r>
          </a:p>
          <a:p xmlns:a="http://schemas.openxmlformats.org/drawingml/2006/main">
            <a:r>
              <a:t>    T--&gt;&gt;R: build/device/log/video evidence</a:t>
            </a:r>
          </a:p>
          <a:p xmlns:a="http://schemas.openxmlformats.org/drawingml/2006/main">
            <a:r>
              <a:t>    R--&gt;&gt;H: Trace + Outcome verdict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左侧循环播放黑屏片段；右侧逐层点亮：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1 command received</a:t>
            </a:r>
          </a:p>
          <a:p xmlns:a="http://schemas.openxmlformats.org/drawingml/2006/main">
            <a:r>
              <a:t>2 candidate path / decoder selected</a:t>
            </a:r>
          </a:p>
          <a:p xmlns:a="http://schemas.openxmlformats.org/drawingml/2006/main">
            <a:r>
              <a:t>3 compressed input queued</a:t>
            </a:r>
          </a:p>
          <a:p xmlns:a="http://schemas.openxmlformats.org/drawingml/2006/main">
            <a:r>
              <a:t>4 decoded output valid</a:t>
            </a:r>
          </a:p>
          <a:p xmlns:a="http://schemas.openxmlformats.org/drawingml/2006/main">
            <a:r>
              <a:t>5 format / stride / planes valid</a:t>
            </a:r>
          </a:p>
          <a:p xmlns:a="http://schemas.openxmlformats.org/drawingml/2006/main">
            <a:r>
              <a:t>6 command state applied</a:t>
            </a:r>
          </a:p>
          <a:p xmlns:a="http://schemas.openxmlformats.org/drawingml/2006/main">
            <a:r>
              <a:t>7 render owner correct</a:t>
            </a:r>
          </a:p>
          <a:p xmlns:a="http://schemas.openxmlformats.org/drawingml/2006/main">
            <a:r>
              <a:t>8 EndFrame present</a:t>
            </a:r>
          </a:p>
          <a:p xmlns:a="http://schemas.openxmlformats.org/drawingml/2006/main">
            <a:r>
              <a:t>9 next frame continues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底部写：**第一处与预期不一致的位置，才是本轮修改边界。**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frameId | codec | decoder | output | owner | present | verdict |</a:t>
            </a:r>
          </a:p>
          <a:p xmlns:a="http://schemas.openxmlformats.org/drawingml/2006/main">
            <a:r>
              <a:t>|---:|---|---|---|---|---|---|</a:t>
            </a:r>
          </a:p>
          <a:p xmlns:a="http://schemas.openxmlformats.org/drawingml/2006/main">
            <a:r>
              <a:t>|  |  |  |  |  |  | `PENDING`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本表等待真实 frame trace；不再使用未绑定 run 的示例 frameId 冒充证据。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下方两句：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“API 调用成功”只证明一个边界。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“截图看起来正确”只证明一个采样瞬间。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工程能力 | 必须回答 | 失败表现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生命周期 | create/start/flush/stop/destroy 与 Surface generation 如何对齐 | resize 黑屏、旧 target |</a:t>
            </a:r>
          </a:p>
          <a:p xmlns:a="http://schemas.openxmlformats.org/drawingml/2006/main">
            <a:r>
              <a:t>| 队列/背压 | 输入、输出、present 队列是否有界 | 延迟增长、内存上涨 |</a:t>
            </a:r>
          </a:p>
          <a:p xmlns:a="http://schemas.openxmlformats.org/drawingml/2006/main">
            <a:r>
              <a:t>| 所有权 | GDI、AVC420、AVC444 谁能写 XComponent | 闪烁、旧帧覆盖 |</a:t>
            </a:r>
          </a:p>
          <a:p xmlns:a="http://schemas.openxmlformats.org/drawingml/2006/main">
            <a:r>
              <a:t>| 回退 | 硬解失败能否回软件/原生路径 | 静默黑屏 |</a:t>
            </a:r>
          </a:p>
          <a:p xmlns:a="http://schemas.openxmlformats.org/drawingml/2006/main">
            <a:r>
              <a:t>| 可观测性 | 能否证明 decoder、frame、owner、present | 只能靠肉眼猜 |</a:t>
            </a:r>
          </a:p>
          <a:p xmlns:a="http://schemas.openxmlformats.org/drawingml/2006/main">
            <a:r>
              <a:t>| 回归 | 输入、resize、后台、重连是否仍工作 | 局部 GREEN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左：before 视频槽位（`PENDING`；当前为空）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中：硬解路径待填证据链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commit:</a:t>
            </a:r>
          </a:p>
          <a:p xmlns:a="http://schemas.openxmlformats.org/drawingml/2006/main">
            <a:r>
              <a:t>runId:</a:t>
            </a:r>
          </a:p>
          <a:p xmlns:a="http://schemas.openxmlformats.org/drawingml/2006/main">
            <a:r>
              <a:t>candidate path: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frameId / output:</a:t>
            </a:r>
          </a:p>
          <a:p xmlns:a="http://schemas.openxmlformats.org/drawingml/2006/main">
            <a:r>
              <a:t>owner / matched EndFrame:</a:t>
            </a:r>
          </a:p>
          <a:p xmlns:a="http://schemas.openxmlformats.org/drawingml/2006/main">
            <a:r>
              <a:t>present: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右：现有可见媒体与验收矩阵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结论 | 当前证据 | 判定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源码存在 bridge→compositor→EndFrame 路径 | 源码锚点与调用链 | `REPO FACT` |</a:t>
            </a:r>
          </a:p>
          <a:p xmlns:a="http://schemas.openxmlformats.org/drawingml/2006/main">
            <a:r>
              <a:t>| 当前 arm64/HAP 构建通过 |  | `PENDING` |</a:t>
            </a:r>
          </a:p>
          <a:p xmlns:a="http://schemas.openxmlformats.org/drawingml/2006/main">
            <a:r>
              <a:t>| 真机实际选择 OHOS hardware decoder |  | `PENDING` |</a:t>
            </a:r>
          </a:p>
          <a:p xmlns:a="http://schemas.openxmlformats.org/drawingml/2006/main">
            <a:r>
              <a:t>| 某次运行可见播放与部分交互 | `gpu-validation-video-playback-16s.mp4` | `MEDIA FACT / UNBOUND` |</a:t>
            </a:r>
          </a:p>
          <a:p xmlns:a="http://schemas.openxmlformats.org/drawingml/2006/main">
            <a:r>
              <a:t>| 某次运行出现黑屏 | `gpu-failure-black-screen-13s.mp4` | `MEDIA FACT / UNBOUND` |</a:t>
            </a:r>
          </a:p>
          <a:p xmlns:a="http://schemas.openxmlformats.org/drawingml/2006/main">
            <a:r>
              <a:t>| CPU/FPS 与卡顿改善 |  | `UNKNOWN` |</a:t>
            </a:r>
          </a:p>
          <a:p xmlns:a="http://schemas.openxmlformats.org/drawingml/2006/main">
            <a:r>
              <a:t>| resize/后台/重连长稳 |  | `UNKNOWN`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harmonyos-sdd-workshop-media/gpu-hwdecode-after.mp4 --&gt;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45b3826a8b43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d8312c0a5e4e13" /><Relationship Type="http://schemas.openxmlformats.org/officeDocument/2006/relationships/slideLayout" Target="/ppt/slideLayouts/slideLayout1.xml" Id="Rb99cc0eb8e1d46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9cc0eb8e1d46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e5d4e425f42d6" /><Relationship Type="http://schemas.openxmlformats.org/officeDocument/2006/relationships/image" Target="/ppt/media/image.png" Id="R8cffc02244ac4c3d" /><Relationship Type="http://schemas.openxmlformats.org/officeDocument/2006/relationships/notesSlide" Target="/ppt/notesSlides/notesSlide1.xml" Id="Rd16b8a8ca8614d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7717baf01744ea" /><Relationship Type="http://schemas.openxmlformats.org/officeDocument/2006/relationships/notesSlide" Target="/ppt/notesSlides/notesSlide2.xml" Id="Rdd574287cdd447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bc685984846dd" /><Relationship Type="http://schemas.openxmlformats.org/officeDocument/2006/relationships/image" Target="/ppt/media/image2.png" Id="R20d2ff89394f4721" /><Relationship Type="http://schemas.openxmlformats.org/officeDocument/2006/relationships/notesSlide" Target="/ppt/notesSlides/notesSlide3.xml" Id="R967448de8a9b45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649c67d874d0f" /><Relationship Type="http://schemas.openxmlformats.org/officeDocument/2006/relationships/notesSlide" Target="/ppt/notesSlides/notesSlide4.xml" Id="Rcd33f445d32744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9104fc89e4e79" /><Relationship Type="http://schemas.openxmlformats.org/officeDocument/2006/relationships/notesSlide" Target="/ppt/notesSlides/notesSlide5.xml" Id="R091b5361512148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51d9ff51754f39" /><Relationship Type="http://schemas.openxmlformats.org/officeDocument/2006/relationships/notesSlide" Target="/ppt/notesSlides/notesSlide6.xml" Id="Rfb756951941441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41306a95c4631" /><Relationship Type="http://schemas.openxmlformats.org/officeDocument/2006/relationships/notesSlide" Target="/ppt/notesSlides/notesSlide7.xml" Id="R01aea8267c0443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1b8b8bc33417e" /><Relationship Type="http://schemas.openxmlformats.org/officeDocument/2006/relationships/notesSlide" Target="/ppt/notesSlides/notesSlide8.xml" Id="Rde4bca16ff0c4b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4e1c0892a4601" /><Relationship Type="http://schemas.openxmlformats.org/officeDocument/2006/relationships/notesSlide" Target="/ppt/notesSlides/notesSlide9.xml" Id="Rfb95fd3ba0d64c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760accf0f4740" /><Relationship Type="http://schemas.openxmlformats.org/officeDocument/2006/relationships/notesSlide" Target="/ppt/notesSlides/notesSlide10.xml" Id="R6c6b092eb70b4de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dc17e80fb4495" /><Relationship Type="http://schemas.openxmlformats.org/officeDocument/2006/relationships/notesSlide" Target="/ppt/notesSlides/notesSlide11.xml" Id="R6d05a3d8aeb8400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ca542d61948a6" /><Relationship Type="http://schemas.openxmlformats.org/officeDocument/2006/relationships/notesSlide" Target="/ppt/notesSlides/notesSlide12.xml" Id="R64dad0bca2d643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8d4f5e2d34162" /><Relationship Type="http://schemas.openxmlformats.org/officeDocument/2006/relationships/notesSlide" Target="/ppt/notesSlides/notesSlide13.xml" Id="Rbb4c35bece8b4a0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31af7bd004c89" /><Relationship Type="http://schemas.openxmlformats.org/officeDocument/2006/relationships/notesSlide" Target="/ppt/notesSlides/notesSlide14.xml" Id="R1f1b4e95a7ce44b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a76ed941f489e" /><Relationship Type="http://schemas.openxmlformats.org/officeDocument/2006/relationships/notesSlide" Target="/ppt/notesSlides/notesSlide15.xml" Id="R2138750fdd1941d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ce070606d4b56" /><Relationship Type="http://schemas.openxmlformats.org/officeDocument/2006/relationships/notesSlide" Target="/ppt/notesSlides/notesSlide16.xml" Id="Rff26b5c6b5374b9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2ae59c6c6487a" /><Relationship Type="http://schemas.openxmlformats.org/officeDocument/2006/relationships/notesSlide" Target="/ppt/notesSlides/notesSlide17.xml" Id="Rc0f7889975d347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752570262454d" /><Relationship Type="http://schemas.openxmlformats.org/officeDocument/2006/relationships/notesSlide" Target="/ppt/notesSlides/notesSlide18.xml" Id="Rf7b3b12112c64dd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8a865e431d44a9" /><Relationship Type="http://schemas.openxmlformats.org/officeDocument/2006/relationships/notesSlide" Target="/ppt/notesSlides/notesSlide19.xml" Id="R9ac4ad0e63c84fb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82c5bb8a544da" /><Relationship Type="http://schemas.openxmlformats.org/officeDocument/2006/relationships/notesSlide" Target="/ppt/notesSlides/notesSlide20.xml" Id="R28ae8e1485ec48c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d787b1ee14f15" /><Relationship Type="http://schemas.openxmlformats.org/officeDocument/2006/relationships/notesSlide" Target="/ppt/notesSlides/notesSlide21.xml" Id="R76a60b01179143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ace7971284108" /><Relationship Type="http://schemas.openxmlformats.org/officeDocument/2006/relationships/notesSlide" Target="/ppt/notesSlides/notesSlide22.xml" Id="R651dcf279feb408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2ccb8970447a8" /><Relationship Type="http://schemas.openxmlformats.org/officeDocument/2006/relationships/notesSlide" Target="/ppt/notesSlides/notesSlide23.xml" Id="R9d56438e1ea848f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09b5fea8d4a7a" /><Relationship Type="http://schemas.openxmlformats.org/officeDocument/2006/relationships/image" Target="/ppt/media/image.jpeg" Id="R411650c01e7042b4" /><Relationship Type="http://schemas.openxmlformats.org/officeDocument/2006/relationships/notesSlide" Target="/ppt/notesSlides/notesSlide24.xml" Id="Rddf3418a32164ec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dada97a1b415b" /><Relationship Type="http://schemas.openxmlformats.org/officeDocument/2006/relationships/image" Target="/ppt/media/image2.jpeg" Id="Ra8bab51730f34eb3" /><Relationship Type="http://schemas.openxmlformats.org/officeDocument/2006/relationships/image" Target="/ppt/media/image3.jpeg" Id="R9b452238dfce4c7f" /><Relationship Type="http://schemas.openxmlformats.org/officeDocument/2006/relationships/notesSlide" Target="/ppt/notesSlides/notesSlide25.xml" Id="R0f54c11bf16e498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b6e1afdfc74f39" /><Relationship Type="http://schemas.openxmlformats.org/officeDocument/2006/relationships/notesSlide" Target="/ppt/notesSlides/notesSlide26.xml" Id="Rf171e3c94b5d4a9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8b0e82c804df7" /><Relationship Type="http://schemas.openxmlformats.org/officeDocument/2006/relationships/image" Target="/ppt/media/image3.png" Id="R6845055a0bd247d2" /><Relationship Type="http://schemas.openxmlformats.org/officeDocument/2006/relationships/notesSlide" Target="/ppt/notesSlides/notesSlide27.xml" Id="Rd60f00e8c9584eb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8553797e164acb" /><Relationship Type="http://schemas.openxmlformats.org/officeDocument/2006/relationships/image" Target="/ppt/media/image4.jpeg" Id="R212323bd677d4b8d" /><Relationship Type="http://schemas.openxmlformats.org/officeDocument/2006/relationships/notesSlide" Target="/ppt/notesSlides/notesSlide28.xml" Id="R34a512d095f3485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1c29a34c244ca" /><Relationship Type="http://schemas.openxmlformats.org/officeDocument/2006/relationships/image" Target="/ppt/media/image5.jpeg" Id="Raccc43940d6a4569" /><Relationship Type="http://schemas.openxmlformats.org/officeDocument/2006/relationships/notesSlide" Target="/ppt/notesSlides/notesSlide29.xml" Id="R5bdb4895178b47e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b09413ee34906" /><Relationship Type="http://schemas.openxmlformats.org/officeDocument/2006/relationships/image" Target="/ppt/media/image6.jpeg" Id="Rfea3ad40ab0849f6" /><Relationship Type="http://schemas.openxmlformats.org/officeDocument/2006/relationships/notesSlide" Target="/ppt/notesSlides/notesSlide30.xml" Id="R6781e39290eb42f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e22b96f94421b" /><Relationship Type="http://schemas.openxmlformats.org/officeDocument/2006/relationships/notesSlide" Target="/ppt/notesSlides/notesSlide31.xml" Id="Rc822b9798f60487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3064d375741e6" /><Relationship Type="http://schemas.openxmlformats.org/officeDocument/2006/relationships/image" Target="/ppt/media/image7.jpeg" Id="R5ca6ae5fccdd4d1b" /><Relationship Type="http://schemas.openxmlformats.org/officeDocument/2006/relationships/notesSlide" Target="/ppt/notesSlides/notesSlide32.xml" Id="Ra0e2cb44a76c428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07665299a4e6d" /><Relationship Type="http://schemas.openxmlformats.org/officeDocument/2006/relationships/notesSlide" Target="/ppt/notesSlides/notesSlide33.xml" Id="R378965e6189f423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3946675834b28" /><Relationship Type="http://schemas.openxmlformats.org/officeDocument/2006/relationships/notesSlide" Target="/ppt/notesSlides/notesSlide34.xml" Id="R7087537fe2cb447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a8dee059642f9" /><Relationship Type="http://schemas.openxmlformats.org/officeDocument/2006/relationships/image" Target="/ppt/media/image8.jpeg" Id="R8fdd563b12594aa6" /><Relationship Type="http://schemas.openxmlformats.org/officeDocument/2006/relationships/notesSlide" Target="/ppt/notesSlides/notesSlide35.xml" Id="R45a52203b91e41b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420dcd40e463e" /><Relationship Type="http://schemas.openxmlformats.org/officeDocument/2006/relationships/notesSlide" Target="/ppt/notesSlides/notesSlide36.xml" Id="Rf6019541fca04b5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83e68a5a948e6" /><Relationship Type="http://schemas.openxmlformats.org/officeDocument/2006/relationships/notesSlide" Target="/ppt/notesSlides/notesSlide37.xml" Id="Re2d89e65d110471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b4b27b91e463f" /><Relationship Type="http://schemas.openxmlformats.org/officeDocument/2006/relationships/image" Target="/ppt/media/image9.jpeg" Id="Ra5e7173009e34589" /><Relationship Type="http://schemas.openxmlformats.org/officeDocument/2006/relationships/notesSlide" Target="/ppt/notesSlides/notesSlide38.xml" Id="R2f6ebeac76df425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04b256e93496d" /><Relationship Type="http://schemas.openxmlformats.org/officeDocument/2006/relationships/image" Target="/ppt/media/image4.png" Id="R38dc74b943c54c73" /><Relationship Type="http://schemas.openxmlformats.org/officeDocument/2006/relationships/notesSlide" Target="/ppt/notesSlides/notesSlide39.xml" Id="R9f169cfdeb8144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fc02244ac4c3d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7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9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7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78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79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d2ff89394f4721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95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6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8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94A5A7F-07EB-485D-B254-AB680A19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AF9BC-A7D9-4F69-A490-A5907F62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14BA7E-62E4-4F21-B14B-56DEECED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案例：账号变化后，防火墙为什么仍可能“看起来正常、实际错误”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28741-D70B-449C-8B17-7605B5C2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真实业务：系统账号增删后，policy、规则、本地记录和跨进程 UI 必须收敛到同一账号集合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C5A76-C5CA-434C-9AD8-6E39DBDC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396CA1-9CEA-4E1C-BE2A-B7F4E94A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2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业务链路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EC74EA-C03F-4A05-A7C4-D43BAC2A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BBB9ED-33E5-4A54-A52D-38146C5B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55BFB4-87E4-4285-A7AB-8C7F117D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系统账号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新增 / 删除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1FA094-F994-49EA-BB8B-FBF032D2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914525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D0014-4C20-4EAB-B352-F645D073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71918-30B4-48AA-AC7C-97C2F2F4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6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EnterpriseAdminAbility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收到事件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A4677-795F-4782-A9A0-68337167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14525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0B42AE-C895-430A-83A6-0613815E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E318C-A869-4B4C-9B21-A9E1AE82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读取稳定全量快照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036FE2-D163-4E98-BF69-AB3FCB7E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914525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E8361F-DB99-4210-B1F3-656C89E6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A46738-BA0A-4ECF-9739-C122CBF3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 Handler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prune / policy /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619C3A-A50D-4989-8633-F068688A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1914525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893C9-C07D-48A4-A548-BA9C564A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694896-48A0-459F-955E-D340F7FE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 + UI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跨进程刷新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8F280C-F6D0-4FE4-A77E-30A2E01E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为什么这是复杂需求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81600B-723C-463E-A39C-A89C4357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2359D9-9A23-4BE0-A955-713B5E6A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33718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8CAD2-F8DE-4EE2-87B9-6C59C04E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3528D9-A185-4ACC-9129-B00CA690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206CE1-A799-4739-833E-A4DF4D8A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24250"/>
            <a:ext cx="3086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事件已到达 ≠ 完整账号列表已经更新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首次读取仍可能是旧集合，直接 dispatch 会把旧事实当成功。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F3592-D5D7-46F6-864F-8D7F1E1D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67050"/>
            <a:ext cx="33718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4BE0E4-AD23-4073-AE3C-FDE16BA7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B18F75-BCE2-4AB5-979B-CB4BBADB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90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B515B8-8278-49EF-9C88-A58F2930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524250"/>
            <a:ext cx="3086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1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Handler 返回 success ≠ UI 进程全部刷新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Extension 与 UI 是不同进程，进程内回调和静态变量不能跨边界。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93059D-64A5-4741-BF0F-9592B0C3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67050"/>
            <a:ext cx="33718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3679CA-1EE2-4A9C-8AFE-9A42613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81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7822ED-76F7-43CA-B578-CC774434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90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49C064-61B7-4DF4-83F7-85690565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524250"/>
            <a:ext cx="3086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页面显示正确 ≠ 系统 policy / rules 已正确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截图只能证明 UI；最终验收还要读取每个账号的系统事实。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FA72DC-B07B-407E-885B-7A348467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81550"/>
            <a:ext cx="105346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E4EBF3-9DFD-48CB-8B50-9F1EBD26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本案例真正要交付的不是一个页面，而是一条可证明的状态收敛协议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150FC3-0E95-4FC1-B8D4-6D112683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B1D25F-ED5B-4855-AE80-8FA8E1B0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435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最新账号集合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86CA2D-7DC1-48C1-994E-13E304A7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33400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4E2EB8-AC38-4244-B524-56277444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3435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每账号 policy / rules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47E6EF-ADA6-4DA5-A03D-B04E6DAB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33400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510F59-27CF-4C4C-A54D-7BA72519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3435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3 本地 intent / deployment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243310-8909-4DB2-8754-DEDCD1A0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523741-6119-4A7C-8F5B-2C432204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0547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4 跨进程 UI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D15C96-48B0-4D7C-9355-342504AB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69595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9EF9F56-2570-4446-9424-ABEA857A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70547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5 失败保持与可回滚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837C61-01A7-4331-A5B5-C4B0F261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证据：evidence/mdm/account-cross-process-log.md；功能入口：EnterpriseAdminAbility.onAccountAdded/Removed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717D201-27BB-4A4C-A886-F004F4F2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922EC6F-BF9A-4EEE-BC17-7E84D77A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21135A3-80A6-4445-A9E1-29B173EA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58FF9-CC8D-4529-8F55-FE933C8B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13DEBE-442C-4766-8113-2563ADD7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先生成六份文档，再允许 AI 写代码：每一阶段都有出口门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4B7A1-4EC3-4FAB-BD06-EF8AAEB4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这些不是课件占位，而是本案例已经生成、可回读、可审查的真实 Markdown 产物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8F27A5-E938-4F0C-B727-A073909C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9556B7-FFBD-4640-8DE4-F54AE29F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620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1C9D8-3677-4081-BBEA-895E88C2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954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9F2FC-94D2-4621-81AA-727BD964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47A59B-08D3-4E9F-A872-B48C786F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E11A6-F524-4A03-AE5E-5FE31A70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生成内容：来源 / 术语 / 冲突 / 缺口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08493-6457-414B-A81D-A3C1B9BD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A8462-620D-4AAC-A644-6A3EC5AB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860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Gate：关键需求有 ID 和证据路径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EF9880-DC1B-46E4-86C1-064780E1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620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6E26DA-5E64-4D5B-8B71-167B31F4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954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32ED1B-1BF6-4D45-B381-35F672A4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049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81DF16-DFCC-4373-80FD-B1A7969F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ECC22-B630-47DD-B8F3-8BB2E4B2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28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121F36-B60C-4318-BD64-220F5373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670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02A5E-2E28-4FE2-8A59-095A27B7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Gate：真相源、所有权、失败语义冻结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1FD9DB-1434-4814-AF54-5E8E6E5D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620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3BA928-30B5-47EA-9385-1A43BB3D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954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0DB369-F52A-4831-861C-609CFC8A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49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FAD9E9-A825-4940-96AD-132CBD3E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66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03-防火墙账号同步RFC.md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19939C-40BA-4791-B10D-FD691C27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28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生成内容：范围 / 状态 / 不变量 / API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988963-C16E-4F26-8571-332F9C21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670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E1300D-9295-4354-AF7C-9B97BF8A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860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不再重新猜架构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D3AF4D-DAEF-44C1-8467-5E1ECB38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432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841775-B271-4847-A948-DD5F909CB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584388-0478-4E25-B166-FE7F0B80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77CA4-5C2F-4AD1-B895-EB4454B7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D4CA6A-28D7-4FAE-B987-FB09C1DD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生成内容：依赖 / Worker Packet / oracle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AE9CA-268B-4CFD-BF71-89C94E71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65C2DC-4919-4DEE-A4E5-C2EE0886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672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 Story 可独立证明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570DF4-0819-4B56-8367-1C5CB2AF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432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7DBBD5-1EFB-4349-9D2D-B4DF3C1E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766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6198EF-AE14-4FC0-B72A-899D2C8A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7A3866-05DC-4D65-BBFF-A6D7C596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D236C9-B8F3-4E23-8A3E-6149EABD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10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生成内容：task / progress / evidence / stop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6586F6-E26D-4B02-B1EE-18233085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482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75569A-F997-4CFA-AC90-3C0DA8B7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672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Gate：每轮有结论、有下一步、有停止条件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6CED77-1552-4140-AAB9-20487B2E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432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0FC7C3-652A-4B82-8112-5EB12866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766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8FE90B-9A45-4381-B486-904668D0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861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F2A942-BE9E-4D65-BF8F-25D1D074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48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9CA345-68BD-4F95-B789-F1F327BD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0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生成内容：UT / E2E / 设备 / 系统回读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BF23623-1BF1-4E11-B1BA-9602BC30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482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AB866F-43FF-4B16-BA1D-38E77DF2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6672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FAIL / UNKNOWN 分层判定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383277-B95E-4C4C-9ACE-F14003F9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0953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A8789C1-984A-43EA-9DB2-5B37894C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9DD3C5-ACC7-4108-A37B-ED1B3571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00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01…md  →  02…md  →  03…md  →  04…md  →  05…md  →  06…md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EAF4B9C-46AC-49BA-8C35-DEB38160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95975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规则：先更新文档，再改代码；下一阶段只引用已经冻结的事实。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4159930-F65A-4F51-8736-E8E4251C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真实目录：case-materials/mdm/README.md；主稿：harmonyos-sdd-ralph-workshop.md#第9-25页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35F6F0D-86F2-4F56-838B-FAAB9C1B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3C55A83-23AD-43B3-9E92-C8D99E1B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220BC3B-67C1-4BEE-BABD-1B40B51D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0251BF-6D41-4AFE-A365-4A341F9D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73A57-34B2-44DE-95D2-D6D5DBC6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资产同步不是收集文件，而是把冲突和可信边界暴露出来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5056C-56F1-4DF1-B308-233D518D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同一需求在原始 Excel、AI 修正版、PRD 和代码中有四种表达；必须先做证据对照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8DC9D-9F34-4E1D-8956-FF647892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CC3BE1-AB0F-42A8-802B-F62C3DBA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314325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3F83D-4292-4ED8-B0CF-9A219FEB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5A62D-50D5-4AFE-932B-4DF4CBE5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真实输入资产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AA8091-855B-4B19-BE4A-9660B28B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0975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docs/00-原始输入/信创工具需求清单.xlsx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docs/00-原始输入/…_AI修正版.xlsx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docs/01-UX设计/index.html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docs/02-总体设计/PRD.md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docs/02-总体设计/总体设计RFC.md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docs/03-模块设计/防火墙管理组件设计说明.md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F07DBE-65C0-4E6A-BB4E-53D4967C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352550"/>
            <a:ext cx="76581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D1B2A-BC3C-4DCD-9B11-31F4C8CB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466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真实冲突：Excel 第 4 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E60D4A-A525-44A5-A4F8-9C29EEAC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733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E1139-187F-4927-8651-4DFFE865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847850"/>
            <a:ext cx="22479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9AABA-C776-4111-80B0-52774D69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CC06A-EDB6-430A-AD48-318F6015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71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原始需求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A3833D-93A4-43DF-8094-3E613DFF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30505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公共 / 专用 / 自定义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三种缺省配置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F7F32-068A-4956-8978-EE77F9C5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288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E1760B-221D-40B5-A7C3-60EEB86B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47850"/>
            <a:ext cx="22479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04E2F1-388F-4FF9-B254-AA2918FB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7BC3D7-6F1E-4B3C-8C0B-CBD153DC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71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AI 修正版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4E9CA3-FA0A-4DB2-A1C5-BC18B517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30505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把问题改写成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IP / 域名 / DNS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848371-5D10-414C-9622-1BF69721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288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06924E-2983-4618-B9A4-7877B7D4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47850"/>
            <a:ext cx="20764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3786D0-0188-4592-8F67-1D64CE07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62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50C9D2-D8F5-4826-9483-DDCB58FF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71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仓库事实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984F87-968E-4A90-9B56-CF63E8DB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305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两条正交维度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不能互相替代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0DF9DB-93A6-4FEC-80E8-76EBFF19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1101090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2C07C7-AF0F-4650-A01E-20B70959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需要生成的冲突矩阵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CC08BD-54E4-4CAA-B39D-BAA69D63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450D81-84BF-473B-9F93-54B769DA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2ED8D2-92FF-495C-BAEE-E8479BFC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8671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23ED1B-A7ED-4C71-BECE-93AE0833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8671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能证明什么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8DD43B-A596-47D4-AF4F-C90669F7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6715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不能单独决定什么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0263C9-1DEA-4EC9-B6DD-D5C37E64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0F2612-35D2-431D-9290-D24FC38A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829050"/>
            <a:ext cx="2333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97B166-A550-4217-9659-440006CF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829050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880BA0-2B35-46ED-9A4C-A904AD62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29050"/>
            <a:ext cx="3219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05205B-A84A-442A-A5D8-4BDAC1E6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原始 Excel C4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48BD5D-43D1-4AF2-99AF-CEAA669D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0050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public/private/custom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5265B1-880F-43E7-8D04-9154E463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2100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产品场景意图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4D67AF-C371-4B30-9C91-083728A4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平台接口与失败语义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E3D34D-C6EF-4B5F-B665-7AC7310E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修正版 C4:E4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81DC46-B44A-4552-9138-A7D1FF8C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33900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IP/DOMAIN/DNS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2FFA4C6-C7C5-4765-B31B-41EDD25E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5339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候选平台映射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5289E1-9A71-4959-885A-05F09581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339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产品取舍是否正确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344B88-FA54-48E5-B6DE-1820C450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PRD + 模块设计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22D71A-BB42-4B67-9AEA-F96E1AD1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57750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两条维度并存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AAA6AE-800B-4281-A729-8F0CBAE1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8577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当前设计决策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BEE8B8-E4A7-4F0C-8FF4-7D1742C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设备能力是否真实可用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DE2E1BE-782D-4A79-AF93-41BB0CCE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 + 测试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62C002-D858-4C6F-8268-D5126039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81600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PresetMode + RuleType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46F32D-EA6E-4098-B64F-C35F26DC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1816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已实现事实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278A39-72B5-4FEF-866E-7A58F8A0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816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最终系统状态是否正确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12FC7B-51D2-47C6-9A02-3322FB88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06680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15B1C1-476F-4776-916C-A4A70529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91175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6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决策：主模式 public/private/custom；规则类型 IP/DOMAIN/DNS。AI 的专业表述只是候选解释，不是产品决策。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161D89C-328D-450E-9BD7-9367581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生成产物：case-materials/mdm/01-资产同步与冲突清单.md；原始输入：security_tool/docs/00-原始输入/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BD8798-7428-41A9-8559-C4C1908B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2A6A70-FB82-422C-B432-B84232BE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375122-7A81-4D5C-A5D8-877C30D8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8EAB5-A159-4ACB-ADE7-2AF87681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F978F-3CB5-4D15-A0BD-E18AA5AA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资产阶段的交付物：一张能追到来源、代码和测试的需求卡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DD30A-3DCE-487B-A0BC-ADB2CE90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这张卡会被 RFC、Story、测试和最终 acceptance 反复引用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3DDFC-02F3-49C9-8A84-2B759A9D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3CE7A-CF63-4EC9-9362-32748C51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6858000" cy="44577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E54A3-37BB-4FE9-A84C-4934B196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D73EB-D758-42FF-89EE-18A3CA09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561E5-D4CB-4FD3-B4DE-DCEF2C8F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65913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FW-MODE-001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原始需求清单.xlsx!Sheet1:C4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PRD.md#7.2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term: 防火墙主模式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decision: 保留 public/private/custom 产品模式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implementation: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FirewallPage.ets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FirewallModeStrategy.ets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mode-strategy.test.ets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scripts/e2e/cases/firewall/mode_cards.json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conflict: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source: AI修正版.xlsx!Sheet1:C4:E4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resolution: 规则类型与主模式是两个维度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RESOLVED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1475A-18D2-469E-9D71-2E207622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428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机器可检查的四道门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88063-9F01-44FF-A5DE-EE6EA840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954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C4395-719B-452A-A45D-2C90354E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47850"/>
            <a:ext cx="3829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1C71B-B159-4998-9551-70B02E82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0C919-4210-4277-AA99-87199E12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90725"/>
            <a:ext cx="28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CAF86A-D9CC-43A3-A568-BF88373C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6215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来源有坐标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59B877-98F9-479C-B1D7-41B9FD34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09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不是“PRD 里写过”，而是 Sheet1:C4 / PRD#7.2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67323D-0A72-4762-A4C7-97548B44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81300"/>
            <a:ext cx="3829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3D7970-F852-4B15-AA4F-E96233BD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8442B-8871-448F-838F-FB70C6BF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24175"/>
            <a:ext cx="28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D6F5E6-4F30-43D4-AEFC-F43F56BC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9560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实现有锚点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A32845-7C61-44A8-BC2C-ADEF2DEE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能跳到 FirewallPage / ModeStrategy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16DA60-63EA-4FC9-AAA4-FFEC8861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714750"/>
            <a:ext cx="3829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21B50D-2C1F-4C6C-85C6-F99009CA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481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91D660-5A86-427A-ABC2-8E14333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57625"/>
            <a:ext cx="28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CBA4D5-4E33-49E3-A130-554BC480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2905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测试有路径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101522-9B7A-461F-809F-1B610988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767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UT 与 E2E 分别证明哪一层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DE866B-2BCD-4113-83D5-D349B5E4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48200"/>
            <a:ext cx="3829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9865C5-D550-4D2F-86D3-7B593A7D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1E23ED-1012-498A-BB08-2BF6D96A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91075"/>
            <a:ext cx="28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9DF4D-575C-4BAC-85F7-9FA6B48D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6250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结论不越界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E648E7-7054-4E53-8491-B02272F6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0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RESOLVED 只表示冲突已决策，不表示设备已验收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2C1437-0FC6-4114-8030-4DE0E3F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619750"/>
            <a:ext cx="38290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9152EF-A805-465B-A06C-195ECFC5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676900"/>
            <a:ext cx="3562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 通过 → 才进入方案推导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EDEAE0-EDA1-4E7F-9206-1EBC13D3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真实产物：case-materials/mdm/01-资产同步与冲突清单.md#同步后的需求卡示例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2CB959-9F11-423C-8E60-334140A6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D4982A-0D6C-4863-AE89-E464F47D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F265F3-3570-4A17-8F1E-2D8C6EBE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56B5F-6D08-48EA-9DDB-1B8A12D3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A313C6-7D6E-4B4C-A823-499D8885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方案推导先攻击失败模式，再用 ADR 冻结真相源与职责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0FCE6-CE37-4092-A37C-64053BE6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Feature：系统账号变化后，防火墙系统状态和本地状态收敛到最新账号集合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0EF0F-B3A3-41CA-AB40-E7D90C5F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F5B6F-A57A-4367-8555-2059D256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四个候选方案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5ED16-FE40-4249-8D9D-A8AE1865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13036-85F6-4CC3-A150-A4400C08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90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4D944-1F37-4600-95FA-CF476AE1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Provider 直接做副作用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30348-AC1D-49AF-B0F2-B0E7FDA1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真相源与业务耦合；其他模块无法复用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512557-8D68-4349-A7D6-48E2F244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717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FE8838-C86F-44B6-BD49-70FF43D7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812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A7B28B-0D82-4734-B715-897BAF29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95450"/>
            <a:ext cx="2590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177454-0A27-45C4-86AF-8B54437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直接信事件 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91203E-20A3-43BA-85FE-644FC5EF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171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不是完整集合；删除/并发语义不完整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2002FE-2AD5-4875-BA94-A5ADE9A0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717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422843-A6C6-48CF-B12F-E154222A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812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6284B9-4E85-43AD-8520-485C36DE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95450"/>
            <a:ext cx="2590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0D5B5-C971-43BA-82EE-5B15602C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页面重进强刷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CEC6C8-61FC-4F62-8A44-211CE41D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71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UI 看似更新，后台 policy 仍可能错误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F8DFF-6640-4471-9AFF-97ADE6B7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717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EF6187-5157-4DA7-9C06-FB75F592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812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607653-D613-4193-A2C1-726F8D81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95450"/>
            <a:ext cx="2590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9565B-B3E9-4334-A1A5-29109166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097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07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Coordinator + Snapshot + Handler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12CBA3-8D4D-45C7-8703-80E10A7C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71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真相源单一、可扩展、可测试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A98897-4884-455D-A4AA-CCC71F9E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717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501B1D-70AD-426E-8030-B78D32FD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5812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EA8ED7-A69D-471C-A5D3-80489B32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6191250" cy="28003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78E488-1896-41FC-B2A5-D1C6C461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592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02-方案推导与决策记录.md → ADR-FW-ACCOUNT-001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C2206F-622B-4E6D-AF2B-7A1ACA10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95B4BE-9934-4BAA-938C-DA693996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92455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question: 账号事件后以什么作为同步输入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selected: 稳定的完整账号快照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truth_source: SystemUserProvider.loadAvailableUserIds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trigger: EnterpriseAdminAbility account event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rejected: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直接使用事件 ID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Provider 内执行业务副作用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强刷作为修复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failure_semantics: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empty_or_error: preserve local truth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added_not_visible: bounded retry, then incomplete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A89F15-E4DE-4A95-8CDE-F609D1D7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43250"/>
            <a:ext cx="455295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61DA7D-4F0F-46B9-8D88-6A7060D3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1C97E1-5253-41B6-BA5A-4C479E9E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67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冻结后的职责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D28E5C-D11C-4FB6-9CA7-E6CB694A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600450"/>
            <a:ext cx="4267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2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事件入口：只发触发信号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Provider：只读完整事实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Coordinator：防抖 / 单飞 / 计算差量 / 分发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Handler：执行业务副作用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UI：只消费稳定结果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A2ED90-614B-4EF5-9377-AAFC4DBA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629150"/>
            <a:ext cx="455295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DC1226-C55E-4F77-875F-86436CD7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743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04EFA8-E73E-4907-851C-70B48640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752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954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什么证据会让 ADR 重开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02C29E-44E7-49A6-A0DF-2FF8CF03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086350"/>
            <a:ext cx="4267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同设备上账号 ID 长期不可见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Handler failure 需要自动重试/队列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新模块需要共享账号快照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设备时延不满足 400/200/5 的稳定窗口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FB1AA7-E335-49F0-AF90-04C1EE95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生成产物：case-materials/mdm/02-方案推导与决策记录.md；专项方案：docs/superpowers/plans/2026-07-02-firewall-account-reconcile.md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A2C5ACE-8320-4F7B-9057-617850FE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72A565-E741-4AFE-A146-C160C934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A7BE3C-E8D9-4A72-84E6-CAD43C09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9EAFD-B7AF-4294-AC0D-D40100DC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420D4-6818-496D-A54D-75306DE7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最小穿刺用同一个断言推翻假设：事件到了，完整账号集合未必已更新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481011-D1B5-481B-8C59-1188479F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FR-ACC-001：旧账号快照不得提前进入 Handler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82E5F-FF8F-4BF1-A444-53C0A4EA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82EEE-3B80-429A-A9C0-0C2FAF3E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旧实现为什么错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72B0DA-FDC5-4FF6-AFC5-620ED4B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747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D06DB-D78C-408E-9F1B-1F0CCE28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2381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7BC89-C91A-4A5E-A50F-B38489CE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71650"/>
            <a:ext cx="222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onAccountAdded(123)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96E8D-3975-49EF-A9F6-0F0BD8A9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57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28B28-0160-4553-9220-AC90837E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95450"/>
            <a:ext cx="2381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CA0F9F-C9AB-4E1D-8086-59510D1B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71650"/>
            <a:ext cx="222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[100,122]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B6AD23-5784-44E2-AF93-3F8EA533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857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3A543F-AC6B-4122-89E7-6897BFEF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2381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729194-1C91-478D-88CF-550A6E25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71650"/>
            <a:ext cx="222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立即 dispatch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FABD7-B930-4185-BE45-45147429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57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118BEC-B209-453E-BBF1-7681DA02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95450"/>
            <a:ext cx="2381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2ED337-8BE6-4C44-BF0E-9CA8E10C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222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123 无 policy /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7D2FA1-43C7-4EE4-AFF3-AB6AB3BF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5219700" cy="2333625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199A2-419D-4B6A-9FC5-FBD8F537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evidence/mdm/t01-red-green.md → 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0BFB07-F27F-4857-BC28-752D65A1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747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FDFA3F-65E4-430B-BACC-456FC48E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4953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ERROR: Error in should wait until added account appears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before dispatching handlers,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expect 1 equals 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 account-change-coordinator.test.ets:77:26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BUILD SUCCESSFUL in 16 s 961 ms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HVIGOR_EXIT=0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6405D-B1AE-4446-A84F-AEE4571A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71750"/>
            <a:ext cx="5600700" cy="2333625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2DD9CA-65AF-4A4B-9A1E-D065B934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670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最小修复：等待业务条件，而不是固定 sleep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58695A-38F4-48B3-8FD8-0F291357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337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06227A-C311-4B08-9761-F7BDF527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28950"/>
            <a:ext cx="5334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loadStableSnapshot(request)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read [100,122]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source=account-added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AND trigger=123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AND currentIds not contains 123: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 wait 200ms → retry (max 5)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stable=true  → dispatch once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stable=false → handler=0, publish=0, preserve previous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82CDA6-A6FA-47E6-99ED-D3B07291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33718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C7E848-80B3-4E71-89D6-036E65A8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51BB0A-152A-4A32-ACC3-7BAC49F0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48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怎么做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31986-BC94-49C1-B2DE-9875C9C4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581650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最小输入：先旧后新 / 一直旧 / removed；只改 Coordinator 协议。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531E2B-D8B3-4067-88BC-F10D82BA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24450"/>
            <a:ext cx="33718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6ACB91-D169-4F63-BE8C-A57BCA18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238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D3B9E5-BCB1-4F58-8642-3D20230E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48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B479FF-55C9-43D9-A242-A22E4D11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581650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query / handler / publish 次数，不只看 BUILD SUCCESSFUL 和退出码。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58BEFE-7B8C-4DF5-B7E2-5EF5E801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38862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1139D0-DA42-44FE-BA35-7AD1A605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238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26BFCE-D069-4149-9B47-06A529FC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48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不对怎么办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AD3B5F-E2BB-4F69-93F6-4586B535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581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 若来自编译、SDK 或 mock，不进入实现；先修验证链。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7DCE49-29B9-4DAE-A822-22436AD2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真实运行证据：evidence/mdm/t01-red-green.md；RED 4b372d0d → GREEN c0c1bc9f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E9126C-D33F-4C66-8CBC-FA9B414C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06DC7-93ED-4B32-98DA-F3623E58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2800EA-7190-45A7-B2A3-BE66D603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E3DCE-9FCD-4574-8BBD-7A7851BC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0994C-8615-4F87-A9C4-15785F5E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把决定写成系统契约：边界、状态、不变量和失败语义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E1BEF-2DE5-493C-842E-6DF84EC9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AI 只能在契约内实现，不能在代码阶段重新选择架构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DB8E5-A4FD-45E3-9DB9-C7BBC3A8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4F9EF7-5591-4966-8109-63ED4833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572000" cy="4572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E04F9-5D09-4C22-A922-DBAEC35C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0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03-防火墙账号同步RFC.md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DE696-912E-4409-9F02-E2EE34B2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DA681-622F-4AB1-B605-EEC840EA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05300" cy="401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范围：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账号新增/删除事件接入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完整集合、signature、added/removed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public/private 模式重放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custom 默认 policy（不扩历史规则）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删除账号本地清理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稳定事实通知 UI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不包含：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- Provider 内执行业务副作用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- UI 强刷替代同步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- 把 custom 历史 ALL 动态扩展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状态：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pendingRequest / running / previousUserIds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desiredEnabled / lastAppliedMode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lastAppliedUserIdsSignature / intents / deployments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87470-606D-460A-91D3-90B78DBB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RFC 的七条不变量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00059-A2BB-423C-8B1F-4C3EE30A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7EA86-ED8D-4D8B-AA69-13AE41BA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77165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8E8DA-B521-448C-B502-38F3052A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811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C5B0CA-C1E3-4289-A09F-D5CDA657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7165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42B83A-F5DA-487D-925A-29B603AD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0022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事件只触发，不充当完整真相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A84DE-7074-4A51-9824-572F1C61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28600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A67E6-733D-46D5-A0EE-4DF37CF1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2955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362450-02DA-4AB0-A742-E1BC8D39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8600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BD6507-8A6B-4171-9947-F5CD53D3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1457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新增账号可见后才允许分发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1C9AA9-D8D2-4624-AC1E-B17A4BE6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80035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F4379F-ED68-4ED8-BF4E-7E33F010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098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F6568D-63AB-44DC-B8DB-CBA6329E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D2CCFA-EB7B-4EBD-9074-92A03C08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2892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空/失败集合不能 prune 或重放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FA9A32-B518-44D1-835B-159641FD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31470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AD5C5-A1AC-449E-92B2-FC6ABE17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242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FAD9DA-EFB8-4B1F-A14D-C99EBBE6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1470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B180EE-BD5C-486F-89A0-AB2A6A72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4327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public/private 对最新集合生效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12FA8F-8BAE-4334-BBF3-77A2AF8C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2905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335A4-BE73-48BA-AAB5-AB05104F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385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212551-7B2D-4BA3-A012-691FD90B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82905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A2CC49-A37D-4198-A64F-2194711F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5762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custom 不扩历史规则作用域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D04847-FA82-4E43-A911-E53B87FD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4340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558FFB-A9CD-4186-8A5D-C4E0721E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3529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I6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891E73-44C5-4E83-96DA-C6AC41E9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4340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EC2D90-31BB-47E4-B4AB-5BD09C1F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7197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失败不能保存新 signature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D2F714-4185-4D92-9A38-F54131DC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85775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7BD83C-AFCE-4799-BFB4-8D562917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8672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136D49-7EC0-4C33-9997-AE86B86F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5775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907718-6EC2-452C-90A4-C18424FB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8632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UI 只消费稳定结果，不承担修复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486F0E-A105-4B8B-BDB2-723A121F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543550"/>
            <a:ext cx="60198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761F43-AFC7-4524-AF02-8F700E25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600700"/>
            <a:ext cx="575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41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审阅发现：I6 在当前实现中仍有原子提交与 rollback 缺口 → 生成后续 Story，而不是假装 RFC 已实现。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5EC2A3-A1F9-4EAB-9E11-83137190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真实产物：case-materials/mdm/03-防火墙账号同步RFC.md；项目契约：security_tool/docs/03-模块设计/防火墙管理组件设计说明.md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C0AD9B-7FB1-4B54-9E3B-6EB22F5A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35DC4A1-4A1E-41E1-9A2E-8F4CF0B4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78489E3-721F-4DA8-96A2-12E1D12E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819860-1084-4504-95A7-BCECDBA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8440EC-80F8-4FDF-AFC8-EA95FBD4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 RFC 映射到真实文件：现场沿调用链走到 netFirewall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1D78F-9CF2-4EA5-B71E-D7F36270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后台业务闭环负责状态收敛；前台跨进程闭环只负责消费稳定事实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73CAE-656C-4F49-A944-7D044DED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0CBA8-C1E6-4C3F-B843-511A2643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后台业务闭环（Extension 进程）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C54F5-D395-4BEC-A51C-E05278C1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87A67-49F5-4A0F-9705-3F02BD8D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4E9F7-43A2-4D8F-A730-CFCF2542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EnterpriseAdminAbility.ets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761E74-F326-4131-9F54-73E98E99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onAccountAdded / Removed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A93CD-2DCC-4AD2-9CC3-EB84BFAC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0C189-06AE-451D-9D81-C0D29BA8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010A6-2DB7-4C29-9D55-E8C05AF8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0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AccountChangeCoordinator.ets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2AFD2C-CE01-40D6-87D5-6B59894C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schedule → runPending → loadStableSnapshot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57533D-4F06-409E-9978-0F3189E5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374FF-838F-405F-9E98-59E45648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909746-1550-4662-9F3B-49D8FD5B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SystemUserProvider.ets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8915A9-5557-44D1-B3F8-6EE19A13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getOsAccountLocalIds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0DB7F6-F58E-4B17-A04B-2D4F4502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359B68-8EBA-4B08-AAEA-5F7ACB39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C2D41C-4848-4EA0-8172-D02100B3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0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FirewallAccountChangeHandler.ets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742C29-05E9-426E-A4C7-7DF5FD4F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prune → custom / public / private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51F2FA-570F-4348-9B49-B5FA9899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276215-F10D-4832-B411-C3510C3C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06C088-5B76-41D8-9368-6C1BB3D8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0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FirewallModeSwitchService.ets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5DB0E6-3AB7-4065-BEF8-9180831E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snapshot → clear → policy → rules → rollback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0E3C1D-511D-4CCB-8399-4F10E583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24FBEE-3719-4345-AA89-0FE4BA63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09D193-2E9C-4A93-AEFC-F6A36EE6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0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FirewallSystemRepository.ets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0B5CA4-FAFD-4CE9-BD3F-235B4E4B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get/set policy · list/add/remove rules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C861EA-391A-492B-9337-F7CDEDBC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08966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7BC44D-B737-40EC-AAFC-C140BF34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059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248C82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248C82"/>
                </a:solidFill>
                <a:latin typeface="Consolas"/>
                <a:ea typeface="Consolas"/>
                <a:cs typeface="Consolas"/>
              </a:rPr>
              <a:t>系统 API：getNetFirewallPolicy → setNetFirewallPolicy → getNetFirewallRules → remove/addNetFirewallRule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001008-F177-4717-99D3-B940236F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前台 UI 闭环（UI 进程）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F8A0D7-4686-4CBD-9FE7-52C74243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BA82B3-6243-42CC-88DC-3F61C28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EA8EF6-8463-4B6B-A9B5-B4550092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AccountChangeEventBus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AF236B-54D3-4254-8B73-5B320EB0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publishSnapshot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623B89-5D38-4EC4-85D4-EACE907A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195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B0E840-C427-4C72-912D-A34C4236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C769FA-50BC-4706-AFF4-65022B3F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commonEventManager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840B3E-B3DC-4A8D-A6E9-F5819C09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跨进程 publish / subscribe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D01C07-C131-4C61-960C-C23DBA28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8195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B13F65-E209-49EF-B56E-C009573F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F49E23-502A-404D-ABA3-95E50FEB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AccountRuntimeService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0D69FB-3C09-497A-AE05-2124637C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收到 signature / source / trigger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302BB3-8B01-4C57-9C49-8492AC71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195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35A699-655A-4958-B1F5-AC227F7E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61E03A-913D-4B79-86ED-7348571B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69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ApplicationRuntimeManager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AA916B6-494D-4CB2-82A4-5D4722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刷新 overview / rules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95BC914-930A-4ED1-93FE-FA23427C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8195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90B089A-B3BC-42BA-91A1-A27DEFBD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8752A4-CB4F-4D26-A535-FB459951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FirewallRulesViewModel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DD046F5-C320-4165-8B63-8767FD74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重读 users / policy / rules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5723B9A-3288-4C74-926D-FD05BB48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字段所有权与写入门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1E3CA6-D52D-4308-9219-EEB5143E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9D87833-5B2E-4B20-AEB3-3F46F8E9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2571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7BE9512-D1A8-4FFD-B4E9-856B77B4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AC79962-BF3B-40E3-B2AA-EBE319F7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34BBD38-8BBB-4A81-B706-2515F3AD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4673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previousUserIds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快照稳定后、Handler 分发前更新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58DCCE4-A2A0-4957-821F-EA42F2D6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010150"/>
            <a:ext cx="2571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8D40BF5-4D30-4FE8-95D2-EC742CFB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7F693B2-7185-496C-84E2-65758DFC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LocalRepository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C2648CB-FB52-4A4D-AAAB-6833D0C0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4673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desiredEnabled / lastAppliedMode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业务成功后写入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E43B1A2-CCC9-4EF2-B377-759C4189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010150"/>
            <a:ext cx="2571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2079767-75D2-4B4C-943A-29ADF44E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02FABB2-0274-4F78-A244-7F5EEA50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签名门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93FADCB-122A-43DB-A6EF-BA491507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4673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lastAppliedUserIdsSignature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整体成功后才允许更新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07AEAE8-88EB-4F78-8C67-FD552A49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010150"/>
            <a:ext cx="2667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C13BF18-CF7E-4613-92E7-406A382B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5AD3CF6-32D3-47B0-B7DB-0D1B348A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14B3B44-33C5-483E-AE4D-A2026602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4673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userOptions / display model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只消费，不修复后台状态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2F6A52A-4113-44BA-9C74-8E36D950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代码级证据：case-materials/mdm/08-代码级调用链与课堂穿刺.md；真实代码：security_tool/entry/src/main/ets/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5F7807B-BDE2-42DE-AE06-129ADFA1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F6DCAF5-CB2A-4D68-96AA-58D3097F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1FA14F9-8E91-420D-B6B4-F644273B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7243E-20A9-49D3-8F02-641496EA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1DAFA-B8F7-458E-B3D7-E75853C5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按“可独立证明的能力”拆分，验收点直接写成 oracle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869A5-51EF-4A1F-811C-56EA3202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拆分边界跟着状态和职责走，不跟着页面或文件数量走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A57FF-1B6F-4AE7-A466-A989877D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E284F-773C-4BCA-A4D6-976887F8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03EE1-F59E-4604-BA75-0E15ECC2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BB3A9-DA4A-4A2A-A02E-B12AEFF8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事实源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1DCB69-6E26-43D3-9992-C97CD403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CAACA5-B201-4BCA-98F9-2F353ABA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1952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loadAvailableUserIds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1049C-65ED-422C-8535-A8752827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5D6989-6785-4E0E-B1D4-B39E609D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226695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AEA98-2653-4388-AFFF-C80D7E3D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241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去重 / 排序 / 失败态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4E34A0-7E47-4C65-8DD4-8279139A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42875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15F03-0417-41DF-9C8B-E5F0CA23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6210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F546C3-F305-4360-856D-9D576218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716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本地清理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3DF4CE-8BD4-4B81-87DC-EDD3F977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7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B07A4-9775-42AC-8528-17720A98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952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pruneUnavailableUsers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9C1005-7F90-4434-8E03-F9C74A39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05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24477D-C96D-4F6F-A53C-10591DFD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6695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9DE28C-62DD-4F81-88E1-707173F0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3241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intent / deployment / history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1B48E7-6D24-4D94-95BD-FBB57FAA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42875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900F2D-0FB6-4D83-BF36-B3559AA2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56210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D6DF8B-878B-4A2A-AE9E-FB1D99F2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716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协调器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BE9C03-48D8-43FF-8904-1FA94D16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7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68624C-3753-4E03-B8E6-5FB82E3B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952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schedule / dispatchHandlers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EDB284-7F12-4D29-B27A-EB029AA7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05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0EFB5B-1B95-4320-8E0B-D586F858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26695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8B639A-F10F-4E77-B158-D5E1DC5F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241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防抖 / 串行 / 失败汇总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AD85AE-EB68-4382-A464-615FA72C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8F5A68-D471-45A4-83F6-1FC916A3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997EE5-F786-4511-9818-CEAC89DD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13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S4 跨进程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B9E52D-770C-479D-9A0D-7EB576B0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81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79A702-DC3F-459B-B06D-CF0854CA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3762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publishSnapshot / subscribe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FDF4B2-BD57-466A-94AC-252EC12A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148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9A490D-5133-485D-8D63-E1F5ED7A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4076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BE3A22-92E3-42A3-B7B4-6A2A6E51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1338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只消费一条稳定事实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724DB1-1B1D-4F72-8C55-945CD9F0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23850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48E283-6673-49D5-ADD4-CCE2EC4B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7185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4C1D53-E715-43C8-A2F0-AA0C5814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813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S5 稳定快照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CED5AD-1A42-47EA-8359-BEA5B3C4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E06CB0-4789-446F-BFA3-F263AEC6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62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loadStableSnapshot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C04CDB-7FE6-4D76-A4CB-E5912686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148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EA7D56-2666-4F68-89C9-3F7C9EE3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076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BF9347D-4E06-4A93-A6FB-ECF9F2FA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338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old→new / never-visible / removed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DB9E37-1018-4129-9D24-37DA1E51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3850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B1969E-718A-4300-8093-9722CFCB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3A6231-B99D-4391-B955-48ACD082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S6 custom 签名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CA8135-DA7C-40F2-AEB7-630530AA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781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826119-EF6A-4EF6-BED9-BBB9E23E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762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applyPolicy + saveApplyState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244E6C-9BBE-4910-A2DE-8A01BDD7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148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98BCF1C-B0B3-43A7-ABE0-7B805AF0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076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EFC741A-D3A9-4BB6-9E28-28050B24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1338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不扩旧规则 / 保存失败=false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9E62658-D0A9-40E9-8945-C6358FB6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81600"/>
            <a:ext cx="108966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B339DD-C97B-4FD8-844E-C2F66AE3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Reviewer 只把真实缺口拆成下一轮候选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0DD064-C0A0-4FED-B4ED-19A93D91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S7 apply-state 原子性   ·   S8 真机 policy/rules readback   ·   S9 Handler 失败重试与 UI 可见性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F8499F8-84CF-4C28-BCB0-E3ECE245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真实产物：case-materials/mdm/04-Feature与Story拆解.md；依赖与提交映射来自 security_tool Git 历史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26559C4-CF7E-470C-9C63-15C41E7E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9BC56DA-D9BC-4B93-99CC-3CD6A210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3AB8A8-1EB7-48C7-A9B3-0C55956E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A0EA24-01E3-4B0D-A0F9-B4732213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4DD8D-DC1A-4B62-8E8B-6AE0E64E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让新 Session 无需重读全仓：只拿本 Story 的范围、AC 与停止条件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F956C-21EC-46B6-A0A3-2D367B2D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示例：S5 稳定快照协议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14D70-224C-41B0-87AE-618C712E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FC3AE-7778-4972-92BB-42EF82FB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6705600" cy="466725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D68AE8-3E7F-45DE-ACC4-B3B91FEA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643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→ S5 Worker Packet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498F4-BE92-4F73-823D-33E2CCE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17E6B-5177-4925-8FBF-341E46BF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6438900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story_id: FW-ACCOUNT-S5-STABLE-SNAPSHOT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goal: 只分发包含 triggerAccountId 的稳定快照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allowed_paths: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防火墙模块设计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AccountChangeCoordinator.ets::loadStableSnapshot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account-change-coordinator.test.ets::old→new/never-visible/removed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forbidden: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FirewallPage.ets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Provider 内业务副作用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old_then_new: query=2, handler=1, publish=1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never_visible: query=6, handler=0, publish=0, success=false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removed: query=1, handler=1, publish=1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repeated_failure_without_new_evidence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need_to_modify_forbidden_path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C4BCEB-0500-4509-8589-F1C23801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28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课堂现场怎么用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8E30F-1294-4A4B-8069-3AADB446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954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2E67B-77F7-48CD-8B7E-0B393EB4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3962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9A3D8A-E566-496B-B997-50DF9E39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8AED95-4668-4B5B-B995-27523B4A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335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7C73C1-EE24-478C-8D57-44E8A87F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66950"/>
            <a:ext cx="3676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只读 requirement / current evidence / allowed paths；先复述目标和禁止项。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6460F-F745-44D4-8BB7-2246721A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28950"/>
            <a:ext cx="3962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1DBD8B-A2F6-4FDB-90C9-56C321E9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43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BA4C98-5243-4B32-B5AF-7F83A819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52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RED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76C2AA-5C41-4A7F-82B5-6823ADD0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86150"/>
            <a:ext cx="3676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先让 old→new 在旧实现上失败；确认失败来自 query 次数和提前 dispatch。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7486AF-3771-4C3F-BE1C-FECE04AF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48150"/>
            <a:ext cx="3962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939412-4C51-4C46-A996-32C07D8C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C9916A-7137-4F22-B1AD-9D317E8B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71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Verify + Stop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B87109-DDDA-4CF7-84D2-2AE0D0D2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05350"/>
            <a:ext cx="3676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同一用例 GREEN；若必须改 forbidden path，返回 NEEDS_REPLAN，不扩大范围。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9DCD80-46F0-4766-B31E-02799708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67350"/>
            <a:ext cx="39624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394F26-227C-4D48-8C9E-05BFC874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543550"/>
            <a:ext cx="3695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判断 Packet 是否合格：新 Session 能否不问上下文就开始，并知道何时停。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39B8FA-063E-4A99-8075-C8196539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模板来源：主稿附录 D1 Task Card；真实示例：case-materials/mdm/04-Feature与Story拆解.md#Worker-Packet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FC5B3E-B8D4-4E9E-975F-838E6DFA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DEF5F8-9FE5-4439-91E6-65E904E9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1D864B-9D00-404B-879A-5E25174A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629B5-4600-40A8-993B-DCABEFFB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F755F-CDCB-4AC9-9F6D-77E8584E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的外部记忆不是聊天记录，而是 task / progress / evidence 三个可回读文件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A2A57-295A-4E73-AE14-8ED20ABA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一个 Story 一轮一轮收敛；每轮都必须写回结论和下一步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FDC54-CDD0-425F-AE88-AFE0C238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BD0A3-4BD4-4166-A5E5-4D4CB5E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626E5-5EE5-4C49-AA84-E27359B1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 Task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1C8C33-155C-49C1-8506-B20DFC7F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5049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6D863-2A06-4DA4-898F-18F94ABA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8ADA3-45BC-4DF2-8DC8-75DD16F1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制造 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41222-D64D-4059-BA0E-40D39A8E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5049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8D8E2-4DFF-4C67-BA4D-65EA85DC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C333F-81B2-4A77-8266-F112A0C0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0DFF4F-EFE8-44B1-97BB-35D30EC1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15049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A98F8F-32CA-4D00-B2AE-69DEC3CC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42F994-012C-4A23-A20C-7F81591C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验证 / 审阅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A90D5E-7A07-4664-9D1D-30789AE3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5049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83704B-0B0E-48F0-8255-B406178A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C301EA-7140-4059-B51B-FA40C5C4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写回 progress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9C7F20-5CDB-4180-90E8-FA3CC4FD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34671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F14DA-A337-44F5-B55C-74A5BE36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26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FB941-6D1C-4CB2-A77C-C67852BE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task.md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6B867D-F1A8-4D8C-AB46-69F60492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95575"/>
            <a:ext cx="3181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目标 / allowed / forbidden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 / stop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487F95-D5DF-42AA-BBE4-73CCF171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38375"/>
            <a:ext cx="34671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2D4015-B605-4072-A400-58657842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526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F13E65-5280-463D-A7E6-42D4475E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progress.md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572B03-5C3C-43D4-82F3-5AE15C12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695575"/>
            <a:ext cx="3181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本轮动作 / 命令 / 结果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发现 / 下一任务 / 状态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A592A5-9119-497A-9ECE-7C085FCF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38375"/>
            <a:ext cx="34671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130E88-C65A-40A5-98D1-49FD4EF2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526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B12251-E236-42CF-97B7-9BC3DF4B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62200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evidence/*.md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365885-D050-4606-BDFD-E385CF4D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95575"/>
            <a:ext cx="3181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RED / GREEN / 日志 / Diff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证据边界与可复核路径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F9A124-BE48-40E1-93C5-4759EA42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69913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D61D19-3024-4564-BE0E-C2DBEEA7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672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05-Ralph迭代运行账.md → progress 片段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B932C5-01D2-48B1-B811-6C0EA82C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2B0E3B-7C9C-4C7D-8BE2-57FA2AEC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67246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round: R7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story: FW-ACCOUNT-S5-STABLE-SNAPSHOT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input: R6 文档契约 + RED 基线 4b372d0d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loadStableSnapshot + bounded retry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verify: old→new / never-visible / removed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(same behavior test)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evidence/mdm/t01-red-green.md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next: custom signature semantics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stop_reason: story acceptance satisfied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39ABDB-89D7-4539-83FD-0CA280A4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886200"/>
            <a:ext cx="37528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180793-E161-4C14-8B4D-0B60A27E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EC7B97-B3F5-4DC8-9672-1598EBA5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100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什么时候继续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BF0DF4-602A-461E-A91D-2DD74C5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343400"/>
            <a:ext cx="3467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有新证据；当前失败仍在 allowed scope；下一次动作可推翻假设。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70DAF8-BC03-4213-A4AC-9C3DEE72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010150"/>
            <a:ext cx="37528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53F691-D320-4955-B221-BC9DCA84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16BCD6C-DC34-420A-BC6D-DE2BBBB9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什么时候停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636AB0-3AAC-49A5-B857-8BC2DC73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5467350"/>
            <a:ext cx="3467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同一失败重复且无新证据；需要越界改文件；设备事实不可见 → UNKNOWN。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F8E0AA-8566-4306-8EBD-ACD612D2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真实产物：case-materials/mdm/05-Ralph迭代运行账.md；模板：主稿附录 D Task Card / Progress Ledger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8AB797-727E-4149-BB8C-5D29B032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D03017-6E6D-4040-ABB8-6D2DD0DA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E96955-CFDA-4BAB-BFD9-7B9388B7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8CA00-33C0-4B0A-AF99-38BD960F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49251-6F20-48B5-9E9D-F37CF876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一轮真实 RED → GREEN：同一个断言证明旧快照不会提前进入 Handler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69F4A-4856-40EA-9C56-8840CB17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文档契约先落为反例测试，再做最小实现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32FB0-C0C4-4E9A-9696-F370D275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86F08-8AEF-427C-8937-2E4E645D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333750" cy="33909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6B017-FD1F-4E83-A9DC-01628070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RED @ 4b372d0d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758B0-DB36-405B-B741-B50EBF48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747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C10866-16EA-4864-B3C0-511AE4F1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306705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输入：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read #1 = [100,122]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read #2 = [100,122,123]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期望：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query=2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handler=1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signature=100,122,123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真实：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expect 1 equals 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旧实现第一次读取就 dispatch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注意：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BUILD SUCCESSFUL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HVIGOR_EXIT=0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74AA9-4CBB-43C8-A737-7CB41FBC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90650"/>
            <a:ext cx="3333750" cy="33909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C03826-205E-4B2A-9271-85E125E6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85900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MINIMAL DIFF @ c0c1bc9f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20A2ED-258C-4922-AA5F-66544C11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526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68627-5ABD-4E8E-8C44-E51D5A8A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306705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runOnce(request)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loadStableSnapshot(request)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!result.stable: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false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loadStableSnapshot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while added ID not visible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and attempt &lt;= 5: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delay 200ms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reread full set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只改：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Coordinator + 对应 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2722B-CE57-4F83-847F-D4A3FC6E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390650"/>
            <a:ext cx="388620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2242F-A241-45FD-A0AC-3E044569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859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GREEN @ c0c1bc9f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D4A048-FB5F-4B79-A497-01A0E1E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6CE278-10C5-4A12-86BE-2266F34F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47850"/>
            <a:ext cx="36195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class=AccountChangeCoordinator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test=should wait until added account appears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before dispatching handlers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result=Success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同一目标断言不再失败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query=2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handler=1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publish=1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独立 GAP：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00507008 getInitCoverageData failed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不随修复消失，不属于本 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8E30C0-F650-499A-99DF-89613A63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33718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74F977-1310-4026-B859-43DA01DD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FE8EE0-30B2-4164-A323-27493C9C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FFBA9D-D945-40B6-A01A-1202A8D1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467350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 与需求同源；GREEN 检查同一用例；构建、测试、覆盖率分开判定。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C65338-D621-4AE2-88FF-4A7AA5C7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10150"/>
            <a:ext cx="33718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CB7BFC-A438-424A-8137-D47DC741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91BF88-C1A7-4CC7-9432-4A2A67E4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证据输出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4C9495-7652-41D5-9F93-1B65AAFF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467350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commit + test name + input sequence + 计数 oracle + 原始错误文本。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64E8CC-8641-42EC-AFF6-D48A4CD1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38862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9F9BB8-2BEA-4AA1-8F1A-BFC7E34F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8B1B62-D181-4745-8AD4-60222C0E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不对怎么办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B3848D-674B-4867-A052-07D3975D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467350"/>
            <a:ext cx="3600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7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 RED 是 import/SDK/mock/编译错误，先修验证环境，不能推动生产代码。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C62328-6BD1-49BE-AFDF-DD88BCC5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真实证据：evidence/mdm/t01-red-green.md；命令：hvigorw test --mode module -p product=default -p module=entry@default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4C8678-7D48-47B4-AE62-AB003F05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0C9FB0-2771-40F3-B4D3-9CC4CC61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3F39FAE-79D2-4898-9B9B-76FED06B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833A4-1502-4113-A7F8-F9BB532D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A5D8F-392B-4DA0-A03D-DAC619A2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九轮提交不是进度清单，而是一条因果链：每轮暴露下一层未知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B5C40-F537-410B-B1D7-CC97E61E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Git 历史从“能读账号”逐步收敛到“稳定快照 + 跨进程消费”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8968B-681A-4169-876E-DADC81A5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E1D85-E0DB-4080-A656-349EC8AC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6ADA1-5BFA-4F15-BDFE-B8919D4A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954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00CAE-B9D8-4A18-BD1A-1554BEC6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C75B1-6DD2-4A9C-8A9B-5B9F460B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4954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9ea957d2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816A7-F804-4AFF-9F81-16FBC912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账号枚举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4A002-D421-4222-8ECD-0A7C466A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50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暴露：缺事件同步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73854B-14AC-4E7D-B63C-664BFD29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811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AB726-BBDC-495A-946C-0650846B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954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69AB0-708E-4DDC-8E5B-C7E77BF3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5049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CEFE56-93A4-4875-820F-1340D3CB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4954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09209bb9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7B3CF-8B92-4962-A920-DDCB812A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288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本地清理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300BEC-CB54-474A-A6FB-D2244671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050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暴露：缺协调入口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65B98-388C-4745-80DF-AA138389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811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E7FCFF-BF44-4E7D-8184-D8972529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954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F5BF54-D208-432E-B991-771C7F83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124F64-1F0E-4CBB-9D1C-9649AF20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4954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94ff17e7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902C74-D38D-45B1-B347-68C88309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288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Coordinator/Handler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7091F4-9538-41D1-9284-C747A353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暴露：跨进程不完整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9A850C-CA22-4FAB-920B-A18945BB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765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E284C2-0D10-418A-BB32-E0F70D87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908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F3ECCE-4162-460F-8628-882198A7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27B3D4-9D49-4317-86E7-CCF4A5E4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908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53751b2e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37F799-AE8E-4AB5-A5AB-BC3B4766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发布账号事实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81992D-B0E9-451F-93FF-172F9E41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暴露：规则未收敛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BBDD1B-C4ED-46F3-B544-E05EC0C0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765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E4C638-C009-4489-A22B-7EC30A98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9D84DD-2EFF-4261-BDB3-39A1415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003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5B84E1-9B27-4B4F-BDCE-0D15BA08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908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E7644A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E7644A"/>
                </a:solidFill>
                <a:latin typeface="Consolas"/>
                <a:ea typeface="Consolas"/>
                <a:cs typeface="Consolas"/>
              </a:rPr>
              <a:t>586880a3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AF9FD5-01A3-4023-A189-0A545C35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242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 reconcile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5D444B-642F-40AB-AE46-2073B838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04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暴露：发现时序窗口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A09F67-2D00-4204-9C89-A3DCBB17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765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5EF0FD-90A2-4E36-B8CD-45575380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908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E996D1-75D5-4D2D-BBDF-C29F7EE3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003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2F6267-9362-4955-A01D-2923B13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908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4b372d0d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F130A0-C0B4-43E3-9B11-FA97647B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242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先写稳定快照契约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632639-DDAD-421E-8550-8D2EBD9D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004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暴露：等待实现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56432E-67BA-40FF-ABF5-A3D8B348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719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CD9B6C-6A3B-4004-AD02-B5280BAA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862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7FC947-857F-4878-9DB1-A8F12AC3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R7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8CFED2-B9DC-4F5E-9561-6E26F4A9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862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58A58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58A58"/>
                </a:solidFill>
                <a:latin typeface="Consolas"/>
                <a:ea typeface="Consolas"/>
                <a:cs typeface="Consolas"/>
              </a:rPr>
              <a:t>c0c1bc9f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4BB062-C27B-4A29-834A-5DF29854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等待 ID 可见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45A470-E995-4C8C-8448-047F969A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暴露：custom 签名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6DE985-6C6E-4A41-8BEE-5AAEDC8E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A692FF-8FAF-4290-8A9F-33F3A1EA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862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E37740-9299-4B4D-8000-57CA8EAA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957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R8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FF9F613-F58F-4191-B7B4-DDCA90D3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862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9c7fb186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F07EEA-A2B5-4496-801E-05C8E9E9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 custom 签名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C07040E-EA4C-455B-AA28-0842F435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958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暴露：运行时职责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90BFF6-FDE9-437A-9225-CD47BEB2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719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3B2C751-E897-4415-9A4D-49505A3F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862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FF99ED1-E823-46BA-A43C-F48D810B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00CA21-CC06-490D-B3A9-B6DAAC2E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862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cecf6d17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80A067B-94AD-4570-8BFA-C9D71FC1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RuntimeManager 收口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F6FD8D5-9269-48E0-A6E6-D405806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958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暴露：整体验收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6D5BA44-ED13-4E2E-8E1C-B22FA261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8966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733EC1D-5ADA-4569-9C29-F8FEE159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关键因果链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17F89AC-0419-41AE-827A-D9D70ECC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86400"/>
            <a:ext cx="935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R5 发现新增账号时序窗口  →  R6 先写文档契约与 RED  →  R7 最小实现 + GREEN  →  R8/R9 继续收敛边界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05B2C54-AE86-42B2-94C5-2731859C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Git：security_tool commits 9ea957d2…cecf6d17；整理产物：case-materials/mdm/05-Ralph迭代运行账.md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B19228E-C390-4429-AF67-4A329451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1BBB0E5-C893-49D0-8A78-30495F1D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GIT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E5FA67-9DCA-41DC-BDC9-ADE3B75D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85656-54D2-4F86-9AA4-2CCAF3B9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C346EC-9325-4C6D-AB16-BEBB788B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文档先行的价值：816/816 之后，仍能发现没有被交付的不变量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D80D0-2044-4C83-94C5-D55D1EF0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RFC 是审阅 oracle；测试全绿只能证明现有测试覆盖的契约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C0AB0-752B-4F04-BC7E-ABF85466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4E6E5-1A5B-484E-BF50-59EB8E6C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1813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DCD44-4C52-4686-8966-6084CF6D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23B3A5-48FF-42F7-AED1-DF338DBE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已验证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076775-594B-496F-A5E5-E98350E9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47850"/>
            <a:ext cx="2895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文档一致性：PASS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资产结构：PASS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 UT：816 / 816 PASS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S5 稳定快照：PASS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46D61-6825-4CB7-B8E3-42BC0BC2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90650"/>
            <a:ext cx="31813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58997-1153-4FEC-BD4D-EEBDFCE9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04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109E11-1024-43A5-9E6E-501A0CB5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144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未执行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E0EE8C-E8DD-4AAB-9FFA-0D442EB2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47850"/>
            <a:ext cx="2895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HAP 构建：UNKNOWN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签名 / 安装 / 管理员：UNKNOWN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真机新增账号：UNKNOWN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system policy / rules readback：UNKNOWN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669C22-55F1-4EBC-8EA1-18A5CCF5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390650"/>
            <a:ext cx="42291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147F4-3952-4B4E-B855-9CE0DF81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04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52F56-F787-400C-805E-58D7ED77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144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反查出的代码缺口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7296E-727C-4F79-90E3-B232DE9C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847850"/>
            <a:ext cx="3943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saveModeApplyState 两次写 Preference，非原子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rollback 未恢复 last-applied signature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listRules 失败回退 []，混淆“空”与“读失败”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Handler 失败没有自动业务重试与 UI 可见性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1399F4-3749-41F1-98BC-4BB015D4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5562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CAC6A6-E5D7-4C76-B4B2-8C98D061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529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06-测试验收报告.md → 当前总判定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F5A126-9619-4BDE-AD37-E671BA8D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619D61-4554-4AB5-943E-EF0B9264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52959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story_code_and_unit_contract: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repository_static_contract: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device_delivery: UNKNOWN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business_system_truth: UNKNOWN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overall: INCOMPLETE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local_apply_state_atomicity: INCOMPLETE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rollback_restores_last_applied_signature: FAIL_BY_INSPECTION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rule_snapshot_distinguishes_read_failure_from_empty: FAIL_BY_INSPECTION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handler_failure_retry_and_ui_visibility: INCOMPLETE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175124-F9B8-42C6-93DC-9B105DFB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76600"/>
            <a:ext cx="5181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61F922-058F-4C29-8077-5BADDCF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29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证据等级不能互相覆盖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EC9C18-469F-4D3D-9458-4C415176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95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B65E5E-7F73-4122-A112-5B14E613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10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 / 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086DB7-B0E6-4DEF-8DA2-1F43511B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810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能证明纯逻辑与当前测试契约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25D737-7363-4FF9-998D-AE34C340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810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354458-3680-442F-A2F6-5AACCF5A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819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CE810C-9E5C-4237-8037-D1977ECE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91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 / 安装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355C1-47AC-45C3-9B84-AFFEAE3A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191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能证明包可交付到设备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F3ECC-2CD6-4356-9660-C7CB9507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91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378240-6D0C-4761-92FB-0D67C2E0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200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CE6816-8A5F-4B72-9737-570F8D7F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72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UI E2E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2C6C44-EE85-4765-9FF9-82489115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72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能证明页面流程与可见文本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8BD555-EC89-4AE8-BF2F-C909D6D9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26DC6B-B0E6-4F12-915F-944BD09D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581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110E91-5E16-4CCF-8FB5-4F1773E4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53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FEADC6-BC81-4BBC-A385-6762858C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能证明每账号 policy / rules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A85EAD-F6AE-4C3D-AAFE-E3FF00B4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953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4B9C5A-5695-4930-A0CB-630DCFEE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962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398EE4-1579-480E-9C8C-7C72A046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33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业务结果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91BF84-B61E-4E47-A477-441ECCF4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334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所有关键不变量都成立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6A0B68-91CE-47F3-A01A-3421FEF4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334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CE549C-24E8-45F2-AB60-F23D2D47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343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INCOMPLETE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E8C77B-31A0-487D-B71F-D206CE67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真实产物：case-materials/mdm/06-测试验收报告.md；系统回读缺口：evidence/mdm/firewall-runtime-readback.md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BC47B41-4651-44EC-A6FD-E3B0A449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2AF7DA0-ED81-42E7-B8D5-F976B3CD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CF5370-5D52-4A1D-9D1B-547EB215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B5AB8-F819-4852-BF81-4AECA34A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4CA75-C44C-4D2F-B78C-E6A19C0A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 把 AI 接到真实环境：本页保留给讲师已有材料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098A6-9060-4D6D-A5C1-A47C5CBB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本节只承担转场：前面定义“验什么”，后面用工具链真正执行并留下证据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B7939-7459-47F9-BBC3-91456E0D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93F74-3543-4BBB-9521-5F8A2C8C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10858500" cy="382905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F85C7-BD50-418C-AD34-1944B3B3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843C3-3F3C-4A89-94EB-5A111B8A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讲师材料粘贴区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0BB35B-810A-4C3B-9F6B-7B7878E3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【保留空白】MCP 架构 / 工具清单 / Connect → Build → Install → Operate → 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3F5684-A131-4F30-84E5-A789CB0D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009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建议放：真实工具调用截图、设备连接状态、build/install 输出、UI 操作与日志采集入口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B0A545-71BD-4AFE-8519-D50517AC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3238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21757A-E227-47C7-99EF-E8B4E4EE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435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前页：验收对象与证据等级已定义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4C6DC-DC7C-4820-9B90-394D3965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467350"/>
            <a:ext cx="3238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8A705-EDBF-428E-B52D-A47BC0FB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5435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本页：工具接入真实环境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F7A1AD-5C31-45BD-BC29-918DE006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467350"/>
            <a:ext cx="3238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93E1B1-1476-43CD-836C-143E9BFF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5435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下页：Case JSON 变成可执行证据链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32619-778A-4DA0-953E-3A89FA4B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【补充素材】替换为讲师已有 MCP 介绍页；不要用工具 action success 代替业务 assertion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B2E71-4CA5-4765-A995-CCF8C1BE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D0A23-77D5-4A6F-BBFD-8A6D7E90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EDE9D5-EF44-45D7-9706-56DC7ADF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09F57-41C8-4E01-A25C-B0834B48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2670A-197D-48D6-A653-0091D088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第一页：一个 Case JSON 如何走到 MCP / HDC，再生成结果与证据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75B63-7F39-4C7E-A01A-B1008E1F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课堂动作：打开真实文件，沿五个锚点完成一次静态穿刺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0DF1A-1D0B-4A30-A1A5-BFB04B68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1650c01e7042b4"/>
          <a:stretch xmlns:a="http://schemas.openxmlformats.org/drawingml/2006/main"/>
        </p:blipFill>
        <p:spPr>
          <a:xfrm xmlns:a="http://schemas.openxmlformats.org/drawingml/2006/main">
            <a:off x="1621070" y="137160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CF57C-0D38-4DD6-A619-9B60E8F7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真实代码路由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F3307-67AD-4A5C-90CC-C62C6B02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4FD73-F4FE-4BFE-960A-7911D66F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50233-B40A-4A01-A93B-633C994A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Case 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477E23-D7C1-4174-BADD-BA54B3F5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cases/firewall/rule_create.json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D5F26F-53B1-4289-A879-7597EBD3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01298E-F0C8-4BA8-B68D-3F1043A9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6BAAF-FAC1-4FFE-9FCA-4F8C9D92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02 Normalize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2A89AD-85E6-439E-A824-B0FA4B5D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core/normalizer.py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5E7A9F-4759-4BC9-AC82-5F86BEBB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7E748F-0368-4391-90BD-2200EFAB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5BF601-8444-408E-B742-126263D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03 Runner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1B0BE5-AAF5-4A07-A255-1CCC6F2D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core/runner.py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6F0C6-3677-4645-A272-78089D3A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4A56A8-2D68-4B38-A4F9-D720E3E1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6A6C8-B616-47A5-AF9E-E0BD6242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04 Flow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949E0D-74CD-425C-A0F5-E387A2BE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adapters/.../flows/executor.py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6A718B-57FE-4D09-BF61-01CF3133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2BA42F-1FE9-48EE-810D-4CABEA24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FBC18E-AEED-486E-A20E-57E4A452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05 Driver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5C37DF-37F7-49BF-AC83-0B51E44F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drivers/mcp_driver.py / hdc_driver.py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C7C9C5-7D19-420C-B10C-A9457007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62891D-8D5C-4797-88C9-E5F69C53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7AF727-B42A-47B0-9F0D-88D711B7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06 Assertion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6F7E94-B75A-436D-B279-15704597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assertions/executor.py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56803D-89EB-456E-A14D-8CA8875D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3371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BD8C8D-7D97-4AB9-A4A1-C54FAA11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7E27D4-8833-45E4-A5BD-D3EA991C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863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输入文档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63F9A8-ED28-47D1-B51C-D6E24215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219700"/>
            <a:ext cx="3086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rule_create.json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operation: entity.create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entity: firewall.rule.domain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assert: text_presence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CF62F4-A6CC-4E56-B9B7-2B4EF903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62500"/>
            <a:ext cx="3371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A21547-712A-4635-98AC-CEC8093D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8768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3BAA55-9E76-44CB-9E33-806E16F7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863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执行文档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D512EA-0A8B-4D50-9ADD-62D025CE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219700"/>
            <a:ext cx="3086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ACTION_TEMPLATES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open_firewall_rules_page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submit_firewall_rule_form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resolve_operation_binding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5B41D3-F96C-4579-B109-2DBEAC02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62500"/>
            <a:ext cx="38862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4A0F17-98AC-4019-B6EB-35F8AD36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768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F23A84-690D-464D-BC01-0B715975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863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生成文档 / 证据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B194E0-1DB8-4C1B-B972-C54B06FD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219700"/>
            <a:ext cx="3600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CaseResult(status, failure_stage)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primary_evidence / secondary_evidence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JSON report + Markdown report + screenshots/logs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FE454B-56B1-4795-9CC9-E57B885B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真实框架：security_tool/scripts/e2e/；设计文档：docs/04-测试文档/e2e测试/端到端测试框架设计.md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4DD8EF-C89D-48AF-A351-164AF87F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5070E4-FF79-46A1-AED7-627174A1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6C5BD0-EAB8-4A19-8217-94A4C407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B8DA6-6106-479D-8770-B919FDF7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A5B85B-E18E-489A-AC1B-FF8DAFA4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第二页：跑完用例后，必须说明它证明了什么、还缺什么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EDED5-F84E-4649-AD8B-D266C9C2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示例：DOMAIN rule 创建与重复创建失败；截图只是证据的一层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B8C31-4E56-4A16-95E7-A44ADC61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ab51730f34eb3"/>
          <a:stretch xmlns:a="http://schemas.openxmlformats.org/drawingml/2006/main"/>
        </p:blipFill>
        <p:spPr>
          <a:xfrm xmlns:a="http://schemas.openxmlformats.org/drawingml/2006/main">
            <a:off x="566738" y="1371600"/>
            <a:ext cx="3514725" cy="2343150"/>
          </a:xfrm>
          <a:prstGeom xmlns:a="http://schemas.openxmlformats.org/drawingml/2006/main" prst="roundRect">
            <a:avLst>
              <a:gd name="adj" fmla="val 4878"/>
            </a:avLst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452238dfce4c7f"/>
          <a:stretch xmlns:a="http://schemas.openxmlformats.org/drawingml/2006/main"/>
        </p:blipFill>
        <p:spPr>
          <a:xfrm xmlns:a="http://schemas.openxmlformats.org/drawingml/2006/main">
            <a:off x="4338638" y="1371600"/>
            <a:ext cx="3514725" cy="2343150"/>
          </a:xfrm>
          <a:prstGeom xmlns:a="http://schemas.openxmlformats.org/drawingml/2006/main" prst="roundRect">
            <a:avLst>
              <a:gd name="adj" fmla="val 4878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EB5E54-4B13-437D-B63D-D01476CA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371600"/>
            <a:ext cx="34671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9B27C-5C87-4BFB-85DC-2D69BE21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6685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CaseResult / acceptance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23ADCC-81CC-4CD3-B86C-A0248F8D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79374-EEB2-4511-8DA2-0F7C30D1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28800"/>
            <a:ext cx="3200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driver_action: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ui_text_presence: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duplicate_failure_ui: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artifact.screenshot: PRESENT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internal_getPolicy/listRules: PRESENT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acceptance_bridge.get_runtime_state: MISSING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system_policy_rules: UNKNOWN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overall: INCOMPLETE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D579B8-B206-4A5F-9BFD-3A6D4F1A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分层判定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456731-E246-4F5D-B468-70E7D9AC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77AD5-EFE1-474A-9E30-C0C62935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2571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B98FD-D0E5-4E06-8547-6BF6FBA9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00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动作层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1885A-CD8E-4D0C-BC0A-C12A5402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3624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2609E-F8BA-4162-926D-84A18B8E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3719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4884A6-2658-4E8B-951F-B81C78C8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148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MCP/HDC 执行表单与点击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AD0485-E33D-4C71-8C11-37D48B0F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305300"/>
            <a:ext cx="2571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7455DB-53D4-4E6D-9CAE-D955D119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UI 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42893E-803A-458F-BB17-95BA019C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3624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1AE045-7EDF-4B01-B797-365DFD06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3719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2DB9C7-BC88-4164-810A-5E3F9016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7148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文本出现、错误提示、截图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6FC81E-2107-4054-9AC7-C01F5543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05300"/>
            <a:ext cx="2571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A3C255-5BF3-4EE0-9426-16CC96B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100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B95AB6-AC71-45C3-BBB1-AB64291D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624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5FF8C5-2AE7-423E-8772-ADD4D504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3719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531745-B4DF-4384-81BB-E25B761B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148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每账号 policy / rules 结构化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DC9C90-1994-4164-940E-7581F42B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05300"/>
            <a:ext cx="2571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AA11C6-7A40-46DF-92A5-049F51F7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100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552F19-DBF9-4230-838C-4BA0D9BA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3624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F67FF7-6A9C-4711-A3AE-FA6E77B0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719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INCOMPLETE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872807-F3F2-49A6-8198-5BAF8C25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148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账号集合与防火墙状态最终收敛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F3155C-A1C0-4FAA-9507-A3111F39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48300"/>
            <a:ext cx="108013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DFE799-68BC-4F3B-94D7-A3C6DD1F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验收报告要留下：case.json · result.json · report.md · screenshot/log · commit/包版本 · PASS/FAIL/UNKNOWN 解释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D5207D-0ED1-4FD7-8C81-560618BF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真实截图：harmonyos-sdd-workshop-media/mdm/；证据边界：evidence/mdm/firewall-runtime-readback.md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E2E619-D658-4E46-84AD-B3CDD5D5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036306-8423-4064-90EE-3A4CA8C3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7C2DD3-F3B1-4C6C-AB45-B4EEF7A0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04 Ralph 与验收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CC06E-2C6C-4F2C-9D82-25DF91F5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实践：把验收写成可执行的系统契约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8C3DA-68D2-4810-A333-9E78C2D1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43CDD-3464-4938-89FB-B8627FBE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3A887-D79B-484D-98B7-4D9D73A4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90A267-BA49-43B6-900E-0E61F66C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6858000" cy="4953000"/>
          </a:xfrm>
          <a:prstGeom xmlns:a="http://schemas.openxmlformats.org/drawingml/2006/main" prst="roundRect">
            <a:avLst>
              <a:gd name="adj" fmla="val 2692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EA071-1647-46E1-8432-D6F6620B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655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Acceptance Case 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CA0EB-04AE-4246-8B32-5EBE40C6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7BE9A6-6A40-4FD2-982A-6F43AC52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553200" cy="436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"result": "PASS|FAIL|UNKNOWN",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"accounts": [100, 112, 123],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"mode": "public",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"signature": "100,112,123",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"users": [{"id": 123, "isOpen": true, "ruleCount": 4}],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"failures": [],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"evidence": {"device": "...", "timestamp": "..."}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FBA14-4430-4A64-98B2-4FBA6AC6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71E6B-6A78-4824-817D-98E4EC18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438275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 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1F397-F83C-490D-AB98-7E3EBDFA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630C7-00D0-4A2A-B68A-0D290F9F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Action Binding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7D985-651A-461A-A150-70537E19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47975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F9D234-C416-43DB-B97F-E2E8630A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05125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 / HDC 操作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1EFDDB-7944-445A-8DE1-99AF6EB7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81400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C8F8DB-AC6C-407A-B665-27880662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 / 日志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86FE77-41E4-4643-B34B-412F59B7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14825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1C3E0-28C1-47D5-BD45-1E8A0B62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71975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Primary + Secondary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1E3946-67D8-4F65-AE45-F31F7F93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48250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461CD8-27ED-4E67-81C5-27779C77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05400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PASS / FAIL / UNKNOWN</a:t>
            </a:r>
          </a:p>
        </p:txBody>
      </p:sp>
      <p:cxnSp>
        <p:nvCxnSpPr>
          <p:cNvPr id="75" name=""/>
          <p:cNvCxnSpPr>
            <a:stCxn xmlns:a="http://schemas.openxmlformats.org/drawingml/2006/main" id="10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9572625" y="200025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6" name=""/>
          <p:cNvCxnSpPr>
            <a:stCxn xmlns:a="http://schemas.openxmlformats.org/drawingml/2006/main" id="12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9572625" y="2733675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7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9572625" y="34671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8" name=""/>
          <p:cNvCxnSpPr>
            <a:stCxn xmlns:a="http://schemas.openxmlformats.org/drawingml/2006/main" id="16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9572625" y="4200525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9" name=""/>
          <p:cNvCxnSpPr>
            <a:stCxn xmlns:a="http://schemas.openxmlformats.org/drawingml/2006/main" id="18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9572625" y="493395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B57A73-B8EC-4E27-98E9-F601FCD2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5C0870-467E-4EB4-AC2B-A9308E49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04 Ralph 与验收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5ADC39-A94B-4D5F-900F-6318AED2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Checkpoint：交付一条完整证据链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860DD-3CAA-4F2A-84B7-104EF095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A0846-91AD-44DE-A042-4CB3B20C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FCA24-22DF-4F92-8EF0-87D0D7AD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A4134-847F-47D4-854A-7D43B810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7625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B0947-C091-4F80-B54B-28B6B6DB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同伴验收：只问六件事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63F6A0-22AB-4465-870C-5C229494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6FB1A-58A6-4612-9DAC-A32529AD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19250"/>
            <a:ext cx="4381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spec.md 是否冻结账号事实、失败语义与提交点？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design.md 是否区分 intent、local apply、system truth、UI？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T01 是否真的出现过可解释 RED 与 GREEN？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T02 故障后是否恢复 identity，而非只恢复数量？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设备证据是否来自真机，UNKNOWN 是否被诚实保留？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diff 是否完全落在任务允许边界？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C7EB2D-739E-425C-AE91-14412BEF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24300"/>
            <a:ext cx="433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唯一结果：PASS / FAIL / UNKNOWN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27EBA6-6063-4660-970C-53F165B2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76750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0AC6B-EE7D-44D7-BF41-EE51AA7E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24375"/>
            <a:ext cx="704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Eval 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8F45D-E095-43A3-863A-AE8E8134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76750"/>
            <a:ext cx="2047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D1543-DD87-40AA-8419-274E8258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524375"/>
            <a:ext cx="18954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检查什么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4393CA-8591-4382-A3BB-86C2C93C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4DAF65-1189-4F4C-8B66-99DA416B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524375"/>
            <a:ext cx="1704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10ED25-92C9-46D2-AB85-6ADD9052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76800"/>
            <a:ext cx="85725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ACC13A-101A-451C-A7D8-BF3243E5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924425"/>
            <a:ext cx="7048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BF3B4D-1B09-4EEA-99DF-5E8F59B6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76800"/>
            <a:ext cx="2047875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292531-D323-46D7-BE42-B45CBA65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924425"/>
            <a:ext cx="18954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Prompt、工具调用、diff、测试、是否越界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0150F7-F398-4A86-8AC9-B29337CC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76800"/>
            <a:ext cx="1857375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E97DCA-0793-4E9D-B10B-334DE9D9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924425"/>
            <a:ext cx="1704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过程规范，但底层调用仍失败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63E5A3-DD51-4AFE-919D-AD51CA0C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38775"/>
            <a:ext cx="85725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988B5F-AC84-41B1-ADE2-F7357EE5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86400"/>
            <a:ext cx="7048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Outcome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F4B93F-B973-4EF8-86C1-4AE1404A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38775"/>
            <a:ext cx="2047875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FB4E48-E420-486C-ADB7-589025EF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486400"/>
            <a:ext cx="18954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系统账号、policy、rules、signature、mapping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EF7D2C-7C6F-4564-A40E-EA2B278B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38775"/>
            <a:ext cx="1857375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2435B1-6A7A-4C7A-931C-1D6292B1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86400"/>
            <a:ext cx="1704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页面偶然正确，但 AI 伪造账号事实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5055a0bd247d2"/>
          <a:stretch xmlns:a="http://schemas.openxmlformats.org/drawingml/2006/main"/>
        </p:blipFill>
        <p:spPr>
          <a:xfrm xmlns:a="http://schemas.openxmlformats.org/drawingml/2006/main">
            <a:off x="5619750" y="1798364"/>
            <a:ext cx="6000750" cy="2499271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83FEB0-A657-4615-A53E-A82DD228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190625"/>
            <a:ext cx="6000750" cy="3714750"/>
          </a:xfrm>
          <a:prstGeom xmlns:a="http://schemas.openxmlformats.org/drawingml/2006/main" prst="roundRect">
            <a:avLst>
              <a:gd name="adj" fmla="val 307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B71859-10B9-40FD-941A-45126501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3875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B43EE7-CBC2-4490-9550-95CD3C8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276850"/>
            <a:ext cx="4591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最终结论由 Outcome 决定；Trace 用于解释可信度、复现过程与发现越界。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06275-0D2B-4943-A08C-33002C36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案例二先回答：我们到底知道什么，不知道什么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323bd677d4b8d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先把事实分成三类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用户报告“远端视频卡顿”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仓库中存在 bridge → compositor → EndFrame 路径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现有媒体只能证明某次运行“看得见画面”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未知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当次运行到底走软件解码还是硬件解码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frame 的 owner、stride/plane 与 present 是否一致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CPU / FPS / 卡顿改善幅度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第一步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 commit、runId、decoder path、frameId、CPU/FPS 绑定到同一次运行，建立 before 基线。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VIDEO · PENDING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当前占位图不证明卡顿；正式视频需同时录入 path / 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用户现象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当前路径证明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before 基线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再讨论硬解 / GPU 方案</a:t>
            </a:r>
          </a:p>
        </p:txBody>
      </p:sp>
      <p:cxnSp>
        <p:nvCxnSpPr>
          <p:cNvPr id="93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4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读大仓库不是读全库，而是沿一帧回答五个问题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先问五个问题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协议入口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H.264 从哪里进入？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路径选择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被 GPU consumed，还是回 original GDI？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输出格式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format、stride、plane 是什么？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显示所有权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谁拥有 Surface，何时 present？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同轮证明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怎样把 decoder、frame、owner、present 绑定到同一 run？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ohos_rdpgfx_surface_command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record_avc420_gpu_candidate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OnSurfaceCommand → worker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ProcessCommand → OH_AVCodec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 buffer → CompositeFrame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pendingFrameId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 → PresentComposite</a:t>
            </a:r>
          </a:p>
        </p:txBody>
      </p:sp>
      <p:cxnSp>
        <p:nvCxnSpPr>
          <p:cNvPr id="140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1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2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3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4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5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6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一轮只给 AI 这么多上下文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7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个问题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条调用链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3–7 个接口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个假设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条下一步命令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未接管 / 不满足 ready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GDI / H264 subsystem</a:t>
            </a:r>
          </a:p>
        </p:txBody>
      </p:sp>
      <p:cxnSp>
        <p:nvCxnSpPr>
          <p:cNvPr id="155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这条 fallback 必须保留；否则“尝试硬解”会直接变成黑屏风险。</a:t>
            </a:r>
          </a:p>
        </p:txBody>
      </p:sp>
      <p:pic>
        <p:nvPicPr>
          <p:cNvPr id="1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cc43940d6a4569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跨平台调研只复制生命周期契约，不复制实现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Configure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Release</a:t>
            </a:r>
          </a:p>
        </p:txBody>
      </p:sp>
      <p:cxnSp>
        <p:nvCxnSpPr>
          <p:cNvPr id="10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0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1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2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所有平台都必须回答同一生命周期；真正需要重新设计的是 buffer 所有权、输出格式与 Surface 生命周期。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已有后端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应该学习什么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通用软件路径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 fallback、YUV 输出语义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Media Foundation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平台 decoder 生命周期与失败传播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MediaCodec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移动平台硬解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buffer 输入输出、format change、释放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OH_AVCodec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目标平台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能力查询、AVBuffer/Surface、stride/plane</a:t>
            </a:r>
          </a:p>
        </p:txBody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3ad40ab0849f6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学习已有后端的“契约和失败语义”，不要照抄 Windows / Android 的 API、线程模型或 buffer ownership。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对接方案分三层：接管、合成、回退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Bridge：只决定“是否接管”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 RDPGFX bridge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顺序校验 + candidate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/ consumed ?</a:t>
            </a:r>
          </a:p>
        </p:txBody>
      </p:sp>
      <p:cxnSp>
        <p:nvCxnSpPr>
          <p:cNvPr id="129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0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1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保存原回调；在接管前完成校验。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Compositor：接管后负责“一帧完整闭环”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OH_AVCodec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NativeBuffer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CompositeFrame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+ pendingFrameId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EGL swap</a:t>
            </a:r>
          </a:p>
        </p:txBody>
      </p:sp>
      <p:cxnSp>
        <p:nvCxnSpPr>
          <p:cNvPr id="148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9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0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1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 frameId 必须贯穿 decoder output、owner、pending 与 present。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Fallback：接管前失败必须回到原路径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takeover 前失败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gdi_SurfaceCommand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H264 subsystem / GDI</a:t>
            </a:r>
          </a:p>
        </p:txBody>
      </p:sp>
      <p:cxnSp>
        <p:nvCxnSpPr>
          <p:cNvPr id="165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6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7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边界原则：接管前可回退；接管后不能再让 GDI 与 GPU 同时写同一 Surface。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最小穿刺不是性能优化，只证明一帧闭环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只证明什么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必须看到的证据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还不能证明什么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与 compositor 真正进入 arm64 / HAP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symbol / packaged binary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真机一定走 GPU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真机选择到 hardware decoder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identity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一帧已正确显示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一个 AVC420 sample 有可关联输出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frameId + format + stride / planes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与 present 正确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同一帧完成 composite → pending → matched 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+ matched EndFrame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连续播放不卡顿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接管前失败能回到原路径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fallback reason + original callback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工程化队列和生命周期完成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a6ae5fccdd4d1b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为什么只做一帧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一帧足以验证接口边界：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decoder 输出格式是否可用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owner 是否唯一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EndFrame 是否与 pending 匹配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④ 失败是否可回退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但它不等于性能优化完成。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ADC611-79CF-4EB9-BB65-21256649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EB1C7-6D05-4DE8-BF21-512C64F4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穿刺之后再拆任务，每张任务卡只有一个结果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D0D98-CFE0-4A9F-AAF0-7211D8EC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E8368-D420-40DC-82F5-357C51D6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A0823-8022-4363-8F1C-A81A32A1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E0810-A83B-4380-8B2A-60AB08D4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45159-64FC-4077-8A0F-62AF8AC5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 T00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B2964-670C-4F32-9CF5-7386199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7B972-0290-4873-9A8A-3664337C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 T01–T03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1E1E0-A388-416B-97B1-2AF4B01B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1583A-1C09-4C7B-B329-9641354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 T04–T06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52976-77CE-4D58-A414-4EFBB987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B09EE-6236-4DA7-BA40-1C6977D4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 T07</a:t>
            </a:r>
          </a:p>
        </p:txBody>
      </p:sp>
      <p:cxnSp>
        <p:nvCxnSpPr>
          <p:cNvPr id="11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4332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019800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29627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89378-69BC-4CBF-A380-E0A4B7EA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09750"/>
            <a:ext cx="9067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21494C-E174-4843-BED3-D25BB1A9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57375"/>
            <a:ext cx="7543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F29AB6-A96C-4C29-B53B-C6A8BE3A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1809750"/>
            <a:ext cx="7934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616497-BF96-42FA-A747-6836FEEE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1857375"/>
            <a:ext cx="6410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1CE378-4780-4914-9320-AB9F7909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1809750"/>
            <a:ext cx="43072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6B614E-3234-4D0D-8338-C9B6243A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1857375"/>
            <a:ext cx="41548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主要源码边界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48D83F-4765-4D69-BF26-E0803E10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1809750"/>
            <a:ext cx="53273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8EAB3C-6BF9-4E68-B012-2CF343CE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1857375"/>
            <a:ext cx="51749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一个可观察结果 /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FC0DD-60E0-4507-AC6D-1371CB6E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09800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94FA5-82EB-42AF-9449-E1A64455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257425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578DC7-463C-4A6D-A05B-07ADDB17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209800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E5C17-316A-4C14-A404-B0DBB6F6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257425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62FFF1-8004-494E-BFF9-3CB5EF43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209800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81608D-20CA-4688-ACC7-A0DF6221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257425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diagnostics only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5DCA9D-EC39-4F4A-B085-7C873236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209800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02632C-D654-46A2-9B8C-D29E3FF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257425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保存同 runId before；路径不明则不归因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6F016C-7B39-4AB5-B2A9-1D3A8067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9622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F6C348-10CD-4B38-B6AA-54619FC0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37247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C37680-7AE1-4BC0-9FEE-A4196950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689622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EEE0B0-D6BD-473C-A2EF-9BF3D82F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737247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BCD904-523F-4291-BD9B-A47AAF0A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689622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502906-205F-4602-BDB7-DB0645A6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737247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InstallRdpgfxDiagnosticsHooks、bridge_attach、decoder init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75C87D-48AC-4E4F-A357-C94936A5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689622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EC6F8E-408B-4490-965D-662A49B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737247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+ hardware decoder 真机成立；只编译成功则停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89B1F6-E7C9-4E6A-90FE-CAF3E6D5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169444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C15955-0A79-4FE9-9C0B-A4261D31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17069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DFB2B3-D4BE-4FFE-A155-7F9E0885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169444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CE3C48-6EA7-480B-B97D-AB8D780D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217069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AA1607-DF27-442A-B3AA-7466C604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169444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FB7FA3-C49A-402D-B159-E73D162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217069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input/output、OH_AVBuffer_GetNativeBuffer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EC325A-DF32-4A05-A1E3-AC4ECF4A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169444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F08F413-40FA-41B2-AE43-1F6F766D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217069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一帧输入输出可关联；format/native buffer 不明则停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75F63C-1E29-4149-BBD5-2E8AC351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49266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A2E9CA-F4B3-493F-9923-53E08995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6891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100FE8-501A-4C46-B2D0-BAA45AE6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649266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809CEF-13BE-4F4E-8516-51C2C19E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696891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81CB2F-ACB0-4338-9E46-FB890FE6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649266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23B8D9-2C77-4D31-8B44-70E87DE3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696891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policy、OnSurfaceCommand、ProcessCommand、PresentEndFrame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5993303-6331-40E3-BF80-29C58227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649266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841B2F-6FC9-4A46-ABD3-C26A3112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696891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consumed→owner→matched present 闭环；GDI/GPU 双写则 FAIL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5E35263-0CAD-4035-A0E6-7DE5CED4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129088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881A28-51F2-4ECA-AA67-0DEC84A0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76713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7A6A8E7-2BC3-473E-AAD0-8E66AE77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129088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92E795-965C-4E97-9F56-B60903AA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176713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BB3901-F3B9-49AD-8CE0-14FAC3C6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129088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4AF1B5-E21E-4745-AAE0-7E3B649D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176713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EnqueueSurfaceCommand、worker compaction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561D491-C095-49BD-A9F5-88BBBEF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129088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C64407-0178-4F09-B40B-747D58E0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176713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连续队列有界；depth/age 持续增长则停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C85141-88F2-41D3-A9C9-A0102471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08909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D79E76-4C2E-4E02-91BB-8C89A38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56534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C07BA63-AE70-42FA-9AC5-461FD5F5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608909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9F2843-3BEA-4DD2-9437-B8563E6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656534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T05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E5547B-EC62-4EDC-9798-B992AB49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608909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408933-4556-471B-B58B-AB4A39F2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656534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target generation、pause/detach/recreate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D6EF64-9B39-4BDC-90BE-D004F0F1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608909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97ECDFF-A48F-43FE-90A2-AF818AAB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656534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resize/后台/重连拒绝 stale task；旧 target 可写则 FAIL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CCEA499-1E76-4271-90D4-30E0BAA9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088731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C5F157F-6843-4CA8-ACAF-B320C6C8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6356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DEA29B-CF63-4AA8-B9FB-CB034953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088731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D39FCA-5455-4A97-AE3B-9B8778D8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136356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06BF749-3EEB-4968-9810-CF71732D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088731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FFF18CE-8D94-4EEA-81B1-BA670012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136356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AVC444 candidate/compositor、LC retained state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606AD1-8379-4145-836F-27C2CA29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088731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626F455-8944-4755-BAF2-B1DBD095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136356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 decoder + LC + EndFrame；复用 420 假设则停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30135B1-1BE3-4AB7-B70C-A871B3D2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68553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C851758-9284-4B7C-A79E-2565C63D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16178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8B7B693-54E5-488D-A56A-A4D1C098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568553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8D2E765-DD7E-499D-ACC5-FD47EAC6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616178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T07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62CB9A9-E414-4B97-9345-48D5AE0D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568553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97FF12B-29A6-40F6-BE0F-7F8C7B6E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616178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测试/脚本/报告，生产代码冻结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E9D7723-EB02-4CC9-A781-1033A09B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568553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5190E7E-1806-4BC2-9A5E-097B1E99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616178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A/B；缺 CPU/FPS/path/soak 则 UNKNOWN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2272773-BF71-4763-8CD6-AEE94209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2246168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五个角色接力：每一步都留下可审查产物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Human / Planner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Explorer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Implementer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23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只读调用链与 GAP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27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codebase map + evidence index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31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单张 Task Card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35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最小 diff + verify commands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39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511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build / device / log / video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43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Trace + Outcome verdict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Planner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冻结问题与 AC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Explorer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调用链 + GAP + 证据索引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Implementer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 + verify 命令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MCP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/ device / log /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+ Outcome verdict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每次交接都必须是可复查产物，不是“我觉得已经做完了”。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开发遇到黑屏、色块或仍卡顿：先停，再找最早异常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dd563b12594aa6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同一 frame：逐层点亮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received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path / decoder selected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compressed input queued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decoded output valid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format / stride / planes valid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state applied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render owner correct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 present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next frame continues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第一处与预期不一致的位置，才是本轮修改边界。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frame 的六个事实，才能推翻错误判断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codec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owner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verdict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一条可用证据行必须同时满足：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runId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frameId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output 可关联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唯一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verdict</a:t>
            </a:r>
          </a:p>
        </p:txBody>
      </p:sp>
      <p:cxnSp>
        <p:nvCxnSpPr>
          <p:cNvPr id="156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7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8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9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0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缺任意一项，结论只能是 PENDING / UNKNOWN；不能用别的 run 的截图补洞。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两个常见误判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“API 调用成功”只证明一个边界。   “截图看起来正确”只证明一个采样瞬间。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穿刺证明可行，工程化决定能否交付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单帧穿刺解决“能不能走通”；生命周期、队列、所有权、回退、观测和回归决定“能不能交付”。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工程能力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失败表现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create/start/flush/stop/destroy 与 Surface generation 如何对齐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黑屏、旧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队列/背压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输入、输出、present 队列是否有界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延迟增长、内存上涨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GDI、AVC420、AVC444 谁能写 XComponent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闪烁、旧帧覆盖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硬解失败能否回软件/原生路径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静默黑屏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可观测性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能否证明 decoder、frame、owner、present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只能靠肉眼猜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回归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输入、resize、后台、重连是否仍工作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局部 GREEN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当前证据能证明什么，下一步还要补什么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当前为空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硬解路径待填证据链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candidate path: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decoder identity: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/ output: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/ matched EndFrame: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present:</a:t>
            </a:r>
          </a:p>
        </p:txBody>
      </p:sp>
      <p:pic>
        <p:nvPicPr>
          <p:cNvPr id="1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7173009e34589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arm64/HAP 构建通过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某次运行出现黑屏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CPU/FPS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228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29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30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7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6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c74b943c54c73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2026-09-01T12:24:49.2140000Z</dcterms:created>
  <dcterms:modified xsi:type="dcterms:W3CDTF">2026-09-01T12:24:49.2140000Z</dcterms:modified>
</coreProperties>
</file>