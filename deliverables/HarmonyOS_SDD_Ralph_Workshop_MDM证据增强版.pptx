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998f6bb41d4d12" /><Relationship Type="http://schemas.openxmlformats.org/officeDocument/2006/relationships/extended-properties" Target="/docProps/app.xml" Id="Ra00827b6e7ff483c" /><Relationship Type="http://schemas.openxmlformats.org/officeDocument/2006/relationships/officeDocument" Target="/ppt/presentation.xml" Id="R9af3f76c6f2f47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ac2b6bfa7c4357"/>
  </p:sldMasterIdLst>
  <p:notesMasterIdLst>
    <p:notesMasterId xmlns:r="http://schemas.openxmlformats.org/officeDocument/2006/relationships" r:id="R4e9261e4f5974829"/>
  </p:notesMasterIdLst>
  <p:sldIdLst>
    <p:sldId xmlns:r="http://schemas.openxmlformats.org/officeDocument/2006/relationships" id="256" r:id="R001839fa457f4941"/>
    <p:sldId xmlns:r="http://schemas.openxmlformats.org/officeDocument/2006/relationships" id="257" r:id="R47d59c4cead749df"/>
    <p:sldId xmlns:r="http://schemas.openxmlformats.org/officeDocument/2006/relationships" id="258" r:id="R2c4a3317f2b04c8e"/>
    <p:sldId xmlns:r="http://schemas.openxmlformats.org/officeDocument/2006/relationships" id="259" r:id="Rc4658435f5a74f99"/>
    <p:sldId xmlns:r="http://schemas.openxmlformats.org/officeDocument/2006/relationships" id="260" r:id="R17f1c7438f154084"/>
    <p:sldId xmlns:r="http://schemas.openxmlformats.org/officeDocument/2006/relationships" id="261" r:id="R9f360d176019482e"/>
    <p:sldId xmlns:r="http://schemas.openxmlformats.org/officeDocument/2006/relationships" id="262" r:id="Rc83cd481a24948ba"/>
    <p:sldId xmlns:r="http://schemas.openxmlformats.org/officeDocument/2006/relationships" id="263" r:id="R111c4ba776914a7a"/>
    <p:sldId xmlns:r="http://schemas.openxmlformats.org/officeDocument/2006/relationships" id="264" r:id="R98d2fefca96742fe"/>
    <p:sldId xmlns:r="http://schemas.openxmlformats.org/officeDocument/2006/relationships" id="265" r:id="R7c4a791e166d4733"/>
    <p:sldId xmlns:r="http://schemas.openxmlformats.org/officeDocument/2006/relationships" id="266" r:id="R6a7bc2016cb24b07"/>
    <p:sldId xmlns:r="http://schemas.openxmlformats.org/officeDocument/2006/relationships" id="267" r:id="Rfce33c2cb7fb4ada"/>
    <p:sldId xmlns:r="http://schemas.openxmlformats.org/officeDocument/2006/relationships" id="268" r:id="R654828ee924844a2"/>
    <p:sldId xmlns:r="http://schemas.openxmlformats.org/officeDocument/2006/relationships" id="269" r:id="Rcc09b35f702b4e52"/>
    <p:sldId xmlns:r="http://schemas.openxmlformats.org/officeDocument/2006/relationships" id="270" r:id="R52e4f641de434f84"/>
    <p:sldId xmlns:r="http://schemas.openxmlformats.org/officeDocument/2006/relationships" id="271" r:id="R443b5ddde6ee4a2c"/>
    <p:sldId xmlns:r="http://schemas.openxmlformats.org/officeDocument/2006/relationships" id="272" r:id="Rd333ddef87a14795"/>
    <p:sldId xmlns:r="http://schemas.openxmlformats.org/officeDocument/2006/relationships" id="273" r:id="Rddb7a718986c4b9a"/>
    <p:sldId xmlns:r="http://schemas.openxmlformats.org/officeDocument/2006/relationships" id="274" r:id="R6fbbaa7de61042f0"/>
    <p:sldId xmlns:r="http://schemas.openxmlformats.org/officeDocument/2006/relationships" id="275" r:id="R911cc5d2c7cc47fb"/>
    <p:sldId xmlns:r="http://schemas.openxmlformats.org/officeDocument/2006/relationships" id="276" r:id="Rb3ddacfa31c84b6c"/>
    <p:sldId xmlns:r="http://schemas.openxmlformats.org/officeDocument/2006/relationships" id="277" r:id="R3aa4d9ef4bc840ed"/>
    <p:sldId xmlns:r="http://schemas.openxmlformats.org/officeDocument/2006/relationships" id="278" r:id="R2f29bd484ce34320"/>
    <p:sldId xmlns:r="http://schemas.openxmlformats.org/officeDocument/2006/relationships" id="279" r:id="R4ea8853a12ce47d1"/>
    <p:sldId xmlns:r="http://schemas.openxmlformats.org/officeDocument/2006/relationships" id="280" r:id="R5c7825c1953b4a5a"/>
    <p:sldId xmlns:r="http://schemas.openxmlformats.org/officeDocument/2006/relationships" id="281" r:id="R18b5dc99fecb4f09"/>
    <p:sldId xmlns:r="http://schemas.openxmlformats.org/officeDocument/2006/relationships" id="282" r:id="R56f8847f50234f19"/>
    <p:sldId xmlns:r="http://schemas.openxmlformats.org/officeDocument/2006/relationships" id="283" r:id="R387acf058f004e4b"/>
    <p:sldId xmlns:r="http://schemas.openxmlformats.org/officeDocument/2006/relationships" id="284" r:id="R6daf3eb25d8e426b"/>
    <p:sldId xmlns:r="http://schemas.openxmlformats.org/officeDocument/2006/relationships" id="285" r:id="Rf107ac470c6440a7"/>
    <p:sldId xmlns:r="http://schemas.openxmlformats.org/officeDocument/2006/relationships" id="286" r:id="Rb96b0ed997954e60"/>
    <p:sldId xmlns:r="http://schemas.openxmlformats.org/officeDocument/2006/relationships" id="287" r:id="R53a799071fca47b4"/>
    <p:sldId xmlns:r="http://schemas.openxmlformats.org/officeDocument/2006/relationships" id="288" r:id="Rb1772bc9544a46bc"/>
    <p:sldId xmlns:r="http://schemas.openxmlformats.org/officeDocument/2006/relationships" id="289" r:id="Ra7fccfc30e094d37"/>
    <p:sldId xmlns:r="http://schemas.openxmlformats.org/officeDocument/2006/relationships" id="290" r:id="R434fd137cc3347a8"/>
    <p:sldId xmlns:r="http://schemas.openxmlformats.org/officeDocument/2006/relationships" id="291" r:id="Rb8f16fd2c2274412"/>
    <p:sldId xmlns:r="http://schemas.openxmlformats.org/officeDocument/2006/relationships" id="292" r:id="Rf0cfe954b0184685"/>
    <p:sldId xmlns:r="http://schemas.openxmlformats.org/officeDocument/2006/relationships" id="293" r:id="Rea19c5ff125b4ed6"/>
    <p:sldId xmlns:r="http://schemas.openxmlformats.org/officeDocument/2006/relationships" id="294" r:id="Reae743dbff0241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d634215ee2432b" /><Relationship Type="http://schemas.openxmlformats.org/officeDocument/2006/relationships/slideMaster" Target="/ppt/slideMasters/slideMaster1.xml" Id="R5bac2b6bfa7c4357" /><Relationship Type="http://schemas.openxmlformats.org/officeDocument/2006/relationships/notesMaster" Target="/ppt/notesMasters/notesMaster1.xml" Id="R4e9261e4f5974829" /><Relationship Type="http://schemas.openxmlformats.org/officeDocument/2006/relationships/presProps" Target="/ppt/presProps.xml" Id="R67d0eb22bd7a4319" /><Relationship Type="http://schemas.openxmlformats.org/officeDocument/2006/relationships/tableStyles" Target="/ppt/tableStyles.xml" Id="Rbce4994894b44c68" /><Relationship Type="http://schemas.openxmlformats.org/officeDocument/2006/relationships/slide" Target="/ppt/slides/slide1.xml" Id="R001839fa457f4941" /><Relationship Type="http://schemas.openxmlformats.org/officeDocument/2006/relationships/slide" Target="/ppt/slides/slide2.xml" Id="R47d59c4cead749df" /><Relationship Type="http://schemas.openxmlformats.org/officeDocument/2006/relationships/slide" Target="/ppt/slides/slide3.xml" Id="R2c4a3317f2b04c8e" /><Relationship Type="http://schemas.openxmlformats.org/officeDocument/2006/relationships/slide" Target="/ppt/slides/slide4.xml" Id="Rc4658435f5a74f99" /><Relationship Type="http://schemas.openxmlformats.org/officeDocument/2006/relationships/slide" Target="/ppt/slides/slide5.xml" Id="R17f1c7438f154084" /><Relationship Type="http://schemas.openxmlformats.org/officeDocument/2006/relationships/slide" Target="/ppt/slides/slide6.xml" Id="R9f360d176019482e" /><Relationship Type="http://schemas.openxmlformats.org/officeDocument/2006/relationships/slide" Target="/ppt/slides/slide7.xml" Id="Rc83cd481a24948ba" /><Relationship Type="http://schemas.openxmlformats.org/officeDocument/2006/relationships/slide" Target="/ppt/slides/slide8.xml" Id="R111c4ba776914a7a" /><Relationship Type="http://schemas.openxmlformats.org/officeDocument/2006/relationships/slide" Target="/ppt/slides/slide9.xml" Id="R98d2fefca96742fe" /><Relationship Type="http://schemas.openxmlformats.org/officeDocument/2006/relationships/slide" Target="/ppt/slides/slide10.xml" Id="R7c4a791e166d4733" /><Relationship Type="http://schemas.openxmlformats.org/officeDocument/2006/relationships/slide" Target="/ppt/slides/slide11.xml" Id="R6a7bc2016cb24b07" /><Relationship Type="http://schemas.openxmlformats.org/officeDocument/2006/relationships/slide" Target="/ppt/slides/slide12.xml" Id="Rfce33c2cb7fb4ada" /><Relationship Type="http://schemas.openxmlformats.org/officeDocument/2006/relationships/slide" Target="/ppt/slides/slide13.xml" Id="R654828ee924844a2" /><Relationship Type="http://schemas.openxmlformats.org/officeDocument/2006/relationships/slide" Target="/ppt/slides/slide14.xml" Id="Rcc09b35f702b4e52" /><Relationship Type="http://schemas.openxmlformats.org/officeDocument/2006/relationships/slide" Target="/ppt/slides/slide15.xml" Id="R52e4f641de434f84" /><Relationship Type="http://schemas.openxmlformats.org/officeDocument/2006/relationships/slide" Target="/ppt/slides/slide16.xml" Id="R443b5ddde6ee4a2c" /><Relationship Type="http://schemas.openxmlformats.org/officeDocument/2006/relationships/slide" Target="/ppt/slides/slide17.xml" Id="Rd333ddef87a14795" /><Relationship Type="http://schemas.openxmlformats.org/officeDocument/2006/relationships/slide" Target="/ppt/slides/slide18.xml" Id="Rddb7a718986c4b9a" /><Relationship Type="http://schemas.openxmlformats.org/officeDocument/2006/relationships/slide" Target="/ppt/slides/slide19.xml" Id="R6fbbaa7de61042f0" /><Relationship Type="http://schemas.openxmlformats.org/officeDocument/2006/relationships/slide" Target="/ppt/slides/slide20.xml" Id="R911cc5d2c7cc47fb" /><Relationship Type="http://schemas.openxmlformats.org/officeDocument/2006/relationships/slide" Target="/ppt/slides/slide21.xml" Id="Rb3ddacfa31c84b6c" /><Relationship Type="http://schemas.openxmlformats.org/officeDocument/2006/relationships/slide" Target="/ppt/slides/slide22.xml" Id="R3aa4d9ef4bc840ed" /><Relationship Type="http://schemas.openxmlformats.org/officeDocument/2006/relationships/slide" Target="/ppt/slides/slide23.xml" Id="R2f29bd484ce34320" /><Relationship Type="http://schemas.openxmlformats.org/officeDocument/2006/relationships/slide" Target="/ppt/slides/slide24.xml" Id="R4ea8853a12ce47d1" /><Relationship Type="http://schemas.openxmlformats.org/officeDocument/2006/relationships/slide" Target="/ppt/slides/slide25.xml" Id="R5c7825c1953b4a5a" /><Relationship Type="http://schemas.openxmlformats.org/officeDocument/2006/relationships/slide" Target="/ppt/slides/slide26.xml" Id="R18b5dc99fecb4f09" /><Relationship Type="http://schemas.openxmlformats.org/officeDocument/2006/relationships/slide" Target="/ppt/slides/slide27.xml" Id="R56f8847f50234f19" /><Relationship Type="http://schemas.openxmlformats.org/officeDocument/2006/relationships/slide" Target="/ppt/slides/slide28.xml" Id="R387acf058f004e4b" /><Relationship Type="http://schemas.openxmlformats.org/officeDocument/2006/relationships/slide" Target="/ppt/slides/slide29.xml" Id="R6daf3eb25d8e426b" /><Relationship Type="http://schemas.openxmlformats.org/officeDocument/2006/relationships/slide" Target="/ppt/slides/slide30.xml" Id="Rf107ac470c6440a7" /><Relationship Type="http://schemas.openxmlformats.org/officeDocument/2006/relationships/slide" Target="/ppt/slides/slide31.xml" Id="Rb96b0ed997954e60" /><Relationship Type="http://schemas.openxmlformats.org/officeDocument/2006/relationships/slide" Target="/ppt/slides/slide32.xml" Id="R53a799071fca47b4" /><Relationship Type="http://schemas.openxmlformats.org/officeDocument/2006/relationships/slide" Target="/ppt/slides/slide33.xml" Id="Rb1772bc9544a46bc" /><Relationship Type="http://schemas.openxmlformats.org/officeDocument/2006/relationships/slide" Target="/ppt/slides/slide34.xml" Id="Ra7fccfc30e094d37" /><Relationship Type="http://schemas.openxmlformats.org/officeDocument/2006/relationships/slide" Target="/ppt/slides/slide35.xml" Id="R434fd137cc3347a8" /><Relationship Type="http://schemas.openxmlformats.org/officeDocument/2006/relationships/slide" Target="/ppt/slides/slide36.xml" Id="Rb8f16fd2c2274412" /><Relationship Type="http://schemas.openxmlformats.org/officeDocument/2006/relationships/slide" Target="/ppt/slides/slide37.xml" Id="Rf0cfe954b0184685" /><Relationship Type="http://schemas.openxmlformats.org/officeDocument/2006/relationships/slide" Target="/ppt/slides/slide38.xml" Id="Rea19c5ff125b4ed6" /><Relationship Type="http://schemas.openxmlformats.org/officeDocument/2006/relationships/slide" Target="/ppt/slides/slide39.xml" Id="Reae743dbff0241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150c5858e4a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98b8860ec34e1c" /><Relationship Type="http://schemas.openxmlformats.org/officeDocument/2006/relationships/notesMaster" Target="/ppt/notesMasters/notesMaster1.xml" Id="Rb3b44c4bf47242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13473bfef642f8" /><Relationship Type="http://schemas.openxmlformats.org/officeDocument/2006/relationships/notesMaster" Target="/ppt/notesMasters/notesMaster1.xml" Id="R4874c21f3aab44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49247ef40b41ec" /><Relationship Type="http://schemas.openxmlformats.org/officeDocument/2006/relationships/notesMaster" Target="/ppt/notesMasters/notesMaster1.xml" Id="Rf71edb16a1c646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0dd54f612c42f4" /><Relationship Type="http://schemas.openxmlformats.org/officeDocument/2006/relationships/notesMaster" Target="/ppt/notesMasters/notesMaster1.xml" Id="Rf73157c25e8e41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a48b982016403d" /><Relationship Type="http://schemas.openxmlformats.org/officeDocument/2006/relationships/notesMaster" Target="/ppt/notesMasters/notesMaster1.xml" Id="Rd99ddb04828f48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c02424abdb4dd6" /><Relationship Type="http://schemas.openxmlformats.org/officeDocument/2006/relationships/notesMaster" Target="/ppt/notesMasters/notesMaster1.xml" Id="Ra539d3cf421d43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f6182e5a9a490d" /><Relationship Type="http://schemas.openxmlformats.org/officeDocument/2006/relationships/notesMaster" Target="/ppt/notesMasters/notesMaster1.xml" Id="Refc3a4b7b2074b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7fd4c938a64262" /><Relationship Type="http://schemas.openxmlformats.org/officeDocument/2006/relationships/notesMaster" Target="/ppt/notesMasters/notesMaster1.xml" Id="R9e398a1f44ef44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0592098cf048c5" /><Relationship Type="http://schemas.openxmlformats.org/officeDocument/2006/relationships/notesMaster" Target="/ppt/notesMasters/notesMaster1.xml" Id="R9076ae93e3b044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338411fd534b25" /><Relationship Type="http://schemas.openxmlformats.org/officeDocument/2006/relationships/notesMaster" Target="/ppt/notesMasters/notesMaster1.xml" Id="R92bc7ada4c3045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08ccfe8fd647ba" /><Relationship Type="http://schemas.openxmlformats.org/officeDocument/2006/relationships/notesMaster" Target="/ppt/notesMasters/notesMaster1.xml" Id="R386e95e4354943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519cbf9a2a455d" /><Relationship Type="http://schemas.openxmlformats.org/officeDocument/2006/relationships/notesMaster" Target="/ppt/notesMasters/notesMaster1.xml" Id="R3e2a4c46b0bb40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57312d735b45ed" /><Relationship Type="http://schemas.openxmlformats.org/officeDocument/2006/relationships/notesMaster" Target="/ppt/notesMasters/notesMaster1.xml" Id="R985fa3fd0cfc4a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1db34ac98e41e3" /><Relationship Type="http://schemas.openxmlformats.org/officeDocument/2006/relationships/notesMaster" Target="/ppt/notesMasters/notesMaster1.xml" Id="Rd3ae49b9dbd343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5e2b548101449f" /><Relationship Type="http://schemas.openxmlformats.org/officeDocument/2006/relationships/notesMaster" Target="/ppt/notesMasters/notesMaster1.xml" Id="R8354966b59044c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e9f5e9c15c4f3d" /><Relationship Type="http://schemas.openxmlformats.org/officeDocument/2006/relationships/notesMaster" Target="/ppt/notesMasters/notesMaster1.xml" Id="R3302c5a01f4342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aaf4410b5d439f" /><Relationship Type="http://schemas.openxmlformats.org/officeDocument/2006/relationships/notesMaster" Target="/ppt/notesMasters/notesMaster1.xml" Id="Re587bd57976441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bcdd1db1f84223" /><Relationship Type="http://schemas.openxmlformats.org/officeDocument/2006/relationships/notesMaster" Target="/ppt/notesMasters/notesMaster1.xml" Id="R18a24d159c4643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c631ebc58b47ed" /><Relationship Type="http://schemas.openxmlformats.org/officeDocument/2006/relationships/notesMaster" Target="/ppt/notesMasters/notesMaster1.xml" Id="R115f91ad8e3d4f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1db7f182a4453e" /><Relationship Type="http://schemas.openxmlformats.org/officeDocument/2006/relationships/notesMaster" Target="/ppt/notesMasters/notesMaster1.xml" Id="Re363da3932f641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cf3dff90054a79" /><Relationship Type="http://schemas.openxmlformats.org/officeDocument/2006/relationships/notesMaster" Target="/ppt/notesMasters/notesMaster1.xml" Id="Rb6a9e090216d4e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c4d46f6fa145b5" /><Relationship Type="http://schemas.openxmlformats.org/officeDocument/2006/relationships/notesMaster" Target="/ppt/notesMasters/notesMaster1.xml" Id="R3b6798faec6640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b18f4bfc654d2d" /><Relationship Type="http://schemas.openxmlformats.org/officeDocument/2006/relationships/notesMaster" Target="/ppt/notesMasters/notesMaster1.xml" Id="Rd48226842c8e49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2bf8c9fb3e440f" /><Relationship Type="http://schemas.openxmlformats.org/officeDocument/2006/relationships/notesMaster" Target="/ppt/notesMasters/notesMaster1.xml" Id="R9bec03458e82448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0fc392f31ba44bb" /><Relationship Type="http://schemas.openxmlformats.org/officeDocument/2006/relationships/notesMaster" Target="/ppt/notesMasters/notesMaster1.xml" Id="R9bf835361d69471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841694425a84bbb" /><Relationship Type="http://schemas.openxmlformats.org/officeDocument/2006/relationships/notesMaster" Target="/ppt/notesMasters/notesMaster1.xml" Id="Rf83428060ccf495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4fcba702c84c9a" /><Relationship Type="http://schemas.openxmlformats.org/officeDocument/2006/relationships/notesMaster" Target="/ppt/notesMasters/notesMaster1.xml" Id="R29fe69a25cf0409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465a87f0c4648a6" /><Relationship Type="http://schemas.openxmlformats.org/officeDocument/2006/relationships/notesMaster" Target="/ppt/notesMasters/notesMaster1.xml" Id="Re54eb70a166f4af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c8a6b0634da499f" /><Relationship Type="http://schemas.openxmlformats.org/officeDocument/2006/relationships/notesMaster" Target="/ppt/notesMasters/notesMaster1.xml" Id="Ra582dbb3604d4a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7b7ce0fed5d407f" /><Relationship Type="http://schemas.openxmlformats.org/officeDocument/2006/relationships/notesMaster" Target="/ppt/notesMasters/notesMaster1.xml" Id="R1a023308c521443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72ee832e0d5474c" /><Relationship Type="http://schemas.openxmlformats.org/officeDocument/2006/relationships/notesMaster" Target="/ppt/notesMasters/notesMaster1.xml" Id="R973a4cb1e79c4ef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58de6a1518949b8" /><Relationship Type="http://schemas.openxmlformats.org/officeDocument/2006/relationships/notesMaster" Target="/ppt/notesMasters/notesMaster1.xml" Id="Rf9cbe8b2c6254c7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a7fba4d4830453f" /><Relationship Type="http://schemas.openxmlformats.org/officeDocument/2006/relationships/notesMaster" Target="/ppt/notesMasters/notesMaster1.xml" Id="Rdc297b43d9c44ff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fa722bbab0a47dd" /><Relationship Type="http://schemas.openxmlformats.org/officeDocument/2006/relationships/notesMaster" Target="/ppt/notesMasters/notesMaster1.xml" Id="Rde0b96f4df544ef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f9f971ea74a45ee" /><Relationship Type="http://schemas.openxmlformats.org/officeDocument/2006/relationships/notesMaster" Target="/ppt/notesMasters/notesMaster1.xml" Id="R09581c6b5b3946d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2e9caebcaee4058" /><Relationship Type="http://schemas.openxmlformats.org/officeDocument/2006/relationships/notesMaster" Target="/ppt/notesMasters/notesMaster1.xml" Id="Rbe7ac81f97f64c2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18969f7f79f4341" /><Relationship Type="http://schemas.openxmlformats.org/officeDocument/2006/relationships/notesMaster" Target="/ppt/notesMasters/notesMaster1.xml" Id="Rdd89e614d30e4a7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528326a0ddc4bfb" /><Relationship Type="http://schemas.openxmlformats.org/officeDocument/2006/relationships/notesMaster" Target="/ppt/notesMasters/notesMaster1.xml" Id="Rf5b9549fa5804da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4130753e3cb4f94" /><Relationship Type="http://schemas.openxmlformats.org/officeDocument/2006/relationships/notesMaster" Target="/ppt/notesMasters/notesMaster1.xml" Id="R466b5f68288347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>- C:/Users/mu/Desktop/code/ppt/harmonyos-sdd-ralph-workshop/harmonyos-sdd-workshop-media/methodology/ai-fluency-neutral.png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使用 AI 进阶能力实现较为复杂的需求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**从需求拆解、开发、验证，到问题定位与协同闭环**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需求 → 规格 → 任务 → 代码 → 调试 → 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主视觉建议：左侧是一句模糊需求，中央是紫色受控 AI 循环，右侧是绿色设备证据包；背景只保留真实设备、测试结果和日志的低透明度拼贴。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![真实 SecurityTool 防火墙域名规则页面](harmonyos-sdd-workshop-media/mdm/firewall-domain-rule-created.jpeg)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&lt;sub&gt;这张真机图只能证明规则已出现在 UI；它不能单独证明每个账号的系统 policy/rules 已正确下发。开场让学员先说“它能证明什么、不能证明什么”。&lt;/sub&gt;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**MDM 主闭环｜TEACHING COMPOSITE**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设备当前处于 `public` 且防火墙已开启，已覆盖账号 `[100,112]`。系统收到 `account-added(123)` 后，先等待账号事实稳定，再把 public policy / preset rules 补到最新账号集合。若账号 123 的第 2 条规则下发失败，必须恢复旧状态，不得保存目标 signature，并留下可回读证据。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LR</a:t>
            </a:r>
          </a:p>
          <a:p xmlns:a="http://schemas.openxmlformats.org/drawingml/2006/main">
            <a:r>
              <a:t>    A[账号 123 新增] --&gt; B[稳定快照]</a:t>
            </a:r>
          </a:p>
          <a:p xmlns:a="http://schemas.openxmlformats.org/drawingml/2006/main">
            <a:r>
              <a:t>    B --&gt; C[模式重放]</a:t>
            </a:r>
          </a:p>
          <a:p xmlns:a="http://schemas.openxmlformats.org/drawingml/2006/main">
            <a:r>
              <a:t>    C --&gt; D[故障注入]</a:t>
            </a:r>
          </a:p>
          <a:p xmlns:a="http://schemas.openxmlformats.org/drawingml/2006/main">
            <a:r>
              <a:t>    D --&gt; E[补偿与回读]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TD</a:t>
            </a:r>
          </a:p>
          <a:p xmlns:a="http://schemas.openxmlformats.org/drawingml/2006/main">
            <a:r>
              <a:t>    A[Task：本轮唯一结果] --&gt; B[RED：制造可解释失败]</a:t>
            </a:r>
          </a:p>
          <a:p xmlns:a="http://schemas.openxmlformats.org/drawingml/2006/main">
            <a:r>
              <a:t>    B --&gt; C[AI：最小 Diff]</a:t>
            </a:r>
          </a:p>
          <a:p xmlns:a="http://schemas.openxmlformats.org/drawingml/2006/main">
            <a:r>
              <a:t>    C --&gt; D[Verify：窄测与回归]</a:t>
            </a:r>
          </a:p>
          <a:p xmlns:a="http://schemas.openxmlformats.org/drawingml/2006/main">
            <a:r>
              <a:t>    D --&gt; E[Evidence：日志与系统事实]</a:t>
            </a:r>
          </a:p>
          <a:p xmlns:a="http://schemas.openxmlformats.org/drawingml/2006/main">
            <a:r>
              <a:t>    E --&gt; F{停止条件满足？}</a:t>
            </a:r>
          </a:p>
          <a:p xmlns:a="http://schemas.openxmlformats.org/drawingml/2006/main">
            <a:r>
              <a:t>    F -- 否 --&gt; A</a:t>
            </a:r>
          </a:p>
          <a:p xmlns:a="http://schemas.openxmlformats.org/drawingml/2006/main">
            <a:r>
              <a:t>    F -- 是 --&gt; G[提交结果]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**可选对照图（PPT 制作时与上方 Mermaid 二选一）**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![Autonomous Agent：Human、LLM、Environment、Feedback 与 Stop](harmonyos-sdd-workshop-media/anthropic/autonomous-agent-loop.png)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&lt;sub&gt;讲师读图：Agent 不是“连续生成代码”，而是在环境反馈中行动，并在检查点接受人类判断或满足停止条件。图源：Anthropic《Building Effective Agents》。&lt;/sub&gt;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每轮写入 `progress.md`：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`假设 / RED 命令与输出 / 修改文件 / GREEN 输出 / 新事实 / 剩余风险 / Stop 或 Next`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触发事实 → 稳定快照 → 目标状态 → 执行结果 → 系统证据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层 | 必须回答的问题 | 可验证对象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触发事实 | 这轮变化由什么事件或操作开始？ | 事件源、时间戳、参数 |</a:t>
            </a:r>
          </a:p>
          <a:p xmlns:a="http://schemas.openxmlformats.org/drawingml/2006/main">
            <a:r>
              <a:t>| 稳定快照 | 执行前的完整事实是什么？ | 系统 getter、列表、版本号 |</a:t>
            </a:r>
          </a:p>
          <a:p xmlns:a="http://schemas.openxmlformats.org/drawingml/2006/main">
            <a:r>
              <a:t>| 目标状态 | 需求冻结后的期望结果是什么？ | `spec.md`、ADR、不变量 |</a:t>
            </a:r>
          </a:p>
          <a:p xmlns:a="http://schemas.openxmlformats.org/drawingml/2006/main">
            <a:r>
              <a:t>| 执行结果 | 哪些写入成功、失败或需要补偿？ | 返回值、映射、事务边界 |</a:t>
            </a:r>
          </a:p>
          <a:p xmlns:a="http://schemas.openxmlformats.org/drawingml/2006/main">
            <a:r>
              <a:t>| 系统证据 | 最终事实是否与目标一致？ | 回读、日志、截图/视频、性能 |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“权限页面第一次进入为空，退出后第二次进入正常。”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这句话只描述了现象，没有告诉我们下面四个事实：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**数据来自哪里**：页面缓存、ViewModel 内存、业务 API，还是系统 getter？</a:t>
            </a:r>
          </a:p>
          <a:p xmlns:a="http://schemas.openxmlformats.org/drawingml/2006/main">
            <a:r>
              <a:t>2. **什么时候开始监听**：页面创建前后、首次读取前后，哪一个边界会丢事件？</a:t>
            </a:r>
          </a:p>
          <a:p xmlns:a="http://schemas.openxmlformats.org/drawingml/2006/main">
            <a:r>
              <a:t>3. **什么时候算完成**：调用返回、本地状态更新，还是系统回读与页面一致？</a:t>
            </a:r>
          </a:p>
          <a:p xmlns:a="http://schemas.openxmlformats.org/drawingml/2006/main">
            <a:r>
              <a:t>4. **失败时展示什么**：空列表、旧状态、加载态，还是可重试错误？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**四个答案会改变监听顺序、状态模型、回归测试和最终证据。所以下一步不是设计，而是把分叉变成选择题。**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的职责是列出互斥答案、工程影响和危险假设；人的职责是关闭高影响 `OPEN`，冻结业务语义。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待决策项 | AI 列出的互斥答案 | 本轮冻结答案 | 直接影响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最终事实源 | 缓存 / ViewModel / API / 系统 getter | 系统 getter；ViewModel 只缓存 | 状态所有权 |</a:t>
            </a:r>
          </a:p>
          <a:p xmlns:a="http://schemas.openxmlformats.org/drawingml/2006/main">
            <a:r>
              <a:t>| 监听与首读顺序 | 先读后监听 / 先监听后读取 | 先建立监听，再发起首读 | 是否丢失首次事件 |</a:t>
            </a:r>
          </a:p>
          <a:p xmlns:a="http://schemas.openxmlformats.org/drawingml/2006/main">
            <a:r>
              <a:t>| 未返回时的状态 | 空列表 / 加载中 / 沿用旧值 | 显示加载中，不把空当完成 | 首次进入体验与测试 |</a:t>
            </a:r>
          </a:p>
          <a:p xmlns:a="http://schemas.openxmlformats.org/drawingml/2006/main">
            <a:r>
              <a:t>| 完成判定 | 调用返回 / 本地更新 / 系统回读一致 | 系统事实返回并刷新当前页面 | 验收证据与停止条件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**仍然是 OPEN 的高影响问题不能交给 AI 开发。**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**Before：只有现象，无法验收**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第一次进入为空，第二次进入正常。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**After：教学用 EARS 规格**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WHEN 首次进入权限页面，</a:t>
            </a:r>
          </a:p>
          <a:p xmlns:a="http://schemas.openxmlformats.org/drawingml/2006/main">
            <a:r>
              <a:t>WHILE 系统事实尚未返回，</a:t>
            </a:r>
          </a:p>
          <a:p xmlns:a="http://schemas.openxmlformats.org/drawingml/2006/main">
            <a:r>
              <a:t>THE SYSTEM SHALL 显示加载态，不得把空列表提交为完成状态；</a:t>
            </a:r>
          </a:p>
          <a:p xmlns:a="http://schemas.openxmlformats.org/drawingml/2006/main">
            <a:r>
              <a:t>WHEN 系统事实返回，</a:t>
            </a:r>
          </a:p>
          <a:p xmlns:a="http://schemas.openxmlformats.org/drawingml/2006/main">
            <a:r>
              <a:t>THE SYSTEM SHALL 在当前页面刷新，不要求退出后再次进入；</a:t>
            </a:r>
          </a:p>
          <a:p xmlns:a="http://schemas.openxmlformats.org/drawingml/2006/main">
            <a:r>
              <a:t>IF 超时或读取失败，</a:t>
            </a:r>
          </a:p>
          <a:p xmlns:a="http://schemas.openxmlformats.org/drawingml/2006/main">
            <a:r>
              <a:t>THEN SHALL 显示可重试错误，并保留诊断证据。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由规格直接导出三条测试：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测试 | 条件 | 可观察结果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T01 | 数据延迟返回 | 当前页面自动更新 |</a:t>
            </a:r>
          </a:p>
          <a:p xmlns:a="http://schemas.openxmlformats.org/drawingml/2006/main">
            <a:r>
              <a:t>| T02 | 事件早于首读完成 | 首次刷新不丢失 |</a:t>
            </a:r>
          </a:p>
          <a:p xmlns:a="http://schemas.openxmlformats.org/drawingml/2006/main">
            <a:r>
              <a:t>| T03 | 读取超时 | 错误态 + 诊断证据，不显示“空成功” |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进入真实工程案例前，必须交付下面四项可复查产物：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准入条件 | 必须回答 | 产物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事实时间线 | 首次进入、事件到达、数据返回、页面更新分别发生在什么时候？ | 只读勘察记录 |</a:t>
            </a:r>
          </a:p>
          <a:p xmlns:a="http://schemas.openxmlformats.org/drawingml/2006/main">
            <a:r>
              <a:t>| 最终事实源 | 哪个 API / getter 能证明系统状态？UI 与缓存只属于哪一层？ | truth-source 表 |</a:t>
            </a:r>
          </a:p>
          <a:p xmlns:a="http://schemas.openxmlformats.org/drawingml/2006/main">
            <a:r>
              <a:t>| 可执行规格 | `WHEN / WHILE / SHALL / IF / THEN` 是否完整？高影响 `OPEN` 是否关闭？ | `spec.md` |</a:t>
            </a:r>
          </a:p>
          <a:p xmlns:a="http://schemas.openxmlformats.org/drawingml/2006/main">
            <a:r>
              <a:t>| 第一张任务卡 | 唯一结果、Allowed / Forbidden、RED、Verify 与 Stop 是否明确？ | Task Card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**下一页进入真实案例：用真实文档、代码、测试和设备证据验证这四项。**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先让学员判断：USB 全局启用后，一台显式 deny 的键盘应该是什么状态？</a:t>
            </a:r>
          </a:p>
          <a:p xmlns:a="http://schemas.openxmlformats.org/drawingml/2006/main">
            <a:r>
              <a:t>答案：全局启用只是打开 L1；L2 仍然可以拒绝该设备。默认黑白名单只处理没有显式规则的新设备。</a:t>
            </a:r>
          </a:p>
          <a:p xmlns:a="http://schemas.openxmlformats.org/drawingml/2006/main">
            <a:r>
              <a:t>USB 存储模式不是第四层名单，而是一条并行类型策略。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case-materials/mdm/README.md</a:t>
            </a:r>
          </a:p>
          <a:p xmlns:a="http://schemas.openxmlformats.org/drawingml/2006/main">
            <a:r>
              <a:t>- case-materials/mdm/11-附录B外设课堂冻结规格.md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这页必须真的打开目录，不只念六个阶段。</a:t>
            </a:r>
          </a:p>
          <a:p xmlns:a="http://schemas.openxmlformats.org/drawingml/2006/main">
            <a:r>
              <a:t>强调每个阶段都有输入、生成文件和出口门；文档是下一次 AI Session 的外部记忆。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case-materials/mdm/README.md</a:t>
            </a:r>
          </a:p>
          <a:p xmlns:a="http://schemas.openxmlformats.org/drawingml/2006/main">
            <a:r>
              <a:t>- case-materials/mdm/00-外设管理证据状态总表.md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现场用 rg 从 PeripheralPage 追到 UsbGlobalPolicyService，再追到 DispatchService。</a:t>
            </a:r>
          </a:p>
          <a:p xmlns:a="http://schemas.openxmlformats.org/drawingml/2006/main">
            <a:r>
              <a:t>每轮扫描都要写下输出，不允许靠聊天记忆继续。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case-materials/mdm/01-资产同步与冲突清单.md</a:t>
            </a:r>
          </a:p>
          <a:p xmlns:a="http://schemas.openxmlformats.org/drawingml/2006/main">
            <a:r>
              <a:t>- case-materials/mdm/08-代码级调用链与课堂穿刺.md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让学员任选一项冲突，说明如果不冻结会导致哪种代码误实现。</a:t>
            </a:r>
          </a:p>
          <a:p xmlns:a="http://schemas.openxmlformats.org/drawingml/2006/main">
            <a:r>
              <a:t>需求卡冻结的是可验证语义，不是接口名。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case-materials/mdm/01-资产同步与冲突清单.md</a:t>
            </a:r>
          </a:p>
          <a:p xmlns:a="http://schemas.openxmlformats.org/drawingml/2006/main">
            <a:r>
              <a:t>- case-materials/mdm/11-附录B外设课堂冻结规格.md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先比较失败模式，再落类和接口。</a:t>
            </a:r>
          </a:p>
          <a:p xmlns:a="http://schemas.openxmlformats.org/drawingml/2006/main">
            <a:r>
              <a:t>强调 desiredPolicy 与 activePolicy 分离：意图长期保留，执行态可能因全局禁用而暂时为 none。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case-materials/mdm/02-方案推导与决策记录.md</a:t>
            </a:r>
          </a:p>
          <a:p xmlns:a="http://schemas.openxmlformats.org/drawingml/2006/main">
            <a:r>
              <a:t>- security_tool/.../UsbGlobalPolicyService.ets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现场打开 dispatchUsbPolicy 和 buildUsbDeviceType，确认系统参数里没有 serial number。</a:t>
            </a:r>
          </a:p>
          <a:p xmlns:a="http://schemas.openxmlformats.org/drawingml/2006/main">
            <a:r>
              <a:t>判断 AI 对不对：看它是否主动要求同类型第二台设备作为反例。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security_tool/.../PeripheralDevicePolicyDispatchService.ets</a:t>
            </a:r>
          </a:p>
          <a:p xmlns:a="http://schemas.openxmlformats.org/drawingml/2006/main">
            <a:r>
              <a:t>- case-materials/mdm/08-代码级调用链与课堂穿刺.md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表示 RFC 已经识别风险，但还没有设备级闭环证据。</a:t>
            </a:r>
          </a:p>
          <a:p xmlns:a="http://schemas.openxmlformats.org/drawingml/2006/main">
            <a:r>
              <a:t>Story 开始前必须引用这些不变量和已知风险。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case-materials/mdm/03-外设管理MVVM与策略RFC.md</a:t>
            </a:r>
          </a:p>
          <a:p xmlns:a="http://schemas.openxmlformats.org/drawingml/2006/main">
            <a:r>
              <a:t>- security_tool/docs/03-模块设计/外设管理组件设计说明.md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这页先纠正旧版路径：PeripheralPage 位于 views/peripheral/overview，三个可见区域位于 components/peripheral。</a:t>
            </a:r>
          </a:p>
          <a:p xmlns:a="http://schemas.openxmlformats.org/drawingml/2006/main">
            <a:r>
              <a:t>代码组织的目标不是迁就 AI，而是让人和 AI 都能从业务能力快速定位责任边界。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security_tool/entry/src/main/ets</a:t>
            </a:r>
          </a:p>
          <a:p xmlns:a="http://schemas.openxmlformats.org/drawingml/2006/main">
            <a:r>
              <a:t>- case-materials/mdm/14-文档先行与模块提交协议.md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现场从 handleConnect 开始逐跳打开代码。</a:t>
            </a:r>
          </a:p>
          <a:p xmlns:a="http://schemas.openxmlformats.org/drawingml/2006/main">
            <a:r>
              <a:t>页面不刷新时，先检查最早缺失的证据：RDB 是否写入、notify 是否触发、ViewModel 是否 reload。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security_tool/.../UsbDevicePolicyStateService.ets</a:t>
            </a:r>
          </a:p>
          <a:p xmlns:a="http://schemas.openxmlformats.org/drawingml/2006/main">
            <a:r>
              <a:t>- security_tool/.../PeripheralTraceMaintenanceService.ets</a:t>
            </a:r>
          </a:p>
          <a:p xmlns:a="http://schemas.openxmlformats.org/drawingml/2006/main">
            <a:r>
              <a:t>- case-materials/mdm/08-代码级调用链与课堂穿刺.md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让学员画出 suspend 第二条失败时的补偿方向。</a:t>
            </a:r>
          </a:p>
          <a:p xmlns:a="http://schemas.openxmlformats.org/drawingml/2006/main">
            <a:r>
              <a:t>全局恢复成功但部分设备 deny 重放失败，结果应是 PARTIAL，而不是伪造全部成功。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security_tool/.../UsbGlobalPolicyService.ets</a:t>
            </a:r>
          </a:p>
          <a:p xmlns:a="http://schemas.openxmlformats.org/drawingml/2006/main">
            <a:r>
              <a:t>- security_tool/entry/src/test/peripheral/usb-global-policy-service.test.ets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本页修复旧版编号错位：S2 是默认策略，S3 是首次连接，S6 是存储冲突，S7 才是还原。</a:t>
            </a:r>
          </a:p>
          <a:p xmlns:a="http://schemas.openxmlformats.org/drawingml/2006/main">
            <a:r>
              <a:t>现场随机抽一个 Story，要求学员说出 RED、主要修改面和独立验收点。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case-materials/mdm/04-Feature与Story拆解.md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伪代码评审看三个点：失败时什么不提交、成功写到哪个真源、系统结果用什么 Oracle 判断。</a:t>
            </a:r>
          </a:p>
          <a:p xmlns:a="http://schemas.openxmlformats.org/drawingml/2006/main">
            <a:r>
              <a:t>如果 Worker Session 需要改 View 或默认名单语义，应停止并重开 Story，而不是扩大 Diff。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case-materials/mdm/04-Feature与Story拆解.md</a:t>
            </a:r>
          </a:p>
          <a:p xmlns:a="http://schemas.openxmlformats.org/drawingml/2006/main">
            <a:r>
              <a:t>- security_tool/entry/src/main/ets/services/peripheral/interface-control/UsbGlobalPolicyService.ets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让学员判断一次改动属于继续、停止还是升级。</a:t>
            </a:r>
          </a:p>
          <a:p xmlns:a="http://schemas.openxmlformats.org/drawingml/2006/main">
            <a:r>
              <a:t>没有可证伪假设和独立 oracle 的循环，只是让 AI 反复改代码。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case-materials/mdm/05-Ralph迭代运行账.md</a:t>
            </a:r>
          </a:p>
          <a:p xmlns:a="http://schemas.openxmlformats.org/drawingml/2006/main">
            <a:r>
              <a:t>- case-materials/mdm/13-本地Session真实问题证据卡.md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这页要求现场展示一次 docs commit 在 code commit 之前，并在 Ledger 中填入两个 hash。</a:t>
            </a:r>
          </a:p>
          <a:p xmlns:a="http://schemas.openxmlformats.org/drawingml/2006/main">
            <a:r>
              <a:t>模块记录不是提交列表：它必须包含设计来源、allowed paths、测试、系统/实物证据和未关闭风险。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case-materials/mdm/14-文档先行与模块提交协议.md</a:t>
            </a:r>
          </a:p>
          <a:p xmlns:a="http://schemas.openxmlformats.org/drawingml/2006/main">
            <a:r>
              <a:t>- case-materials/mdm/04-Feature与Story拆解.md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这页训练证据分层：每向下一层，能推翻上一层看起来合理的结论。</a:t>
            </a:r>
          </a:p>
          <a:p xmlns:a="http://schemas.openxmlformats.org/drawingml/2006/main">
            <a:r>
              <a:t>还原按钮必须读取系统残留，不能只看本地 deny。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case-materials/mdm/13-本地Session真实问题证据卡.md</a:t>
            </a:r>
          </a:p>
          <a:p xmlns:a="http://schemas.openxmlformats.org/drawingml/2006/main">
            <a:r>
              <a:t>- case-materials/mdm/05-Ralph迭代运行账.md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让学员先给二态判断，再展示 getter 和挂载证据，迫使其改成三态。</a:t>
            </a:r>
          </a:p>
          <a:p xmlns:a="http://schemas.openxmlformats.org/drawingml/2006/main">
            <a:r>
              <a:t>PARTIAL_APPLIED 必须给出用户下一步，而不是吞掉异常。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case-materials/mdm/13-本地Session真实问题证据卡.md</a:t>
            </a:r>
          </a:p>
          <a:p xmlns:a="http://schemas.openxmlformats.org/drawingml/2006/main">
            <a:r>
              <a:t>- case-materials/mdm/06-测试验收报告.md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现场依次打开 usb_policy.json、runner.py、Flow Executor、Driver 和 Assertion。</a:t>
            </a:r>
          </a:p>
          <a:p xmlns:a="http://schemas.openxmlformats.org/drawingml/2006/main">
            <a:r>
              <a:t>要求学员说出每一层能证明什么、不能证明什么。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security_tool/scripts/e2e/cases/peripheral/</a:t>
            </a:r>
          </a:p>
          <a:p xmlns:a="http://schemas.openxmlformats.org/drawingml/2006/main">
            <a:r>
              <a:t>- security_tool/docs/04-测试文档/e2e测试/端到端测试框架设计.md</a:t>
            </a:r>
          </a:p>
          <a:p xmlns:a="http://schemas.openxmlformats.org/drawingml/2006/main">
            <a:r>
              <a:t>- User-provided image: codex-clipboard-6778939b-3ce1-44ae-baf5-06a00b13fb43.jpg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截图证明页面可见，不证明设备已经被系统拒绝。</a:t>
            </a:r>
          </a:p>
          <a:p xmlns:a="http://schemas.openxmlformats.org/drawingml/2006/main">
            <a:r>
              <a:t>若 system/physical oracle 不可得，Case 只能标 UNKNOWN/PENDING，不能因脚本执行成功给 PASS。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harmonyos-sdd-workshop-media/e2e/peripheral-policy-current.png</a:t>
            </a:r>
          </a:p>
          <a:p xmlns:a="http://schemas.openxmlformats.org/drawingml/2006/main">
            <a:r>
              <a:t>- case-materials/mdm/12-附录E外设验收手册.md</a:t>
            </a:r>
          </a:p>
          <a:p xmlns:a="http://schemas.openxmlformats.org/drawingml/2006/main">
            <a:r>
              <a:t>- security_tool/scripts/e2e/cases/peripheral/usb_blacklist.json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收口时让学员任选一行做反向追踪。</a:t>
            </a:r>
          </a:p>
          <a:p xmlns:a="http://schemas.openxmlformats.org/drawingml/2006/main">
            <a:r>
              <a:t>设备证据未补齐时，overall 不能给 PASS；这正是“AI 完成不等于交付”的最终落点。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case-materials/mdm/00-外设管理证据状态总表.md</a:t>
            </a:r>
          </a:p>
          <a:p xmlns:a="http://schemas.openxmlformats.org/drawingml/2006/main">
            <a:r>
              <a:t>- case-materials/mdm/06-测试验收报告.md</a:t>
            </a:r>
          </a:p>
          <a:p xmlns:a="http://schemas.openxmlformats.org/drawingml/2006/main">
            <a:r>
              <a:t>- case-materials/mdm/12-附录E外设验收手册.md</a:t>
            </a:r>
          </a:p>
          <a:p xmlns:a="http://schemas.openxmlformats.org/drawingml/2006/main">
            <a:r>
              <a:t>
素材责任说明：U01–U08 由用户提供真机/实物原始材料；E01–E03 是工程开放项；L01–L05 由本地仓库生成。
[Sources]
- case-materials/mdm/16-用户补充素材清单.md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开场只讲产品背景和问题边界。强调本章不是 API 教程，而是大型第三方项目的适配方法。完整文档：case-materials/gpu/17-复杂三方项目GPU适配源码分析与探针方案.md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这页解释如何避免上下文爆炸：不是让 AI 总结全部仓库，而是连续发起两个有明确输入、输出和 Verdict 的 Spike。每个 Spike 都必须产出可复查文档。完整模板见 17 文档第 2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按消息顺序讲一帧，不讲整个协议。关键转折是 context-&gt;SurfaceCommand，以及 EndFrame 后的 UpdateSurfaces。Linux 探针的产物不是实现方案，而是确认三方项目留给平台适配层的稳定契约。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本页是整章最重要的判断：适配点不是某个硬解 API，而是第三方项目与平台后端之间的回调缝隙。判断依据来自 Linux 路径，而不是主观猜测。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强调这是能力穿刺，不是完整实现。每个 Gate 都能独立失败、独立记录。只有五个 Gate 都有源码与真机证据，才允许冻结最终方案。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这页给出人类审阅点：为什么 AI 的方向是对的？不是因为它写得像，而是每个关键假设都能回到源码锚点，且历史 Session 仅用作可行性佐证。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这页开始从 Spike 进入 Design。强调回退不是事后补丁，而是架构的一条主路径。源码入口：ohos_rdpgfx_bridge.c:532–606；ohos_rdpgfx_surface.c:112–138；rdpgfx_pipeline.cpp:319–360。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不要把这一页讲成 checklist。重点是文档如何由两个 Spike 推导而来：Linux 探针给出边界，HarmonyOS 探针给出能力和约束，最后才形成十步方案。完整文档已放仓库 case-materials/gpu/17-复杂三方项目GPU适配源码分析与探针方案.md。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强调迭代顺序是由风险决定的：先建立观测和回退，再做一帧，再做连续性和生命周期，最后才做性能与长稳。每轮都必须能独立回滚。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这一页回应“AI 为什么对、错了怎么办”。判断依据是可证伪假设和第一异常点。真实案例中 immediate present 没有解决黑屏，日志直接证伪，因此必须回退而不是继续叠补丁。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最后用一张好的最终截图或视频收束，但结论仍然是方法：限定问题、参考实现、最小穿刺、冻结方案、迭代验证、证据驱动排障。不要在没有同 run A/B 时宣称最终性能 PASS。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>- C:\Users\mu\Desktop\code\ppt\harmonyos-sdd-ralph-workshop\harmonyos-sdd-workshop-media\anthropic\eval-quality-layers.png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TD</a:t>
            </a:r>
          </a:p>
          <a:p xmlns:a="http://schemas.openxmlformats.org/drawingml/2006/main">
            <a:r>
              <a:t>    A[事实] --&gt; B[规格]</a:t>
            </a:r>
          </a:p>
          <a:p xmlns:a="http://schemas.openxmlformats.org/drawingml/2006/main">
            <a:r>
              <a:t>    B --&gt; C[任务]</a:t>
            </a:r>
          </a:p>
          <a:p xmlns:a="http://schemas.openxmlformats.org/drawingml/2006/main">
            <a:r>
              <a:t>    C --&gt; D[RED]</a:t>
            </a:r>
          </a:p>
          <a:p xmlns:a="http://schemas.openxmlformats.org/drawingml/2006/main">
            <a:r>
              <a:t>    D --&gt; E[最小 Diff]</a:t>
            </a:r>
          </a:p>
          <a:p xmlns:a="http://schemas.openxmlformats.org/drawingml/2006/main">
            <a:r>
              <a:t>    E --&gt; F[系统证据]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**可选收束主视觉（PPT 制作时与上方 Mermaid 二选一）**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![质量的瑞士奶酪模型：自动评估、人工审阅和真实运行共同拦截缺陷](harmonyos-sdd-workshop-media/anthropic/eval-quality-layers.png)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&lt;sub&gt;讲师读图：任何单层检查都有孔洞。映射到本课就是测试、构建、日志、getter、截图/视频与同伴 Reviewer 叠加；只有多层证据对齐，才允许 PASS。图源：Anthropic《Demystifying Evals for AI Agents》。&lt;/sub&gt;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下一次拿到复杂需求，只问七个问题：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哪些词会让实现分叉？</a:t>
            </a:r>
          </a:p>
          <a:p xmlns:a="http://schemas.openxmlformats.org/drawingml/2006/main">
            <a:r>
              <a:t>2. 最终真相在哪一层？</a:t>
            </a:r>
          </a:p>
          <a:p xmlns:a="http://schemas.openxmlformats.org/drawingml/2006/main">
            <a:r>
              <a:t>3. 哪些不变量绝不能破坏？</a:t>
            </a:r>
          </a:p>
          <a:p xmlns:a="http://schemas.openxmlformats.org/drawingml/2006/main">
            <a:r>
              <a:t>4. 本轮只允许 AI 改哪个边界？</a:t>
            </a:r>
          </a:p>
          <a:p xmlns:a="http://schemas.openxmlformats.org/drawingml/2006/main">
            <a:r>
              <a:t>5. 怎样先制造一个可解释的 RED？</a:t>
            </a:r>
          </a:p>
          <a:p xmlns:a="http://schemas.openxmlformats.org/drawingml/2006/main">
            <a:r>
              <a:t>6. 最早异常证据在哪里？</a:t>
            </a:r>
          </a:p>
          <a:p xmlns:a="http://schemas.openxmlformats.org/drawingml/2006/main">
            <a:r>
              <a:t>7. 什么证据满足后，本轮必须停止？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**一分钟迁移题**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权限页面第一次进入数据为空，第二次进入正常。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每组必须用七问给出：一个最小只读勘察任务、一条可证伪假设、一项禁止修改范围和一个最终事实来源。不得直接回答“加延迟”或“页面初始化问题”。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b70f2447f4b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cb39eed5af4c01" /><Relationship Type="http://schemas.openxmlformats.org/officeDocument/2006/relationships/slideLayout" Target="/ppt/slideLayouts/slideLayout1.xml" Id="Ra4c04c8e33254f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04c8e33254f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9b448a7da434f" /><Relationship Type="http://schemas.openxmlformats.org/officeDocument/2006/relationships/image" Target="/ppt/media/image.png" Id="Rae1a0328ba7e46cc" /><Relationship Type="http://schemas.openxmlformats.org/officeDocument/2006/relationships/notesSlide" Target="/ppt/notesSlides/notesSlide1.xml" Id="Rf3fa713128c541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6fd1b81b6426a" /><Relationship Type="http://schemas.openxmlformats.org/officeDocument/2006/relationships/notesSlide" Target="/ppt/notesSlides/notesSlide2.xml" Id="R67945991c46041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e83c2c1c34fc8" /><Relationship Type="http://schemas.openxmlformats.org/officeDocument/2006/relationships/image" Target="/ppt/media/image2.png" Id="R073e0d4ea5cd47ce" /><Relationship Type="http://schemas.openxmlformats.org/officeDocument/2006/relationships/notesSlide" Target="/ppt/notesSlides/notesSlide3.xml" Id="Rdc6d4c04893e48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d2f5e460341d0" /><Relationship Type="http://schemas.openxmlformats.org/officeDocument/2006/relationships/notesSlide" Target="/ppt/notesSlides/notesSlide4.xml" Id="Rc1539773a9b748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9fca925644a1c" /><Relationship Type="http://schemas.openxmlformats.org/officeDocument/2006/relationships/notesSlide" Target="/ppt/notesSlides/notesSlide5.xml" Id="R43b4c4be0c7e48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76418c0494187" /><Relationship Type="http://schemas.openxmlformats.org/officeDocument/2006/relationships/notesSlide" Target="/ppt/notesSlides/notesSlide6.xml" Id="Rd24af3468e254d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5e6e3bfef4f3e" /><Relationship Type="http://schemas.openxmlformats.org/officeDocument/2006/relationships/notesSlide" Target="/ppt/notesSlides/notesSlide7.xml" Id="R43b45aa1d50742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fad1d532a486c" /><Relationship Type="http://schemas.openxmlformats.org/officeDocument/2006/relationships/notesSlide" Target="/ppt/notesSlides/notesSlide8.xml" Id="R0fd60614442641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c43fdd5f0404f" /><Relationship Type="http://schemas.openxmlformats.org/officeDocument/2006/relationships/notesSlide" Target="/ppt/notesSlides/notesSlide9.xml" Id="Rdeb6cd41d6614c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40d358cec4bd3" /><Relationship Type="http://schemas.openxmlformats.org/officeDocument/2006/relationships/notesSlide" Target="/ppt/notesSlides/notesSlide10.xml" Id="R6a8bd60a59e04f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f4e1b4952410e" /><Relationship Type="http://schemas.openxmlformats.org/officeDocument/2006/relationships/notesSlide" Target="/ppt/notesSlides/notesSlide11.xml" Id="R7a47966c33f545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04a11c9464fcc" /><Relationship Type="http://schemas.openxmlformats.org/officeDocument/2006/relationships/notesSlide" Target="/ppt/notesSlides/notesSlide12.xml" Id="R845fe2a249204a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f24f8571b431c" /><Relationship Type="http://schemas.openxmlformats.org/officeDocument/2006/relationships/notesSlide" Target="/ppt/notesSlides/notesSlide13.xml" Id="R2043f6ce69114d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24df81f554c71" /><Relationship Type="http://schemas.openxmlformats.org/officeDocument/2006/relationships/notesSlide" Target="/ppt/notesSlides/notesSlide14.xml" Id="Rc7af0697c8c74d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c804a49ef485e" /><Relationship Type="http://schemas.openxmlformats.org/officeDocument/2006/relationships/notesSlide" Target="/ppt/notesSlides/notesSlide15.xml" Id="R05c3bb2214db42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58f6c333c42a6" /><Relationship Type="http://schemas.openxmlformats.org/officeDocument/2006/relationships/notesSlide" Target="/ppt/notesSlides/notesSlide16.xml" Id="Red1d68fce5a040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b2f950af34a9e" /><Relationship Type="http://schemas.openxmlformats.org/officeDocument/2006/relationships/notesSlide" Target="/ppt/notesSlides/notesSlide17.xml" Id="R5cdd6a5e55f248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215a8c3554699" /><Relationship Type="http://schemas.openxmlformats.org/officeDocument/2006/relationships/notesSlide" Target="/ppt/notesSlides/notesSlide18.xml" Id="R66da3a29766341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3ad1a7e464c34" /><Relationship Type="http://schemas.openxmlformats.org/officeDocument/2006/relationships/notesSlide" Target="/ppt/notesSlides/notesSlide19.xml" Id="Ra3dc1f3d07ff462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d521502d54c61" /><Relationship Type="http://schemas.openxmlformats.org/officeDocument/2006/relationships/notesSlide" Target="/ppt/notesSlides/notesSlide20.xml" Id="Rcfc6e32b12624d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7a7e2a73b4623" /><Relationship Type="http://schemas.openxmlformats.org/officeDocument/2006/relationships/notesSlide" Target="/ppt/notesSlides/notesSlide21.xml" Id="Rea3629361b0f40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0bf9f057b4104" /><Relationship Type="http://schemas.openxmlformats.org/officeDocument/2006/relationships/notesSlide" Target="/ppt/notesSlides/notesSlide22.xml" Id="R816aa23279e849d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3f26ece594c99" /><Relationship Type="http://schemas.openxmlformats.org/officeDocument/2006/relationships/notesSlide" Target="/ppt/notesSlides/notesSlide23.xml" Id="Rb2fce2c36a4141c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b4d533cf6430b" /><Relationship Type="http://schemas.openxmlformats.org/officeDocument/2006/relationships/notesSlide" Target="/ppt/notesSlides/notesSlide24.xml" Id="Rb9b08695cc6842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cb1d8cd234fd9" /><Relationship Type="http://schemas.openxmlformats.org/officeDocument/2006/relationships/image" Target="/ppt/media/image.jpeg" Id="R8ee8055715984204" /><Relationship Type="http://schemas.openxmlformats.org/officeDocument/2006/relationships/notesSlide" Target="/ppt/notesSlides/notesSlide25.xml" Id="R74c4d3605ac741b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60a15577e45c0" /><Relationship Type="http://schemas.openxmlformats.org/officeDocument/2006/relationships/image" Target="/ppt/media/image2.jpeg" Id="Rcfc679db04724ad0" /><Relationship Type="http://schemas.openxmlformats.org/officeDocument/2006/relationships/notesSlide" Target="/ppt/notesSlides/notesSlide26.xml" Id="Rdd8d068540ca4df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a62029047435f" /><Relationship Type="http://schemas.openxmlformats.org/officeDocument/2006/relationships/notesSlide" Target="/ppt/notesSlides/notesSlide27.xml" Id="Rb63d8952545146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f2214f3f94d87" /><Relationship Type="http://schemas.openxmlformats.org/officeDocument/2006/relationships/notesSlide" Target="/ppt/notesSlides/notesSlide28.xml" Id="Rdf90080f7b62418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4f98a41824067" /><Relationship Type="http://schemas.openxmlformats.org/officeDocument/2006/relationships/notesSlide" Target="/ppt/notesSlides/notesSlide29.xml" Id="R22f3f7a1e45f4c9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9ec13f704449e" /><Relationship Type="http://schemas.openxmlformats.org/officeDocument/2006/relationships/notesSlide" Target="/ppt/notesSlides/notesSlide30.xml" Id="Rd482fb9180a4469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7c525c87647d8" /><Relationship Type="http://schemas.openxmlformats.org/officeDocument/2006/relationships/notesSlide" Target="/ppt/notesSlides/notesSlide31.xml" Id="R8b3469f1defa411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cfc443bd944aa" /><Relationship Type="http://schemas.openxmlformats.org/officeDocument/2006/relationships/notesSlide" Target="/ppt/notesSlides/notesSlide32.xml" Id="Rf0a7bfc78192442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3fac4fa254600" /><Relationship Type="http://schemas.openxmlformats.org/officeDocument/2006/relationships/notesSlide" Target="/ppt/notesSlides/notesSlide33.xml" Id="R159faaef647f41f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7a259dc394d26" /><Relationship Type="http://schemas.openxmlformats.org/officeDocument/2006/relationships/notesSlide" Target="/ppt/notesSlides/notesSlide34.xml" Id="R1f1d836bd21b457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04d3b00844a02" /><Relationship Type="http://schemas.openxmlformats.org/officeDocument/2006/relationships/notesSlide" Target="/ppt/notesSlides/notesSlide35.xml" Id="Rd52ae448f03f42e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1703a5c614f96" /><Relationship Type="http://schemas.openxmlformats.org/officeDocument/2006/relationships/notesSlide" Target="/ppt/notesSlides/notesSlide36.xml" Id="R3bfd36c7c4a1469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8795df7484251" /><Relationship Type="http://schemas.openxmlformats.org/officeDocument/2006/relationships/notesSlide" Target="/ppt/notesSlides/notesSlide37.xml" Id="R31e70a6a3f5540d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c5ab5c93b42b5" /><Relationship Type="http://schemas.openxmlformats.org/officeDocument/2006/relationships/notesSlide" Target="/ppt/notesSlides/notesSlide38.xml" Id="R925332cb32e4449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c6e3578f74ad8" /><Relationship Type="http://schemas.openxmlformats.org/officeDocument/2006/relationships/image" Target="/ppt/media/image3.png" Id="R0cf1d75fcbac4747" /><Relationship Type="http://schemas.openxmlformats.org/officeDocument/2006/relationships/notesSlide" Target="/ppt/notesSlides/notesSlide39.xml" Id="R074b54d426f241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4E06D2-31D6-475F-9B0B-C5398910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HarmonyOS 复杂需求工程化实践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DA694-E65E-46F5-A828-A9EA8B6B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让 AI 不只是“写出代码”，而是完成可解释、可验证、可停止的一轮工程闭环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34442-F286-4625-B2E3-0CF7B40A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133A9-F69F-4EBD-9347-F3D06946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4781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课程从一个人人都见过的现象开始：页面第一次进入为空，第二次却正常。先学会找事实，再进入两个真实工程案例。</a:t>
            </a:r>
          </a:p>
        </p:txBody>
      </p:sp>
      <p:pic>
        <p:nvPicPr>
          <p:cNvPr id="5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a0328ba7e46cc"/>
          <a:srcRect xmlns:a="http://schemas.openxmlformats.org/drawingml/2006/main" l="10625" t="0" r="10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952500"/>
            <a:ext cx="5667375" cy="4048125"/>
          </a:xfrm>
          <a:prstGeom xmlns:a="http://schemas.openxmlformats.org/drawingml/2006/main" prst="roundRect">
            <a:avLst>
              <a:gd name="adj" fmla="val 282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58F46-EEFE-4F90-9B29-FDC192E6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952500"/>
            <a:ext cx="5667375" cy="4048125"/>
          </a:xfrm>
          <a:prstGeom xmlns:a="http://schemas.openxmlformats.org/drawingml/2006/main" prst="roundRect">
            <a:avLst>
              <a:gd name="adj" fmla="val 28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99B91-2F40-4BB7-B4E9-3E326813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核心不是一次 Prompt，而是持续澄清目标、约束边界，并让每一步都能被证据推翻。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A8C34-9593-4D16-ABDD-5D57C075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813BA-70E2-453C-8B51-99EEBD2A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15CFC-64A1-4548-90C8-2D189C4E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3EB35-6820-4A3B-9BC5-8FD65D8B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5F055-8435-4C99-B28F-7CB1A338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B34C4-AEF8-4B4F-A918-9AC24BAD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E3743-2FD4-481B-A58F-A92505CF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1E7EE-5F52-4899-979C-994CE0A6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C9516-BC3F-4009-87CA-DE8FEE97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8D213-9AE7-42D0-B3FF-FEAAFDE3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改动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684D2-720E-406B-8A63-E8549711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4A8F4-86B0-419E-A8EB-5945EF6E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cxnSp>
        <p:nvCxnSpPr>
          <p:cNvPr id="54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86000" y="597693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46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52900" y="597693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4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19800" y="597693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48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886700" y="597693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49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753600" y="597693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FAD5A-1D55-4875-B0CF-74BCDE0C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486160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561A2A-E6D6-45A6-A5EF-D7B77BE2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01 课程地图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06498-66E5-41F1-AC3A-DE23BD13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别急着改代码：先解释“第一次为空，第二次正常”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43E87-55F1-41AC-8AEE-309F84F1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61238-AB06-4C49-B582-E39DEE9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B994A-D801-4C4B-952C-C324C33C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5C2BA-A7F2-4D41-A6A4-266117DA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737F0-C1ED-4FE6-81DD-29E7590D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28725"/>
            <a:ext cx="1068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“权限页面第一次进入数据为空，退出后第二次进入却正常。”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AA486-0133-4F84-8A84-58B5C0BD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这句话只描述了现象，至少存在四种完全不同的实现原因：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8C9F9-8B4F-4B25-9EAA-404E535E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6D694-48CC-465B-8E85-C6918A90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480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  数据尚未返回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页面先渲染，异步结果稍后到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DAA71-FCE1-49A0-9A8B-A4CE8E29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4AC4A-4032-4235-BA16-598B5EAF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76525"/>
            <a:ext cx="480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  监听注册太晚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第一次事件已错过，第二次复用状态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A62DD-271B-4750-9DDA-DD073711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5ACCE-987E-4FF7-8A5F-7ECB3CE0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80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  缓存或单例残留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第二次读取的是上一轮结果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A54F0-8330-4783-AC13-7B52A077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3880D-21DD-4754-AD93-2E591AF3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71900"/>
            <a:ext cx="480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  刷新链没有触发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事实已存在，但 ViewModel 没收到通知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724CB-639F-4A99-9E4D-AFAAA698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97739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DABC7-A4E9-4D2B-B625-90F9394A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53025"/>
            <a:ext cx="182499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稳定复现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B933D-4767-43E9-94FD-61E400D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5095875"/>
            <a:ext cx="197739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FEFBA-FD0F-41B2-8E0F-FB84C37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5153025"/>
            <a:ext cx="182499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画时间线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D2033-FDA8-4FFA-A2EA-82156B34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305" y="5095875"/>
            <a:ext cx="197739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9341C-29CC-45E1-83B9-E762D4B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53025"/>
            <a:ext cx="182499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确认事实源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DCF51-35AE-4778-AB0E-01B16998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5095875"/>
            <a:ext cx="197739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91A28-A147-4237-B62F-1431B81A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5153025"/>
            <a:ext cx="182499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定位最早异常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8269E-B61D-4148-A4F3-77631400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985" y="5095875"/>
            <a:ext cx="197739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6771A-28D9-4155-AF72-9B14446C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185" y="5153025"/>
            <a:ext cx="182499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只改一个边界</a:t>
            </a:r>
          </a:p>
        </p:txBody>
      </p:sp>
      <p:cxnSp>
        <p:nvCxnSpPr>
          <p:cNvPr id="66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787015" y="54197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661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935855" y="54197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662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084695" y="54197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663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33535" y="54197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265AA0-3F79-456D-81A2-36E1E772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712A6-EF8B-41B6-B1A3-273CCE03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991225"/>
            <a:ext cx="849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不能直接回答“加延迟”。先证明第一次和第二次究竟差在哪一个事实。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227A1F-86F2-46E8-BD3A-6D00561B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946920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BF84DA-50B3-444D-89FA-4055FE21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01 课程地图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643AC-D5A4-4D1B-B797-0123C117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AI 每轮只做一个可证伪闭环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CC041-F2EC-4D8E-8E26-FDE7EDDE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550C7-117C-472D-9F74-3CFDA77F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B94F2-10B4-4F49-A6F0-92ACC860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64820-116F-4382-B33D-78816E61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CA8E9-3853-4F93-B209-B039AF22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927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本轮唯一结果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D1E9B-DA90-4F8F-B069-4C03E915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62125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9A154-690D-43DC-8258-A38D0F9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1927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可解释失败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02881-9D41-4F8C-BC60-99E4FF62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1A94E-A727-4811-ADBF-926D577F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1927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3EA45-1705-4F92-BA13-4890EF4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62125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9D33F-6BBD-4E76-89FA-062EAE30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1927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窄测与回归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CD992-6D2C-4284-98A3-F0561B42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62125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38554-FC45-4B75-A830-F56DCF84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1927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日志与系统事实</a:t>
            </a:r>
          </a:p>
        </p:txBody>
      </p:sp>
      <p:cxnSp>
        <p:nvCxnSpPr>
          <p:cNvPr id="52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2105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2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76750" y="2105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3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572250" y="2105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31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67750" y="2105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C66FD-B62E-4C48-AA99-D60F0DD8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000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6104D-2C5E-4164-BE80-C8106DA5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0040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停止条件满足？</a:t>
            </a:r>
          </a:p>
        </p:txBody>
      </p:sp>
      <p:cxnSp>
        <p:nvCxnSpPr>
          <p:cNvPr id="534" name=""/>
          <p:cNvCxnSpPr>
            <a:stCxn xmlns:a="http://schemas.openxmlformats.org/drawingml/2006/main" id="14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239250" y="2447925"/>
            <a:ext cx="809625" cy="1057275"/>
          </a:xfrm>
          <a:prstGeom xmlns:a="http://schemas.openxmlformats.org/drawingml/2006/main" prst="bentConnector5">
            <a:avLst>
              <a:gd name="adj1" fmla="val 0"/>
              <a:gd name="adj2" fmla="val 21622"/>
              <a:gd name="adj3" fmla="val 71765"/>
            </a:avLst>
          </a:prstGeom>
          <a:ln xmlns:a="http://schemas.openxmlformats.org/drawingml/2006/main" w="19050">
            <a:solidFill>
              <a:srgbClr val="E26852"/>
            </a:solidFill>
            <a:prstDash val="solid"/>
            <a:tailEnd type="arrow" w="med" len="med"/>
          </a:ln>
        </p:spPr>
      </p:cxnSp>
      <p:cxnSp>
        <p:nvCxnSpPr>
          <p:cNvPr id="535" name=""/>
          <p:cNvCxnSpPr>
            <a:stCxn xmlns:a="http://schemas.openxmlformats.org/drawingml/2006/main" id="20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571625" y="2447925"/>
            <a:ext cx="5667375" cy="1057275"/>
          </a:xfrm>
          <a:prstGeom xmlns:a="http://schemas.openxmlformats.org/drawingml/2006/main" prst="bentConnector4">
            <a:avLst>
              <a:gd name="adj1" fmla="val 4034"/>
              <a:gd name="adj2" fmla="val 78378"/>
            </a:avLst>
          </a:prstGeom>
          <a:ln xmlns:a="http://schemas.openxmlformats.org/drawingml/2006/main" w="19050">
            <a:solidFill>
              <a:srgbClr val="E26852"/>
            </a:solidFill>
            <a:prstDash val="dash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D75AD-99A5-4708-9FF0-F38474D9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否：回到 Task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0C046-6EA2-409A-B701-7CD81908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是：提交结果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e0d4ea5cd47ce"/>
          <a:stretch xmlns:a="http://schemas.openxmlformats.org/drawingml/2006/main"/>
        </p:blipFill>
        <p:spPr>
          <a:xfrm xmlns:a="http://schemas.openxmlformats.org/drawingml/2006/main">
            <a:off x="666750" y="4429472"/>
            <a:ext cx="4000500" cy="1666181"/>
          </a:xfrm>
          <a:prstGeom xmlns:a="http://schemas.openxmlformats.org/drawingml/2006/main" prst="roundRect">
            <a:avLst>
              <a:gd name="adj" fmla="val 6486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189DC4-9B18-420E-9226-CEE36D76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000500" cy="1762125"/>
          </a:xfrm>
          <a:prstGeom xmlns:a="http://schemas.openxmlformats.org/drawingml/2006/main" prst="roundRect">
            <a:avLst>
              <a:gd name="adj" fmla="val 648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D88417-9AA6-46A0-BDE6-9A7E25FB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6286500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237E1-5EE3-4BF6-82E3-18F159D0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95800"/>
            <a:ext cx="598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progress.md（外部记忆）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A4D76A-DA34-4C5E-8CFC-C8CC15DA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81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4ED46E-B2FD-4355-8E5B-70C0227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57750"/>
            <a:ext cx="5981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task_id / red_reason / diff_scope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verify_commands / evidence / verdict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next_task / stop_reason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676FD-9E02-4CC3-A422-12F51309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906272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BCB931-0CA6-4BAD-848D-2C9A73ED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01 课程地图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08FF9-C1B8-45E2-841F-D2E9039C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复杂问题先拆成五层，两个案例都沿这条链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C01C8-7D18-4FAE-9BF2-8360F65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390E6-ECAC-40FF-B527-755CE0B7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6F825-41F8-40EA-B1F4-B687140D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7AF33-D430-44A0-9CF2-380ACE9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206883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8532D-6C99-4131-8B76-B803F8CC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95400"/>
            <a:ext cx="191643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触发事实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发生了什么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51D4B-0783-44CD-8540-2369C2A7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355" y="1238250"/>
            <a:ext cx="206883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EAEA2-ACAB-4A90-BEC3-09BCC36B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555" y="1295400"/>
            <a:ext cx="191643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稳定快照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此刻真实状态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65DC6-13B7-47E7-842D-89692759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585" y="1238250"/>
            <a:ext cx="206883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E331C-BA51-4CAF-8237-E728BAF8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785" y="1295400"/>
            <a:ext cx="191643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目标状态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应该变成什么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1BB40-3D12-490D-AE71-CA29FE42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1238250"/>
            <a:ext cx="206883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DF1DF-6D1F-40ED-B0F4-D6943743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15" y="1295400"/>
            <a:ext cx="191643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系统实际做了什么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93147-5A71-41A7-BFE3-DA544B3E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045" y="1238250"/>
            <a:ext cx="206883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5CCDD-7101-4DF2-8D5C-AFF94AF5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245" y="1295400"/>
            <a:ext cx="191643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系统证据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最终是否一致</a:t>
            </a:r>
          </a:p>
        </p:txBody>
      </p:sp>
      <p:cxnSp>
        <p:nvCxnSpPr>
          <p:cNvPr id="45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87955" y="1657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45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909185" y="1657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45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30415" y="1657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459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51645" y="1657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345E3-DDB2-4DA9-B13F-B97DCA1B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7373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806AF-07D1-498E-8493-F59D3E3E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5849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A6E0D-B5C0-48BA-84D5-243D1A32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2524125"/>
            <a:ext cx="52120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46992-FE90-4680-B72B-55AAFBDF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2571750"/>
            <a:ext cx="5059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必须回答的问题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CF611-5F15-4430-A765-24ADC66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2524125"/>
            <a:ext cx="39090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3A0F9-3B13-453A-B3ED-9C67B90B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2571750"/>
            <a:ext cx="37566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可验证对象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78A26-3AAD-41C4-B1D6-733FE079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7373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8D1D8-4E8B-4A84-8BC3-B96F6C03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5849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触发事实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239371-E442-45D1-96FA-BB5A9B3D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2924175"/>
            <a:ext cx="521208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DA364-76F7-42A7-B0AC-99AFA7A5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2971800"/>
            <a:ext cx="505968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这轮变化由什么事件或操作开始？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BD21B1-F2DD-463F-BCF7-4A00693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2924175"/>
            <a:ext cx="39090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3612A-DEFE-4273-85B2-2989D2F6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2971800"/>
            <a:ext cx="37566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事件源、时间戳、参数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C46E3B-C7EC-419E-B5EB-A7A57AF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7090"/>
            <a:ext cx="17373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985496-BAF2-459A-8D45-542EF2E5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4715"/>
            <a:ext cx="15849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稳定快照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A773EF-BE05-4C16-8854-D524A55B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3387090"/>
            <a:ext cx="521208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8A4F79-5B8A-4205-A399-B7FDF804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3434715"/>
            <a:ext cx="505968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执行前的完整事实是什么？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5B5CEE-B0EB-4704-878D-ED32EEF0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3387090"/>
            <a:ext cx="39090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6B07A3-9583-4F83-87F1-50B11794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434715"/>
            <a:ext cx="37566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 getter、列表、版本号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373122-EF52-43CC-8931-31F285E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0005"/>
            <a:ext cx="17373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47F5B5-AAFA-4C29-BF14-6531723E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7630"/>
            <a:ext cx="15849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目标状态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5FC1F8-2FED-43BD-9210-15330325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3850005"/>
            <a:ext cx="521208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99E804-4EEA-40CD-8253-854B1A8D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3897630"/>
            <a:ext cx="505968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需求冻结后的期望结果是什么？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CCAE79-B7C2-48E4-A0A7-3871EC43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3850005"/>
            <a:ext cx="39090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BACCD0-E77D-4123-A814-814F001C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897630"/>
            <a:ext cx="37566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spec / ADR / 不变量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D93AA6-C537-4AFC-9D79-3E3C864C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2920"/>
            <a:ext cx="17373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D83AAC-3684-4023-B169-123E68B6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0545"/>
            <a:ext cx="15849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C97E05-DBC8-4443-B158-5411461E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4312920"/>
            <a:ext cx="521208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3AD665-69E5-4931-8760-DF286820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4360545"/>
            <a:ext cx="505968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哪些写入成功、失败或需要补偿？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5B53E6-FF68-4CE3-83CE-064A1C33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4312920"/>
            <a:ext cx="39090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948757-FDFB-4C14-A988-BB85EE47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4360545"/>
            <a:ext cx="37566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返回值、映射、事务边界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F74CC1-A897-4816-A0BF-19E19592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5835"/>
            <a:ext cx="17373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3588D6-CF5E-480C-B824-EE3856BD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3460"/>
            <a:ext cx="15849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系统证据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7692E5-5969-4E62-8AF1-60E55CF4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4775835"/>
            <a:ext cx="521208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A0CA4D-29ED-47CF-A360-532D321E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4823460"/>
            <a:ext cx="505968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最终事实是否与目标一致？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B4969D-4A5E-445F-927C-7906D628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4775835"/>
            <a:ext cx="39090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DF82D6-DC62-4E82-80C3-DE3DC2E0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4823460"/>
            <a:ext cx="37566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回读、日志、截图/视频、性能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EBB1C0-B3BC-41E1-83AC-B3983792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5143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0CD891-0FD5-4CC4-894A-7CB9B232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案例一：多账号状态同步、失败补偿与 UI 事实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0E8A51-6CD2-4910-9ED8-835B67D8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76875"/>
            <a:ext cx="5143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FA6DA5-9740-4C73-BFAA-1818315A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案例二：FreeRDP 卡顿路径、硬解穿刺与同帧证据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FEC072-E581-4BCA-9D6C-A210605E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195440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A3B6FB-C64B-4EC3-8A70-F0C1096B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02 需求与规格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786B4-BE94-481C-BF0A-527ABED3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同一个现象，至少有四个事实边界不能靠猜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EB80C-2F9C-4138-99AA-69695661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0E28F-1DB5-4BBA-B57F-ECA4C490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D3A18-22B1-4A69-848F-1A1C6CA5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74941-2D52-4128-B715-7449E120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3116A-AF84-4C14-BA1B-8D7805E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28725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“权限页面第一次进入为空，退出后第二次进入正常。”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E6CC3-DA82-41EB-BD9D-839BE989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这句话只描述了现象，没有告诉我们下面四个事实。任何一项靠猜，都会走向不同实现。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173A6-0FD4-454D-A68C-51A00DC1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2476500" cy="2238375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A9A21-8679-4150-B730-72A7D610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1  数据来自哪里？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126D9-0AD3-4CAB-9EA2-DF162A36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AD247-07EA-4629-BF38-CF384050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页面缓存 / ViewModel 内存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业务 API / 系统 getter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FCE9A-573D-422A-89CA-66CC9C47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2476500" cy="2238375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FA476-1807-4FD5-A73C-818F8D36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2  什么时候开始监听？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21C14-B161-4090-8932-B8E39725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67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8DC5B-BB1F-410A-B0CD-E79CAA1D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页面创建前 / 页面创建后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首次读取前 / 首次读取后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9F24B-CE43-4478-9585-7457E480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476500" cy="2238375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72142-52EF-4978-9C73-EC481D8F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3  什么时候算完成？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B18D0-92EB-4BBE-BEA1-6D44C3BA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71828-F219-44BE-AF2D-E9CD8C86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调用返回 / 本地状态更新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系统回读与页面一致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E088A-A6C4-48B9-B066-91033FD9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2476500" cy="2238375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D73E9-C516-4D59-B8DF-03F6C18D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4  失败时页面展示什么？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7A1A16-6892-4B8E-9426-DC16E9F2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95B93-E8D0-45F3-82F1-C3F66EF8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空列表 / 旧状态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加载态 / 可重试错误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ADC7F-CE1A-4DB6-B110-DA842902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95B50-4291-41A1-A263-4A5EED15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19725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四个答案会改变监听顺序、状态模型、回归测试和最终证据。所以下一步不是设计，而是把分叉变成选择题。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ABD2FE-ED1E-40A0-9633-D49B8E80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13039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ACA117-30D5-4E95-A16A-BEF3EE45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02 需求与规格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6B595-9C38-43A1-A842-3D8F49F5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AI 先把分叉列完整，人再冻结本轮语义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6DCB9-1E75-412D-99D3-60E94FCC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1C2CE-39C0-43B5-A50D-74F77C89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BAD85-D2B1-49A4-8F53-95F7F4B2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6327A-5D2D-4C87-97AA-8A0F7781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AI 的职责：列出互斥答案、工程影响和危险假设。人的职责：关闭高影响 OPEN，冻结业务语义。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A3CE5-2633-4797-A2AB-45922B88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7678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351D6-F5CD-43FB-8034-E5BBEBF6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6154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待决策项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AEF01-0661-48BB-8864-C4A8216B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1809750"/>
            <a:ext cx="320421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069E0-9D31-4BC7-A7C4-E1AD5A67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1857375"/>
            <a:ext cx="30518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列出的互斥答案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13705-8CB6-42AB-8FC5-23E985E9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09750"/>
            <a:ext cx="342519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C998B-B3FD-4946-A79B-82E7D9E3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32727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本轮冻结答案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A870F-ED1E-4F2C-87CE-39B11678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1809750"/>
            <a:ext cx="26517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1C54F-5A22-45D5-A3AE-F72E1AAA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1857375"/>
            <a:ext cx="24993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直接影响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4509A-7495-40C8-8E5F-D0E6A1D7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76784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E0D02-E75C-4BB7-886B-B6EC3620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161544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最终事实源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DB1D4-4B93-47B3-A7F3-B17554BE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2209800"/>
            <a:ext cx="320421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A1476-573C-4702-A7E1-E7EFDED6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2257425"/>
            <a:ext cx="305181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缓存 / ViewModel / API / 系统 getter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EFD39-A3F1-43ED-B0DA-B07BC4CC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09800"/>
            <a:ext cx="342519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9C49F-C324-4C15-80A2-C6419D82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57425"/>
            <a:ext cx="327279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 getter；ViewModel 只缓存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A4C81-7F9F-45F2-A360-8195FF26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2209800"/>
            <a:ext cx="265176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7B450-ECF1-4CCC-A988-8CE24182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2257425"/>
            <a:ext cx="249936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状态所有权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C1F9A-BA13-474D-89F3-843FD26E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7038"/>
            <a:ext cx="176784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381CE-693A-4BF5-9731-40F16BB2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4663"/>
            <a:ext cx="161544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监听与首读顺序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F4225F-E8C7-4A2F-9C20-98B23CD9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2967038"/>
            <a:ext cx="320421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D7A40-AE16-42DE-8AA1-F09AA77F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3014663"/>
            <a:ext cx="305181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先读后监听 / 先监听后读取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C45B82-18FC-495A-A51E-8FA99C8C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67038"/>
            <a:ext cx="342519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66527D-0C8F-49A7-994A-0342BA89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14663"/>
            <a:ext cx="327279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先建立监听，再发起首读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2C7E1A-E312-46B9-862A-57A1737B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2967038"/>
            <a:ext cx="265176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A2CD95-5E40-44DE-BCAE-A402BAD6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3014663"/>
            <a:ext cx="249936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是否丢失首次事件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E4F35D-ECCB-4F16-8A80-3156B4F9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176784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C398F5-5155-4056-A4D3-0454AC16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61544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未返回时的状态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955D6F-109D-4D1B-9E9F-B88E5455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3724275"/>
            <a:ext cx="320421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F378E6-8B21-42B8-B12C-0EA75E6C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3771900"/>
            <a:ext cx="305181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空列表 / 加载中 / 沿用旧值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EFCAD-CC5E-487C-8869-79CCC6CE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24275"/>
            <a:ext cx="342519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D956F1-6D67-41E1-9472-25D86BC8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327279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显示加载中，不把空当完成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76468D-A14A-4893-8A33-5EFA8C1F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3724275"/>
            <a:ext cx="265176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332721-2A94-4FBB-B943-2F953587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3771900"/>
            <a:ext cx="249936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首次进入体验与测试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8E33B2-1790-41E4-B0BE-F943F131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81513"/>
            <a:ext cx="176784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2AE967-AAA0-4748-A83B-7259C266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9138"/>
            <a:ext cx="161544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完成判定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7B1920-D1D4-4F9F-A380-FDCDD40E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4481513"/>
            <a:ext cx="320421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B2FF4A-6897-4FE7-B969-5B63A3EB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4529138"/>
            <a:ext cx="305181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调用返回 / 本地更新 / 系统回读一致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2C9508-DFFF-442E-ADDA-BD1AAC13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81513"/>
            <a:ext cx="342519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1056E0-5A00-4742-9B59-0829BF86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29138"/>
            <a:ext cx="327279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系统事实返回并刷新当前页面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7BBE05-2F2F-4F8F-9C40-44116FAB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4481513"/>
            <a:ext cx="265176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368D40-DFF9-49BF-A9C4-ECCEE054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4529138"/>
            <a:ext cx="249936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验收证据与停止条件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B34358-17FB-4088-BFC7-FBE42C34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B68583-C762-4FD4-BAD7-6E0ECC49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10225"/>
            <a:ext cx="916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仍然是 OPEN 的高影响问题不能交给 AI 开发；“AI 给了一个答案”不等于“产品语义已经决定”。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2FD1F3-B736-469B-8C25-B7AE147D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729902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EDC530-AA49-4D4E-AFCF-146BBF84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02 需求与规格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A82C1-ABDB-445D-9F6E-B0F871BC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冻结后的答案，要改写成可以直接生成测试的规格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05F91-900D-4A03-A589-F5257758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D88E6-77B3-43AE-B86C-B88B208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B2941-B257-40C0-8C6A-1221F7C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F274E-2799-49B8-A30C-CA07EA0A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536FB-7F1E-4AE0-A73C-BAB2AE78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0492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Before：只有现象，无法验收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A27E6-EE15-45FA-A1B5-71BE5EDA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3E646-16C8-429C-BAAC-85AF4DDB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第一次进入为空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第二次进入正常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16E0A-FB96-417C-882D-765FEFE1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907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缺少：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等待状态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失败分支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6BF65-C1EE-44AA-A011-C4E7AF3D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90625"/>
            <a:ext cx="733425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3333D-2E76-4F61-9AA9-DD6135E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04925"/>
            <a:ext cx="702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After：教学用 EARS 规格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E7719-B1A3-408F-B92D-F52A95E9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906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40E8D-DFC6-4953-ACFF-B8C70033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WHEN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97D32-5B02-475A-B644-0BBC5673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首次进入权限页面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E6E5B-8FBB-459F-99B9-BAC2C49C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240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WHILE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D8377-7310-42C1-B222-51B4DF92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240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系统事实尚未返回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44FEB-0FBA-44A5-A525-E52F70FF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812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SHALL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56E56-D5D3-4C28-8305-8070D511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812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显示加载态，不得把空列表提交为完成状态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EE470-F56F-45AA-B70A-A72D8FAC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WHEN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57594-6508-44FF-8D1B-D3D0B6D9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384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系统事实返回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0F0089-0CE8-438D-9B6F-B8135A8A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SHALL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2605C6-7AF1-4494-A12E-A33AEF39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956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在当前页面刷新，不要求退出后再次进入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C2490F-4266-4ABA-B3ED-C3D41659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52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IF / THEN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F9673-52FC-4652-9E7C-F62F1D50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528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超时或读取失败 → 显示可重试错误，并保留诊断证据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A2BAFE-C0BB-4738-98AB-ED26C837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5FB73-DC5F-4060-9A22-426B1209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T01  延迟返回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当前页面自动更新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23352-19DA-4AB2-946D-1EA3FEF3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91125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ECC562-E8B5-4782-BB8B-1E2FF027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48275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T02  事件先到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首次刷新不丢失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DA6851-D49A-42CA-9C25-84B29307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2E3286-9404-4929-A673-61CB7DDF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48275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T03  读取超时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错误态 + 诊断证据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1F6846-2E68-48C4-B76C-A486896D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21080469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A142B-0CBC-4163-9A3E-BE436F5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02 需求与规格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8EDA7-BED7-4600-87D2-62C240A7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满足四个准入条件后，才进入真实工程案例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F100F-FC7E-441E-817E-94A20C6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651F0-3424-47C0-894F-0CE756E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8F849-ADAA-4C7F-8BA7-2FD8E132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9E9D9-173D-4401-9296-EB87ECAB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前四页建立方法，第 5–7 页完成澄清。进入真实案例前，必须交付下面四项可复查产物。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BCBF1-8B8E-4EB9-A5DB-130FA3FA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476500" cy="2619375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EC7A6-ABCD-4EB6-993B-D623EF77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1  事实时间线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B3EEC-151F-4089-8491-41E87E41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F73BC-CACE-4D99-A99D-20C92D8D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首次进入、事件到达、数据返回、页面更新分别发生在什么时候？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1BF66-E53A-49BB-AD14-5969244D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476500" cy="2619375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38CA0-C226-4F18-A9CD-5D8CDD22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2  最终事实源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5537D-12B9-435D-BAF5-CC55CBD7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748D7-1ED3-4479-B523-42C45D35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9875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哪个 API / getter 能证明系统状态？UI 与缓存只属于哪一层？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AF715-13B9-4268-A300-EA25DFD8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76500" cy="2619375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1729C-6830-4479-AB46-263335A6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3  可执行规格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37A3E-56A3-49D7-B3A9-CFA47AC2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3AD17-EE39-4EFD-9995-22FD751E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9875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WHEN / WHILE / SHALL / IF / THEN 已写清；高影响 OPEN 已关闭。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E1763-9ED7-4579-803B-983CFD3A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476500" cy="2619375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A02AC-5F71-4DF3-B7B8-28EF8363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4  第一张任务卡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D49D1-8FB6-4B09-ADFB-92270BF6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C475F-00E5-4808-8613-9234D8F2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唯一结果、允许与禁止范围、RED、验证命令和停止条件已明确。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9CDC2-27C2-4E21-9779-87A4FE9F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F921B-D5A6-4419-ADFC-F93CE8C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24475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下一页进入真实案例：用真实文档、代码、测试和设备证据验证这四项。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6E07F4-B011-43CF-BBC5-6FC24894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345249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CE0BD3-2319-4077-BAB2-AB22A53C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B51B3-91D4-4CE8-8E72-A2CBE51D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26465-7450-41B0-973E-2836FD96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MDM 外设管控：真正复杂的是规则叠加，不是做几个开关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202B9-A61C-442A-995A-6EE00C5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接口总控、设备规则、默认规则和存储模式来自不同作用域，必须先冻结优先级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2F8A4-84E4-4731-9465-AD31257E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9DD74-46AC-4C3C-B1A1-67751A99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真实业务场景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1FC61-FBC7-4DBF-B0CC-3384EDC0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5AD43-F792-4264-861D-D1BABE01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3337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43B72-CB56-4C24-AAF8-20B196AC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2E1C1-819A-4F72-A775-F28BB25F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设备不断变化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49059-36FD-4DD9-9EBF-95FF234A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304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键盘、鼠标、U 盘、网卡随时插拔；应用需要识别设备、记录在场状态，并保留下一次接入的策略意图。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053BA-14DD-4FDC-8994-D7A00303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33337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F9F90-FBA7-48CF-8064-2FD8E16C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EDE25-91CC-420D-A0DE-FD1EBE20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系统能力有边界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EAB94-221D-48BF-BD7F-DAC80479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81450"/>
            <a:ext cx="304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应用按 SN / fingerprint 管理；HarmonyOS MDM 实际下发可能只有 baseClass。拒绝一台 HID，可能影响同类设备。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B3331-572F-4847-95E4-5699D683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冻结后的判定顺序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500C2-C705-421C-B634-846986D0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3EEF4-D977-44E8-AFED-3BD0F5BE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3714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DB611-AEED-462C-91FC-D64AABF8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811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L1 接口管控（最高）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633F0-CCC2-4ECB-AF6D-B3387BF8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全局允许 / 禁止所有 USB 设备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25E70-765C-4BD3-B05F-CAF93FFA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479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↓ 允许继续判断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C3D205-07A8-4D5B-B0C1-82D892BD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3714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413DE-1E2B-4950-897A-233139A6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98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L2 单设备显式规则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5A404-5D2B-4C1D-8EF2-620A95BC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670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该 fingerprint 已配置 allow / deny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CFDB1-D2EC-4168-A821-13236E52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↓ 没有显式规则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55F52-5AE9-4EB8-AFFD-5B8FF81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52850"/>
            <a:ext cx="3714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8483D-94A0-4996-8476-AABBA81D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385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L3 默认黑 / 白名单（最低）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A026B-ADA3-4420-914E-2EBEE256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只兜底第一次接入的未配置设备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1F54D0-1385-45DD-A15C-FBD0551B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43450"/>
            <a:ext cx="3714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19341B-CF10-455D-A5A0-6EE9D011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340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并行策略：USB 存储模式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E1E35E-55DE-456F-9FF6-85BA3558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4350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读写 / 只读 / 禁止访问，会覆盖存储设备最终可用性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EE248-CA64-406E-ACAB-F5B073F1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三种最容易误判的“完成”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8C5542-F398-498E-8FA9-E0C9A6AD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BF96B2-427B-4C9C-A4A0-38D7CF5C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32575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DEE0E-B3A7-45AE-8C8D-0F1F74DC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12F701-B58C-4E69-86EF-EA9D4560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192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误判 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0F3921-86DE-44C3-8FF8-BAC1239E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5265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全局启用 ≠ 所有设备最终允许；显式 deny 必须重放。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A5AE86-A488-4957-8EB6-AE93B36C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32575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D781E4-7580-4E6D-AA5A-A0C3B966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30B542-5422-42ED-B3CD-19DAF14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146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误判 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54944E-1525-431A-99F2-CC456C53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4805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 allow ≠ EDM 没有历史类型级 deny 残留。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DC9D52-BBA1-42A8-9594-E6A85A86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32575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8585AF-1E08-47FE-9167-DC3C5DA2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005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D9F6CF-450B-411F-BC75-2BC499EE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100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误判 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16E21F-392B-420C-86CD-043D9506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74345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API 返回失败 ≠ 策略完全未写入；还要回读与观察运行态。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BA4FCD-FA6B-48A7-93E5-67F2FA1F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48350"/>
            <a:ext cx="10953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072CF4-90D1-4FF3-956E-142EC849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64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课堂主线：先定义规则和证据，再让 AI 逐层实现；否则“能点”很容易被误判为“已交付”。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D5A068-AA97-49C4-ABD4-F289B51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真实规格：case-materials/mdm/README.md；11-附录B外设课堂冻结规格.md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0402D4-D75D-4EDC-98C7-8E2F45DC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F891B2-41E1-4FAD-B7AA-A7F3DE22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20087063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081FF5-27D4-4200-A567-A8D5CB87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2F277-114C-47C6-BD15-296D6A0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D6309-7711-44C7-8338-4B124F8A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这不是一段 Prompt：六个阶段各生成一份可复查文档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2389D-DE08-4499-958E-D84E1D1D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下一阶段只能引用已经冻结的事实；没有文档出口门，就不允许继续写代码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88245-926F-49F4-BBE9-A0C75CA1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14EE2-50C8-4696-B598-3C662920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486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27C7C-6B5C-453A-B210-D8F55BC1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94B64-19B5-4D67-BA95-78C65864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1 资产同步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2A528-C648-40E8-AEB3-487ECE42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95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95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01-资产同步与冲突清单.md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C97B9-860E-46C8-83A1-2E945CB3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生成：来源坐标 / 术语 / 冲突 / 未知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8FEE1-3071-454A-A9B2-0CA8732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31813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67879-955E-4E91-B70E-00E43988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7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7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Gate：关键需求可追到原图、设计、代码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B1CCA-B332-40EB-8564-F6590CD2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52550"/>
            <a:ext cx="3486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ADCDA-84A7-4916-9723-BAF351F9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859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9A576-41B2-4CBA-8950-22A9EC67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9542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2 方案推导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4A76A-B8C1-4794-BC5C-E6D4DE84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95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95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02-方案推导与决策记录.md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1FE60-F7BD-40FD-B9F1-03A55F0A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生成：备选方案 / 失败模式 / ADR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95A7F-491B-467D-BF8E-301FE11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14625"/>
            <a:ext cx="31813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4E38C-7892-44A8-92C8-B3F6C4D5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527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7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7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Gate：优先级、真相源、失败语义冻结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7E786-5B32-40E9-9E15-A20A3A6A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52550"/>
            <a:ext cx="3486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F8E7A-68F2-464B-A73D-502F5B13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859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CE033-10F8-4651-8208-E89C1F62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9542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3 架构 RFC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5631C-F2C1-4183-80E4-D4A16229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95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95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03-外设管理MVVM与策略RFC.md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877B6-CD9C-4B2D-9EEB-3B9415AB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生成：状态模型 / 服务边界 / 时序 / 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D1A1C-980A-412E-B4CE-8187E0B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4625"/>
            <a:ext cx="31813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C24CD-41B9-48F0-8898-609A6D4C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527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7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7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Gate：Story 不再重新猜系统结构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8DEAB0-824A-4479-ADAD-B6E3883C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486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EA07D-44E5-4045-9094-F9C5F9C1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0E9802-B6B1-4929-B275-5420D97F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4 Story 拆分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3D4BB-0099-4523-96FF-1279EDE0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95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95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04-Feature与Story拆解.md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0D519A-3C0A-48AE-8140-807B2029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生成：8 个 Story / Worker Packet / AC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0C6334-F923-4E3C-942F-9E353D48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31813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D9FF69-DA1E-446A-8F6C-AC7D5D27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7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7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Gate：每个任务可单独制造 RED 和验收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4E9130-20EA-4FC7-BFD4-E8110A3C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3486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59CEDE-9F38-46FF-9541-C766192B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6235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0C46D2-FF94-47C2-87B0-05630DCD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718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5 Ralph 迭代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AB5A3E-5D59-4EA5-BEB4-0D25F99D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33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95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95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05-Ralph迭代运行账.md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E78674-CB58-42E6-92A5-142A4252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4340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生成：15 轮问题 / 假设 / 修正 / oracle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420BEE-A1C6-4CAA-8475-5390B4CB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91075"/>
            <a:ext cx="31813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644760-E39C-4523-A573-228C92CC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291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7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7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Gate：每个反例固化为新不变量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A16266-06D8-4AAE-83F0-DFA9AE74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3486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B5C585-68B6-4F5B-9166-49E6BF85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C32987-232A-476C-89F2-86CD149B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718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6 测试验收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9C662F-B44B-44DE-A775-EC0D4431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95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95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06-测试验收报告.md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B46A6D-E6DA-4011-A991-C38E7965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生成：UT / E2E / 系统回读 / 实物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BA059B-F9AA-4BD5-AAC1-0A2CAE9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91075"/>
            <a:ext cx="31813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A9EBF0-CC61-4A73-9EEF-6AEA0B08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91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7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7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Gate：PASS / PARTIAL / FAIL / UNKNOWN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F9C088-F65A-406B-AC3E-CD981921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0934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8C8647-D9F3-4313-BC0B-E41B3C2E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7256D8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7256D8"/>
                </a:solidFill>
                <a:latin typeface="Consolas"/>
                <a:ea typeface="Consolas"/>
                <a:cs typeface="Consolas"/>
              </a:rPr>
              <a:t>case-materials/mdm/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171442-A114-434D-889F-03757056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245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→ 02 → 03 → 04 → 05 → 06；所有问题证据汇总到 00，Session 反例汇总到 13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F0ADFA-CCE9-4EB0-BEA2-CF3EA6CA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真实目录：case-materials/mdm/README.md；证据总表：00-外设管理证据状态总表.md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A47E72-2FED-4A66-A64E-2738B03A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DEF042-B797-4FE8-BF7D-C685F952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1160617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2C7254-362B-4A20-ACED-1C5614E8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790CC-23E2-40B0-950A-32F0842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46627-5C8C-4A72-BDE7-67A0A77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资产同步要少读但读到真源：五轮扫描把需求追到系统调用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D947D-35B0-4587-9B6D-4E6F3C67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不是把整个工程塞进上下文，而是每轮只回答一个问题并生成索引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6C06D-7784-4F2C-8675-0EA69C54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E6322-273A-4659-BA1B-3D04AD4E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2000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5E3FC-B4AC-4526-96E3-47EDE306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R1 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F09A7-1689-4DD2-B4FA-25B30736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PeripheralPage.ets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页面有哪些 Tab、按钮和可见状态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355AA-7B97-4932-BEA3-CC545F0B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240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E8E19-DCF2-4FF0-8465-F3A8908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09700"/>
            <a:ext cx="2000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A936B-06B0-4227-B6C9-E61B79AD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R2 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9D9BF-FA54-417B-9F8A-9824900E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526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PeripheralViewModel.ets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谁协调接口、记录、名单刷新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B8F9F-FD05-4146-9401-34EB0461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240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4BB8C-958B-41C3-B966-1571689B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09700"/>
            <a:ext cx="2000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C1543-2D2E-46B8-972F-E45E9D9A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954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R3 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01BFC-27D8-41B2-898E-87D03559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UsbGlobalPolicyService.ets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全局禁用/恢复如何补偿与重放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8CE3F-27A4-47C0-AA7B-81E9FC15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240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BE744-E64E-4E19-ADC0-5EE67A1B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09700"/>
            <a:ext cx="2000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2E499-5ADB-49D1-A88C-382F3AE6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954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R4 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3AEEE-D4D2-41D8-8D3B-46F55312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526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DispatchService.ets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MDM 实际按 baseClass 下发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31E67-C41A-4707-AAD0-155173CF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240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683CA-EBC2-45EB-88E3-3E4A1AE3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09700"/>
            <a:ext cx="2000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05507-14B8-4A8B-B72A-1DB88068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954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R5 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206BE-C5DB-478C-BA63-8652D20E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526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test/peripheral + e2e/cases/peripheral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现有 oracle 与仍缺真机证据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E2DF6-9DF8-475E-89B5-8EC82560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四条真实数据链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537CB-116D-4655-BD95-3CCB28AD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81E4F-59B8-4BDD-BC51-2345C81E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2275EF-AFF9-4F68-BCBA-7DBC4D9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接口总控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E5E4DA-CD41-4F71-89E2-A8ACF8E1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33725"/>
            <a:ext cx="708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82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82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UI → Interface VM → UsbGlobalPolicyService → restrictions usb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D31E24-94F5-445F-8BE4-E6861FEA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24200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E9AE0-EC76-48C3-AD85-DF027104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3372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全局门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4A55A-3126-450A-AAFC-6166A829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A4C0CB-1067-4763-8B45-9704C89F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默认规则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4AD90D-6381-4CB4-BBC1-4CDEE1A0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86175"/>
            <a:ext cx="708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82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82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Preferences → handleConnect → allow/deny intent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F60D3A-3373-41FD-A9C1-57D7FD3D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76650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63677C-DAE8-4740-8B37-64869430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861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首次兜底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F6BD51-AF45-4FB0-8A6D-06E7D388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03E947-B2EA-45BE-B6F1-5E6592BF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单设备规则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6EAA38-8285-45DA-9EF6-39922232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38625"/>
            <a:ext cx="708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82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82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fingerprint → Policy State → Dispatch → baseClass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914EAB-135D-4EBA-AC4E-5385AC82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29100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60559F-823E-4A28-82BC-CB9FE6B6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3862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显式意图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18CC88-8111-45A7-A7FE-F47F555B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11A727-7A10-4BD5-8104-0FCDED76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连接记录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979341-D2E4-4F57-A891-F1B04C5C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91075"/>
            <a:ext cx="708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82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82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ATTACHED/DETACHED → Pipeline → Trace RDB → notify → UI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9649C3-0025-4018-B21B-5B93677D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81550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A62203-9F6F-4B38-A885-5A475DF0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910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事实时间线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253DEF-F5A4-4BB4-8ABB-81909146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934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4FA895-1B89-40D8-995C-DB7C45F8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本阶段生成 5 个文件对象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AE98FD-3F28-4F9C-AF4A-9CF0841E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543550"/>
            <a:ext cx="817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scope-map · requirement-card · conflicts · evidence-index · unknowns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0E02DF-0A64-4653-BD44-C670C5C7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5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Exit：关键链路都有代码锚点；系统能力不确定项进入最小穿刺，不让 AI 靠猜。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911E29-8863-4CA5-B1B2-8E8848CB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生成产物：case-materials/mdm/01-资产同步与冲突清单.md；代码证据：08-代码级调用链与课堂穿刺.md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9A2363-46D8-4276-99C8-3B41612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5B8559-8473-448D-880B-CA0DDBCE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4915033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B13CDA-F3B7-4FBF-8EE2-29F633D7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15C28-4903-45A8-98A2-7601B655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AED9E-F39D-493E-A4DC-03BA81A2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冲突不是噪声：它决定需求卡里必须冻结哪些语义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BF96A-2527-4F6C-897D-5B3F1F3A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先把“看起来都对”的表述并排，再让证据决定口径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E125F-0EFF-411C-A9CB-57E80EC0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8209C-FDC6-4929-BD4C-2783D41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34861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32C52-460E-4207-AA6B-526B149B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0D994-F056-4D4C-9589-2371EFA6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144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E17BC-840B-4837-A034-C03FE0FD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049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USB 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9F6A0-D084-4F42-A5AD-80814FD0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716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全局 restrictions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D63BB-2E53-42E1-90AE-0072785B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≠ 不是默认名单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5EE58-302D-4529-B5D4-3FCE721A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90650"/>
            <a:ext cx="34861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C0B80-05E7-41A3-9210-3C23C29F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049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4E17C-FA35-49B0-A257-22133C8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144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A8D18-9E37-48C5-8EDC-517CDBD0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049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默认白名单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728E0-5847-4906-B6C1-6D475788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716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只兜底新设备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9B1F4-C445-489D-B2D0-DE4AF818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≠ 不批量写 allow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15BC3-F4CD-447A-92AC-7A3D0B2B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90650"/>
            <a:ext cx="34861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AABE0-06E9-4ED7-B4C1-33299CF7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3F81F-8745-42B6-B6DC-33375790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144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B5747-B7F5-4070-A7FA-D33CAB60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049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设备身份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5EBF5-46A0-4DED-8376-7B6BDC10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716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SN / fingerprint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34F1E-0340-4D26-8B70-C2FE3C5D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002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≠ 系统执行却是 baseClass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99306-D354-4AF4-9C1B-DE2EF091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4861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3FC039-60DE-4B4C-B3F3-680810D6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03CCFA-7D1F-4802-9E65-26B6C1DB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C7A31-70B0-4557-B44D-AA6D411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还原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A672AB-31ED-40B2-89DD-0916D71B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清 EDM + 保留卡片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341B7A-F423-4B04-A269-5E9C601D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≠ 不是删除记录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03D48-E830-4E9C-85E8-90477446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14600"/>
            <a:ext cx="34861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788A1-5456-4BF7-A9F1-1CEC35E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FF9D22-975A-4474-A533-DB067EFA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BB7536-4D47-40EA-A1DA-1E24CFEF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API error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31365C-7377-4BC4-AE85-C377083C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95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可能部分生效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A11BB8-6DDC-4891-A2FC-DA837F5B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242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≠ 不能直接回滚 UI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607A56-29AE-4CDA-A477-10345875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34861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47086D-C6A2-4763-892D-C0B7F0FA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9C19A0-3811-4D36-9B98-EA9A8347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38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05D2AA-A94E-4740-9D15-91EDD524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62AF32-610B-434A-98AD-D2D5F801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运行态事实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F581E7-0D07-4781-ABF4-55440EFF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≠ 不能只依赖历史事件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07FF50-1084-4EFF-88B7-49AE4CEA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68580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C3CB77-DA90-4DB7-9391-4165EC93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659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01-资产同步与冲突清单.md → Requirement Card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D54C92-B28D-49A1-AB3A-EF9B3748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97319C-3B13-4563-BBB7-54972C01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65913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844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requirement_id: PER-USB-PRIORITY-001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source: 外设需求 + 模块设计 + 当前代码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rule: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L1: global interface gate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L2: explicit fingerprint allow/deny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L3: default allow/deny for unknown device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parallel: usb_storage read_write/read_only/disabled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oracles: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UI 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local policy 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EDM readback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physical behavior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status: FROZEN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E0EA3D-025F-40BF-BDD6-BE3B300F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90950"/>
            <a:ext cx="3886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D843FA-F1CA-48F0-8F57-670E2E62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052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920B3F-944B-4816-A568-743CF350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147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进入方案前必须回答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D71ADC-6A32-4260-8369-71CBCBF5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48150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谁是真相源？哪层优先？错误时保持什么？系统调用粒度是什么？需要什么独立 oracle？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534537-C890-43CD-A55B-46BD234F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3886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F5764C-89C2-45E5-9284-2C89CAF7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05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74E910-05B0-4371-AD75-DC0E07EA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149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Exit Gate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BE7E27-740C-4CCC-8F60-95F72C6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448300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冲突有决策；未知有负责人和穿刺；需求卡能追到代码与测试。否则停在资产阶段。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ECD452-573D-46D2-B061-107CF2D1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真实产物：case-materials/mdm/01-资产同步与冲突清单.md#冲突清单；11-附录B外设课堂冻结规格.md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27DEC0-A647-48D2-B5FA-AA7C441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2785D5-7146-4D6A-96B1-12C136BD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1834613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568969-3BC3-4280-AE28-F32EC122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5998A-5544-4382-8045-A3A4FD08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F4824-7E84-4AA2-B336-624195FB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方案推导先比较失败模式：为什么不能把所有规则塞进一个 ViewModel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8F532-8944-44B8-A6A6-EEE9DDBA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最终选择分层状态 + 编排服务，因为它能表达优先级、补偿和可验证边界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5FCB2-A4D4-4E73-9C53-EB63E347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2533C-83DC-46A7-A946-63C941B7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25908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1430">
            <a:solidFill>
              <a:srgbClr val="C947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D0384-45BC-498F-9D75-47A023C8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 页面直接调 MDM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E34B1-2E15-45E6-AFF5-4F1FCCA8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状态和副作用耦合；切页后难回放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2E08F-CEDD-45F2-9D58-A02A07ED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0980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47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004E1-3CBA-434B-95B4-2410FDB7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1932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9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4747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252D3-EC49-48D0-8A22-5443572C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90650"/>
            <a:ext cx="25908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1430">
            <a:solidFill>
              <a:srgbClr val="C947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13554-99BF-45DB-B4C1-63BC3F3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49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 只存最终 allow/deny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04391-D7D7-48B7-9BDF-187C12E2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383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丢失 desired/active/present，无法恢复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6396C-5E67-402A-9D1B-11F901D4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0980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47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491A0-9D15-4A87-9F21-F51E056D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1932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9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4747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BED71-CFFD-41ED-8169-94AA0B31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90650"/>
            <a:ext cx="25908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1430">
            <a:solidFill>
              <a:srgbClr val="C947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6AD18-31A5-49F9-9B9B-6E0435BD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049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 默认策略覆盖一切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FF533-4132-42BA-B6C6-36704B3B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383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显式设备规则失效；历史配置漂移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59A88-2538-4AED-ABDB-B7F402E5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47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C451C-F5DE-4D44-BF94-D75C361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932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9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4747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0CD96-055B-405F-9797-74E95A9C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90650"/>
            <a:ext cx="25908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E7354-061C-481D-85FC-49FA2B25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 状态服务 + 全局编排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77E9A-02C8-48C9-B18B-98BF68C9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383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可分层、可补偿、可独立测试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55C28-6195-437A-A855-AAD93366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0980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1AAAE9-049D-4569-906C-3F1B0859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1932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选择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4D520-FC44-465A-AAC6-AC835B7B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决策后的判定函数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D5F47-4303-4C72-B138-3A21EFFA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32020-0F05-4FFD-9723-E0DF2A76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560070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98A8F-B42C-4676-9607-1584AAD5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ADR-PER-USB-001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AF342-6A64-4038-BBA1-46E386EA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CBE470-D4DD-4A83-86B2-8D2C3341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5334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966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(globalUsbDisabled) return DENY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explicit = policyState.find(fingerprint)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(explicit) return explicit.desiredPolicy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return defaultUsbPolicy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parallel override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(device.isStorage &amp;&amp; storagePolicy === DISABLED)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return DENY_STORAGE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activePolicy is execution fact,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desiredPolicy is long-lived intent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400FB1-2151-432D-B07F-C4AA6964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512445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CF799F-16F3-4A0A-8111-232030F4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四个设计决策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72A328-E06D-4BE7-90D5-C7F5C94B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C82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9309D0-0BAB-4B2F-BE0A-E9225348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43111A-4C38-491A-B78D-26E65C12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047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真相源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F12D1D-015B-482D-A61A-303A3768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10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intent 在 Policy State；执行结果看 EDM/readback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B035A7-E709-420E-A791-CF03C273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A87BC5-3FB2-4532-8F79-964FEC81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767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所有权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E192BF-45C4-48C6-A713-78078A05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672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Global Service 编排总控；State Service 管设备意图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CF2DC4-1D08-4845-B047-0C9A5528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03FEB1-1314-46CB-A2B3-635E38A9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失败语义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4435F6-9BDE-4B64-A5BE-03057312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244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成功 / 部分生效 / 失败 / UNKNOWN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BAE095-FC86-4F23-B035-9A3C37C7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5C728D-1566-4D4B-A6C5-3F7DE988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7207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停止条件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C6C242-CC5C-4EE8-B897-DAFC1ABF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系统粒度不足时升级产品口径，不继续猜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45AD1F-70B0-45D4-949A-344F8A31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真实决策：case-materials/mdm/02-方案推导与决策记录.md；代码入口：UsbGlobalPolicyService.setDisabled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E9D186-304A-4DCB-8295-3A23E9F7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D1CA95-63F5-4273-83D4-E8BB9F18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6763478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9F2FAB-C02E-413E-991B-2B54AD34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CDC24-2572-4F59-B309-9F294DC4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47F3E-6906-4736-98D6-5370B1F1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最小能力穿刺改变了架构：应用管理“设备”，系统却可能只执行“类型”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D7C63-F906-47D6-9585-208D2A56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先验证 MDM API 的真实粒度，再决定能不能承诺单设备隔离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95E3D-7F71-4C37-8EA1-C4814D53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EF76E-2EDC-46CE-A68A-805CFB12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应用侧身份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23B45-C569-4C89-A72D-FB39438B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BCBED-3140-4E1F-82E7-545F3339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181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899F2-5796-41F2-B958-107071D6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fingerprintKey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F835E-DFAB-4AF7-AED3-1A4D622B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serialNumber 优先；缺失时使用 vendor/product/class 等弱指纹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656F9-F573-47BC-BD36-BB065A9A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2B60B-677D-43D3-9A86-0376FC6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71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Dispatch 转换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5974E-7999-47EE-82BB-42004E66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83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2CA2A-0649-49AA-8252-B81D2B9A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3181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E033E-0CEC-40E4-8C05-BC4E16FA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3832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resolveDeviceType(baseClass)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7682D-4361-487F-9C8B-9F89E2A3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把业务设备映射成 MDM UsbDeviceType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E15C8-5738-4C7D-8A3C-32F87548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CDAE5-9865-41EB-AB41-4941EACA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71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系统侧执行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6A648-7712-4CC9-8D2E-1F2B7FC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383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D57A23-713A-47C4-B6DA-DB45CB00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354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B34DA-93AB-4BDB-BE20-F06D4563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38325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addDisallowedUsbDevices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D868F-04E0-4F82-8FBE-2A62063B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baseClass / subClass / protocol；没有 SN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91342-501B-449C-9311-90C94CC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5334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E980D-9913-47F6-A77F-F5E685D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PeripheralDevicePolicyDispatchService.ets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14371-CC8E-45DC-94CB-D92B99CD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31448-0A0B-4929-B6E3-91CFA44C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067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dispatch(request)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→ dispatchUsbPolicy(request)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→ buildUsbDeviceType(deviceType)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→ { baseClass, subClass: 0, protocol: 0 }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→ add/removeDisallowedUsbDevices()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business records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fingerprint=A, desired=deny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fingerprint=B, desired=allow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system execution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baseClass=3 deny  // may affect A and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4DE8B-2091-4028-9CE4-5F966FC1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86100"/>
            <a:ext cx="53530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A2A635-7F12-4155-8577-69753A27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穿刺后新增的验收条件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2E9D4A-A077-4F9F-BD9F-E85E912E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58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7D3D5D-E867-4D33-AEE3-7D103EF2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4972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648029-24CB-4C03-B78C-8991CB2D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D88CAE-81CB-4974-8033-DDB582CF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反例设备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0B771C-6FF4-435C-B074-FB5B432C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957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必须准备两台相同 baseClass 的设备；单台测试不能证明单设备隔离。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AA2C54-A5D6-4E3D-94A4-1BF0EA21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4972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136540-78A7-4E2B-A3EB-49AF789F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600F09-1ED4-43F2-B2FB-67E7F2EE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958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产品边界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123808-7FEF-4AA1-A2C6-0B6F6720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2920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若平台无更细 API，规格必须写成“类型级阻断”，不能让 AI 伪造精确能力。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43B188-1D22-4DE4-9EDD-FFAEB92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05450"/>
            <a:ext cx="49720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B6C94A-F080-4979-B4AF-0CB9452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474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这一步的价值：一条 API 事实推翻一整套错误架构。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E498A7-55EF-4A41-800A-C5B86534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源码：PeripheralDevicePolicyDispatchService.ets:61/157；验收：PER-USB-SAME-CLASS-001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C53816-A06D-4431-B0CF-AD1BE220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A32F60-6459-426C-8464-17668D7D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1440959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DFEBD2-D76F-4FF1-8B9A-6CB49E6E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D4F76-C32F-4466-AB03-BC67E42B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E81AB-86E5-4C0F-8990-9E416BD7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RFC 要冻结状态、职责和失败语义，避免每个 Story 重新发明规则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B4008-C2F8-4402-9B32-16430C75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核心不是类图，而是 desired / active / present 三个状态如何变化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9AFA0-3DF3-4207-9003-FD484CEE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8AB25-5624-4A71-8965-3A22C63B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4210050" cy="44767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E64D8-259D-4E86-89F8-84233F4D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03-外设管理MVVM与策略RFC.md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0EA8B-6093-4B0B-821C-F91961BA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948E2-82D5-4859-9B0D-B7E06FF1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39433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UsbDevicePolicyStateRecord {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fingerprintKey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baseClass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desiredPolicy: allow | deny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activePolicy: none | deny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present: boolean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updatedAt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invariants: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globalDisabled =&gt; activePolicy = none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explicitPolicy &gt; defaultPolicy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detach keeps desiredPolicy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restore clears EDM before local allow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trace != policy truth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result: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success | partial_applied |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2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failure | 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751D2-3D6B-458F-85D6-CD3B2808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90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状态为什么要拆成三列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E511C-C513-480C-8698-956FAF15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573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C82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5CB55-2F1F-4842-B8D6-EC06BFF0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E820E-012F-44B7-A6CA-CCC3C35F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894A1-A1D1-4841-922B-2FBA9ECF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14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desired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9FC6F-093B-4101-BA69-65B8BE8A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47900"/>
            <a:ext cx="1695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长期意图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拔出后仍保留；全局禁用不改写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D8C63-A533-4418-9A8C-006FDA5D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9070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017BE-0855-4A76-8D61-12E3D85F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050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42D6A-D7A0-4438-9106-0B5AF520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14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active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70BF6-9C10-4E3D-AC67-3C9BACA3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47900"/>
            <a:ext cx="1695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系统执行态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全局禁用时可暂挂；恢复后重放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6FCA3-F5C1-44B7-80BB-E558633E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9070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5A774-5A3F-41D8-ABEE-2AFE8E14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745F9-1437-4F29-8728-FFA50714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14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129DF-6492-47CD-97A1-192A13F0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47900"/>
            <a:ext cx="1695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当前在场态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决定能否立即操作；需要启动对账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72F9F-8D46-42E4-8A3F-EAAD7A22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86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RFC 主动暴露的 OPEN 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3C3A08-5608-4A02-AEE2-47683F1F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55F2D-3A86-4C42-B881-9C25730A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730C62-9423-44E1-9390-6CCA57B5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147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OPEN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224D26-4E50-4A43-9393-997C62B2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Trace notify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E3588A-85B5-43E0-AB96-708BD69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05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写入成功但维护失败时，当前 Tab 可能不刷新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4E66D2-8743-497A-B87B-E702F1D3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624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4C6EB1-ED00-4B98-ABAD-3F94EA5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719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OPEN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BA094E-EA53-483F-8384-07695948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62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present 对账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7596C3-EBB3-44CE-BED4-3A67565E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应用不在场时错过 detach，RDB 可能残留 true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9CB15A-AD7A-462C-A84E-7EFB98B9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9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EC0EBA-C010-4FA4-B5AC-414E376B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291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OPEN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03745-D833-4E0B-807E-FD149020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196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clear-all 不一致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4F6795-3F53-4857-8E5B-B1144941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196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系统清理成功、本地 upsertAll 失败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85CF58-82BC-443B-8BB5-173511D8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76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69D096-7348-446F-913E-156A90D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863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OPEN 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A15431-7FAE-4371-A565-F6E7708E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76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baseClass 扩大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9268D8-8AE2-446A-A6F2-0AF364E0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76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显式设备意图与系统执行粒度不一致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BFA6EB-5298-4E96-AD1A-207EBF3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 RFC：case-materials/mdm/03-外设管理MVVM与策略RFC.md；模块设计：docs/03-模块设计/外设管理组件设计说明.md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8C4BBE-C5D5-4B46-8461-B2BD6109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46C79D-ADB3-4531-A039-889C67FF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21454230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2B50E3-6373-406B-9A82-D3AB2B0F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0A9C5-BC8D-4794-8495-11C17233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3EDD4-2A05-4DC7-8587-2808BF50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代码组织要让 Story、目录、类名和测试说同一种语言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1EF1A-88B2-4A4A-A879-7F347FE4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下面是 security_tool 当前真实路径；AI 先读责任骨架，再进入局部实现，避免把整个模块塞进上下文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E3B7A-ADD9-4F08-AD58-0CD41B92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41942-7A68-4772-9D51-CF5E577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真实代码树（已核对）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ADC2E-82D8-4D08-A20E-D3A889FE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86046-5ED8-49F4-A624-F017D156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5810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B83BF-084B-44F0-BE69-CDFA13B3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554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security_tool/entry/src/main/ets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99B1A-4BF1-47C3-8274-1FEB582F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6197F-AFC7-435C-A463-6404DD77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54355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views/peripheral/overview/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PeripheralPage.ets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components/peripheral/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interface-control/InterfaceControlTab.ets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device-policy/PolicyList.ets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connection-record/DeviceRecordList.ets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viewmodels/peripheral/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overview/PeripheralViewModel.ets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interface-control/InterfaceControlViewModel.ets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device-policy/PeripheralPolicyViewModel.ets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connection-record/PeripheralRecordViewModel.ets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services/peripheral/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interface-control/UsbGlobalPolicyService.ets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device-policy/UsbDevicePolicyStateService.ets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device-policy/PeripheralDevicePolicyDispatchService.ets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device-policy/UsbDevicePolicyStateRepository.ets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connection-record/PeripheralConnectionRecordPipeline.ets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connection-record/PeripheralTraceMaintenanceService.ets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6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connection-record/PeripheralTraceEntryRepository.ets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E8E6F-BCD7-481B-ACC3-6FD3A889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AI 的阅读与修改顺序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7D0D5-F009-4B6A-A015-4ABE158D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F0726-370C-4772-9DCF-96B6952E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52F75-F33F-4128-B384-23133BCB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E601E-6491-41A1-806C-17624D8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33550"/>
            <a:ext cx="489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1AD1D-2116-454E-879B-16A16D1A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3355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F0DEA-ABE9-4056-B755-AD8C6038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9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914C5-CAD7-4375-84EC-21F05046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02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30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30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模块设计 + RFC + Story 伪代码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D3D6A-6DBD-4763-8E43-F25A668D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28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7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先知道不可改变的语义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C4ECB-2194-4EB7-8CC2-452C0E0F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670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2ACBF-EB9C-472C-93D2-97783A63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D0820-9A81-4785-9082-C53E4C65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489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D45FD-A7AC-4D24-AB9B-0C0FEF98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7C3F48-6311-4C34-A9CC-2B3F185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9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入口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BB574D-7F22-4E80-8ACA-BE31D17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812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30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30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View → Parent VM → Child VM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AE7FAD-2832-472E-826A-DD546DB2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7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只找公开用例，不先钻工具类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F24E20-7817-4F4B-9FFF-71B5708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E5F797-BFE9-40D9-84F6-8435D547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079909-1655-4D0B-9070-FA23DE2F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489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7CDF0E-972C-42AE-9B97-536EEB33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C82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2B896A-08F3-48D8-8E44-7102631C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9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能力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ED67A3-5DAB-47D8-9BB5-EE50BDF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623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30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30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interface-control / device-policy / connection-record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3F52BD-8005-448A-BD0F-86D08E81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909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7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一次只进入一个能力目录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22E4EE-BA1F-42D5-91D3-C825B52C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291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2CC878-E12F-47D9-88A2-186FC64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672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AF40F7-334B-4682-8B44-31DCA864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76700"/>
            <a:ext cx="489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37D42B-5826-4113-9E7C-76E284D1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7670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BBD19A-D269-465C-B4D4-525190C9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9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副作用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2403F5-7FFB-4856-99AA-4C84B794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30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30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Service → Dispatch → Repository / MDM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20AE05-E164-448E-90A9-A958BEF1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719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7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事务、系统适配、持久化分责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250972-976C-4BE2-A2F7-E5481D2B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89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F104E4-A9A8-4062-A0FF-E6A973DB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58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565D29-DCA1-4ED6-8FDB-A8D49A27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9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证据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04C000-FB52-442A-8A34-C3CCC3E5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30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30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同名 test + E2E + readback / device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EDC59B-74FD-4A73-811A-658A582C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530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7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改动必须回到独立 Oracle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B551EC-6509-4DD5-A7F8-42659AB4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53100"/>
            <a:ext cx="489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1BFD85-0118-40F4-87CF-697FC015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81675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4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检查：Story 术语 = 目录名 = 类职责 = 测试入口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114BCB-08AA-4024-B7DC-88277479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路径核对：security_tool/entry/src/main/ets；协议：case-materials/mdm/14-文档先行与模块提交协议.md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43B266-CA41-4846-9954-700BA646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66490B-0644-4CA0-A575-A9CB2119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9605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3496989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53D893-3DFA-424F-994C-19F5DC8E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12620-B9F5-480E-A6EC-111ED96C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82737-CD1B-48F4-9788-8008D10E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设备接入调用链：先识别和判定，再下发、持久化、发布事实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9E9A6-1386-4104-9AC2-AAA08BCE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每一跳都有输入、输出和失败语义，才能判断 AI 改对了哪一层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31467-D9F7-4025-A84B-11DFC40E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D1D0-C069-4E7B-A8A7-206FAA60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F3844-AB57-49EA-9591-75E76D20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USB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DB31D-9818-43B3-89C2-F712AA25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7640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7D0CA-0B80-4919-B127-585BDDAC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525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E3E2E-3201-4135-A850-E0E33F36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3620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E458B-6DB3-48A5-8BBF-A827F787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7640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FDF18-9736-41A7-980B-E06AA414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07F2A-C65F-4DC0-B32D-4C12D6A4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620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03450-8285-45D0-90DE-4EFA4AED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7640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92F97-0E71-435C-9529-EA73B5D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525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322D8-8592-49A3-80F7-9C057DC1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620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State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239C3-3DA7-443A-847D-C3A8C833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7640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6BF56-F526-4F6D-96B7-10175AA3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A0FCE-3087-44EC-9CBC-3960F348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620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Dispatch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5A6E3-AEB9-4D2C-B97F-21BF4BB8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CC591-3925-4F6A-94ED-AD2F8F2C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3525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2599B-6DDA-43B8-9709-31D3464B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620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RDB /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17F6B4-FDBF-473F-A9BD-334C7D24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7640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5D477-6943-4C64-81F2-1970D8E4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669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E6A7F-6E6E-40F0-A930-D6CFD7C3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7145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D96AEC-0295-47BC-995D-7795E214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47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ATTACHED payload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93FCA-25A0-4D5F-97F1-284D4F40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4315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2A39DB-10D5-402D-9FA1-AF47BCFE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098517-8012-4E66-82E1-4F7C12F2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24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84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resolve(serial / fingerprint / baseClass)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AA9134-7688-400D-B73D-01046E83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194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C08C03-A8FA-4A84-93CC-B2DF3C97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670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393501-69D1-47AD-8B5C-E53AC954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0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92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handleConnect(identity, defaultPolicy)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C1E12-3E15-4FFA-A606-DB3D501C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9565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FBADDC-2C6F-4299-919D-F5211048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43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1B16E-2AA3-4B52-B40B-B2D3CFF1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765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4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explicit? else default; deny → dispatch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E9E94B-D9B2-43F1-A009-FBE86C41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9C78F1-D408-4987-98DF-32C3631A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195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0E44A2-31A3-4BD7-8CA3-89B24535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52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0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success / conflict / error code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AE6D88-7280-4F8E-A5F6-7D9F5911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48150"/>
            <a:ext cx="373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9A5FD8-0CC0-464A-8B86-F2048B47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0957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334150-B775-4263-B9FE-60079706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29075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save desired/active/present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25CE88-7CC1-4BF4-90DC-5343BAE8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24400"/>
            <a:ext cx="746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82A8C5-A365-4E13-A601-DBDC92B3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5720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7921BA-6CEB-4576-AED9-039AA76C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05325"/>
            <a:ext cx="731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append Trace → notify → reload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5EA03D-4A20-4F43-B5AE-EF1098B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109918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61784C-6495-4A54-A936-5E5572D9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三条独立 oracle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0E31E4-C6D5-4293-95CD-7A38441C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Policy State：desired/active/present  ·  EDM：disallowed type 回读  ·  Trace/UI：同一时间线可见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711F46-0452-4927-8CF9-011A39B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源码：UsbDevicePolicyStateService.handleConnect；TraceMaintenance.appendEntries；PeripheralViewModel.refreshTraceDrivenData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DC8CFF-2F31-4A1C-A88B-635EAAA2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4A59AD-DFE8-4CA1-8214-7E5271C2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8535164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0F1713-3707-4951-A1D7-FD8D32D9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64AAE-16D4-4944-A763-DB4E10FB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40A56-24B8-4470-B4B7-0A5446AA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全局禁用/恢复是一笔事务：先挂起设备规则，失败时补偿，恢复后重放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CDA28-5329-44D7-B981-B0017D08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只调用一次 restrictions.setDisallowedPolicy，会破坏已有显式 deny 的真实执行态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248B4-66D7-4997-BF38-7ABC373B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F131B-720A-4B40-A4A6-6665361B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禁用 USB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291A6-A41A-47F4-8CCB-49029D53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76CC8-18D2-426A-827B-DE8CA697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7363F-E012-4BB0-AE04-F8B1DF2A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1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41EF3-3689-4C9A-9467-4A0402E8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读取 present + active deny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50CC1-5E42-478E-9B73-9C8D186A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71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140CF-A270-44C6-891B-16025B5D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335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FBD3E-18B5-4259-9838-E26FE6FB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192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2 Suspend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EBE42-B334-412E-8684-E15E77BC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逐条 remove 类型级 deny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2E4EB-F329-4224-A277-E241F1CF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71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7A2DF-9890-429C-9A08-E3C0719A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335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8A11A-3178-4441-8AA3-F1E3AEE8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192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3 Global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26884-9590-4E8C-AB75-2731FC65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restrictions usb = disabled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744C4-FA42-4C33-A7D1-1510D1D4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71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4E3B1-D15D-4D4F-989F-37B5E0CE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335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DB78E-979B-4B6F-BD7E-A4FA3673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192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4 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EB5AC-2F73-439E-A5A0-14206F41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desired 保留，active → none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28191-4650-4C7E-873E-EFC3622C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057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1430">
            <a:solidFill>
              <a:srgbClr val="C947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DE87D-62FB-4CE5-A9C9-6F43279E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26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65" b="1">
                <a:solidFill>
                  <a:srgbClr val="C9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C94747"/>
                </a:solidFill>
                <a:latin typeface="Microsoft YaHei"/>
                <a:ea typeface="Microsoft YaHei"/>
                <a:cs typeface="Microsoft YaHei"/>
              </a:rPr>
              <a:t>任一步失败：compensateSuspendedPolicies() 把已移除的 deny 重新下发；不能留下半禁用状态。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18B9E-9819-434B-B863-7355BC2C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恢复 USB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7BB45-A775-4BA5-B7DF-8C1D49A3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58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7C854B-0747-4DB5-A9D3-707E3F3D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68754E-232D-4A97-BE22-3F7541F6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1 Global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04FD3-E1C3-43BD-8E83-24DD4996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restrictions usb = enabled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33069-6772-485C-860D-0F21B5E3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052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E7BB90-3F33-4C1A-8CB2-566C360E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671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3773E-B228-4142-86D6-FD429005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528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2 Re-enumerate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959C5-1808-428E-B4C8-DF794D0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100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有界重试读取在线 USB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9F095C-FFC0-46F8-B318-540F7555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052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A448E4-9729-462E-BB0A-80EB5BF1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E8DFCD-13B0-47F5-BF68-390712C1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528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3 Replay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8BEF76-CAB7-43F1-AB4B-3FC81BE1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present &amp;&amp; desired=deny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B6EAEA-35FA-4455-8D63-98BA68B5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E17AA0-1907-477F-A48F-62D89F98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671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3ECC40-FE7E-429B-A3CA-82866F33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528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4 Report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BFF8F-261A-4E97-A8F5-2C9B9556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成功 + 部分重放告警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72C9AB-A645-40AA-ABAE-E5CB0C6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590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5E0F66-953E-449F-A4BF-CA23905C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UsbGlobalPolicyService.setDisabled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144AB1-8E6B-4F26-B2FC-17A0A937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BAB170-D4DF-4932-B612-8C29383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563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disable: suspend → global set → compensate on failure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enable: global set → restorePresentDeniedPolicies()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partial restore: warn + keep retry evidence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45FB9E-B0EF-437A-A220-080B35B6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44386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8E250D-14A0-440A-A0DC-C1525F53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482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C419E9-D66F-4385-9279-8E25B620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577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怎么判断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77BC0D-9BE1-4FFF-969A-26F72AF0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91150"/>
            <a:ext cx="4152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UT 验证调用顺序和补偿；真机还要看 restrictions 回读、EDM 类型规则、同类设备和实际可用性。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D44F17-0F3A-45B7-A401-07D6DB25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源码：UsbGlobalPolicyService.ets:18–49；UT：usb-global-policy-service.test.ets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723848-D5D7-4205-AEEB-83A38903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44FACE-05E6-4B26-94EF-F1DA5026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2411888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96D2624-6F52-4EED-B19B-2065FC7E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38218-13FC-4E82-B60C-8B85F22D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EE044-2901-4DEB-A78C-4FA66E1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Story 编号必须和文档一致：八个能力各自有 RED、伪代码和 Done 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DDDFE-0EED-436E-9B83-E52D5594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本页按 04-Feature与Story拆解.md 重新核对；不再用近义词替换导致 S2/S3/S6/S7 错位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86B6D-DC70-4E14-AA6F-2C5FF1B0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68132-3863-4966-BF78-8EC2D0B7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权威 Story 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E0EA2-7726-4816-AA96-19CD4BED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B65C6-CB61-403C-84DD-0B5AAECB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C79D0-F228-433D-886D-EA793746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310AE-8951-4806-8D00-2D97E9F8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335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77543-5D57-4662-BA94-A17A8E57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A9049-C7A6-486B-8D96-957B15E7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335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84AA2-93CA-42D4-B569-538C1D6E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90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主要修改面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0DB88-6877-43A7-8995-294744A7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335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B2F29-D773-45BD-AAF8-4BE0376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90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独立验收点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D673F-B80C-4569-8BB0-9796B37F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590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A3CC0-A12F-4AC6-966C-60FD5296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D819B-4AE0-4DD7-B433-A2E526AD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133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DD44E-F29A-4945-88D4-BEEE2488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14550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USB 身份与状态真源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6A6CA-BE6F-40D8-B64D-B016EF62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57400"/>
            <a:ext cx="2286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A29B3-3439-402B-BB19-D552CCD7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14550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Resolver + State 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C9E74-AD61-4F31-AA50-B0F4393F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1790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6CA96-56AC-45C6-ADED-9833502C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指纹/在线态/意图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3A19B1-F3B6-4ED1-9DF8-90EF782F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590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1F710-5F9C-4EDD-81BE-6EB87A1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211A78-4967-4CDB-AB36-783E5F4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05075"/>
            <a:ext cx="2133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BD804-4C49-4A08-9A68-033EE75D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默认 allow / deny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A7F0E6-08A3-45DE-9516-D2A75024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05075"/>
            <a:ext cx="2286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383792-F72D-4C2F-9169-E04206C5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6222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Preferences + Policy VM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14DF7-3D71-440E-B51B-4794598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05075"/>
            <a:ext cx="1790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3E0BF2-AB8B-422C-81EF-26053B2E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62225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只影响未配置新设备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788C1A-7C8E-4CF6-BEDC-275822B7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590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5F3AB7-69D4-4C3F-B6AC-8A4E49F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E14182-B75D-4375-B961-A946E583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133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FEF69E-BF81-46FC-A1A6-898C84E4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9900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首次连接策略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3855A1-817B-4CD8-A621-2ABB0F6D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2286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C95523-E4C9-41F9-B703-E125ECD2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USB Consumer + State Service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F1C1B8-0AE8-4C45-8383-6CB28BA1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1790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5A6D9D-1362-4CC0-8256-D3D87673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990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成功后才建黑名单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7B08DD-5FA4-40D2-98D1-5940A99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0425"/>
            <a:ext cx="590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358DDD-FDD5-43BD-8707-4F6F6E5A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B738D8-825B-4E8B-A4A0-0B355CF3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0425"/>
            <a:ext cx="2133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09DC1F-4AAA-4DB9-9BD2-93C53FE7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在线动态黑白名单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9FCB35-8580-4397-BFE5-F7186264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00425"/>
            <a:ext cx="2286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3A674B-A817-495C-B8A9-B7146236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575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PolicyList + VM + Dispatch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DC47B8-2FE9-4B40-B20B-BEE262DE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00425"/>
            <a:ext cx="1790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E1A370-289F-42D5-B4F2-82AD3E15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57575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失败保持旧状态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5C39C4-F9D0-49EA-B1C5-F8ACE9AB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590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3F1C1A-3B2F-4B47-A957-6DCFA55F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CCF5A6-AABE-4CB8-B36C-63A42EA4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133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569156-A964-4701-8F05-2B95DC1A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USB 全局禁用 / 恢复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81D5D6-0336-400F-BDBB-776D8687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48100"/>
            <a:ext cx="2286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9F49A1-72CE-4ABA-B361-B800C10B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05250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Global Service + Interface VM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DFB933-3DAC-40DF-97BB-8E67E429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48100"/>
            <a:ext cx="1790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94FE03-5CDE-4A65-ABCF-48C77C96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0525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挂起/补偿/重放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6A3F23-E5EF-450C-9AD0-175A2484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590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E52770-E9ED-410D-8038-3A4F5639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6C7686-844F-4BF9-8AD5-4F2F7815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95775"/>
            <a:ext cx="2133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874EEA-7767-4267-9873-130B7BEA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存储策略冲突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0210BD-F816-47C2-A578-3AADC89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95775"/>
            <a:ext cx="2286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56394F-8E33-4D13-9281-3C28CF3C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5292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Interface/Policy VM + Dispatch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FB4E0A-97C6-437C-85D6-505A9ABB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95775"/>
            <a:ext cx="1790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5F52DC-A8DD-4EA0-B3AC-19349A99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52925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9200010 / PARTIAL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7EDAEC-CD28-441D-996C-2928D662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590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12305D-563E-4ACE-BC1D-AEA08D4B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9A3ED7-DAD9-4E28-8C6C-23083651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2133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3DEB88-7F53-4BF9-AFCA-29C19AAC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还原与系统残留清理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43FA27-13C1-4A1A-AD38-1AF46973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43450"/>
            <a:ext cx="2286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B63443-A385-41CC-A314-E9B01C5C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00600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State Service + Dispatch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9923F3-3595-4D4A-ACCA-E3D5EBEF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1790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D4A4214-A0DA-4BF2-A597-48304430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0060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先清 EDM 后改本地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E8CA20-3ED1-41F7-B58B-E267BC53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590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800ECE6-816B-47F0-974D-B9E5AA33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S8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15C707-5246-41B8-A488-6E04CF4E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91125"/>
            <a:ext cx="2133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DAAAF8B-16BB-4AE4-86E9-782FE3D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482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3A3FF38-748E-4B78-A1E9-1E2E3232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91125"/>
            <a:ext cx="2286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3CCB2A9-BFAF-475D-99F5-A859CA5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482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UT / E2E / Device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10D7ED0-C4E8-45EC-A254-CCAC2FD5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1790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7F7330-AFE6-47E1-BF95-8133BB20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48275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D1–D7 分层判定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970B70D-6515-4F76-9E92-4BC50056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52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依赖关系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DEFDCE-72D7-42ED-9CAB-FBD10983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192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8FB98D-9BA1-40DA-8977-F92AA633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91EF497-5DD2-4456-92ED-89B674D4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6E1282-7559-4FEF-9407-49C14619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6EFB379-4193-4D5B-BA88-C1D82F6A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908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1D2F1F2-A1A8-4D68-84E3-8667FB22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479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E84B15-A5A2-498E-9D3B-31C4540C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B693F9C-763A-46D8-B8B4-4B095F89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28DFEA8-6ABF-4F5C-8697-F69575F4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908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E048ECC-2714-45E5-A8B3-3DE6E456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0400"/>
            <a:ext cx="19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05CDB47-577C-4E8C-AFA3-E95AEA48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194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ADDFAB5-E2D3-4913-B79C-199102B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19475"/>
            <a:ext cx="19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14B65D-85D9-4862-8090-720681DE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5370FA8-666A-4F78-B5EC-5BB85542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33850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BD9D608-5D3B-454C-AB43-F1DF4C90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71975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3358F55-CDB7-4974-AB49-BCE6505C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71975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F235B3D-2EC0-49FD-9563-3037B88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958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F44760D-5628-4577-821F-CE733F70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33850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A6FF9B6-FAFC-424D-821D-BC3E6D72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71975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569CDD-8ACA-46F6-9160-6E14EE08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371975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2B3B7AF-BB92-408C-8A32-74D6ADC3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958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5AD0133-DEC3-4E64-9114-223862F6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1054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D79A09-83C8-458A-A77C-90B67680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2959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AECB31-6AAF-406D-AB7E-67B18416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2959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EC49F36-6099-4F0E-B449-9913FFD1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721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1716CF8-0818-440B-A95B-D5A2C3DA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054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816F82C-4091-4F82-A724-1168C888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959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4285808-BDBB-46B9-B275-C60CE693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959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A193C57-6843-4837-BAD8-CA3EC011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721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BD31EB0-DFD0-4DA0-9B3A-C606CF0C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734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FEA7EA6-5BC2-4AD0-BCE3-18817C82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388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◀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E8AC72A-35C8-429F-8097-3A7F606B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8A2BBA7-DA69-460B-9CA2-A3496A80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764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3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S1 身份/状态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4FB185A-64BF-4090-9F6F-65E089AF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52600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B80A3D-E41B-4AD3-8A85-8964F1F7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764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3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S2 默认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D4048FD-42FC-41A0-939A-F252484A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05100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81D2E45-8E3D-4C4B-B580-47D97FF2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289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3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S3 首次连接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C575C15-D33A-4132-B936-A3447E0D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38550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95C7201-3E1D-4E49-B8F8-355F0007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623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3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S4 动态规则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E2B46DE-A1C9-4739-805A-DBC56A36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0100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AE18A38-42D6-47DD-8645-9C892F89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339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3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S5 全局事务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6627D99-7495-471E-B5C1-DF018480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10100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EE"/>
          </a:solidFill>
          <a:ln xmlns:a="http://schemas.openxmlformats.org/drawingml/2006/main" w="11430">
            <a:solidFill>
              <a:srgbClr val="C94747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02EAA50-CBE7-456C-9BE6-F28EB7DE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339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3" b="1">
                <a:solidFill>
                  <a:srgbClr val="C9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C94747"/>
                </a:solidFill>
                <a:latin typeface="Microsoft YaHei"/>
                <a:ea typeface="Microsoft YaHei"/>
                <a:cs typeface="Microsoft YaHei"/>
              </a:rPr>
              <a:t>S6 存储冲突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2266B9A-5C31-4F9B-AC8B-5172FE93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86400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D162E87-7C66-4B22-9C07-0732FEE2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102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3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S7 还原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87D8FB-AF8C-427A-96C6-228228D4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86400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B925302-DD33-4666-A936-53A1E58F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102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3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S8 证据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C328ED4-5D75-48BE-B1DB-F410DC8F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579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3ED418C-8A08-4F94-AAD1-05A2D9DA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07695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8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每个 Story 的伪代码见 04 §4.9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358ECB6-1A23-48EE-A8B5-91EC5254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权威来源：case-materials/mdm/04-Feature与Story拆解.md §3、§4.9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C90F26B-DAF7-4A60-998C-1C9EB92A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94610B3-D668-44CD-9046-1B5D6684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9605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7380038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7257C3-8959-4351-9EBF-A2DF3CD1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E3D13-FE56-4B47-83E1-2081CD91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E59D0-6CB0-48AC-B5C4-4F97285D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Story 必须写到伪代码：先冻结提交顺序和失败分支，再映射到 ArkTS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90E16-2ABC-4482-8AF0-CBB31DBE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 S5：伪代码与 Worker Packet 使用同一组真实类、RED、allowed paths 和停止条件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D8CF6-FA65-4D43-87D4-093743F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8DF99-A2FB-46E1-8D08-BB827CDD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68199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36B77-0358-4541-A27F-54DBB7AA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55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04-Feature与Story拆解.md §4.9 → S5 伪代码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606F0-1342-4AE1-8435-1B879E88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2C1AD-C971-4280-B6C1-AE28DCB2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55320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setGlobalUsbDisabled(disallow):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if disallow: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snapshot = states where present &amp;&amp; active == deny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suspended = suspend(snapshot)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if suspended failed: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  compensate(suspended)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  return 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result = restrictions.set("usb", disabled)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if result failed: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  compensate(suspended)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  return 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commit active = none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keep desired unchanged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return SUCCESS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result = restrictions.set("usb", enabled)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if result failed: return FAIL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online = boundedReEnumerate(500ms, then 1000ms if empty)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replay deny for online where desired == deny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return SUCCESS or PARTIAL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98734-9919-4944-B8C4-BD692A62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9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Worker Packet 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1C237-311A-460B-A971-082B3BD2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C9B70-4B0A-4AEC-84DC-D6C62E26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382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C2AFE-6CB3-46F0-BCBD-95DB5C98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0D977-6AB4-4798-A0BA-79E62534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24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42CE8-E51B-408E-BEEC-2CB0C0BC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RFC §7 + Story S5 +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D3D49-2BCA-4E87-A8B0-F0A84986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82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0C906-5C56-4936-82F5-E4E46442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32ADB-CDDB-4AFC-95DA-108831A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6CB54-81F0-4711-9E5B-8AEA314E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 2 条 suspend 失败 → 第 1 条必须补偿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FDAEE-C9BC-44F8-AF26-116CF47F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382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AE3A7-D140-41A6-9089-29283101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C82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990D5-7FD9-47F4-A47A-29422F69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0B8FD-46A2-4CFF-928E-3950CBFF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UsbGlobalPolicyService / StateService / 对应 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110D5-EF79-4FE3-A849-CBEE3E82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382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AED1C2-883B-4336-B25D-0D0CE50E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8AFD0-DB30-40A0-B7C1-1D5D18B5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814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FORBID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D0E91-C65C-46F5-BF72-9982A92C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不改 View；不改默认名单；不新增 global 镜像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C6AA00-78EE-4D09-B1FD-9D411166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82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266DD-6CC0-43DA-A657-28494534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58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2EA350-C8D0-4A69-88C5-00B5BD3E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672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045E5-1629-4160-BD01-E56E05E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910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顺序 UT + restrictions 回读 + 实物；缺失标 PENDING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59492A-AAE8-4F91-8F3B-242F35CB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00650"/>
            <a:ext cx="382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B5CA6D-37DB-4CA5-8009-870929EB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0065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8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FF1810-AD18-451B-8687-B9CE9722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53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B7C03A-715C-47D5-BB01-4150245E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768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需要越界或平台粒度需产品决策 → NEEDS_REPLAN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AA70EE-00B4-4F80-A734-383C3F61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436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E1672B-B654-487D-85CD-F4BB8B26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972175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1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代码提交只实现伪代码，不重新发明规则。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D07D21-3F7D-4E3A-AFE8-81AFCEBF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伪代码与 Packet：case-materials/mdm/04-Feature与Story拆解.md；实现：UsbGlobalPolicyService.ets:18–49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01F2EB-10F1-4F44-AD25-229B5915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87FBAB-328B-478E-90CE-DCB8ACC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9605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3004958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C2C06-6E14-4AF7-8962-7BAFB73D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2AEC8-45C4-4CFD-AD2E-9E7DB22A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FBE1F-99D8-4DFB-9EA1-85A74521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Ralph 一轮只收敛一个未知：失败必须变成证据、规则和下一轮入口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40EBE-B707-46CE-8404-03E46CDD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循环不是“继续改”，而是 READ → RED → 最小修改 → 独立验证 → 写回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E52A6-4121-4099-B6F9-474174C9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AD7A6-25EE-4ADB-80EE-97342839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028700"/>
            <a:ext cx="19812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45D3C-2AB4-4F9A-B4F1-9CAC82EC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144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B24A6-C2E6-4CA7-B1A0-65191373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716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RFC + Story + progress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94F79-02EF-4E8C-80E8-58DC2EFB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218" y="1933575"/>
            <a:ext cx="19812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D9C3E-B930-40F0-84B6-C75CDD25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68" y="20193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HYPOTHESIS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053A5-70A4-4DA0-ABC0-788D8EBE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68" y="2276475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写一个可证伪假设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3A403-B9AC-4604-863C-9A172DA2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218" y="3743325"/>
            <a:ext cx="19812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D8C8F-CA8A-4A32-BBFA-F56A295E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68" y="38290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83E7D-F139-430D-88EF-66DF657D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68" y="4086225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用独立 oracle 制造失败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E4A7B-0D11-4354-A5BB-E290F7E8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48200"/>
            <a:ext cx="19812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2FCEE-5B98-4BA5-9A5E-63884368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339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MIN DIFF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0A833-3FE6-49C9-BE02-D494A6D2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911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只改 allowed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83A55-9D5A-43E6-84CC-0B549CE5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882" y="3743325"/>
            <a:ext cx="19812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9D4CC-CC0F-401F-94C0-E04E67FD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132" y="38290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E3AA8-AF10-45D1-8E57-5D46554D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132" y="4086225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UT → E2E → readback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C327D-8F02-4A48-A1A2-E6188D80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882" y="1933575"/>
            <a:ext cx="19812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ABF97-B7C8-407A-A594-E190687B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132" y="20193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613C50-0069-496A-8F0A-4D772E48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132" y="2276475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结论 / 证据 / 下一轮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F06F01-B8BF-41A5-B7FC-B45DC70E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22479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AC8DD-E028-4526-8084-577AFBBC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一个未知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一个 Oracle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一个 Stop 决策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68DF6-422D-4DC0-B4D9-99145FDE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857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E31148-1C20-4BFE-98EC-37DC1891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DEBDB-3F4C-4595-BCFE-362DD62B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02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继续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FB41F-C4BC-4279-8E53-5D0A98BC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1336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出现新反例；当前失败仍在范围；下一步能推翻假设。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61CEB-E036-4F95-9095-52651B7F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86100"/>
            <a:ext cx="2857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2EDD17-42FE-4DC9-84C0-D04B35E5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0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A32022-8BE5-40F7-A57E-DA93253C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99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E82A30-7AE4-4164-BF7D-3D598E88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5433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 已满足；同一失败无新证据；需要越界。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9C2A94-DA77-4889-8887-4AD9658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2857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066D89-AF5C-4314-894F-60B0947C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01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76D231-960B-4596-A846-FE1512A2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196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540DCF-0C60-435E-A847-10584F4E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9530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需要真机、系统 readback 或产品口径；标 UNKNOWN/PENDING。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4FB058-46F9-43C2-8FAE-F884618B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7429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05CAD0-840A-4788-9E0F-B375208C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9775"/>
            <a:ext cx="716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53" b="1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53" b="1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progress.md：round · hypothesis · action · command · result · evidence · gaps · next · stop_reason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34E5A9-6671-482E-B779-405D45A6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真实运行账：case-materials/mdm/05-Ralph迭代运行账.md；Session 证据：13-本地Session真实问题证据卡.md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A4F435-621B-4594-AC16-152514F2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48EC33-BA76-4433-B345-8DDEBA94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9657868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DF2E23-2623-4961-AC88-FC06110C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4F45A-F7FD-41C7-BD59-79F45FA3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55856-AE9D-479A-943B-0D9D0441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先改文档再提交：每个模块必须留下一张可反向追踪的 Change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FC26A-1C86-491C-92B3-7E9588CA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文档提交冻结契约，代码提交实现契约；新反例出现时先回写文档，再开启下一轮代码修改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7FCB5-A5E7-4EC7-924C-66E09E6F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EBD0F-5EA9-4478-BD11-AE134FEC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模块修改时序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D0F7E-0E0D-4A8F-9030-974BEC20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7E284-3256-49E6-A187-F9313F2F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E410D-3513-47DC-9F3B-4E253081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689C6-B350-4FBC-83A5-D2C3E8D0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2405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63EC5-7506-40FE-B2E1-0674C7B8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AB29E-4287-4C2B-ACDB-85ED92C7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405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AA01A-AEE7-4F32-9180-88A23C40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2405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97F25-59A1-44C4-A5D2-92333026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0238E-B7EF-432F-8567-D1733B8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95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77935-5B0A-45F9-87BC-AF909069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 更新规则/状态/验收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74001-9FBC-4060-BC71-462C1A5F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9080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685254-D5A2-4800-88D6-128F0FA0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9555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AFC42-1BB0-450E-A68E-F96481E8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71725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 写伪代码、RED、AC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76D42-8A35-4C15-9E80-3BACF26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8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1D537-BB2B-4521-954B-03A7923C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956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36519-5780-496F-B282-727410B1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9696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 docs(module): freeze 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9A098-A1E8-4823-B407-F2EF0A92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9090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C82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66CB6-937E-459A-AA9D-8EF0E0E4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9565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06F97-DF2B-46B7-82D4-674C6C55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71825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 冻结 Packet → 最小 Diff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4EBD24-7455-44E1-A368-73BDA0C0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58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83AD2-CC48-4D6A-A37C-348ED8ED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EEC08-2BAA-4666-B677-F51A8E13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71875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 RED → GREEN → readback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135F0-17B2-4EE0-AD7D-2DC7AADA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9100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8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268209-15AF-4B8F-9F13-EF7C9DBA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9575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30BD07-C2C8-4A86-A0F5-7164C0C7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71925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 code commit +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D7510B-CC12-4CD3-BEA4-BF56F6E7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811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EA0173-AE15-437F-AD07-DF7AC7B8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人 / Reviewer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30BD46-62B5-45FA-B4D1-60F44BDB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811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9B6ABD-41CB-4295-8CE9-05E9C7D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573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模块设计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A39472-637F-423D-946A-1E628DA0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69DE96-A63D-4797-B6E2-5E4073ED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573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Story / 伪代码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6A3D1-EBF6-41C9-A8ED-36393DE2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811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2D088D-D6E7-47B2-B576-A89CDAB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AI Session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F3D583-1498-436A-946F-E19232CD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3304E6-B152-4032-947C-86589112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Test / Device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16CF67-E7BB-400A-9B77-CED2DD6C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5811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50222A-2FB0-4C9E-88BE-430C5943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6573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Git / Ledger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E85B04-5F33-4656-A7EE-C9040434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14850"/>
            <a:ext cx="773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284E89-6957-41D0-BD10-C7001AA5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43425"/>
            <a:ext cx="746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8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新反例推翻规则：先更新模块设计 / Story，再产生下一次 docs commit；禁止只在 Session 里口头修正。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63E00A-E6E8-4202-96BF-EE59ADC0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每模块记录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360080-2479-4293-A7AD-C6C94227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C87590-8B9F-4A95-ADF2-6A5478DD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7200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0BE3AD-EE55-47D2-9C46-E65EFA14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693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Module Change Ledger（示例）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A866DF-7B29-4FFC-96F7-AB29FE09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62FB2B-D326-490B-A72D-570565DF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693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88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module: peripheral/interface-control  story: S5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doc_commit: &lt;hash&gt;  implementation_commit: &lt;hash&gt;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tests: usb-global-policy-service.test.ets = PASS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evidence: restrictions=PENDING  physical=PENDING  verdict=PARTIAL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B9127D-512C-4DD9-BF02-BC319A5F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14950"/>
            <a:ext cx="3505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388EDC-494B-4420-9F41-D285239B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10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13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提交顺序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450219-F59A-4660-964D-3EFB9DD4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57850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2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① docs(module) 冻结契约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2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② feat/fix(module) 最小实现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2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③ test(module) 回写设备证据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B3A788-D6AC-435D-8CAA-9C3DF82E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完整协议：case-materials/mdm/14-文档先行与模块提交协议.md；Story 伪代码：04-Feature与Story拆解.md §4.9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1586CD-D55F-4ED0-97E8-8E420979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E16CA7-D356-4C5A-9A7A-FA2DEB28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9605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6712229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997A78-1447-4717-9DF6-A3C57CD7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09171-5B64-4F68-92A1-9B17DC38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8BD92-69C4-45D3-97CB-7EE5684A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真实问题 1：页面已启用 USB，为什么改存储模式仍报 9200010？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E41CE-FFFC-4457-A779-FA0D0633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从 UI 结论继续向下穿刺，最终发现 EDM 里残留了 baseClass=3 的类型级 deny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41017-C936-4649-9298-1BC73B9B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FC76F-33A9-43AB-99A7-F49DD687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46482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565A8-E7EF-4A24-802D-CD1DDF1E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设备 Session / EDM 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31E8A-CAF5-4C84-909C-8CE0EC1D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CF910-1DF3-420A-B1C3-52AB8296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4381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UI: USB 总接口 = 启用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Action: USB 存储 禁止访问 → 读写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Result: error 9200010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EDM policy: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policy_name = disallowed_usb_devices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baseClass = 3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subClass = 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protocol = 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descriptor =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51985-B19F-41C6-AE6B-E66CBA2E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90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错误假设 → 真实根因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DB46E-9107-44DA-BD70-09FB549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573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4DB04-9CFD-4303-9F1B-940E794E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09750"/>
            <a:ext cx="13525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7EDF0-6E7D-46B4-9956-C4987BC1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954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页面 allow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9F6ED-B0FA-4FCB-B38D-84BD8CF4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526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只证明本地 intent /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609C5-1373-47A4-896E-8F06DD61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33600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31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F7017-AA25-4885-B69D-99E22620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09750"/>
            <a:ext cx="13525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809A0-6198-4383-BCEB-4889B4AF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954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active=none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A2C12-BBA8-4976-A4DC-2D63E76D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526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也不能证明 EDM 已清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005BE-36FD-446B-A1DF-F4F19042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31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072C9-2681-46DC-898A-EB25AAE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13525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2EF52-2C3E-49F9-8072-AAB1437A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954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2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EDM baseClass=3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DE4A4-7AD1-4F95-8907-C2675B7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526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历史 HID deny 仍在系统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604A1-E3B2-4476-B4F4-560A36CA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33600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31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3C2202-3972-4D27-9447-82839B4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13525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2D6F6-216B-4D3E-A340-B9CE8DDF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954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9200010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E4C25-05BB-4A24-8872-4805994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526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存储策略与残留规则冲突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8DEFA-EF24-40A9-98CD-99536F02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修复协议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05AAA5-426D-453A-BE1B-9B45287F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58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978E2F-1992-469F-8C0B-DBF73828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D5E5EA-6476-4C05-9DA1-F4C103BF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1 Read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F4D14-7059-4F93-9C5C-3A4ABED0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getDisallowedUsbDevices()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C409C4-E87F-4DF6-895A-A24215C7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72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1F30DD-E26E-48EB-8FFD-59604D7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243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BD6BC7-A115-4146-9095-4092629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100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2 Clear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E7529-3D6B-43C9-B5BC-BA1E6D6F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remove 系统类型残留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D31344-9CC6-49C8-A854-C963D27E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72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366C69-5DDF-45B0-B7D6-E29A44B3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487FDE-09D6-4A92-901B-95B3BB3C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00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3 Persist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7415DB-46F4-4021-8426-7E21FE8F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672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local allow / active none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8EB0E6-C282-4EB1-B7FB-30834C41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872F45-41D3-4A7C-BC28-BB515029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2400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9B383D-82A0-4631-9962-88AAD0CB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100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4 Verify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C9B15D-CEA1-4E5F-8CF2-DC1BC04C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672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系统列表 + UI + 实物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915FB6-0B16-46E0-9E90-0259442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0915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A7783D-4BA2-4B22-B021-960C6BE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新不变量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98C0B0-B710-4A68-AE70-50D5FF3C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76875"/>
            <a:ext cx="931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 allow ≠ Policy State active=none ≠ EDM 无 deny ≠ 设备最终可用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BAC3E4-08EF-41EC-A4A1-F42D0895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真实证据：13-本地Session真实问题证据卡.md#9200010；05-Ralph迭代运行账.md#R11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8AFE09-77D0-4F67-942E-FE68030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FBF90C-DB4F-4327-93A2-D990C50B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RUN FACT</a:t>
            </a:r>
          </a:p>
        </p:txBody>
      </p:sp>
    </p:spTree>
    <p:extLst>
      <p:ext uri="{BB962C8B-B14F-4D97-AF65-F5344CB8AC3E}">
        <p14:creationId xmlns:p14="http://schemas.microsoft.com/office/powerpoint/2010/main" val="135396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09B404-4D34-417C-9E9E-3B17327E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F813B-CCB2-464D-9040-9E3B4621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E8EA3-AFC9-4A3F-B555-01897EBD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真实问题 2：API 报 9200007，但 getter 已经变成读写——到底算成功还是失败？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943A6-146F-4E17-B27B-34EE01C9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复杂系统不能只看返回码；必须把参数提交、运行态切换和最终行为分开判定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8194F-B625-49C2-8EF7-40D37801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FD316-FFC4-4A6E-A6E0-7EFAF740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同一次操作的证据时间线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FCA0D-64E1-4610-AA58-3DD693FD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1E6AE-E3D2-4E2B-998E-6C020235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4003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D46FE-D0AD-446D-8E49-A4F94FBD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B0BEE-7EEB-4CE2-9CFD-E3C210C2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readonly value:false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目标参数已写入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A11F5-51FD-4A18-80AD-C1C89580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859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F306B-DEB0-4F95-949B-CE0CDC05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52600"/>
            <a:ext cx="24003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D91F2-48AB-4464-A749-C2E71FDA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38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44336-06DC-42FA-AC7E-30754E7B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StorageManagerProvider::Unmount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开始切换运行态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610B9-822B-4A18-8A42-BDF8D47D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859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20517-9C5E-408C-B887-D12F5D0B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2600"/>
            <a:ext cx="24003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98D1F-30D0-4EF7-9EBB-61A891BC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38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77D08-CA8A-4694-95F0-05B22392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volume state=0 not allowed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卸载/重挂载失败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D77CB-602C-409F-8F70-4E0FF00B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859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57D24-82A0-4E23-8251-631CCC28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52600"/>
            <a:ext cx="24003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539D7-D171-4305-BF09-8B097F9D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38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6B841-C306-4508-BEAB-BAB25DC7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error 9200007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API 整体返回失败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63A6A-0029-4869-9842-68635596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52006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3D3B9-AF38-4CA7-9137-E0128CA9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三态判定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5AD7D4-9A6A-4B62-B184-2ED45624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A14E9-1D0A-47A3-8185-A01A5146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49339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(apiSuccess &amp;&amp; getter === target &amp;&amp; runtimeOk)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return APPLIED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(apiError &amp;&amp; getter === target &amp;&amp; !runtimeOk)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return PARTIAL_APPLIED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(getter !== target)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return FAILED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PARTIAL_APPLIED user action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close file handles → replug device → verify mount mode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9BB204-B548-4BE5-B51D-97EBF8A9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四个 Oracle 分别证明什么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374625-236D-4E8D-AC55-59540DED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528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C82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33BA5-F004-496E-86B7-4BE141B5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8615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C09CE5-64B9-4D78-8D10-03D8B756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04ABFF-9CCE-4E15-9C65-AD6FDC87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956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API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1C4944-A900-433B-BF22-E8B158DF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9567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调用链是否完整返回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D53748-BBE8-442B-B264-7D6CB7D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6240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F2F0E8-DCBA-4843-B195-6B37A90D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7192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388F54-2DB1-493A-A93F-CE617ED5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719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getter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C4142F-1E0A-42EC-BD2E-9F5E8C47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7192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目标参数是否已经提交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9A4CD4-546F-4E19-B672-C45CFE57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3865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141778-43B3-484D-B10D-9DFA39BA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4817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41A8DB-079B-40EA-AF36-3189A8CD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481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mount log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AC50F2-F0F4-4DC1-9ED1-0CD90D62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4817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当前卷是否完成重挂载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88D662-7B2D-4BCA-8ED4-05EAF218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688445-DB27-4AD8-8A55-0682CDC6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2442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7B01E5-A9A4-4EDC-86F3-A045CC4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244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replug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F24C3A-3277-4771-AF2C-0997CA10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2442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下一次接入是否按新策略运行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354CBC-DDF8-4249-9462-6EF00869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29250"/>
            <a:ext cx="5410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357D02-2BE9-415A-9843-3FB91CB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98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错误修法：API exception → 无条件回滚 UI。这样会让页面与系统 getter 相反。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3AAE6D-CFE9-4C9D-ADBE-97CC2421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真实证据：13-本地Session真实问题证据卡.md#9200007；验收 AC-18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FA93AB-6D5F-47CF-9255-D3ADA682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A25231-0BFB-49AD-BF3C-5EEE6463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RUN FACT</a:t>
            </a:r>
          </a:p>
        </p:txBody>
      </p:sp>
    </p:spTree>
    <p:extLst>
      <p:ext uri="{BB962C8B-B14F-4D97-AF65-F5344CB8AC3E}">
        <p14:creationId xmlns:p14="http://schemas.microsoft.com/office/powerpoint/2010/main" val="17795937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ED5606-4EAE-4B39-930A-CE2CB76D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A98E5-3E94-4AC0-A051-753EF6D5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82CEA-3F98-4108-92BA-89A9ED89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E2E 第一页：Case JSON 经过 Runner、MCP/HDC，最后留下四层证据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74DAA-8DA9-4A81-9503-2E06563D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工具调用成功只证明动作发生；业务结论还需要本地状态、系统回读和实物行为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1601B-E09D-43F4-9E99-EB9E8A22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8055715984204"/>
          <a:stretch xmlns:a="http://schemas.openxmlformats.org/drawingml/2006/main"/>
        </p:blipFill>
        <p:spPr>
          <a:xfrm xmlns:a="http://schemas.openxmlformats.org/drawingml/2006/main">
            <a:off x="1621070" y="1314450"/>
            <a:ext cx="883556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69B48-EA5B-451B-BC87-A67F701C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真实文件路线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E2F17-855A-4CEE-A975-85EF95B3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0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8FB22-75F7-4E68-B08E-8051FB2F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733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32E81-468B-4310-975A-3EB1E33E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242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BF627-9061-46D9-9A88-9E5CF272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cases/peripheral/usb_policy.json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B2AC1-B7AA-4E07-BF7C-DC24F3FA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95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65393-540A-4163-9288-4CCAFD6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1733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7D7DF-5C3C-4528-86DD-E8244427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242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Runner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56CD8-9785-4E50-869E-C7BAA7DB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core/runner.py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9752D-92B2-405A-8D05-E40ADD18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95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2DFA4-9C42-4160-B184-6C80C9E5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1733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1A310-7BC6-4C4C-BD59-44BBCE93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242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46064-07BB-47D7-B716-D076F515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SecurityToolFlowExecutor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02605-5316-4C53-B8C1-8DD04560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95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8AAF0-C347-4EC1-94E7-E1897391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1733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E22F4-41FB-4223-A503-9F647B51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42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Driver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D977D-40C7-4A9F-934E-943E4D74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mcp_driver / hdc_driver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E6106-7B4B-49B8-8A29-93B7E22F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95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C4E7DC-F792-44EA-B21C-C493831D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1733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C5044-AB41-4B63-9790-C0455BCA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242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Assertion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5DAB45-1213-4240-B4B1-C42C2AAA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assertions/executor.py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CC6B97-D09C-406C-AFA2-FC909B03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95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733E4-EE25-4B63-B4F9-FF887C6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38550"/>
            <a:ext cx="1733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F26816-8945-4AAC-A10F-5B671718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242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73EEC0-A046-4291-B38A-8AC526FA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814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CaseResult + artifacts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01559E-4C7F-4CE3-B2AF-08D9679C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2571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CF1FF6-970F-472F-84CE-CB10C0FD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F93F7D-D192-4338-A826-00C017A5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UI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3A342B-E1A8-40B2-902A-C8F1C5EC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625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页面状态 / 文本 / 截图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E168D4-4CB8-47EB-AB20-E4BD4424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2571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C1E47A-3BAC-4187-9D68-268B593E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196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9C4C83-276B-4BF1-A71B-049D3C5B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291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Local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02DBB4-193A-4C65-ADD4-AD9A5954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625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desired/active/present / Trace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554B03-B29F-44AA-8397-A7C8A88A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05350"/>
            <a:ext cx="2571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D6052B-A5C6-4E17-9A2F-131DF64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196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4EFCDD-EED4-44D4-9FB2-936AFE4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291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A5E111-BA64-4041-B70D-6BACB0A6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1625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restrictions / disallowed types / getter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E07A4E-A5E3-46C2-80CA-5F5989D5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05350"/>
            <a:ext cx="2571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FDCCD3-374C-40B9-9171-505AB522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196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E8256F-2700-4187-97B5-52AC8C55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2917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Physical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0AD72F-BC10-4595-A365-D93C683B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625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设备可用性 / 读写行为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047590-A30D-44DA-848C-C34B1374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真实用例：scripts/e2e/cases/peripheral/*.json；框架设计：docs/04-测试文档/e2e测试/端到端测试框架设计.md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9ED392-C65A-47AA-AD1D-3430CE28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E6FF78-3CBD-463D-A5CA-ABB618D9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5180490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24FCE7-9BF8-4DB0-BA5E-3AD96CBC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058FF-D50D-48FD-93CB-EDB35CEB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2C6CC-E5D4-481E-A13B-DD71B422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E2E 第二页：同一个 Case 必须写清预置、动作、四个 Oracle 和清理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0096E-F401-432D-A0B3-38EBD012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示例：默认 deny 的新 USB 设备首次接入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F681F-A1CB-4B3A-AAA0-8DAC6693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77E88-8674-4567-B05D-AE03F99C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5829300" cy="46482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42444-3214-4098-AEBE-76A11709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usb_blacklist.json → Acceptance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15EA2-47E2-45A8-8EBE-99936090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13807-8092-4D38-AA6C-D6F13051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5626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precondition: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admin: activated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global_usb: enabled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storage_policy: read_write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explicit_policy: none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default_usb: deny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action: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attach_new_usb_device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oracles: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ui: device appears in blacklist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local: desired=deny, active=deny, present=true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system: disallowed type is readable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physical: device cannot be used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cleanup: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clear_system_residual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restore_local allow/none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result: PASS | PARTIAL_APPLIED | FAIL | UNKNOWN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679db04724ad0"/>
          <a:stretch xmlns:a="http://schemas.openxmlformats.org/drawingml/2006/main"/>
        </p:blipFill>
        <p:spPr>
          <a:xfrm xmlns:a="http://schemas.openxmlformats.org/drawingml/2006/main">
            <a:off x="7091363" y="1352550"/>
            <a:ext cx="3971925" cy="2647950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FED73-C90D-47DE-845E-6AF6C938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当前证据结论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9EC15-2380-42AE-A5BF-882BF3FA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14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4A"/>
          </a:solidFill>
          <a:ln xmlns:a="http://schemas.openxmlformats.org/drawingml/2006/main" w="11430">
            <a:solidFill>
              <a:srgbClr val="E764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36687-228F-45E4-BC80-2CA6096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页面入口 / 卡片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783A1-3CAA-4B81-9EF5-02B1BEEE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B42D3-0503-4FAF-9367-E9AAD8D9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0057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54DC2-591C-4096-9B10-CA2A5215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005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E2E 可见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97341-9633-466A-9360-FF145930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本地状态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12902-7FB4-4C21-9E9A-6FF6B778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84A78-CB48-46E2-A600-5DA5865D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6252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4DD24-AF51-4350-96C4-B764CC16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625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代码/UT 有证据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F03AF-6831-4EAF-A912-176C7BF0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14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 readback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95C73-385F-43F6-9C75-C7D0F146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A021C-B256-46B4-9BA2-3D9CDEA6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2447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7B89F-9A67-4077-AA07-8680704E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3244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待设备采集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23F22-3BEC-4B2C-8A10-0458842F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76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同类第二台 / 实物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DD92E-761A-4E3D-99BD-0852EA47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769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548F83-8431-4805-AC25-D2FA1C27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8642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FE1C1-9129-43CC-9B54-519B8CFE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6864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待现场矩阵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81A7F-2B22-446A-8257-07E8A8A3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真实截图：harmonyos-sdd-workshop-media/e2e/peripheral-policy-current.png；Runbook：12-附录E外设验收手册.md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DE574-AA30-4B3A-931B-6EA94375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A32531-2553-478B-9EBB-63633CA1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RUN FACT</a:t>
            </a:r>
          </a:p>
        </p:txBody>
      </p:sp>
    </p:spTree>
    <p:extLst>
      <p:ext uri="{BB962C8B-B14F-4D97-AF65-F5344CB8AC3E}">
        <p14:creationId xmlns:p14="http://schemas.microsoft.com/office/powerpoint/2010/main" val="9693108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A6AA0C-CAE8-4316-A6A1-6D56AEE0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7644A"/>
                </a:solidFill>
                <a:latin typeface="Microsoft YaHei"/>
                <a:ea typeface="Microsoft YaHei"/>
                <a:cs typeface="Microsoft YaHei"/>
              </a:rPr>
              <a:t>03 MDM 案例｜真实交付链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9F431-D6C1-405F-892E-89B85BAE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BCC0F-A003-446D-B524-5361C3B4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MDM Checkpoint：交付的不是代码，而是一条从需求到设备事实的可复核证据链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3864D-84F9-4F36-9471-E1D11312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证据缺口按责任分开：U01–U08 需要真机素材；E01–E03 需要工程先闭环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8B881-BCB2-422C-B4F2-DD6F83D2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72635-9C7D-4816-9974-C6031DB6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42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52489-BE8F-4895-9814-6A7EE1F1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需求卡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8033A-3B7B-4249-9BDC-A0386FFB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可回读文件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67B4E-47E9-43DA-8900-1FFE2E2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43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7557E-0587-4321-9FFF-CBBB2605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90650"/>
            <a:ext cx="142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C7FD5-FB5A-4374-B215-6598B061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冲突/ADR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F310D-2EF6-40E8-87A0-D22984C0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335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可回读文件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6290B-DCC8-4424-86BB-C56BCB51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43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A146A-5D15-4A00-AB27-3A32238C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390650"/>
            <a:ext cx="142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3B76C-2A55-4A01-8593-937EFE72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76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架构 RFC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3A801-5D87-4E30-9841-702985E1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可回读文件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B9180-36A3-4806-B537-6AA2E005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43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36993-A1A4-4EC9-8ECA-2677C6B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390650"/>
            <a:ext cx="142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0A45A-62A1-4CF7-83A8-770D54E3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76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57D2C-5F05-4171-B0AD-FBC785E2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335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可回读文件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497D3-99EF-4621-8A5A-F4A273FD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43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C2CF0-F002-4A05-8B8D-6A020916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90650"/>
            <a:ext cx="142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11430">
            <a:solidFill>
              <a:srgbClr val="2878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85937-FB13-46A8-A0F3-A405341F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76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8D0"/>
                </a:solidFill>
                <a:latin typeface="Microsoft YaHei"/>
                <a:ea typeface="Microsoft YaHei"/>
                <a:cs typeface="Microsoft YaHei"/>
              </a:rPr>
              <a:t>Ralph 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EB17A-4ECC-4917-9E86-82DECB7B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335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可回读文件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C7640-BC3D-46E5-9800-CACF4996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43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09F9D0-C199-499F-A9B6-BE545A35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90650"/>
            <a:ext cx="142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1430">
            <a:solidFill>
              <a:srgbClr val="248C8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E20CA-BD96-47C2-8FA0-417704AB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76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48C82"/>
                </a:solidFill>
                <a:latin typeface="Microsoft YaHei"/>
                <a:ea typeface="Microsoft YaHei"/>
                <a:cs typeface="Microsoft YaHei"/>
              </a:rPr>
              <a:t>UT/E2E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56BC52-2FEB-4C0A-B65C-3E0F3E06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335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可回读文件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9C4C6C-6258-40BC-A5AE-22E4CAA6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43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039B8F-B16E-42EC-BA71-A582A67C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90650"/>
            <a:ext cx="142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E5A7E9-7AD5-4226-85A4-963BC0CB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76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系统/实物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12406A-61EF-45F8-8868-835A615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335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最终事实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9E6439-7065-40C6-A86D-23AB1938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当前验收矩阵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831269-D118-41A8-B0A9-2B9A95D2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D8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D28048-5341-4526-8A91-44A33C8C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5EDD8E-3733-4944-A256-24A7BE25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规则与架构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B63E4E-442B-48EF-8C9D-074D9527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527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冻结优先级、状态和服务边界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E85DEA-8B90-485B-969B-4DDF7AB4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52725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949A0E-C813-407C-8EBC-F089CE22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6225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B94A20-F00D-4E5E-9693-677C8127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660834-9843-4B25-9DD9-289D55E8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代码调用链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F1CB51-C03D-4088-AFF6-AD9EC8CF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9087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真实类、函数、Repository/MDM 映射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F3A7D3-CF15-4DCB-8B51-5240FC42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90875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A57676-D7F9-4E31-A4F4-B4217CE1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004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1CF62D-AAB4-48FD-95ED-D9467569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12FE78-1388-4B6A-B29E-4D9503DE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关键分支 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ABA453-05C4-467C-8AEC-5F9A0FAF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290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全局补偿、设备状态、Dispatch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964F5E-DE8A-4104-8394-209580C8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29025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424A00-B43D-4773-AA9B-095FB3E0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3855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PARTIAL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FF8BBB-B639-4BD8-A020-32EE7D67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0FCAA3-598F-46E4-80F1-8719DF05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 E2E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A66D39-B4F7-4729-8A37-FCBB8BE8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6717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外设策略入口与可见操作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71623E-BF16-41B4-9815-0F919B80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67175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58A5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537988-6674-4ACD-9D82-9EFF5837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767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8A58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AFD884-E9B9-43AF-902E-6AE245B7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76624F-8714-4354-AF5C-5181FA37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系统回读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BDD5F8-EC88-4852-81F2-E632E4F5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053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U01/U03/U04/U05：restrictions / disallowed / getter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DF30A5-EC51-4E11-A114-A2480D21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05325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26A561-2E09-4595-940F-605F9B4C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1485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需用户 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6BA82F-8E39-4ACA-BD7E-195D2FAE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BD699D-D34D-4B66-B3F1-6F915137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实物矩阵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08D374-4A25-4F04-8942-8E2D37F5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4347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U01–U08 真机证据；E01/E02 先修工程契约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C36B28-14C7-4CB2-8F21-76E18A0D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43475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7A47B3-DCC3-4A18-A1F6-E1043B8B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9530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U / 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6C5B5D-B584-426D-B5F6-91DD7914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934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11430">
            <a:solidFill>
              <a:srgbClr val="D9901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3E48ED-6FB5-4B9A-9964-B5D9F6F5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9018"/>
                </a:solidFill>
                <a:latin typeface="Microsoft YaHei"/>
                <a:ea typeface="Microsoft YaHei"/>
                <a:cs typeface="Microsoft YaHei"/>
              </a:rPr>
              <a:t>请先补 U01–U04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1378CCF-D3E9-462F-AAA4-DED04FAA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435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U01 全局事务  U02 首接 allow/deny  U03 残留清理  U04 9200007 三态证据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185772F-B78D-4633-988E-588D3163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51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判断标准：任取一行，都能反向追到 Requirement → RFC → Story → Code → Evidence。断链处就是下一项工作。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A846B6-73E2-4BE1-A758-F525D7EB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证据：00/06/12；用户素材：16-用户补充素材清单.md；工程开放项：E01–E03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7359E2-AC80-4D71-A3F4-1CA96FFC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1430">
            <a:solidFill>
              <a:srgbClr val="7256D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76241B-CAFF-4364-892A-5028C49C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6D8"/>
                </a:solidFill>
                <a:latin typeface="Microsoft YaHei"/>
                <a:ea typeface="Microsoft YaHei"/>
                <a:cs typeface="Microsoft YaHei"/>
              </a:rPr>
              <a:t>REPO FACT</a:t>
            </a:r>
          </a:p>
        </p:txBody>
      </p:sp>
    </p:spTree>
    <p:extLst>
      <p:ext uri="{BB962C8B-B14F-4D97-AF65-F5344CB8AC3E}">
        <p14:creationId xmlns:p14="http://schemas.microsoft.com/office/powerpoint/2010/main" val="13178969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5F136F-45F0-4C50-AA97-2B5C5BC3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37BC9-C597-43F7-829F-D00EC68A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背景：用 FreeRDP / xrdp 打通双向远控，卡在 HarmonyOS 主控的显示链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97EA3-0103-4D1D-869A-2FAF7FA5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A9F77-FD98-48F4-98D3-4B2A0D5F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B1249-E549-48D1-A6DD-321DE56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C9B20-762F-4B64-9FB4-B2808EE0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双角色产品背景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58223-811B-4F52-B6A3-E267C9B5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01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15777-549F-4267-B101-7BDE8ED0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000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HarmonyOS 主控</a:t>
            </a:r>
          </a:p>
          <a:p xmlns:a="http://schemas.openxmlformats.org/drawingml/2006/main">
            <a:pPr algn="ctr">
              <a:defRPr sz="1350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FreeRDP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D1407-6CEF-495F-8E5D-CCC0E827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2000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Windows 被控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RDP Server</a:t>
            </a:r>
          </a:p>
        </p:txBody>
      </p: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67000" y="20859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A33FD-C992-423A-A6A4-BFA78662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0975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桌面 / 视频 / 输入事件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D8ACB-6BCA-4E72-A5BC-DAF5AE00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000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Windows 主控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RDP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8DD0B-D937-4948-8008-D3779139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05125"/>
            <a:ext cx="2000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HarmonyOS 被控</a:t>
            </a:r>
          </a:p>
          <a:p xmlns:a="http://schemas.openxmlformats.org/drawingml/2006/main">
            <a:pPr algn="ctr">
              <a:defRPr sz="13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xrdp Service</a:t>
            </a:r>
          </a:p>
        </p:txBody>
      </p: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667000" y="33242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1CB4F-6EF0-420F-9419-E8086AE0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4800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双向远控能力已打通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4DDCD-92A2-468B-9457-A509D05C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5048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EB263-C4C4-47FA-BC90-7DE2BD0B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04925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这次只处理一条问题链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43C43-3E64-4E55-8EEB-89AB335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002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26045-EF7E-47A4-9A94-04499CA9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62125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B0669-D521-4FA8-91BA-EC33A25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524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HarmonyOS 控制 Windows 时，远端视频能显示，但交互和画面有明显卡顿。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40DD9-C9AF-469F-AA53-3EEFB5EE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7A998-B81B-4D66-952D-3B5D4D2F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14575"/>
            <a:ext cx="3524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当前关键路径仍以 CPU / 软件处理为主，没有完成硬解 + GPU 显示接管。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4AEA8-BE3E-4AE7-B1A9-600CEA3D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289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C6601-3349-4BB2-991C-CACD5A29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62275"/>
            <a:ext cx="3524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9477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30W+ 三方代码里，到底应该改哪里？怎样先证明方向可行，再进入工程开发？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FC30C-567E-40AD-BA38-C996A9EA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67125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1E58BC-9431-4E21-9AAC-3463589A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00450"/>
            <a:ext cx="3524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先不承诺性能结果；先找到稳定适配点，完成最小一帧穿刺。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F5B0B5-5523-4A01-93F8-DECA1407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11096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3FEF05-BCF9-4C3C-A854-ABAEB980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本章主线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9AE843-FBA2-4467-AE35-95866AB8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9625"/>
            <a:ext cx="1476375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 xmlns:a="http://schemas.openxmlformats.org/drawingml/2006/main">
            <a:pPr algn="ctr">
              <a:def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限制阅读范围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77A83-91A9-4DCC-9385-93FEE63D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619625"/>
            <a:ext cx="1476375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 xmlns:a="http://schemas.openxmlformats.org/drawingml/2006/main">
            <a:pPr algn="ctr">
              <a:def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Linux 探针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EFFC1-88F0-4BF6-8641-22B8274D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619625"/>
            <a:ext cx="1476375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 xmlns:a="http://schemas.openxmlformats.org/drawingml/2006/main">
            <a:pPr algn="ctr">
              <a:def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HarmonyOS 探针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CDE9FE-AA8A-411A-9A83-CB9B47E8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19625"/>
            <a:ext cx="1476375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 xmlns:a="http://schemas.openxmlformats.org/drawingml/2006/main">
            <a:pPr algn="ctr">
              <a:def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冻结方案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1AC104-368A-44F4-A4C5-C89F29E6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619625"/>
            <a:ext cx="1476375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 xmlns:a="http://schemas.openxmlformats.org/drawingml/2006/main">
            <a:pPr algn="ctr">
              <a:def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迭代开发验证</a:t>
            </a:r>
          </a:p>
        </p:txBody>
      </p:sp>
      <p:cxnSp>
        <p:nvCxnSpPr>
          <p:cNvPr id="72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429000" y="50101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295900" y="50101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162800" y="50101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029700" y="50101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B81671-EFFB-4CBC-9ED2-32C218F8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054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目标：讲清楚“如何从复杂项目中找到适配点”，而不是只展示最后跑起来。</a:t>
            </a:r>
          </a:p>
        </p:txBody>
      </p:sp>
    </p:spTree>
    <p:extLst>
      <p:ext uri="{BB962C8B-B14F-4D97-AF65-F5344CB8AC3E}">
        <p14:creationId xmlns:p14="http://schemas.microsoft.com/office/powerpoint/2010/main" val="14241088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DC3837-91DF-4F69-BA82-F5321D4A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CBC18-D3E9-41CF-B58A-D41D5911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55.9 万行代码怎么读：把“读懂项目”改成两个有结论的探针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24D4F-F803-44C4-84BD-C403BBE9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2BE87-C896-4877-A82A-B2AEC15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EE280-DABE-4C05-973E-118A564C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19DBF-D099-4186-BF04-9A324210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3429000" cy="4762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B05A3-4E9C-438D-988A-DDEF598E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144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先冻结一个问题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984A8-5D4E-45A7-B01E-C8ADDF73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97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0B487-D891-4744-8B08-FDDAEC0F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952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只追一帧：</a:t>
            </a:r>
          </a:p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从网络 PDU 进入，到屏幕 present 结束。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B08E7-B1C0-4179-8424-BE1BE430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91EB0-6595-42FC-82D6-C460DA95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00325"/>
            <a:ext cx="1190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搜协议入口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1F9E9-F3E4-49B0-82EC-4E5A235B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67025"/>
            <a:ext cx="2333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WireToSurface / AVC420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7360B-AE07-48A6-A15F-31E682A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39FEE-4AF3-447E-8000-D3A1C90A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1190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追回调契约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46982-615A-4655-9BA0-0EC98341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52825"/>
            <a:ext cx="2333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SurfaceCommand / EndFrame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AABA1-7F7D-4BE3-A62D-31DB2EC9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2C8B0-798E-4DAD-B520-D17EC72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71925"/>
            <a:ext cx="1190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找平台后端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38471-0F33-4E0C-BB75-3EDE47EA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38625"/>
            <a:ext cx="2333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X11 / OHOS / XComponent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085DB-5CC6-4729-B3B5-A24035B5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4B63B-9E5B-4B87-99D7-9408F1D5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57725"/>
            <a:ext cx="1190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记录未知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A0A04-2A1A-4AE9-B808-863A303F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24425"/>
            <a:ext cx="2333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owner / buffer / present / 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C9099-D58F-43CE-91B7-0C6FA709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295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上下文预算：1 个问题 + 1 条调用链 + 3–7 个符号 + 1 条下一步命令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B3757-3C0D-4C29-B251-36532435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43000"/>
            <a:ext cx="3381375" cy="476250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F15E4E-39F8-417E-8D83-67DF5E49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探针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9ACBE-8B7C-4768-91AD-C242EFE2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Linux / X11 到底怎么显示？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18583-7207-438C-872D-CE4821B1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12858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FreeRDP 源码 + 一帧协议命令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7F3B47-6DB7-4018-90A3-0F9CF189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33625"/>
            <a:ext cx="13811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一张源码时序图 + 稳定回调缝隙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AA462D-B8F6-4CA1-BA16-412010CC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844A5F-D90A-40A9-B3BA-B7656C04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2857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只回答：三方协议层如何把“需要显示的一帧”交给平台后端？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188472-94CD-4095-8412-62E11F4C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Verdict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C1E04-1B5F-4145-9B94-B055A3A8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14875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找到 SurfaceCommand / EndFrame / UpdateSurfaces 适配边界。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843116-33DF-412A-A112-6CA31332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"/>
            <a:ext cx="3619500" cy="4762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C8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AC985-E494-46DA-B029-E8C67292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探针 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06315D-8A7B-40BF-BE8E-640AB73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31908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HarmonyOS 能否完成一帧 GPU 穿刺？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BE3256-531B-49EF-AF94-55C3084C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13811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XComponent / NativeWindow / AVCodec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736ABD-C990-4BB6-8DE8-C7F40F4A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28875"/>
            <a:ext cx="14763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一帧 native buffer → EGL → present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4D2783-8E8E-45BF-940A-27A8063E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362F6E-B8D0-45BF-B665-55B3832E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3048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只回答：不用先改完全部链路，平台能力和 buffer 所有权是否真实可用？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081547-1681-43CF-A4FC-75954B9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767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Verdict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B95D4E-ACE5-486B-8C0D-1C270F2C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577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五个 Gate 全部可由源码锚点验证，再进入方案设计。</a:t>
            </a:r>
          </a:p>
        </p:txBody>
      </p:sp>
    </p:spTree>
    <p:extLst>
      <p:ext uri="{BB962C8B-B14F-4D97-AF65-F5344CB8AC3E}">
        <p14:creationId xmlns:p14="http://schemas.microsoft.com/office/powerpoint/2010/main" val="1804296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FB9948-FC06-4522-804A-27CEEA58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E746D-3672-4CD1-97F4-05A4ECB3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探针 1：Linux / X11 的一帧是怎样从协议命令走到屏幕的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F2213-DBC6-41ED-B42F-E6E6936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69A5B-C8A6-4F0B-9F52-544E9390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71DFF-DB9E-4B44-A1BB-766E1030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EE576-A898-4022-AC59-8DE9636B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4300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RDP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46E9B-01CE-4162-A5DC-1E6F83BE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00200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57006-067A-47DD-9E8B-DBB7DF9D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rdpgfx_main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20CED-2BF5-4822-ACA7-6EBEBB8B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600200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C5089-C49D-4815-B4B0-A2A3B2F3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14300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rdpgfx_codec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32742-2339-4A68-BE9D-9760CA7F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00200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AA129-DD0F-4B97-8AD6-1C7893FE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4300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GDI gfx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32494-A059-4252-8F3E-A5D04982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600200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7B543-BE91-4978-A43A-8294A37E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4300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xf_gfx / X11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E828C-4730-4BBB-9DE7-0EE62F85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00200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E3931-F6A9-4710-AEF5-1ECBDBA8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2066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F422A-AD9A-40D2-8D7D-FD0083F3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19500" y="19050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45734-3EA1-4E5E-B282-03CC1628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724025"/>
            <a:ext cx="19907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WireToSurface1 PDU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67896-8F92-4528-8BD1-CBD9C8C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28875"/>
            <a:ext cx="2066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B9C25-512A-478B-B4C7-8FC4A37C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62625" y="2381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395EF-9EFD-4539-9CD9-AB5ECC8A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00275"/>
            <a:ext cx="19907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parse AVC420 metablock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8FBDE-8908-4BC9-A575-CC189AFA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05125"/>
            <a:ext cx="2066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3FC5E-8BC0-4B29-8817-2A180A7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05750" y="28575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90761-2872-465B-8D4C-24889C33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76525"/>
            <a:ext cx="19907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context-&gt;SurfaceCommand(cmd)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EBA8D-30D1-44A4-9774-1F28E080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066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B9FA48-CA23-43D1-B265-58ADC881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48875" y="3333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3D5333-E008-4715-B319-5E555679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19907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gdi_SurfaceCommand_AVC420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4230E9-D74B-4BE9-8D7D-BB8C830B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066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7CE954-98C9-4D90-89F7-C6541F66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48875" y="3952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659E49-F02F-4C63-A884-32350823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71900"/>
            <a:ext cx="19907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EndFrame → UpdateSurfaces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80B80-F181-41A0-8790-5B9899F8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2066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solidFill>
              <a:srgbClr val="168C8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DA806C-838A-4610-8F9C-D382658C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001000" y="4429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solidFill>
              <a:srgbClr val="168C8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AB8504-C484-4707-93B1-44F80A1D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24375"/>
            <a:ext cx="19907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XPutImage / XSync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A63FDB-BF23-4B6A-9E71-47E1C9B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1144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8AD527-B766-4336-AC53-4F222730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4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源码锚点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F64A46-95B3-423E-A8A6-07CC892F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24450"/>
            <a:ext cx="19526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rdpgfx_main.c:1334–1404</a:t>
            </a:r>
          </a:p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接收 PDU，构造命令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DF2E4A-78EA-4235-9B72-7ACB716A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24450"/>
            <a:ext cx="19526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rdpgfx_codec.c:185–214</a:t>
            </a:r>
          </a:p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解析 AVC420，调用回调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162194-4B99-437B-9D45-D06C982D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24450"/>
            <a:ext cx="19526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libfreerdp/gdi/gfx.c</a:t>
            </a:r>
          </a:p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:316–351, 1246–1301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557BB-DE1B-4156-A302-50A3D75B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19526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client/X11/xf_gfx.c</a:t>
            </a:r>
          </a:p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:39–140, 507–530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E343AF-96F4-46B1-B917-7E9D7FE0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762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245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1CB1F5-36DB-4C8F-9199-69D66FD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5245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平台差异集中在回调后端</a:t>
            </a:r>
          </a:p>
        </p:txBody>
      </p:sp>
    </p:spTree>
    <p:extLst>
      <p:ext uri="{BB962C8B-B14F-4D97-AF65-F5344CB8AC3E}">
        <p14:creationId xmlns:p14="http://schemas.microsoft.com/office/powerpoint/2010/main" val="16889731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E331E4-12E6-42F0-BD75-D0411B42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36C9B-92B5-42E1-96C2-0F68D5C8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从复杂项目找到适配点：协议层不动，只替换稳定的显示回调后端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1DECF-3052-4A3E-93AD-F6CFF802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DC045-F862-4550-B0E6-DB63364C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51E85-C815-4F0C-80D9-506E53BE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ACCBD-A000-4107-B897-00DDFD90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3048000" cy="3905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E856F-FE82-4A5B-BA1E-90D63B8E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144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不要改的区域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3C634-277A-4860-BECB-49EE241B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97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A"/>
          </a:solidFill>
          <a:ln xmlns:a="http://schemas.openxmlformats.org/drawingml/2006/main" w="0">
            <a:solidFill>
              <a:srgbClr val="5F6B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2A1F4-8A8C-47F8-8281-349F8698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476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RDPGFX PDU 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2851A-FA14-4C53-A44E-F378970F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05125"/>
            <a:ext cx="2476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AVC420 / AVC444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协议语义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07F69-8803-4EC9-9A2A-5944B668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2476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Surface / Frame 状态机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81798-B73B-4CE7-B7F9-1C87ECA0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571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这些是第三方库的稳定资产，贸然改动会扩大回归面。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F191C-D620-4C4D-BE30-A180D127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43000"/>
            <a:ext cx="40957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9050">
            <a:solidFill>
              <a:srgbClr val="E268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6DDF6-9DD2-44C5-A1D7-A5B037AC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14450"/>
            <a:ext cx="3524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真正的适配缝隙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20BE1-2651-4A5E-A937-F0072FD0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097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EFA9B-F00D-4794-922A-78CD27F3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1524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SurfaceCommand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A511A-94EB-4246-8442-92A12611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19300"/>
            <a:ext cx="16668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决定这一帧由谁消费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17836-159F-4C3C-B235-951E2C6D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28925"/>
            <a:ext cx="1524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EndFrame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FF0F8-29E3-4B5A-BFBB-F3282674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95600"/>
            <a:ext cx="16668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决定什么时候允许 present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438CC-C5BB-48E5-AF0C-B58ED671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05225"/>
            <a:ext cx="1524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UpdateSurfaces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68245-3171-45CC-9EB8-A8D659BC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71900"/>
            <a:ext cx="16668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平台后端执行最终显示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BF60F-BD99-41D1-8D43-045D53DB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19625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桥接层必须先保存 original callback；候选路径未 ready 或未 consumed 时立即回退。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7A1DA-33F7-4C44-8473-F87681D3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43000"/>
            <a:ext cx="3286125" cy="3905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24D50-D5FB-498E-A377-3F5B9BD1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14450"/>
            <a:ext cx="2809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HarmonyOS 新后端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3B2ED-0239-4DC3-B13C-B7C65BE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solidFill>
              <a:srgbClr val="168C8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2D55FC-70C4-411D-84DC-4CE83D23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09750"/>
            <a:ext cx="2524125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XComponent / NativeWindow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BC218-72F3-4A96-849D-15548DE1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62200"/>
            <a:ext cx="2524125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OH_AVCodec 硬解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FCA5A-A063-4413-9F41-B82F66B8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14650"/>
            <a:ext cx="2524125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OH_NativeBuffer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A8CA00-0953-4597-BBE7-697262C9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67100"/>
            <a:ext cx="2524125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EGLImage / OES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30C328-BFC0-4394-8299-58A69BFB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19550"/>
            <a:ext cx="2524125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matched EndFrame present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FE870C-A185-4439-AC72-7FBC5373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6193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适配目标：实现同一契约，不复制 X11 的 API 和线程假设。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B2AC36-E555-416E-94DB-29633E1C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228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第三方协议资产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8004FA-C2F6-4ED9-9053-3584AD8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81625"/>
            <a:ext cx="228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稳定回调契约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9EADE-1C22-456C-8064-6DF9DF17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81625"/>
            <a:ext cx="228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平台 GPU 后端</a:t>
            </a:r>
          </a:p>
        </p:txBody>
      </p:sp>
      <p:cxnSp>
        <p:nvCxnSpPr>
          <p:cNvPr id="71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857625" y="56292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239000" y="56292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7057767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BE76F0-2FB1-4A20-915D-FF23D3A2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071A6-D3A4-47FE-859E-8BD974B5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探针 2：用 XComponent + AVCodec 穿刺 HarmonyOS 的一帧 GPU 主链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2AD85-FA06-4B93-9C18-EDDF57F8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ACC39-6309-496F-BA2B-29B883C2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DEA68-222E-4C61-A5A0-E55416CA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DE9B3-A41F-443C-9796-73184E11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219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SurfaceCommand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85665-849F-4213-ACAB-8A814B1D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381125"/>
            <a:ext cx="1219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OHOS Bridge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18985-078D-4441-A991-6F37F732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81125"/>
            <a:ext cx="1219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OH_AVCodec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66BB8-1BDF-4C00-B692-37EA74D4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381125"/>
            <a:ext cx="1219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NativeBuffer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481DA-33C0-40D2-8F01-5C358BBE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381125"/>
            <a:ext cx="1219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EGLImage / OES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6D5EB-CD11-4BBF-8387-A32475BC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381125"/>
            <a:ext cx="1219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Retained FBO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92128-AD93-4FED-BCF8-5774DF26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381125"/>
            <a:ext cx="1219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EndFrame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609D1-9943-43A3-B3C0-9C509657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381125"/>
            <a:ext cx="1219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XComponent</a:t>
            </a:r>
          </a:p>
        </p:txBody>
      </p:sp>
      <p:cxnSp>
        <p:nvCxnSpPr>
          <p:cNvPr id="6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743075" y="16859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33725" y="16859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524375" y="16859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15025" y="16859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05675" y="16859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96325" y="16859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0086975" y="16859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056C9-D433-4372-B3B7-D3D28633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压缩码流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942A6-A56B-4D3F-BB56-A7CC8D5C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合法 native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57E86-9441-477A-966D-1A9927EC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pending，不提前显示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D309C-B8BF-4265-A872-E88EC8B3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AC0A96-CCAF-43A5-AEC6-F5C792FB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探针只验证五个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96790-C494-45D3-BA50-DED5A8C5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solidFill>
              <a:srgbClr val="168C8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7C2F85-4D6C-495F-BF12-428A975C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G1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06ABCD-BC7A-4D3D-8A97-CB941CB9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Surface ready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57497-D4DE-4D50-9726-1D3F6712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4619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XComponent surface 创建并可更新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BDF06-219A-493A-82D9-F2A36817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G2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BC2857-FD2A-45FF-8EB5-A7D02EF6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Hardware decoder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F1AB1C-DFCA-48F6-80E0-93B0C8E2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4619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查询 HARDWARE AVC capability，prepare/start 成功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5AB98D-98D2-450E-96D9-02EE31BF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G3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29C060-58F9-4AA7-BCEF-516B12FB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Native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A06E0-EE81-41BE-872B-0BD89C5C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4619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AVBuffer → OH_NativeBuffer，format/stride 可读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BA915B-FFEF-4C1C-99B6-AD4E810A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G4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F33A70-7942-4B19-9AF8-E16D6FA9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GPU import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7C8123-92E9-46CD-9BC9-04891FD4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4619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NativeWindowBuffer → EGLImage → external OES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68FC17-1713-4802-BF3A-590F1B33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G5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33E79B-78C9-4E96-973F-21D02A21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Frame boundary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0C317B-4D1D-444D-A51B-E5BAF332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4619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pendingFrameId 与 EndFrame 匹配后才 present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9794B5-65E7-4DD8-B846-2FF9FF0D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0"/>
            <a:ext cx="3571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5C4399-B75A-44FE-879A-3C343F17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源码锚点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97B3DC-6805-4D7A-B9E9-E5D8A6AB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1D6E59-AFBB-4691-ACA3-49129392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1428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xcomponent_native_host.cpp</a:t>
            </a:r>
          </a:p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:22–76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DCAE2F-81BA-4A6C-A187-7277BD12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90875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创建 XComponent、注册 surface 回调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A7F3A2-8ED7-4CEB-9862-DBBCA56B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1428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native_bridge_context.cpp</a:t>
            </a:r>
          </a:p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:284–314, 419–443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C74940-7127-4F18-9438-D1632679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surface 生命周期同步给 GPU target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320654-3242-4E5C-BE80-92E4169C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9625"/>
            <a:ext cx="3000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avc420_gpu_compositor_internal.cpp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8DE671-4417-4DA9-BEFF-EB87ED67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00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:551–603 硬解  ·  :788–803 NativeBuffer</a:t>
            </a:r>
          </a:p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:1569–1632 EGLImage/OES  ·  :2292–2393 present</a:t>
            </a:r>
          </a:p>
        </p:txBody>
      </p:sp>
    </p:spTree>
    <p:extLst>
      <p:ext uri="{BB962C8B-B14F-4D97-AF65-F5344CB8AC3E}">
        <p14:creationId xmlns:p14="http://schemas.microsoft.com/office/powerpoint/2010/main" val="52289411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51576-C23A-450B-9B73-1C0378E3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04531-BDCE-4D38-94B1-C9A188AF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探针结论：方向可行，适配边界、buffer 路径和帧边界都有源码证据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958FF-87B3-4AA3-954C-9367B31B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C9830-6155-4ED4-8739-DF529431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C0177-CE6F-4E6A-B405-8698DED5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C434D-2DAC-47B6-B52D-C2A8B8FD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857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09979-CD75-4C4C-8B0F-2D440DA1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62050"/>
            <a:ext cx="2047875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必须证明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C19DE-42F4-46E5-A82A-3A18C6A4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62050"/>
            <a:ext cx="5762625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本地源码证据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E3F4D-62C0-4891-9BFF-2E0A4C5F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162050"/>
            <a:ext cx="2428875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Verdict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EB737-3240-40D0-B756-3A81D607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857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7C96C-499D-4F22-95C3-D0E6AC2C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62100"/>
            <a:ext cx="2047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XComponent 可作为最终显示 surface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7F91C-0AED-43F6-A1D8-C5935961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57626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RdpSessionPage.ets → NodeContent → native XComponent → SurfaceBridge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66247-01F3-4B82-BA83-E77A18A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62100"/>
            <a:ext cx="2428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源码成立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DF632-0128-4C01-882E-0E17A87B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857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B6AB2-1E2C-46B6-BCA6-12FB1BD2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47900"/>
            <a:ext cx="2047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使用硬件 AVC decoder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5B938-0972-42D5-A2B4-A5697131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57626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OH_AVCodec_GetCapabilityByCategory(...HARDWARE...) → configure / prepare / 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20664-3814-486C-BA48-52B0E5BF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47900"/>
            <a:ext cx="2428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源码成立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DD0EA-900F-430C-87E7-921C362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33700"/>
            <a:ext cx="857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695C6-9B71-4E91-8EB8-DDC135B7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2047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输出能拿到 native buffer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AFE19-EE84-4861-BB02-25AD86AD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33700"/>
            <a:ext cx="57626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OH_AVBuffer_GetNativeBuffer + width / height / stride / format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0E17B-B82D-429C-B71F-0E9EFD7A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33700"/>
            <a:ext cx="2428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源码成立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6293D-28E4-488B-B4FD-E96216C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857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701D6-24D9-44B4-88C1-5D2A0B0C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047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buffer 可导入 GPU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DB192-9691-4387-854E-CCEF595E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57626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OH_NativeWindow_NativeObjectReference → eglCreateImageKHR → OES texture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C3874-A529-40A3-8209-6639ECD3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19500"/>
            <a:ext cx="2428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源码成立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7978A-212D-443F-8DD1-0670F3C5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05300"/>
            <a:ext cx="857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83354-074C-48E7-AD45-6FC31907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2047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显示遵守 FreeRDP 帧边界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5F6279-D0F9-4016-AF08-4094C289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05300"/>
            <a:ext cx="57626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decode/composite 只写 pending；matched EndFrame 才 swap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575CC6-7168-4F93-82C6-0655666B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05300"/>
            <a:ext cx="2428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源码成立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EAA0CA-2123-4EF2-9D23-7A32E08D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0"/>
            <a:ext cx="110966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615B61-2DD8-4FA8-BFDB-55BE65FE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7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历史 Session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370D78-2F71-4C29-A8CD-B19FAD19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34000"/>
            <a:ext cx="7524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active=yes · source=native-buffer-oes · decoded=2397 · presented=2396 · mismatch=0 · failures=0 · importFallbacks=0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CC195C-8B5B-4710-9BE2-EE6134E0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334000"/>
            <a:ext cx="18573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用途：证明可行性；不替代当前版本的性能验收。</a:t>
            </a:r>
          </a:p>
        </p:txBody>
      </p:sp>
    </p:spTree>
    <p:extLst>
      <p:ext uri="{BB962C8B-B14F-4D97-AF65-F5344CB8AC3E}">
        <p14:creationId xmlns:p14="http://schemas.microsoft.com/office/powerpoint/2010/main" val="23082661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64D105-5BD7-4C91-98E7-B594A51C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BFB6A-3E44-4D99-9237-8A2F4524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冻结方案：在回调缝隙接入 HarmonyOS GPU 后端，并保留原 GDI 回退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8AB16-C057-4880-936F-CE2E68F4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A1873-A684-4A3B-9FD3-391EFAC6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D4E09-2E8C-4226-9F1B-8E82A1B5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68866-CD83-48BF-B598-E6ED045A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主路径：只有候选链完整 ready 才接管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E0117-F5E7-472C-B7AD-AD447695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428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RDPGFX</a:t>
            </a:r>
          </a:p>
          <a:p xmlns:a="http://schemas.openxmlformats.org/drawingml/2006/main">
            <a:pPr algn="ctr">
              <a:def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PDU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D8D06-1D35-4D3B-8F26-896B0B3E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571625"/>
            <a:ext cx="1428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SurfaceCommand</a:t>
            </a:r>
          </a:p>
          <a:p xmlns:a="http://schemas.openxmlformats.org/drawingml/2006/main">
            <a:pPr algn="ctr">
              <a:def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Bridge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7BE83-F68F-44E2-820E-BEB1D71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571625"/>
            <a:ext cx="1428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AVCodec</a:t>
            </a:r>
          </a:p>
          <a:p xmlns:a="http://schemas.openxmlformats.org/drawingml/2006/main">
            <a:pPr algn="ctr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H.264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F2CB9-7D73-427A-9142-9EE28EBC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571625"/>
            <a:ext cx="1428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NativeBuffer</a:t>
            </a:r>
          </a:p>
          <a:p xmlns:a="http://schemas.openxmlformats.org/drawingml/2006/main">
            <a:pPr algn="ctr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EGLImage/OES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95052-3C13-4C71-AE0C-91B35348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571625"/>
            <a:ext cx="1428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Retained FBO</a:t>
            </a:r>
          </a:p>
          <a:p xmlns:a="http://schemas.openxmlformats.org/drawingml/2006/main">
            <a:pPr algn="ctr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46484-E03F-4829-B653-2273F28F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71625"/>
            <a:ext cx="1428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matched</a:t>
            </a:r>
          </a:p>
          <a:p xmlns:a="http://schemas.openxmlformats.org/drawingml/2006/main">
            <a:pPr algn="ctr">
              <a:def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EndFrame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09824-F4D2-442B-BA0A-45D61116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571625"/>
            <a:ext cx="1428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XComponent</a:t>
            </a:r>
          </a:p>
          <a:p xmlns:a="http://schemas.openxmlformats.org/drawingml/2006/main">
            <a:pPr algn="ctr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eglSwapBuffers</a:t>
            </a:r>
          </a:p>
        </p:txBody>
      </p: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52625" y="19431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33775" y="19431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14925" y="19431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696075" y="19431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277225" y="19431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858375" y="19431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EBFD7-AE32-4988-9545-FBC66B4F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回退路径：takeover 前任一 Gate 失败，仍可回原实现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83492-4FDF-447B-A5B8-265DF9C0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2095500" cy="762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6712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valid + target ready</a:t>
            </a:r>
          </a:p>
          <a:p xmlns:a="http://schemas.openxmlformats.org/drawingml/2006/main">
            <a:pPr algn="ctr">
              <a:defRPr sz="105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+ output ready 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920438-1B53-45A2-AF75-4037E493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20955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YES</a:t>
            </a:r>
          </a:p>
          <a:p xmlns:a="http://schemas.openxmlformats.org/drawingml/2006/main">
            <a:pPr algn="ctr">
              <a:def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consumed=true</a:t>
            </a:r>
          </a:p>
          <a:p xmlns:a="http://schemas.openxmlformats.org/drawingml/2006/main">
            <a:pPr algn="ctr">
              <a:def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进入 GPU 主路径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1615EC-3B41-4B35-837B-F1FDF318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9625"/>
            <a:ext cx="25717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NO</a:t>
            </a:r>
          </a:p>
          <a:p xmlns:a="http://schemas.openxmlformats.org/drawingml/2006/main">
            <a:pPr algn="ctr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调用 original SurfaceCommand</a:t>
            </a:r>
          </a:p>
          <a:p xmlns:a="http://schemas.openxmlformats.org/drawingml/2006/main">
            <a:pPr algn="ctr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继续 GDI / 软件路径</a:t>
            </a:r>
          </a:p>
        </p:txBody>
      </p:sp>
      <p:cxnSp>
        <p:nvCxnSpPr>
          <p:cNvPr id="5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191000" y="371475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1" idx="2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143250" y="4095750"/>
            <a:ext cx="2428875" cy="952500"/>
          </a:xfrm>
          <a:prstGeom xmlns:a="http://schemas.openxmlformats.org/drawingml/2006/main" prst="bentConnector5">
            <a:avLst>
              <a:gd name="adj1" fmla="val 0"/>
              <a:gd name="adj2" fmla="val 24000"/>
              <a:gd name="adj3" fmla="val 90588"/>
            </a:avLst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F03341-BC59-4E15-9E13-24C251D5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owner 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B23C02-4652-4998-90A0-13A083F4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2571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4BFA3D-94EB-4C76-BE07-E8ED2A5E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1907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 同一帧只有一个 RenderOutputOwner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 decode/composite 只生成 pending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3. EndFrame 匹配后才 present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4. 接管前失败必须可回退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F3132-D2AC-4427-9B1F-C01ACC5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62625"/>
            <a:ext cx="11096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C04EAD-60AD-45B9-B68B-972C18AB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715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方案冻结条件：回调边界、surface 生命周期、decoder 选择、native buffer、GPU import、帧边界、fallback 七项都能独立验证。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10102022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453E4-6BCC-41FB-83E5-E92B92E8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02992-C299-44F3-8990-1453C000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把源码结论写成适配文档：10 个步骤，每一步都有输入、修改点和验收点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6C397-F91D-4BCD-A449-411DFEBD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CC61A-6D7E-42B6-9A64-E6B63269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F72FC-DA3A-4396-A3D6-C07358B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AF45C-3101-48CE-B0E0-FD9D22A1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4000500" cy="5000625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91EF5-A863-437D-A5C4-79AAF054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3571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17-复杂三方项目GPU适配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源码分析与探针方案.md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6E75B-D8C1-4EF9-ABB0-56117ECA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338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AC9B2-13E6-4B05-9895-7C8280DC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文档必须回答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5114C-B383-4208-8073-B452EEAE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143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· 一帧从哪里来、到哪里去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· 稳定适配缝隙在哪里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· 平台能力如何最小穿刺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· 哪些条件满足才允许接管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· 失败时怎样回到原路径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· 下一轮按什么验收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24C19-4E96-4C5D-90A5-51880BC2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EF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6EFAC"/>
                </a:solidFill>
                <a:latin typeface="Microsoft YaHei"/>
                <a:ea typeface="Microsoft YaHei"/>
                <a:cs typeface="Microsoft YaHei"/>
              </a:rPr>
              <a:t>核心源码锚点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61A5B-D32F-467A-BE97-31D0622C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1432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rdpgfx_main.c · rdpgfx_codec.c</a:t>
            </a:r>
          </a:p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gfx.c · xf_gfx.c</a:t>
            </a:r>
          </a:p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ohos_rdpgfx_bridge.c</a:t>
            </a:r>
          </a:p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xcomponent_native_host.cpp</a:t>
            </a:r>
          </a:p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avc420_gpu_compositor_internal.cpp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18B09-1060-47FF-A1BA-FBEAECC9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43000"/>
            <a:ext cx="6810375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56B7B-E3F4-47CB-A7D3-C4641091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276350"/>
            <a:ext cx="1190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A · 找边界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6FA61-9F97-41C4-B87C-27DC50F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57300"/>
            <a:ext cx="490537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  固定一帧问题与输入</a:t>
            </a:r>
          </a:p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  Linux/X11 调用链探针</a:t>
            </a:r>
          </a:p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  锁定三个稳定回调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18BFA-3430-40A2-8947-5045C5BF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62200"/>
            <a:ext cx="6810375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80601-9D8A-45D7-A58F-0BBE6750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95550"/>
            <a:ext cx="1190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B · 穿平台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18157-A531-419C-9254-5BC1A522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90537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  建 XComponent surface</a:t>
            </a:r>
          </a:p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  启动 HARDWARE AVC decoder</a:t>
            </a:r>
          </a:p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  获取并校验 NativeBuffer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8922D-5C47-476F-A4A1-D2CC0FA4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81400"/>
            <a:ext cx="6810375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FDE23-1F54-465C-A643-7AF5507F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14750"/>
            <a:ext cx="1190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C · 接 GPU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2CA75-BAB1-45AC-BFF7-7264A7FF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95700"/>
            <a:ext cx="490537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7  NativeBuffer → EGLImage/OES</a:t>
            </a:r>
          </a:p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8  dirty rect 合成 retained FBO</a:t>
            </a:r>
          </a:p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9  matched EndFrame 后 present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372BE-DC4F-4205-B965-810390FF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00600"/>
            <a:ext cx="6810375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03D21-6917-4FA9-A333-DDEC64DD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33950"/>
            <a:ext cx="1190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D · 保可用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113EA-F2FB-4B7C-AFC1-3BC3296A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14900"/>
            <a:ext cx="4905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10 接管前失败回 original GDI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E8784A-D8C5-4331-9AB3-7C75E515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8170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课堂只展示摘要；完整步骤、序列图、源码锚点与 Gate 判定放在仓库文档中。</a:t>
            </a:r>
          </a:p>
        </p:txBody>
      </p:sp>
    </p:spTree>
    <p:extLst>
      <p:ext uri="{BB962C8B-B14F-4D97-AF65-F5344CB8AC3E}">
        <p14:creationId xmlns:p14="http://schemas.microsoft.com/office/powerpoint/2010/main" val="23082661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73F1CF-9750-44E5-95C3-3038DD98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955BA-B73B-4BA7-9B18-F88C7076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方案落地：按 I0–I6 小步迭代，每一轮只关闭一个高风险未知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4577D-CB79-49EA-B3C4-1897798D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67BE7-3755-4CF5-B901-D47E6BED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C06D0-EA8A-4937-9CEA-6BCA7DF9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5CF6D-0C8F-4378-801A-B713F960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381125" cy="1714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81B1A-5F69-4AAE-B4CB-4D706374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638300"/>
            <a:ext cx="57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I0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A7282-69EC-4674-9D27-60979B3B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19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观测基线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0A845-DA4B-4198-9927-8A272C0E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76500"/>
            <a:ext cx="11525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日志字段 / frameId / fallback reason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FC4EA-B2FE-4F5C-910D-C61570F4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76375"/>
            <a:ext cx="1381125" cy="1714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C58E7-097B-4519-9FF3-F05C7B11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38300"/>
            <a:ext cx="57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I1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170CC-5189-49D5-9992-252E83A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119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接入 Bridge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37D5B-28B9-4E95-9DED-B9659B58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11525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保存 original callback；默认不接管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56F12-0E8E-4E2D-9990-AE049A72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76375"/>
            <a:ext cx="1381125" cy="1714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19050">
            <a:solidFill>
              <a:srgbClr val="168C8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0898D-3FA9-40B0-B882-B2E17657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38300"/>
            <a:ext cx="57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I2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88B96-573E-412F-B276-C680691C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76450"/>
            <a:ext cx="119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一帧硬解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E1C0D-FDC2-4DDD-A62B-7B06493C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76500"/>
            <a:ext cx="11525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hardware decoder + native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17EDE-5278-47C8-9414-A2FD18CC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76375"/>
            <a:ext cx="1381125" cy="1714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19050">
            <a:solidFill>
              <a:srgbClr val="168C8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444C7-F4B5-46BC-8C7A-4FA4561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38300"/>
            <a:ext cx="57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I3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1FBA7-2930-43FF-B32B-0CE5ADA8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119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一帧显示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A594B-FFB6-4E0A-8004-863398ED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76500"/>
            <a:ext cx="11525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EGL import + retained FBO + EndFrame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DC741-802F-4D54-B21C-9AD0F982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76375"/>
            <a:ext cx="1381125" cy="1714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19050">
            <a:solidFill>
              <a:srgbClr val="168C8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94F7F-7470-45B3-9B17-4E921E20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38300"/>
            <a:ext cx="57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I4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E59273-7681-4AE2-9827-8F8D25E9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76450"/>
            <a:ext cx="119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连续播放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8789F-5CE8-4298-B083-38057894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76500"/>
            <a:ext cx="11525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queue depth / age 有界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362865-76AE-44B3-82EC-7C3E91E0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1381125" cy="1714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19050">
            <a:solidFill>
              <a:srgbClr val="D895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4E6F1B-0F37-41DF-8AC6-6C943301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57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I5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EF1EF-4F5B-45B3-BFAD-38252A61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119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59CF3-EB5D-4154-BD22-1A71D37B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11525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resize / background / reconnect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33B257-4CF4-49DB-B70A-1EFE54AB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476375"/>
            <a:ext cx="1381125" cy="1714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9050">
            <a:solidFill>
              <a:srgbClr val="E268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1BB0FE-2B69-4665-A802-1A91A7C4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638300"/>
            <a:ext cx="57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I6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1E0A37-012B-462C-84C5-4286356C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76450"/>
            <a:ext cx="119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工程验收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E2F288-5DD8-411A-BDF7-1AF36609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476500"/>
            <a:ext cx="11525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A/B + fault + soak + reviewer verdict</a:t>
            </a:r>
          </a:p>
        </p:txBody>
      </p:sp>
      <p:cxnSp>
        <p:nvCxnSpPr>
          <p:cNvPr id="8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905000" y="23336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476625" y="23336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23336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619875" y="23336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2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191500" y="23336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763125" y="23336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08274E-AF1E-47C0-933E-6D8353BD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1109662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05AB4F-C290-49F8-B50A-6389564A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09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每轮 Ralph Packet 固定五件事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C4D35E-454C-454C-A960-79C91D48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5DFDC6-D013-4306-B467-F5BC2443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8097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Read First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9CFAD0-7C85-413A-808B-A206E7B2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29175"/>
            <a:ext cx="1714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只读本轮源码锚点与前一轮 Verdict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844476-50FA-458D-92BA-5CE22005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33875"/>
            <a:ext cx="18097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Allowed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2937C5-E143-4FD4-9E65-E9D6F844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829175"/>
            <a:ext cx="1714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只改候选链的明确文件 / 符号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8CC943-7226-4D59-8430-8444F8B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33875"/>
            <a:ext cx="18097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Pseudocode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E47EEF-FE04-4D33-A606-6AC4F3A7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829175"/>
            <a:ext cx="1714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先写状态、owner、fallback 再写实现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D80865-D5D1-4C16-B55D-BC9F78E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33875"/>
            <a:ext cx="18097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Acceptance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DA5E27-36CF-445F-BF5D-C55DDBAE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829175"/>
            <a:ext cx="1714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一条可自动化或可观察的 PASS 条件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7E4447-500E-416B-86FA-97DD4B7D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33875"/>
            <a:ext cx="18097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Stop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092BAD-4864-403E-A1E8-4E8B6A44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29175"/>
            <a:ext cx="1714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无新证据、越界或 Gate 失败立即停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E5999C-B517-474A-9AFD-7B5663D9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86450"/>
            <a:ext cx="952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Spike 决定 CONTINUE / REPLAN / STOP；未证实项保留为风险，不伪装成开发任务。</a:t>
            </a:r>
          </a:p>
        </p:txBody>
      </p:sp>
    </p:spTree>
    <p:extLst>
      <p:ext uri="{BB962C8B-B14F-4D97-AF65-F5344CB8AC3E}">
        <p14:creationId xmlns:p14="http://schemas.microsoft.com/office/powerpoint/2010/main" val="12542551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EF9471-9537-41EC-9859-E09831EF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2BBEA-D63A-4DD3-95B3-800F641C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遇到问题仍沿同一条链定位：找第一条异常，而不是继续扩大修改面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D6CBC-98D4-4D6A-8741-FB265DE6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89F94-600B-40D6-B112-0DD295BB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398B3-80EB-41C4-BF40-03691CC2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B3B1D-F48C-418C-A88A-B02B590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decoder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BA7CC-DCB3-4A0E-9211-1D2DE853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285875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0E435-0FD2-42F2-8436-F3F4949B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285875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format / stride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C5FA2-8622-40A4-BB8E-F6092D7C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285875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EGL import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36AC9-4A6D-4295-8452-E043D624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285875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75D09-D4D8-4764-B819-F89483CB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85875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5A8A"/>
                </a:solidFill>
                <a:latin typeface="Microsoft YaHei"/>
                <a:ea typeface="Microsoft YaHei"/>
                <a:cs typeface="Microsoft YaHei"/>
              </a:rPr>
              <a:t>EndFrame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B531E-0BDD-4A52-9BEC-02603B94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285875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target / swap</a:t>
            </a:r>
          </a:p>
        </p:txBody>
      </p:sp>
      <p:cxnSp>
        <p:nvCxnSpPr>
          <p:cNvPr id="6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05000" y="15621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86150" y="15621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67300" y="15621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648450" y="15621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229600" y="15621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810750" y="15621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6852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18684-1DB8-476E-AB4D-B0A6924A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895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日志必须携带同一 frameId / pts / generation，才能判断异常第一次出现在哪一段。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4C466-1B06-4B22-B46E-8F201027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681037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FB24E-B0A1-4F9A-939C-B3C14E99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本地真实闭环：黑屏并不是“没有 present”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E07DD-EF8F-4897-83D5-591AFB4E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CA1E8-B867-4F90-8A0C-DD8D792D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23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8877C0-0F5F-495D-96F2-8603B65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4675"/>
            <a:ext cx="78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C5B0B-310B-4847-A55B-4BD5D909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14675"/>
            <a:ext cx="500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EndFrame 前没有及时 present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C76AD-2584-4313-8EB3-4DB9D06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23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C6EB50-0B72-4112-9FB8-BE95431E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71875"/>
            <a:ext cx="78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修改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80E7FB-143B-4B5C-9894-92EE45D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71875"/>
            <a:ext cx="500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尝试 immediate present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593194-4D7B-47A8-B0A4-AFE975D9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323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8B19E3-4041-45AD-8DC6-A4C7C0AA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29075"/>
            <a:ext cx="78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80CC4-4C2F-4D67-A001-CAE9D287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29075"/>
            <a:ext cx="500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黑屏仍存在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D736F0-60CB-4ECC-9329-3FDBE2DE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323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D86A1C-311B-4141-AC6A-BAFF04E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86275"/>
            <a:ext cx="78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35C87C-73A8-49FB-8082-E63C653D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86275"/>
            <a:ext cx="500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日志显示 output / import / pending / EndFrame 已发生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7FBEBB-0321-45B3-97EA-BA6DE061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23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1D1A97-1523-46CB-965E-25368B1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43475"/>
            <a:ext cx="78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Verdict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76EF5F-71BC-455C-854D-E6BCBF5E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43475"/>
            <a:ext cx="500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假设被证伪 → 回退修改 → 重构建 / 重安装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BC9104-65BD-4437-AB80-9C1BC540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609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Session 019e867d：错误修改 → 日志证伪 → 回退 → 重构建 / 重安装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0E5CE6-BFDF-4F3E-BE1E-47A0E7E8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95287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C8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AD6CEB-80E9-4025-BBD3-8B73580D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AI 不对时的处理协议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9475C0-9450-4C7D-A0C3-A1758436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solidFill>
              <a:srgbClr val="168C8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7B0BDC-30DB-4259-A332-6BBCE97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BC2399-ECEC-457C-B8F8-7F80B11C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锁定同一 run / frame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0349AD-D4F8-48E8-B2F4-02E8782F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52825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对齐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E4D747-8E50-4ECE-A20C-90479035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33775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把日志放回源码时序图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EB6AF8-DD5C-47F8-8A5C-A27A9A9E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624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判定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9A51B1-C140-4BB2-95C5-C8AB5224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第一异常点 + 可证伪假设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52566A-4138-41B1-B57C-410AEAB3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71975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最小修改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4A033E-8B28-48AE-8E9E-AE6E6C39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52925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只改一个 owner / boundary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E5F899-29A0-458A-8EAD-D41F0026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3C4D6E-3167-4714-A4A9-11D6D435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PASS / FAIL / UNKNOWN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500B4A-8607-410E-8D74-CA6D20E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91125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分支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B1D570-606D-4FA8-B4E0-A8774440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72075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CONTINUE / REPLAN / STOP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CF3CF0-55B8-46BE-934F-AFE877CE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29250"/>
            <a:ext cx="3381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9748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连续三轮没有新证据，不继续猜：REPLAN 或升级人工审阅。</a:t>
            </a:r>
          </a:p>
        </p:txBody>
      </p:sp>
    </p:spTree>
    <p:extLst>
      <p:ext uri="{BB962C8B-B14F-4D97-AF65-F5344CB8AC3E}">
        <p14:creationId xmlns:p14="http://schemas.microsoft.com/office/powerpoint/2010/main" val="95882890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985CAE-D6C0-4C91-849C-5C8AF823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复杂三方项目 · GPU 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0E358-4CA5-430F-9631-29752F62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334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结果与收获：把“GPU 适配成功”还原成一条可复查、可迭代的工程链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23019-CCBC-4599-8244-3A7B5AC7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BB7A0-B20A-4789-B53D-3064EF0D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98163-D1D2-41AB-BC77-D47CC194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34C36-3805-4E9E-9AC2-9F762D97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7000875" cy="4238625"/>
          </a:xfrm>
          <a:prstGeom xmlns:a="http://schemas.openxmlformats.org/drawingml/2006/main" prst="roundRect">
            <a:avLst>
              <a:gd name="adj" fmla="val 269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E9F46-8E94-4709-9666-8D727E3C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结果图片 / 视频预留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7B407-1509-4700-8D3D-1A28D4F0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6429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A0F96-64C5-46F6-BB01-D5AF2F0A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5953125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67E37-5851-4A76-9F48-54A9CE41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595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8D2C5-CC02-4ED0-A975-22A4E5FA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HarmonyOS 主控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C25A1-2993-4352-9DE3-C23E6453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4143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【替换为最终流畅控制 Windows 的截图】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4B88A-3666-433A-B717-A5B894B6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可同时嵌入：gpu-validation-video-playback-16s.mp4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C8C5C-1E47-4039-9E9F-249D5A29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62388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已有素材可证明画面可见；最终性能 A/B 仍需绑定同一版本、场景与 runId。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E27F9-D034-4825-8D91-B07CB488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143000"/>
            <a:ext cx="3762375" cy="423862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2E08A-80A0-4F13-BF52-F1EEDF58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这次真正学到什么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0E04E-96F3-4487-9961-BD016BA9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287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solidFill>
              <a:srgbClr val="E268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2455A-5A84-4C4F-8D36-05E7D107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573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C974B-B1C7-44FF-A207-8DBF61D6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别读完整仓库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D897B-26CA-4D8D-A937-9D8C0827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764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先限定一帧和一个问题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952FB-B9B5-4FF1-BD59-C85B1D65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34B14-1027-46F7-A514-A813285F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09825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先找参考实现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6EEC5-93F2-41BC-BA08-A4B5B337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76525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Linux 路径给出稳定契约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BA20F-9F9A-4482-9597-EDE650D0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7BE33-6DC6-4A72-8DAC-1495C43F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990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用 Spike 验平台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E8BD81-FC77-462A-8F65-8E2765A5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766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XComponent + AVCodec 先穿一帧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390437-D5FB-4893-B2F3-349A7BEE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852D0-AA57-4BEC-BA22-5701DF89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9975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方案来自证据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D7747C-252E-4844-9588-E43849EE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边界、owner、EndFrame、fallback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6F22BB-9017-4D97-9523-D4D77BF5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576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6E3A9C-89B4-481F-B395-D4FAA901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1005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开发按风险迭代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5CE87F-1E9D-49FC-B829-0D74C4E5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一轮一未知；失败可回退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748482-9A62-4170-9E6E-A4675AD3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67375"/>
            <a:ext cx="1109662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6DE305-2E59-44FD-95CB-29C2DB4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620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复杂适配的关键不是让 AI 一次写完，而是让每一步都能回答：为什么改这里？如何证明？错了退到哪里？</a:t>
            </a:r>
          </a:p>
        </p:txBody>
      </p:sp>
    </p:spTree>
    <p:extLst>
      <p:ext uri="{BB962C8B-B14F-4D97-AF65-F5344CB8AC3E}">
        <p14:creationId xmlns:p14="http://schemas.microsoft.com/office/powerpoint/2010/main" val="17076106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49BD3-4376-4B1E-AD98-44FADA94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24BA7-E2F3-4FB2-B872-F7250BAF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把方法带回项目，只保留七个问题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51875-7F5B-44FA-A2D4-06A1EDCB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57918-AD78-40E3-BBCA-0C70C29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277A7-F582-40A4-90AD-7E90C5D0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36B55-D10D-47F4-BF7B-60D38940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52F99-35AC-4C1F-A15E-F0FB1176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7FD06-CE05-4015-A66D-54E2F426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D15FA-1367-4113-B948-C2F10F7B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E90D0-9BD3-40E5-89EA-16965A6F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0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EF0FF-B3B6-4DA5-876A-D31BDD5E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2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86B29-F984-47A3-BAC6-A2DED090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6EEFE-E856-4437-86FB-6C996449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DF3FE-ADCD-4DD8-89A4-DDD542A8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2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3A221-BEBB-4DE5-B6F1-BA746CD7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4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EE3CE-DA20-41DD-BCB7-FF4BBB46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8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8B639-4D19-4EE5-A792-036693EE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系统证据</a:t>
            </a:r>
          </a:p>
        </p:txBody>
      </p:sp>
      <p:cxnSp>
        <p:nvCxnSpPr>
          <p:cNvPr id="50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70125" y="1400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1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49725" y="1400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1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29325" y="1400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1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908925" y="1400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513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788525" y="1400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pic>
        <p:nvPicPr>
          <p:cNvPr id="5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1d75fcbac4747"/>
          <a:stretch xmlns:a="http://schemas.openxmlformats.org/drawingml/2006/main"/>
        </p:blipFill>
        <p:spPr>
          <a:xfrm xmlns:a="http://schemas.openxmlformats.org/drawingml/2006/main">
            <a:off x="588778" y="2047875"/>
            <a:ext cx="4823194" cy="271462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11B43-FF5E-4410-A70A-2681C6A8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4953000" cy="2714625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93092-0E09-4F4A-BC9A-A8DC215C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810250" cy="32385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443B3-F549-476A-8E64-055D9608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14550"/>
            <a:ext cx="550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下一次只问七个问题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7218D-2B5B-45E9-9893-3BFD592C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4A364A-C850-4E87-9FBE-5AA73EE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5238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 哪些词会让实现分叉？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 最终真相在哪一层？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3. 哪些不变量绝不能破坏？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4. 本轮只允许 AI 改哪个边界？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5. 怎样先制造一个可解释的 RED？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6. 最早异常证据在哪里？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7. 什么证据满足后，本轮必须停止？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FD6EA7-64CC-4B3C-AE92-18D84BD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AC4648-825D-44CF-AAA6-1F51C965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10225"/>
            <a:ext cx="973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一分钟迁移题：权限页面第一次进入为空，第二次正常。给出只读勘察、可证伪假设、禁止范围和最终事实源。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2E0B43-4A81-4189-A24F-6E0327E8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819435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2026-09-02T07:24:15.6030000Z</dcterms:created>
  <dcterms:modified xsi:type="dcterms:W3CDTF">2026-09-02T07:24:15.6030000Z</dcterms:modified>
</coreProperties>
</file>