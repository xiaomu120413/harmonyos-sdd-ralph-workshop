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mp4" ContentType="video/mp4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95" r:id="rId3"/>
    <p:sldId id="296" r:id="rId5"/>
    <p:sldId id="297" r:id="rId6"/>
    <p:sldId id="298" r:id="rId7"/>
    <p:sldId id="299" r:id="rId8"/>
    <p:sldId id="300" r:id="rId9"/>
    <p:sldId id="301" r:id="rId10"/>
    <p:sldId id="302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5" Type="http://schemas.openxmlformats.org/officeDocument/2006/relationships/tableStyles" Target="tableStyles.xml"/><Relationship Id="rId44" Type="http://schemas.openxmlformats.org/officeDocument/2006/relationships/viewProps" Target="viewProps.xml"/><Relationship Id="rId43" Type="http://schemas.openxmlformats.org/officeDocument/2006/relationships/presProps" Target="presProps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>
            <a:r>
              <a:t>- C:\Users\mu\Desktop\code\ppt\harmonyos-sdd-ralph-workshop\harmonyos-sdd-workshop-media\mdm\firewall-domain-rule-created.jpeg</a:t>
            </a:r>
          </a:p>
          <a:p>
            <a:r>
              <a:t>- C:/Users/mu/Desktop/code/ppt/harmonyos-sdd-ralph-workshop/harmonyos-sdd-workshop-media/methodology/ai-fluency-neutral.png</a:t>
            </a:r>
          </a:p>
          <a:p>
            <a:r>
              <a:t>[/Sources]</a:t>
            </a:r>
          </a:p>
          <a:p/>
          <a:p>
            <a:r>
              <a:t># 使用 AI 进阶能力实现较为复杂的需求</a:t>
            </a:r>
          </a:p>
          <a:p/>
          <a:p>
            <a:r>
              <a:t>**从需求拆解、开发、验证，到问题定位与协同闭环**</a:t>
            </a:r>
          </a:p>
          <a:p/>
          <a:p>
            <a:r>
              <a:t>&gt; 需求 → 规格 → 任务 → 代码 → 调试 → 证据</a:t>
            </a:r>
          </a:p>
          <a:p/>
          <a:p>
            <a:r>
              <a:t>主视觉建议：左侧是一句模糊需求，中央是紫色受控 AI 循环，右侧是绿色设备证据包；背景只保留真实设备、测试结果和日志的低透明度拼贴。</a:t>
            </a:r>
          </a:p>
          <a:p/>
          <a:p>
            <a:r>
              <a:t>![真实 SecurityTool 防火墙域名规则页面](harmonyos-sdd-workshop-media/mdm/firewall-domain-rule-created.jpeg)</a:t>
            </a:r>
          </a:p>
          <a:p/>
          <a:p>
            <a:r>
              <a:t>&lt;sub&gt;这张真机图只能证明规则已出现在 UI；它不能单独证明每个账号的系统 policy/rules 已正确下发。开场让学员先说“它能证明什么、不能证明什么”。&lt;/sub&gt;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>
            <a:r>
              <a:t>- C:\Users\mu\Desktop\code\ppt\harmonyos-sdd-ralph-workshop\harmonyos-sdd-workshop-media\anthropic\system-prompt-calibration.png</a:t>
            </a:r>
          </a:p>
          <a:p>
            <a:r>
              <a:t>- https://www.anthropic.com/engineering/effective-context-engineering-for-ai-agents</a:t>
            </a:r>
          </a:p>
          <a:p>
            <a:r>
              <a:t>[/Sources]</a:t>
            </a:r>
          </a:p>
          <a:p/>
          <a:p>
            <a:r>
              <a:t>模型可以写出漂亮答案，却不知道你心里真正的“完成”。</a:t>
            </a:r>
          </a:p>
          <a:p/>
          <a:p>
            <a:r>
              <a:t>- 太具体：把偶然路径写死，规则越多越脆弱。</a:t>
            </a:r>
          </a:p>
          <a:p>
            <a:r>
              <a:t>- 太模糊：默认人和 AI 共享同一套背景、优先级与判断标准。</a:t>
            </a:r>
          </a:p>
          <a:p>
            <a:r>
              <a:t>- 刚刚好：目标清楚、边界可执行，并允许在不确定时求助。</a:t>
            </a:r>
          </a:p>
          <a:p/>
          <a:p>
            <a:r>
              <a:t>![System Prompt 校准：Too specific / Just right / Too vague](harmonyos-sdd-workshop-media/anthropic/system-prompt-calibration.png)</a:t>
            </a:r>
          </a:p>
          <a:p/>
          <a:p>
            <a:r>
              <a:t>&gt; **对齐的第一步不是把 Prompt 写得更长，而是让“期望行为”可以被双方检查。**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>
            <a:r>
              <a:t>- C:\Users\mu\Desktop\code\ppt\harmonyos-sdd-ralph-workshop\harmonyos-sdd-workshop-media\anthropic\prompt-vs-context-engineering.png</a:t>
            </a:r>
          </a:p>
          <a:p>
            <a:r>
              <a:t>- https://www.anthropic.com/engineering/effective-context-engineering-for-ai-agents</a:t>
            </a:r>
          </a:p>
          <a:p>
            <a:r>
              <a:t>[/Sources]</a:t>
            </a:r>
          </a:p>
          <a:p/>
          <a:p>
            <a:r>
              <a:t>![Prompt engineering 与 Context engineering 对照](harmonyos-sdd-workshop-media/anthropic/prompt-vs-context-engineering.png)</a:t>
            </a:r>
          </a:p>
          <a:p/>
          <a:p>
            <a:r>
              <a:t>**单轮问答**主要优化一句输入；**长任务 Agent**则要持续选择和恢复：</a:t>
            </a:r>
          </a:p>
          <a:p/>
          <a:p>
            <a:r>
              <a:t>`系统指令 / 文档 / 工具 / 消息历史 / 外部记忆 / 新证据`</a:t>
            </a:r>
          </a:p>
          <a:p/>
          <a:p>
            <a:r>
              <a:t>&gt; **复杂任务的上下文不是一次装满，而是随着行动持续筛选、记录和恢复。**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>
            <a:r>
              <a:t>- C:\Users\mu\Desktop\code\ppt\harmonyos-sdd-ralph-workshop\harmonyos-sdd-workshop-media\anthropic\coding-agent-flow.png</a:t>
            </a:r>
          </a:p>
          <a:p>
            <a:r>
              <a:t>- https://www.anthropic.com/engineering/building-effective-agents</a:t>
            </a:r>
          </a:p>
          <a:p>
            <a:r>
              <a:t>[/Sources]</a:t>
            </a:r>
          </a:p>
          <a:p/>
          <a:p>
            <a:r>
              <a:t>![Human、Interface、LLM 与 Environment 的编码 Agent 协作流](harmonyos-sdd-workshop-media/anthropic/coding-agent-flow.png)</a:t>
            </a:r>
          </a:p>
          <a:p/>
          <a:p>
            <a:r>
              <a:t>| 角色 | 不可替代的职责 |</a:t>
            </a:r>
          </a:p>
          <a:p>
            <a:r>
              <a:t>|---|---|</a:t>
            </a:r>
          </a:p>
          <a:p>
            <a:r>
              <a:t>| 人 | 定义目标、优先级、禁止范围和高风险决策 |</a:t>
            </a:r>
          </a:p>
          <a:p>
            <a:r>
              <a:t>| AI | 检索上下文、提出方案、执行最小动作并说明不确定性 |</a:t>
            </a:r>
          </a:p>
          <a:p>
            <a:r>
              <a:t>| 环境 | 用测试、日志、系统回读和真实画面给出事实反馈 |</a:t>
            </a:r>
          </a:p>
          <a:p/>
          <a:p>
            <a:r>
              <a:t>&gt; **人不替 AI 做每一步；AI 也不能替人定义“什么算对”。**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>
            <a:r>
              <a:t>- C:\Users\mu\Desktop\code\ppt\harmonyos-sdd-ralph-workshop\harmonyos-sdd-workshop-media\methodology\human-preference-backflip.png</a:t>
            </a:r>
          </a:p>
          <a:p>
            <a:r>
              <a:t>- https://openai.com/index/learning-from-human-preferences/</a:t>
            </a:r>
          </a:p>
          <a:p>
            <a:r>
              <a:t>[/Sources]</a:t>
            </a:r>
          </a:p>
          <a:p/>
          <a:p>
            <a:r>
              <a:t>![人类通过比较两段轨迹，指导 Agent 学习后空翻的教学插图](harmonyos-sdd-workshop-media/methodology/human-preference-backflip.png)</a:t>
            </a:r>
          </a:p>
          <a:p/>
          <a:p>
            <a:r>
              <a:t>OpenAI 的后空翻实验中，人不需要先写出完整奖励函数，只需反复比较两段动作：**哪一段更接近目标？** 研究使用约 900 次二选一反馈，让 Agent 逐步学会后空翻。</a:t>
            </a:r>
          </a:p>
          <a:p/>
          <a:p>
            <a:r>
              <a:t>&gt; **容易判断，不等于容易说明；对齐可以从可重复的判断开始。**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>
            <a:r>
              <a:t>- https://www.anthropic.com/engineering/effective-harnesses-for-long-running-agents</a:t>
            </a:r>
          </a:p>
          <a:p>
            <a:r>
              <a:t>[/Sources]</a:t>
            </a:r>
          </a:p>
          <a:p/>
          <a:p>
            <a:r>
              <a:t>&gt; “构建一个 claude.ai 克隆应用。”</a:t>
            </a:r>
          </a:p>
          <a:p/>
          <a:p>
            <a:r>
              <a:t>Anthropic 在长任务实验中观察到两类典型失败：</a:t>
            </a:r>
          </a:p>
          <a:p/>
          <a:p>
            <a:r>
              <a:t>1. **做得太多**：Agent 试图一次完成整个应用，在上下文中途耗尽时留下半实现、无记录的功能；下一轮只能猜测发生了什么。</a:t>
            </a:r>
          </a:p>
          <a:p>
            <a:r>
              <a:t>2. **过早宣布完成**：后续 Agent 看到已经存在部分功能，就误判整体任务已经结束。</a:t>
            </a:r>
          </a:p>
          <a:p/>
          <a:p>
            <a:r>
              <a:t>```text</a:t>
            </a:r>
          </a:p>
          <a:p>
            <a:r>
              <a:t>一次做太多 → 上下文中断 → 下一轮靠猜 → 过早宣布完成</a:t>
            </a:r>
          </a:p>
          <a:p>
            <a:r>
              <a:t>```</a:t>
            </a:r>
          </a:p>
          <a:p/>
          <a:p>
            <a:r>
              <a:t>&gt; **问题不是 AI 不会写代码，而是目标、进度和完成标准没有被外化。**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>
            <a:r>
              <a:t>- C:\Users\mu\Desktop\code\ppt\harmonyos-sdd-ralph-workshop\harmonyos-sdd-workshop-media\anthropic\evaluator-optimizer.png</a:t>
            </a:r>
          </a:p>
          <a:p>
            <a:r>
              <a:t>- https://www.anthropic.com/engineering/building-effective-agents</a:t>
            </a:r>
          </a:p>
          <a:p>
            <a:r>
              <a:t>[/Sources]</a:t>
            </a:r>
          </a:p>
          <a:p/>
          <a:p>
            <a:r>
              <a:t>![Evaluator–Optimizer：生成、评估、拒绝反馈与接受](harmonyos-sdd-workshop-media/anthropic/evaluator-optimizer.png)</a:t>
            </a:r>
          </a:p>
          <a:p/>
          <a:p>
            <a:r>
              <a:t>- **生成器**：给出候选方案或最小改动。</a:t>
            </a:r>
          </a:p>
          <a:p>
            <a:r>
              <a:t>- **评估器**：按预先冻结的标准检查结果。</a:t>
            </a:r>
          </a:p>
          <a:p>
            <a:r>
              <a:t>- **反馈**：指出缺口和下一条可执行动作。</a:t>
            </a:r>
          </a:p>
          <a:p>
            <a:r>
              <a:t>- **接受**：不是“AI 觉得可以”，而是检查标准已经通过。</a:t>
            </a:r>
          </a:p>
          <a:p/>
          <a:p>
            <a:r>
              <a:t>&gt; **目标未满足 → 给出证据 → 缩小差距 → 重新评估。**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>
            <a:r>
              <a:t>- https://www.anthropic.com/engineering/effective-harnesses-for-long-running-agents</a:t>
            </a:r>
          </a:p>
          <a:p>
            <a:r>
              <a:t>- https://openai.com/business/guides-and-resources/a-practical-guide-to-building-ai-agents/</a:t>
            </a:r>
          </a:p>
          <a:p>
            <a:r>
              <a:t>[/Sources]</a:t>
            </a:r>
          </a:p>
          <a:p/>
          <a:p>
            <a:r>
              <a:t>| 对齐契约 | 必须回答的问题 | 产物 |</a:t>
            </a:r>
          </a:p>
          <a:p>
            <a:r>
              <a:t>|---|---|---|</a:t>
            </a:r>
          </a:p>
          <a:p>
            <a:r>
              <a:t>| 目标 | 本轮唯一要改变的结果是什么？ | `spec / success criteria` |</a:t>
            </a:r>
          </a:p>
          <a:p>
            <a:r>
              <a:t>| 边界 | 允许改什么、禁止改什么，哪些决定必须由人关闭？ | `allowed / forbidden / open` |</a:t>
            </a:r>
          </a:p>
          <a:p>
            <a:r>
              <a:t>| 验收 | 用什么测试、回读、日志或画面证明结果成立？ | `RED / GREEN / evidence` |</a:t>
            </a:r>
          </a:p>
          <a:p>
            <a:r>
              <a:t>| 停止 | 何时提交、回退，何时保留 `UNKNOWN` 并问人？ | `stop / rollback / escalate` |</a:t>
            </a:r>
          </a:p>
          <a:p/>
          <a:p>
            <a:r>
              <a:t>&gt; **第 9 页开始：把这四项放进真实文档、代码、测试和设备证据。**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开场先让学员回答：账号新增以后，哪一层算真正完成？</a:t>
            </a:r>
          </a:p>
          <a:p>
            <a:r>
              <a:t>真实问题不是页面刷新，而是事件、完整账号集合、防火墙系统状态、本地状态和跨进程 UI 的收敛。</a:t>
            </a:r>
          </a:p>
          <a:p>
            <a:r>
              <a:t>本页只建立业务背景；下一页才介绍六阶段交付方法。</a:t>
            </a:r>
          </a:p>
          <a:p>
            <a:r>
              <a:t>来源：case-materials/mdm/02-方案推导与决策记录.md；evidence/mdm/account-cross-process-log.md。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逐张点出六份文档的文件名，让学员知道最终要产出什么，而不是只记住六个阶段名。</a:t>
            </a:r>
          </a:p>
          <a:p>
            <a:r>
              <a:t>每个阶段的出口门决定是否能进入下一步；文档不是总结，而是后续 AI Session 的输入契约。</a:t>
            </a:r>
          </a:p>
          <a:p>
            <a:r>
              <a:t>现场可打开 case-materials/mdm/README.md 和六份文件的目录。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本页现场打开 01-资产同步与冲突清单.md 第 4 节。</a:t>
            </a:r>
          </a:p>
          <a:p>
            <a:r>
              <a:t>让学员判断：AI 修正版为什么看起来专业却不正确？答案是把产品抽象和平台规则类型混为一谈。</a:t>
            </a:r>
          </a:p>
          <a:p>
            <a:r>
              <a:t>资产同步出口门：关键需求有 ID、来源、冲突决策和证据路径；未验证平台能力进入技术穿刺。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现场练习：给出一条没有 tests 和 conflict 的需求卡，让学员指出为什么不能进入方案阶段。</a:t>
            </a:r>
          </a:p>
          <a:p>
            <a:r>
              <a:t>需求卡的价值是跨文档追踪，不是 YAML 形式本身。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不要先画类图。先让学员用失败场景攻击四个方案，再选择职责边界。</a:t>
            </a:r>
          </a:p>
          <a:p>
            <a:r>
              <a:t>ADR 必须包含 selected、rejected、failure semantics 和 reopen conditions。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强调 Hvigor 的陷阱：目标用例失败时仍可能打印 BUILD SUCCESSFUL 且退出码为 0。</a:t>
            </a:r>
          </a:p>
          <a:p>
            <a:r>
              <a:t>判断必须读取用例级 ERROR 或测试结果文件。</a:t>
            </a:r>
          </a:p>
          <a:p>
            <a:r>
              <a:t>可迁移原则：等待业务条件 + 有上限 + 保持旧真相，而不是记住 200ms/5 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RFC 不等于架构图。课堂重点是每个失败分支写清楚“不能改变什么”。</a:t>
            </a:r>
          </a:p>
          <a:p>
            <a:r>
              <a:t>让学员从 I6 推导反例：mode 保存成功、signature 保存失败时，系统下一轮会怎么误判？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现场从 onAccountAdded 跳到 loadStableSnapshot，再追 Handler 的 custom/public/private 三分支。</a:t>
            </a:r>
          </a:p>
          <a:p>
            <a:r>
              <a:t>强调前台刷新不承担业务修复；跨进程 CommonEvent 只解决传递，不自动完成规则重放。</a:t>
            </a:r>
          </a:p>
          <a:p>
            <a:r>
              <a:t>本页函数名可投屏，完整实现现场打开代码。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判断 Story 是否合格：它是否有独立 oracle，失败时能明确知道哪一层不成立。</a:t>
            </a:r>
          </a:p>
          <a:p>
            <a:r>
              <a:t>不要把“实现账号同步”当一个 Story；那会让一个 Session 同时修改 Provider、Coordinator、Handler、UI 和 E2E。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现场让学员把一个模糊任务改成 Packet：必须补 allowed、forbidden、acceptance 和 stop。</a:t>
            </a:r>
          </a:p>
          <a:p>
            <a:r>
              <a:t>Worker Packet 是跨 Session 的最小高信号上下文，不是把全部历史复制进去。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让两位学员扮演 Worker 与 Reviewer：Worker 只执行一轮，Reviewer 决定 PASS/FAIL/UNKNOWN/NEEDS_REPLAN。</a:t>
            </a:r>
          </a:p>
          <a:p>
            <a:r>
              <a:t>重点是外部记忆与停止条件，不是自动化脚本能循环多少次。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这一页现场可复制两个 commit 的测试结果对照。</a:t>
            </a:r>
          </a:p>
          <a:p>
            <a:r>
              <a:t>强调同一断言、同一输入序列；不要换一条更容易通过的命令。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不要逐条念提交。只讲 R5→R6→R7 的因果链，其他轮次作为完整证据背景。</a:t>
            </a:r>
          </a:p>
          <a:p>
            <a:r>
              <a:t>每轮完成后必须写“新暴露的问题”，否则 progress 只是工作日志，不是外部记忆。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这是 MDM 段的认知高潮：AI 完成、测试全绿和业务交付是三件不同的事。</a:t>
            </a:r>
          </a:p>
          <a:p>
            <a:r>
              <a:t>让学员给 overall 判定；只要设备门和系统事实未执行，不能给 PASS。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按用户要求，本页只保留可替换区域，不重复制作 MCP 介绍。</a:t>
            </a:r>
          </a:p>
          <a:p>
            <a:r>
              <a:t>转场句：工具成功只表示动作被执行；下一页 Runner 会把 assertion 和 evidence 加回来。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现场不要只讲架构图：依次打开 rule_create.json、normalizer.py、runner.py、flows/executor.py、assertions/executor.py。</a:t>
            </a:r>
          </a:p>
          <a:p>
            <a:r>
              <a:t>让学员回答每一层的输入、输出、失败语义和生成证据。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先让学员看两张截图给结论，再追问：系统规则是否真的存在？答案仍是 UNKNOWN。</a:t>
            </a:r>
          </a:p>
          <a:p>
            <a:r>
              <a:t>内部 getPolicy/listRules 已存在；缺的是自动验收侧结构化 readback bridge。</a:t>
            </a:r>
          </a:p>
          <a:p>
            <a:r>
              <a:t>设备不可用时也能做静态路由，但最终判定不能伪装成 PASS。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/>
          <a:p>
            <a:r>
              <a:t>[/Sources]</a:t>
            </a:r>
          </a:p>
          <a:p/>
          <a:p>
            <a:r>
              <a:t>**T03 / Structured Acceptance Readback — TARGET**</a:t>
            </a:r>
          </a:p>
          <a:p/>
          <a:p>
            <a:r>
              <a:t>```json</a:t>
            </a:r>
          </a:p>
          <a:p>
            <a:r>
              <a:t>{</a:t>
            </a:r>
          </a:p>
          <a:p>
            <a:r>
              <a:t>  "result": "PASS|FAIL|UNKNOWN",</a:t>
            </a:r>
          </a:p>
          <a:p>
            <a:r>
              <a:t>  "accounts": [100, 112, 123],</a:t>
            </a:r>
          </a:p>
          <a:p>
            <a:r>
              <a:t>  "mode": "public",</a:t>
            </a:r>
          </a:p>
          <a:p>
            <a:r>
              <a:t>  "signature": "100,112,123",</a:t>
            </a:r>
          </a:p>
          <a:p>
            <a:r>
              <a:t>  "users": [{"id": 123, "isOpen": true, "ruleCount": 4}],</a:t>
            </a:r>
          </a:p>
          <a:p>
            <a:r>
              <a:t>  "failures": [],</a:t>
            </a:r>
          </a:p>
          <a:p>
            <a:r>
              <a:t>  "evidence": {"device": "...", "timestamp": "..."}</a:t>
            </a:r>
          </a:p>
          <a:p>
            <a:r>
              <a:t>}</a:t>
            </a:r>
          </a:p>
          <a:p>
            <a:r>
              <a:t>```</a:t>
            </a:r>
          </a:p>
          <a:p/>
          <a:p>
            <a:r>
              <a:t>操作链：`build → install → activate admin → trigger → logs → getter → screenshot`</a:t>
            </a:r>
          </a:p>
          <a:p/>
          <a:p>
            <a:r>
              <a:t>**课堂任务不是 5 分钟现场开发 getter，而是先冻结证据契约和 PASS 规则。**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>
            <a:r>
              <a:t>- C:\Users\mu\Desktop\code\ppt\harmonyos-sdd-ralph-workshop\harmonyos-sdd-workshop-media\anthropic\evaluator-optimizer.png</a:t>
            </a:r>
          </a:p>
          <a:p>
            <a:r>
              <a:t>[/Sources]</a:t>
            </a:r>
          </a:p>
          <a:p/>
          <a:p>
            <a:r>
              <a:t>**同伴验收只问六件事**</a:t>
            </a:r>
          </a:p>
          <a:p/>
          <a:p>
            <a:r>
              <a:t>1. `spec.md` 是否冻结账号事实、失败语义与提交点？</a:t>
            </a:r>
          </a:p>
          <a:p>
            <a:r>
              <a:t>2. `design.md` 是否区分 intent、local apply、system truth、UI？</a:t>
            </a:r>
          </a:p>
          <a:p>
            <a:r>
              <a:t>3. T01 是否真的出现过可解释 RED 与 GREEN？</a:t>
            </a:r>
          </a:p>
          <a:p>
            <a:r>
              <a:t>4. T02 故障后是否恢复 identity，而非只恢复数量？</a:t>
            </a:r>
          </a:p>
          <a:p>
            <a:r>
              <a:t>5. 设备证据是否来自真机，UNKNOWN 是否被诚实保留？</a:t>
            </a:r>
          </a:p>
          <a:p>
            <a:r>
              <a:t>6. diff 是否完全落在任务允许边界？</a:t>
            </a:r>
          </a:p>
          <a:p/>
          <a:p>
            <a:r>
              <a:t>结果只允许：`PASS / FAIL / UNKNOWN`。</a:t>
            </a:r>
          </a:p>
          <a:p/>
          <a:p>
            <a:r>
              <a:t>| Eval 层 | 检查什么 | 反例 |</a:t>
            </a:r>
          </a:p>
          <a:p>
            <a:r>
              <a:t>|---|---|---|</a:t>
            </a:r>
          </a:p>
          <a:p>
            <a:r>
              <a:t>| Trace | Prompt、工具调用、diff、测试、是否越界 | 过程规范，但底层调用仍失败 |</a:t>
            </a:r>
          </a:p>
          <a:p>
            <a:r>
              <a:t>| Outcome | 系统账号、policy、rules、signature、mapping | 页面偶然正确，但 AI 伪造账号事实 |</a:t>
            </a:r>
          </a:p>
          <a:p/>
          <a:p>
            <a:r>
              <a:t>最终结论由 Outcome 决定；Trace 用于解释可信度、复现过程和发现越界行为。</a:t>
            </a:r>
          </a:p>
          <a:p/>
          <a:p>
            <a:r>
              <a:t>![Evaluator–Optimizer：生成、独立评估、拒绝反馈与接受](harmonyos-sdd-workshop-media/anthropic/evaluator-optimizer.png)</a:t>
            </a:r>
          </a:p>
          <a:p/>
          <a:p>
            <a:r>
              <a:t>&lt;sub&gt;讲师读图：Implementer 不能独自给自己打分。Reviewer 返回的必须是可执行反馈与缺失证据；只有达到预先冻结的 AC 才接受。图源：Anthropic《Building Effective Agents》。&lt;/sub&gt;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>
            <a:r>
              <a:t>- C:\Users\mu\Desktop\code\ppt\harmonyos-sdd-ralph-workshop\harmonyos-sdd-workshop-media\freerdp-stutter-scenario.jpeg</a:t>
            </a:r>
          </a:p>
          <a:p>
            <a:r>
              <a:t>[/Sources]</a:t>
            </a:r>
          </a:p>
          <a:p/>
          <a:p>
            <a:r>
              <a:t>**任务背景**</a:t>
            </a:r>
          </a:p>
          <a:p/>
          <a:p>
            <a:r>
              <a:t>&gt; 基于 30 万行级以上开源库实现 HarmonyOS 远控应用。用户报告播放远端视频时出现卡顿，希望评估 HarmonyOS 硬件解码与 GPU 合成方案。当前没有与源码 commit、decoder path、CPU/FPS 绑定的 before 证据，因此根因和改善幅度都不能提前下结论。</a:t>
            </a:r>
          </a:p>
          <a:p/>
          <a:p>
            <a:r>
              <a:t>```text</a:t>
            </a:r>
          </a:p>
          <a:p>
            <a:r>
              <a:t>本地 FreeRDP 快照：2014 个相关源文件 / 约 559,355 行</a:t>
            </a:r>
          </a:p>
          <a:p>
            <a:r>
              <a:t>用户报告：远端视频播放卡顿</a:t>
            </a:r>
          </a:p>
          <a:p>
            <a:r>
              <a:t>现有媒体：某次运行可见播放/交互，但未绑定 decoder path</a:t>
            </a:r>
          </a:p>
          <a:p>
            <a:r>
              <a:t>第一目标：证明当前路径、建立 before 基线</a:t>
            </a:r>
          </a:p>
          <a:p>
            <a:r>
              <a:t>最终目标：硬解路径可用、可回退、可验收、可维护</a:t>
            </a:r>
          </a:p>
          <a:p>
            <a:r>
              <a:t>```</a:t>
            </a:r>
          </a:p>
          <a:p/>
          <a:p>
            <a:r>
              <a:t>&lt;!-- VIDEO SLOT: harmonyos-sdd-workshop-media/gpu-cpu-stutter-before.mp4 --&gt;</a:t>
            </a:r>
          </a:p>
          <a:p/>
          <a:p>
            <a:r>
              <a:t>当前用 `freerdp-stutter-scenario.jpeg` 做场景占位，它不证明卡顿。正式授课应替换为 20–30 秒 before 视频，并同时录入 CPU/FPS 与 codec path；拍摄脚本见 `harmonyos-sdd-workshop-media/VIDEO_TODO.md`。</a:t>
            </a:r>
          </a:p>
          <a:p/>
          <a:p>
            <a:r>
              <a:t>![FreeRDP 视频播放卡顿场景](harmonyos-sdd-workshop-media/freerdp-stutter-scenario.jpeg)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/>
          <a:p>
            <a:r>
              <a:t>[/Sources]</a:t>
            </a:r>
          </a:p>
          <a:p/>
          <a:p>
            <a:r>
              <a:t>**从“读全库”改成“回答五个问题”**</a:t>
            </a:r>
          </a:p>
          <a:p/>
          <a:p>
            <a:r>
              <a:t>```text</a:t>
            </a:r>
          </a:p>
          <a:p>
            <a:r>
              <a:t>协议：H.264 从哪里进入？</a:t>
            </a:r>
          </a:p>
          <a:p>
            <a:r>
              <a:t>选择：command 被 GPU compositor consumed，还是回到 original GDI？</a:t>
            </a:r>
          </a:p>
          <a:p>
            <a:r>
              <a:t>输出：格式、stride、plane 是什么？</a:t>
            </a:r>
          </a:p>
          <a:p>
            <a:r>
              <a:t>显示：谁拥有 Surface，何时 present？</a:t>
            </a:r>
          </a:p>
          <a:p>
            <a:r>
              <a:t>证明：怎样把 decoder、frame、owner、present 绑定到同一 run？</a:t>
            </a:r>
          </a:p>
          <a:p>
            <a:r>
              <a:t>```</a:t>
            </a:r>
          </a:p>
          <a:p/>
          <a:p>
            <a:r>
              <a:t>```mermaid</a:t>
            </a:r>
          </a:p>
          <a:p>
            <a:r>
              <a:t>flowchart TD</a:t>
            </a:r>
          </a:p>
          <a:p>
            <a:r>
              <a:t>    A["gfx-&gt;SurfaceCommand"] --&gt; B["ohos_rdpgfx_surface_command"]</a:t>
            </a:r>
          </a:p>
          <a:p>
            <a:r>
              <a:t>    B --&gt; C["record_avc420_gpu_candidate"]</a:t>
            </a:r>
          </a:p>
          <a:p>
            <a:r>
              <a:t>    C --&gt;|ready/consumed| D["OnSurfaceCommand → worker"]</a:t>
            </a:r>
          </a:p>
          <a:p>
            <a:r>
              <a:t>    D --&gt; E["ProcessCommand → OH_AVCodec"]</a:t>
            </a:r>
          </a:p>
          <a:p>
            <a:r>
              <a:t>    E --&gt; F["native buffer → CompositeFrame"]</a:t>
            </a:r>
          </a:p>
          <a:p>
            <a:r>
              <a:t>    F --&gt; G["pendingFrameId"]</a:t>
            </a:r>
          </a:p>
          <a:p>
            <a:r>
              <a:t>    G --&gt; H["matched EndFrame → PresentComposite"]</a:t>
            </a:r>
          </a:p>
          <a:p>
            <a:r>
              <a:t>    C --&gt;|not consumed| I["original SurfaceCommand"]</a:t>
            </a:r>
          </a:p>
          <a:p>
            <a:r>
              <a:t>    I --&gt; J["gdi_SurfaceCommand → H264 subsystem/GDI"]</a:t>
            </a:r>
          </a:p>
          <a:p>
            <a:r>
              <a:t>```</a:t>
            </a:r>
          </a:p>
          <a:p/>
          <a:p>
            <a:r>
              <a:t>右侧放上下文预算：`1 个问题 + 1 条调用链 + 3–7 个接口 + 1 个假设 + 1 条下一步命令`。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/>
          <a:p>
            <a:r>
              <a:t>[/Sources]</a:t>
            </a:r>
          </a:p>
          <a:p/>
          <a:p>
            <a:r>
              <a:t>| 已有后端 | 作用 | AI 应该学习什么 |</a:t>
            </a:r>
          </a:p>
          <a:p>
            <a:r>
              <a:t>|---|---|---|</a:t>
            </a:r>
          </a:p>
          <a:p>
            <a:r>
              <a:t>| FFmpeg / OpenH264 | 通用软件路径 | 正确性 fallback、YUV 输出语义 |</a:t>
            </a:r>
          </a:p>
          <a:p>
            <a:r>
              <a:t>| Windows Media Foundation | Windows 硬解 | 平台 decoder 生命周期与失败传播 |</a:t>
            </a:r>
          </a:p>
          <a:p>
            <a:r>
              <a:t>| Android MediaCodec | 移动平台硬解 | buffer 输入输出、format change、释放 |</a:t>
            </a:r>
          </a:p>
          <a:p>
            <a:r>
              <a:t>| HarmonyOS `OH_AVCodec` | 目标平台 | 能力查询、AVBuffer/Surface、stride/plane |</a:t>
            </a:r>
          </a:p>
          <a:p/>
          <a:p>
            <a:r>
              <a:t>中央结论：</a:t>
            </a:r>
          </a:p>
          <a:p/>
          <a:p>
            <a:r>
              <a:t>```text</a:t>
            </a:r>
          </a:p>
          <a:p>
            <a:r>
              <a:t>共同契约：Create → Configure → Start → Input → Output → Validate → Release</a:t>
            </a:r>
          </a:p>
          <a:p>
            <a:r>
              <a:t>平台差异：API、buffer ownership、output format、Surface/lifecycle</a:t>
            </a:r>
          </a:p>
          <a:p>
            <a:r>
              <a:t>```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/>
          <a:p>
            <a:r>
              <a:t>[/Sources]</a:t>
            </a:r>
          </a:p>
          <a:p/>
          <a:p>
            <a:r>
              <a:t>```mermaid</a:t>
            </a:r>
          </a:p>
          <a:p>
            <a:r>
              <a:t>flowchart TD</a:t>
            </a:r>
          </a:p>
          <a:p>
            <a:r>
              <a:t>    A["gfx-&gt;SurfaceCommand"] --&gt; B["ohos_rdpgfx_surface_command"]</a:t>
            </a:r>
          </a:p>
          <a:p>
            <a:r>
              <a:t>    B --&gt; C["record_avc420_gpu_candidate&lt;br/&gt;原生顺序校验 + consumed policy"]</a:t>
            </a:r>
          </a:p>
          <a:p>
            <a:r>
              <a:t>    C --&gt;|ready| D["Ohos...SurfaceCommandCallback"]</a:t>
            </a:r>
          </a:p>
          <a:p>
            <a:r>
              <a:t>    D --&gt; E["Avc420GpuCompositor::OnSurfaceCommand"]</a:t>
            </a:r>
          </a:p>
          <a:p>
            <a:r>
              <a:t>    E --&gt; F["worker → ProcessCommand"]</a:t>
            </a:r>
          </a:p>
          <a:p>
            <a:r>
              <a:t>    F --&gt; G["OH_AVCodec → OH_NativeBuffer"]</a:t>
            </a:r>
          </a:p>
          <a:p>
            <a:r>
              <a:t>    G --&gt; H["CompositeFrame → pendingFrameId"]</a:t>
            </a:r>
          </a:p>
          <a:p>
            <a:r>
              <a:t>    H --&gt; I["matched EndFrame"]</a:t>
            </a:r>
          </a:p>
          <a:p>
            <a:r>
              <a:t>    I --&gt; J["PresentQueuedUpdate → EGL swap"]</a:t>
            </a:r>
          </a:p>
          <a:p>
            <a:r>
              <a:t>    C --&gt;|not consumed / takeover 前失败| K["original SurfaceCommand"]</a:t>
            </a:r>
          </a:p>
          <a:p>
            <a:r>
              <a:t>    K --&gt; L["gdi_SurfaceCommand → H264 subsystem / GDI"]</a:t>
            </a:r>
          </a:p>
          <a:p>
            <a:r>
              <a:t>```</a:t>
            </a:r>
          </a:p>
          <a:p/>
          <a:p>
            <a:r>
              <a:t>Architecture Decision：</a:t>
            </a:r>
          </a:p>
          <a:p/>
          <a:p>
            <a:r>
              <a:t>```text</a:t>
            </a:r>
          </a:p>
          <a:p>
            <a:r>
              <a:t>在 OHOS RDPGFX bridge 保存原回调并受控拦截；</a:t>
            </a:r>
          </a:p>
          <a:p>
            <a:r>
              <a:t>App compositor 直接管理 OH_AVCodec、native buffer、retained composite 与 EndFrame；</a:t>
            </a:r>
          </a:p>
          <a:p>
            <a:r>
              <a:t>takeover 前失败回到 original GDI/H264 subsystem；</a:t>
            </a:r>
          </a:p>
          <a:p>
            <a:r>
              <a:t>先用 AVC420 证明一帧 decode→pending→matched present→fallback；</a:t>
            </a:r>
          </a:p>
          <a:p>
            <a:r>
              <a:t>AVC444、队列与生命周期在边界证实后分任务推进。</a:t>
            </a:r>
          </a:p>
          <a:p>
            <a:r>
              <a:t>```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/>
          <a:p>
            <a:r>
              <a:t>[/Sources]</a:t>
            </a:r>
          </a:p>
          <a:p/>
          <a:p>
            <a:r>
              <a:t>```text</a:t>
            </a:r>
          </a:p>
          <a:p>
            <a:r>
              <a:t>SP-01 bridge 与 compositor 进入 arm64/HAP 产物</a:t>
            </a:r>
          </a:p>
          <a:p>
            <a:r>
              <a:t>  ↓</a:t>
            </a:r>
          </a:p>
          <a:p>
            <a:r>
              <a:t>SP-02 真机选择 hardware decoder</a:t>
            </a:r>
          </a:p>
          <a:p>
            <a:r>
              <a:t>  ↓</a:t>
            </a:r>
          </a:p>
          <a:p>
            <a:r>
              <a:t>SP-03 一个 AVC420 sample 产生可关联的 native output</a:t>
            </a:r>
          </a:p>
          <a:p>
            <a:r>
              <a:t>  ↓</a:t>
            </a:r>
          </a:p>
          <a:p>
            <a:r>
              <a:t>SP-04 同一 frame 完成 composite / pending / matched EndFrame present</a:t>
            </a:r>
          </a:p>
          <a:p>
            <a:r>
              <a:t>  ↓</a:t>
            </a:r>
          </a:p>
          <a:p>
            <a:r>
              <a:t>SP-05 注入失败时回到可解释 fallback</a:t>
            </a:r>
          </a:p>
          <a:p>
            <a:r>
              <a:t>```</a:t>
            </a:r>
          </a:p>
          <a:p/>
          <a:p>
            <a:r>
              <a:t>每个节点下固定显示一条证据：build symbol、decoder name、frameId + stride/planes、owner + EndFrame、fallback reason。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/>
          <a:p>
            <a:r>
              <a:t>[/Sources]</a:t>
            </a:r>
          </a:p>
          <a:p/>
          <a:p>
            <a:r>
              <a:t>| Task | 主要源码边界 | 一个可观察结果 / Stop |</a:t>
            </a:r>
          </a:p>
          <a:p>
            <a:r>
              <a:t>|---|---|---|</a:t>
            </a:r>
          </a:p>
          <a:p>
            <a:r>
              <a:t>| T00 | diagnostics only | 保存同 runId before；路径不明则不归因 |</a:t>
            </a:r>
          </a:p>
          <a:p>
            <a:r>
              <a:t>| T01 | `InstallRdpgfxDiagnosticsHooks`、`bridge_attach`、decoder init | bridge + hardware decoder 真机成立；只编译成功则停 |</a:t>
            </a:r>
          </a:p>
          <a:p>
            <a:r>
              <a:t>| T02 | decoder input/output、`OH_AVBuffer_GetNativeBuffer` | 一帧输入输出可关联；format/native buffer 不明则停 |</a:t>
            </a:r>
          </a:p>
          <a:p>
            <a:r>
              <a:t>| T03 | candidate policy、`OnSurfaceCommand`、`ProcessCommand`、`PresentEndFrame` | consumed→owner→matched present 闭环；GDI/GPU 双写则 FAIL |</a:t>
            </a:r>
          </a:p>
          <a:p>
            <a:r>
              <a:t>| T04 | `EnqueueSurfaceCommand`、worker compaction | 连续队列有界；depth/age 持续增长则停 |</a:t>
            </a:r>
          </a:p>
          <a:p>
            <a:r>
              <a:t>| T05 | target generation、pause/detach/recreate | resize/后台/重连拒绝 stale task；旧 target 可写则 FAIL |</a:t>
            </a:r>
          </a:p>
          <a:p>
            <a:r>
              <a:t>| T06 | AVC444 candidate/compositor、LC retained state | 单 decoder + LC + EndFrame；复用 420 假设则停 |</a:t>
            </a:r>
          </a:p>
          <a:p>
            <a:r>
              <a:t>| T07 | 测试/脚本/报告，生产代码冻结 | 同场景 A/B；缺 CPU/FPS/path/soak 则 UNKNOWN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/>
          <a:p>
            <a:r>
              <a:t>[/Sources]</a:t>
            </a:r>
          </a:p>
          <a:p/>
          <a:p>
            <a:r>
              <a:t>```mermaid</a:t>
            </a:r>
          </a:p>
          <a:p>
            <a:r>
              <a:t>sequenceDiagram</a:t>
            </a:r>
          </a:p>
          <a:p>
            <a:r>
              <a:t>    participant H as Human / Planner</a:t>
            </a:r>
          </a:p>
          <a:p>
            <a:r>
              <a:t>    participant E as Explorer</a:t>
            </a:r>
          </a:p>
          <a:p>
            <a:r>
              <a:t>    participant I as Implementer</a:t>
            </a:r>
          </a:p>
          <a:p>
            <a:r>
              <a:t>    participant T as Tool / MCP</a:t>
            </a:r>
          </a:p>
          <a:p>
            <a:r>
              <a:t>    participant R as Reviewer</a:t>
            </a:r>
          </a:p>
          <a:p>
            <a:r>
              <a:t>    H-&gt;&gt;E: 只读调用链与 GAP</a:t>
            </a:r>
          </a:p>
          <a:p>
            <a:r>
              <a:t>    E--&gt;&gt;H: codebase map + evidence index</a:t>
            </a:r>
          </a:p>
          <a:p>
            <a:r>
              <a:t>    H-&gt;&gt;I: 单张 Task Card</a:t>
            </a:r>
          </a:p>
          <a:p>
            <a:r>
              <a:t>    I--&gt;&gt;T: 最小 diff + verify commands</a:t>
            </a:r>
          </a:p>
          <a:p>
            <a:r>
              <a:t>    T--&gt;&gt;R: build/device/log/video evidence</a:t>
            </a:r>
          </a:p>
          <a:p>
            <a:r>
              <a:t>    R--&gt;&gt;H: Trace + Outcome verdict</a:t>
            </a:r>
          </a:p>
          <a:p>
            <a:r>
              <a:t>```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/>
          <a:p>
            <a:r>
              <a:t>[/Sources]</a:t>
            </a:r>
          </a:p>
          <a:p/>
          <a:p>
            <a:r>
              <a:t>左侧循环播放黑屏片段；右侧逐层点亮：</a:t>
            </a:r>
          </a:p>
          <a:p/>
          <a:p>
            <a:r>
              <a:t>```text</a:t>
            </a:r>
          </a:p>
          <a:p>
            <a:r>
              <a:t>1 command received</a:t>
            </a:r>
          </a:p>
          <a:p>
            <a:r>
              <a:t>2 candidate path / decoder selected</a:t>
            </a:r>
          </a:p>
          <a:p>
            <a:r>
              <a:t>3 compressed input queued</a:t>
            </a:r>
          </a:p>
          <a:p>
            <a:r>
              <a:t>4 decoded output valid</a:t>
            </a:r>
          </a:p>
          <a:p>
            <a:r>
              <a:t>5 format / stride / planes valid</a:t>
            </a:r>
          </a:p>
          <a:p>
            <a:r>
              <a:t>6 command state applied</a:t>
            </a:r>
          </a:p>
          <a:p>
            <a:r>
              <a:t>7 render owner correct</a:t>
            </a:r>
          </a:p>
          <a:p>
            <a:r>
              <a:t>8 EndFrame present</a:t>
            </a:r>
          </a:p>
          <a:p>
            <a:r>
              <a:t>9 next frame continues</a:t>
            </a:r>
          </a:p>
          <a:p>
            <a:r>
              <a:t>```</a:t>
            </a:r>
          </a:p>
          <a:p/>
          <a:p>
            <a:r>
              <a:t>底部写：**第一处与预期不一致的位置，才是本轮修改边界。**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/>
          <a:p>
            <a:r>
              <a:t>[/Sources]</a:t>
            </a:r>
          </a:p>
          <a:p/>
          <a:p>
            <a:r>
              <a:t>| frameId | codec | decoder | output | owner | present | verdict |</a:t>
            </a:r>
          </a:p>
          <a:p>
            <a:r>
              <a:t>|---:|---|---|---|---|---|---|</a:t>
            </a:r>
          </a:p>
          <a:p>
            <a:r>
              <a:t>|  |  |  |  |  |  | `PENDING` |</a:t>
            </a:r>
          </a:p>
          <a:p/>
          <a:p>
            <a:r>
              <a:t>&gt; 本表等待真实 frame trace；不再使用未绑定 run 的示例 frameId 冒充证据。</a:t>
            </a:r>
          </a:p>
          <a:p/>
          <a:p>
            <a:r>
              <a:t>下方两句：</a:t>
            </a:r>
          </a:p>
          <a:p/>
          <a:p>
            <a:r>
              <a:t>&gt; “API 调用成功”只证明一个边界。</a:t>
            </a:r>
          </a:p>
          <a:p/>
          <a:p>
            <a:r>
              <a:t>&gt; “截图看起来正确”只证明一个采样瞬间。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/>
          <a:p>
            <a:r>
              <a:t>[/Sources]</a:t>
            </a:r>
          </a:p>
          <a:p/>
          <a:p>
            <a:r>
              <a:t>| 工程能力 | 必须回答 | 失败表现 |</a:t>
            </a:r>
          </a:p>
          <a:p>
            <a:r>
              <a:t>|---|---|---|</a:t>
            </a:r>
          </a:p>
          <a:p>
            <a:r>
              <a:t>| 生命周期 | create/start/flush/stop/destroy 与 Surface generation 如何对齐 | resize 黑屏、旧 target |</a:t>
            </a:r>
          </a:p>
          <a:p>
            <a:r>
              <a:t>| 队列/背压 | 输入、输出、present 队列是否有界 | 延迟增长、内存上涨 |</a:t>
            </a:r>
          </a:p>
          <a:p>
            <a:r>
              <a:t>| 所有权 | GDI、AVC420、AVC444 谁能写 XComponent | 闪烁、旧帧覆盖 |</a:t>
            </a:r>
          </a:p>
          <a:p>
            <a:r>
              <a:t>| 回退 | 硬解失败能否回软件/原生路径 | 静默黑屏 |</a:t>
            </a:r>
          </a:p>
          <a:p>
            <a:r>
              <a:t>| 可观测性 | 能否证明 decoder、frame、owner、present | 只能靠肉眼猜 |</a:t>
            </a:r>
          </a:p>
          <a:p>
            <a:r>
              <a:t>| 回归 | 输入、resize、后台、重连是否仍工作 | 局部 GREEN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>
            <a:r>
              <a:t>- C:\Users\mu\Desktop\code\ppt\harmonyos-sdd-ralph-workshop\harmonyos-sdd-workshop-media\gpu-validation-video-playback-contact.jpg</a:t>
            </a:r>
          </a:p>
          <a:p>
            <a:r>
              <a:t>[/Sources]</a:t>
            </a:r>
          </a:p>
          <a:p/>
          <a:p>
            <a:r>
              <a:t>左：before 视频槽位（`PENDING`；当前为空）</a:t>
            </a:r>
          </a:p>
          <a:p/>
          <a:p>
            <a:r>
              <a:t>中：硬解路径待填证据链</a:t>
            </a:r>
          </a:p>
          <a:p/>
          <a:p>
            <a:r>
              <a:t>```text</a:t>
            </a:r>
          </a:p>
          <a:p>
            <a:r>
              <a:t>commit:</a:t>
            </a:r>
          </a:p>
          <a:p>
            <a:r>
              <a:t>runId:</a:t>
            </a:r>
          </a:p>
          <a:p>
            <a:r>
              <a:t>candidate path:</a:t>
            </a:r>
          </a:p>
          <a:p>
            <a:r>
              <a:t>decoder identity:</a:t>
            </a:r>
          </a:p>
          <a:p>
            <a:r>
              <a:t>frameId / output:</a:t>
            </a:r>
          </a:p>
          <a:p>
            <a:r>
              <a:t>owner / matched EndFrame:</a:t>
            </a:r>
          </a:p>
          <a:p>
            <a:r>
              <a:t>present:</a:t>
            </a:r>
          </a:p>
          <a:p>
            <a:r>
              <a:t>```</a:t>
            </a:r>
          </a:p>
          <a:p/>
          <a:p>
            <a:r>
              <a:t>右：现有可见媒体与验收矩阵</a:t>
            </a:r>
          </a:p>
          <a:p/>
          <a:p>
            <a:r>
              <a:t>| 结论 | 当前证据 | 判定 |</a:t>
            </a:r>
          </a:p>
          <a:p>
            <a:r>
              <a:t>|---|---|---|</a:t>
            </a:r>
          </a:p>
          <a:p>
            <a:r>
              <a:t>| 源码存在 bridge→compositor→EndFrame 路径 | 源码锚点与调用链 | `REPO FACT` |</a:t>
            </a:r>
          </a:p>
          <a:p>
            <a:r>
              <a:t>| 当前 arm64/HAP 构建通过 |  | `PENDING` |</a:t>
            </a:r>
          </a:p>
          <a:p>
            <a:r>
              <a:t>| 真机实际选择 OHOS hardware decoder |  | `PENDING` |</a:t>
            </a:r>
          </a:p>
          <a:p>
            <a:r>
              <a:t>| 某次运行可见播放与部分交互 | `gpu-validation-video-playback-16s.mp4` | `MEDIA FACT / UNBOUND` |</a:t>
            </a:r>
          </a:p>
          <a:p>
            <a:r>
              <a:t>| 某次运行出现黑屏 | `gpu-failure-black-screen-13s.mp4` | `MEDIA FACT / UNBOUND` |</a:t>
            </a:r>
          </a:p>
          <a:p>
            <a:r>
              <a:t>| CPU/FPS 与卡顿改善 |  | `UNKNOWN` |</a:t>
            </a:r>
          </a:p>
          <a:p>
            <a:r>
              <a:t>| resize/后台/重连长稳 |  | `UNKNOWN` |</a:t>
            </a:r>
          </a:p>
          <a:p/>
          <a:p>
            <a:r>
              <a:t>&lt;!-- VIDEO SLOT: harmonyos-sdd-workshop-media/gpu-hwdecode-after.mp4 --&gt;</a:t>
            </a:r>
          </a:p>
          <a:p/>
          <a:p>
            <a:r>
              <a:t>![现有可见播放与交互关键帧](harmonyos-sdd-workshop-media/gpu-validation-video-playback-contact.jpg)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>
            <a:r>
              <a:t>- C:\Users\mu\Desktop\code\ppt\harmonyos-sdd-ralph-workshop\harmonyos-sdd-workshop-media\anthropic\eval-quality-layers.png</a:t>
            </a:r>
          </a:p>
          <a:p>
            <a:r>
              <a:t>[/Sources]</a:t>
            </a:r>
          </a:p>
          <a:p/>
          <a:p>
            <a:r>
              <a:t>```mermaid</a:t>
            </a:r>
          </a:p>
          <a:p>
            <a:r>
              <a:t>flowchart TD</a:t>
            </a:r>
          </a:p>
          <a:p>
            <a:r>
              <a:t>    A[事实] --&gt; B[规格]</a:t>
            </a:r>
          </a:p>
          <a:p>
            <a:r>
              <a:t>    B --&gt; C[任务]</a:t>
            </a:r>
          </a:p>
          <a:p>
            <a:r>
              <a:t>    C --&gt; D[RED]</a:t>
            </a:r>
          </a:p>
          <a:p>
            <a:r>
              <a:t>    D --&gt; E[最小 Diff]</a:t>
            </a:r>
          </a:p>
          <a:p>
            <a:r>
              <a:t>    E --&gt; F[系统证据]</a:t>
            </a:r>
          </a:p>
          <a:p>
            <a:r>
              <a:t>```</a:t>
            </a:r>
          </a:p>
          <a:p/>
          <a:p>
            <a:r>
              <a:t>**可选收束主视觉（PPT 制作时与上方 Mermaid 二选一）**</a:t>
            </a:r>
          </a:p>
          <a:p/>
          <a:p>
            <a:r>
              <a:t>![质量的瑞士奶酪模型：自动评估、人工审阅和真实运行共同拦截缺陷](harmonyos-sdd-workshop-media/anthropic/eval-quality-layers.png)</a:t>
            </a:r>
          </a:p>
          <a:p/>
          <a:p>
            <a:r>
              <a:t>&lt;sub&gt;讲师读图：任何单层检查都有孔洞。映射到本课就是测试、构建、日志、getter、截图/视频与同伴 Reviewer 叠加；只有多层证据对齐，才允许 PASS。图源：Anthropic《Demystifying Evals for AI Agents》。&lt;/sub&gt;</a:t>
            </a:r>
          </a:p>
          <a:p/>
          <a:p>
            <a:r>
              <a:t>下一次拿到复杂需求，只问七个问题：</a:t>
            </a:r>
          </a:p>
          <a:p/>
          <a:p>
            <a:r>
              <a:t>1. 哪些词会让实现分叉？</a:t>
            </a:r>
          </a:p>
          <a:p>
            <a:r>
              <a:t>2. 最终真相在哪一层？</a:t>
            </a:r>
          </a:p>
          <a:p>
            <a:r>
              <a:t>3. 哪些不变量绝不能破坏？</a:t>
            </a:r>
          </a:p>
          <a:p>
            <a:r>
              <a:t>4. 本轮只允许 AI 改哪个边界？</a:t>
            </a:r>
          </a:p>
          <a:p>
            <a:r>
              <a:t>5. 怎样先制造一个可解释的 RED？</a:t>
            </a:r>
          </a:p>
          <a:p>
            <a:r>
              <a:t>6. 最早异常证据在哪里？</a:t>
            </a:r>
          </a:p>
          <a:p>
            <a:r>
              <a:t>7. 什么证据满足后，本轮必须停止？</a:t>
            </a:r>
          </a:p>
          <a:p/>
          <a:p>
            <a:r>
              <a:t>**一分钟迁移题**</a:t>
            </a:r>
          </a:p>
          <a:p/>
          <a:p>
            <a:r>
              <a:t>&gt; 权限页面第一次进入数据为空，第二次进入正常。</a:t>
            </a:r>
          </a:p>
          <a:p/>
          <a:p>
            <a:r>
              <a:t>每组必须用七问给出：一个最小只读勘察任务、一条可证伪假设、一项禁止修改范围和一个最终事实来源。不得直接回答“加延迟”或“页面初始化问题”。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2" Type="http://schemas.microsoft.com/office/2007/relationships/media" Target="../media/media1.mp4"/><Relationship Id="rId1" Type="http://schemas.openxmlformats.org/officeDocument/2006/relationships/video" Target="../media/media1.mp4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jpeg"/></Relationships>
</file>

<file path=ppt/slides/_rels/slide2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5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9.jpeg"/><Relationship Id="rId1" Type="http://schemas.openxmlformats.org/officeDocument/2006/relationships/image" Target="../media/image8.jpe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1.jpe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2.jpe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jpe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4.jpe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5.jpe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6.jpe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6" name="矩形 25"/>
          <p:cNvSpPr>
            <a:spLocks noGrp="1"/>
          </p:cNvSpPr>
          <p:nvPr/>
        </p:nvSpPr>
        <p:spPr>
          <a:xfrm>
            <a:off x="571500" y="1000125"/>
            <a:ext cx="51435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 fontScale="97222"/>
          </a:bodyPr>
          <a:lstStyle/>
          <a:p>
            <a:pPr algn="l">
              <a:defRPr sz="31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1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复杂需求工程化实践</a:t>
            </a:r>
            <a:endParaRPr sz="31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71500" y="2000250"/>
            <a:ext cx="49530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725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先解决人和 AI 如何对齐，再进入需求、开发、验证与问题定位</a:t>
            </a:r>
            <a:endParaRPr sz="1725" b="0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71500" y="3143250"/>
            <a:ext cx="57150" cy="1066800"/>
          </a:xfrm>
          <a:prstGeom prst="rect">
            <a:avLst/>
          </a:prstGeom>
          <a:solidFill>
            <a:srgbClr val="E26852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742950" y="3181350"/>
            <a:ext cx="478155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5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课程先回答：人如何把意图、边界和完成标准交给 AI，并在它做偏时及时拉回。随后把这套方法带入两个真实工程案例。</a:t>
            </a:r>
            <a:endParaRPr sz="15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30" name="图片 29"/>
          <p:cNvPicPr>
            <a:picLocks noChangeAspect="1"/>
          </p:cNvPicPr>
          <p:nvPr/>
        </p:nvPicPr>
        <p:blipFill>
          <a:blip r:embed="rId1"/>
          <a:srcRect l="10625" r="10625"/>
          <a:stretch>
            <a:fillRect/>
          </a:stretch>
        </p:blipFill>
        <p:spPr>
          <a:xfrm>
            <a:off x="5953125" y="952500"/>
            <a:ext cx="5667375" cy="4048125"/>
          </a:xfrm>
          <a:prstGeom prst="roundRect">
            <a:avLst>
              <a:gd name="adj" fmla="val 2824"/>
            </a:avLst>
          </a:prstGeom>
        </p:spPr>
      </p:pic>
      <p:sp>
        <p:nvSpPr>
          <p:cNvPr id="6" name="圆角矩形 5"/>
          <p:cNvSpPr>
            <a:spLocks noGrp="1"/>
          </p:cNvSpPr>
          <p:nvPr/>
        </p:nvSpPr>
        <p:spPr>
          <a:xfrm>
            <a:off x="5953125" y="952500"/>
            <a:ext cx="5667375" cy="4048125"/>
          </a:xfrm>
          <a:prstGeom prst="roundRect">
            <a:avLst>
              <a:gd name="adj" fmla="val 2824"/>
            </a:avLst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191250" y="5067300"/>
            <a:ext cx="519112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ctr">
              <a:defRPr sz="1200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AI 输出是候选；人类判断与环境证据共同决定是否完成。</a:t>
            </a:r>
            <a:endParaRPr sz="1200" b="0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圆角矩形 7"/>
          <p:cNvSpPr>
            <a:spLocks noGrp="1"/>
          </p:cNvSpPr>
          <p:nvPr/>
        </p:nvSpPr>
        <p:spPr>
          <a:xfrm>
            <a:off x="571500" y="5715000"/>
            <a:ext cx="1714500" cy="523875"/>
          </a:xfrm>
          <a:prstGeom prst="roundRect">
            <a:avLst>
              <a:gd name="adj" fmla="val 21818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647700" y="5772150"/>
            <a:ext cx="156210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2438400" y="5715000"/>
            <a:ext cx="1714500" cy="523875"/>
          </a:xfrm>
          <a:prstGeom prst="roundRect">
            <a:avLst>
              <a:gd name="adj" fmla="val 21818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2514600" y="5772150"/>
            <a:ext cx="156210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上下文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4305300" y="5715000"/>
            <a:ext cx="1714500" cy="523875"/>
          </a:xfrm>
          <a:prstGeom prst="roundRect">
            <a:avLst>
              <a:gd name="adj" fmla="val 21818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4381500" y="5772150"/>
            <a:ext cx="156210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执行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6172200" y="5715000"/>
            <a:ext cx="1714500" cy="523875"/>
          </a:xfrm>
          <a:prstGeom prst="roundRect">
            <a:avLst>
              <a:gd name="adj" fmla="val 21818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6248400" y="5772150"/>
            <a:ext cx="156210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反馈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圆角矩形 15"/>
          <p:cNvSpPr>
            <a:spLocks noGrp="1"/>
          </p:cNvSpPr>
          <p:nvPr/>
        </p:nvSpPr>
        <p:spPr>
          <a:xfrm>
            <a:off x="8039100" y="5715000"/>
            <a:ext cx="1714500" cy="523875"/>
          </a:xfrm>
          <a:prstGeom prst="roundRect">
            <a:avLst>
              <a:gd name="adj" fmla="val 21818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8115300" y="5772150"/>
            <a:ext cx="156210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证据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圆角矩形 17"/>
          <p:cNvSpPr>
            <a:spLocks noGrp="1"/>
          </p:cNvSpPr>
          <p:nvPr/>
        </p:nvSpPr>
        <p:spPr>
          <a:xfrm>
            <a:off x="9906000" y="5715000"/>
            <a:ext cx="1714500" cy="523875"/>
          </a:xfrm>
          <a:prstGeom prst="roundRect">
            <a:avLst>
              <a:gd name="adj" fmla="val 21818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9982200" y="5772150"/>
            <a:ext cx="156210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停止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45" name="直接箭头连接符 44"/>
          <p:cNvCxnSpPr>
            <a:stCxn id="8" idx="3"/>
            <a:endCxn id="10" idx="1"/>
          </p:cNvCxnSpPr>
          <p:nvPr/>
        </p:nvCxnSpPr>
        <p:spPr>
          <a:xfrm>
            <a:off x="2286000" y="5976938"/>
            <a:ext cx="1524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6" name="直接箭头连接符 45"/>
          <p:cNvCxnSpPr>
            <a:stCxn id="10" idx="3"/>
            <a:endCxn id="12" idx="1"/>
          </p:cNvCxnSpPr>
          <p:nvPr/>
        </p:nvCxnSpPr>
        <p:spPr>
          <a:xfrm>
            <a:off x="4152900" y="5976938"/>
            <a:ext cx="1524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7" name="直接箭头连接符 46"/>
          <p:cNvCxnSpPr>
            <a:stCxn id="12" idx="3"/>
            <a:endCxn id="14" idx="1"/>
          </p:cNvCxnSpPr>
          <p:nvPr/>
        </p:nvCxnSpPr>
        <p:spPr>
          <a:xfrm>
            <a:off x="6019800" y="5976938"/>
            <a:ext cx="1524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8" name="直接箭头连接符 47"/>
          <p:cNvCxnSpPr>
            <a:stCxn id="14" idx="3"/>
            <a:endCxn id="16" idx="1"/>
          </p:cNvCxnSpPr>
          <p:nvPr/>
        </p:nvCxnSpPr>
        <p:spPr>
          <a:xfrm>
            <a:off x="7886700" y="5976938"/>
            <a:ext cx="1524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9" name="直接箭头连接符 48"/>
          <p:cNvCxnSpPr>
            <a:stCxn id="16" idx="3"/>
            <a:endCxn id="18" idx="1"/>
          </p:cNvCxnSpPr>
          <p:nvPr/>
        </p:nvCxnSpPr>
        <p:spPr>
          <a:xfrm>
            <a:off x="9753600" y="5976938"/>
            <a:ext cx="1524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5" name="矩形 24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" name="矩形 12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 人—AI 对齐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AI 能力越强，越需要把“完成”说清楚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666750" y="1381125"/>
            <a:ext cx="4286250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 fontScale="95943"/>
          </a:bodyPr>
          <a:lstStyle/>
          <a:p>
            <a:pPr algn="l">
              <a:defRPr sz="23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3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模型可以写出漂亮答案，</a:t>
            </a:r>
            <a:endParaRPr sz="23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23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3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却不知道你心里真正的“完成”。</a:t>
            </a:r>
            <a:endParaRPr sz="23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85800" y="2714625"/>
            <a:ext cx="41910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lnSpc>
                <a:spcPct val="115000"/>
              </a:lnSpc>
              <a:buNone/>
              <a:defRPr sz="1500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太具体：把偶然路径写死</a:t>
            </a:r>
            <a:endParaRPr sz="1500" b="0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5000"/>
              </a:lnSpc>
              <a:buNone/>
              <a:defRPr sz="1500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太模糊：默认双方共享上下文</a:t>
            </a:r>
            <a:endParaRPr sz="1500" b="0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5000"/>
              </a:lnSpc>
              <a:buNone/>
              <a:defRPr sz="1500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刚刚好：目标清楚，边界可执行，允许在不确定时求助</a:t>
            </a:r>
            <a:endParaRPr sz="1500" b="0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86375" y="1365549"/>
            <a:ext cx="6191250" cy="3479202"/>
          </a:xfrm>
          <a:prstGeom prst="roundRect">
            <a:avLst>
              <a:gd name="adj" fmla="val 3093"/>
            </a:avLst>
          </a:prstGeom>
        </p:spPr>
      </p:pic>
      <p:sp>
        <p:nvSpPr>
          <p:cNvPr id="9" name="圆角矩形 8"/>
          <p:cNvSpPr>
            <a:spLocks noGrp="1"/>
          </p:cNvSpPr>
          <p:nvPr/>
        </p:nvSpPr>
        <p:spPr>
          <a:xfrm>
            <a:off x="5286375" y="1257300"/>
            <a:ext cx="6191250" cy="3695700"/>
          </a:xfrm>
          <a:prstGeom prst="roundRect">
            <a:avLst>
              <a:gd name="adj" fmla="val 3093"/>
            </a:avLst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1285875" y="5429250"/>
            <a:ext cx="57150" cy="590550"/>
          </a:xfrm>
          <a:prstGeom prst="rect">
            <a:avLst/>
          </a:prstGeom>
          <a:solidFill>
            <a:srgbClr val="E26852"/>
          </a:solidFill>
          <a:ln w="0">
            <a:noFill/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1457325" y="5467350"/>
            <a:ext cx="94488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6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对齐的第一步不是把 Prompt 写得更长，而是让“期望行为”可以被双方检查。</a:t>
            </a:r>
            <a:endParaRPr sz="16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矩形 15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 人—AI 对齐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复杂任务靠的不是更长 Prompt，而是可持续上下文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pic>
        <p:nvPicPr>
          <p:cNvPr id="21" name="图片 2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1420422"/>
            <a:ext cx="7239000" cy="4074306"/>
          </a:xfrm>
          <a:prstGeom prst="roundRect">
            <a:avLst>
              <a:gd name="adj" fmla="val 2553"/>
            </a:avLst>
          </a:prstGeom>
        </p:spPr>
      </p:pic>
      <p:sp>
        <p:nvSpPr>
          <p:cNvPr id="7" name="圆角矩形 6"/>
          <p:cNvSpPr>
            <a:spLocks noGrp="1"/>
          </p:cNvSpPr>
          <p:nvPr/>
        </p:nvSpPr>
        <p:spPr>
          <a:xfrm>
            <a:off x="571500" y="1219200"/>
            <a:ext cx="7239000" cy="4476750"/>
          </a:xfrm>
          <a:prstGeom prst="roundRect">
            <a:avLst>
              <a:gd name="adj" fmla="val 2553"/>
            </a:avLst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8334375" y="1504950"/>
            <a:ext cx="2571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8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单轮问答</a:t>
            </a:r>
            <a:endParaRPr sz="1800" b="1">
              <a:solidFill>
                <a:srgbClr val="1677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8334375" y="1905000"/>
            <a:ext cx="2571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425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主要优化一句输入</a:t>
            </a:r>
            <a:endParaRPr sz="1425" b="0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8334375" y="2428875"/>
            <a:ext cx="2619375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8334375" y="2762250"/>
            <a:ext cx="2571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800" b="1">
                <a:solidFill>
                  <a:srgbClr val="16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16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长任务 Agent</a:t>
            </a:r>
            <a:endParaRPr sz="1800" b="1">
              <a:solidFill>
                <a:srgbClr val="168C8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8334375" y="3190875"/>
            <a:ext cx="2714625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4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持续选择文档、工具、历史、记忆和新证据；每轮都可能丢失重点。</a:t>
            </a:r>
            <a:endParaRPr sz="14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8239125" y="4714875"/>
            <a:ext cx="57150" cy="1000125"/>
          </a:xfrm>
          <a:prstGeom prst="rect">
            <a:avLst/>
          </a:prstGeom>
          <a:solidFill>
            <a:srgbClr val="168C82"/>
          </a:solidFill>
          <a:ln w="0">
            <a:noFill/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8410575" y="4752975"/>
            <a:ext cx="2686050" cy="923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5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复杂任务的上下文不是一次装满，而是随着行动持续筛选、记录和恢复。</a:t>
            </a:r>
            <a:endParaRPr sz="15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7" name="矩形 16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 人—AI 对齐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对齐发生在三方之间：人定目标，AI 提方案，环境给事实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pic>
        <p:nvPicPr>
          <p:cNvPr id="22" name="图片 2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735" y="1238250"/>
            <a:ext cx="6723529" cy="4667250"/>
          </a:xfrm>
          <a:prstGeom prst="roundRect">
            <a:avLst>
              <a:gd name="adj" fmla="val 2449"/>
            </a:avLst>
          </a:prstGeom>
        </p:spPr>
      </p:pic>
      <p:sp>
        <p:nvSpPr>
          <p:cNvPr id="7" name="圆角矩形 6"/>
          <p:cNvSpPr>
            <a:spLocks noGrp="1"/>
          </p:cNvSpPr>
          <p:nvPr/>
        </p:nvSpPr>
        <p:spPr>
          <a:xfrm>
            <a:off x="619125" y="1238250"/>
            <a:ext cx="6762750" cy="4667250"/>
          </a:xfrm>
          <a:prstGeom prst="roundRect">
            <a:avLst>
              <a:gd name="adj" fmla="val 2449"/>
            </a:avLst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7905750" y="1381125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 fontScale="98765"/>
          </a:bodyPr>
          <a:lstStyle/>
          <a:p>
            <a:pPr algn="l">
              <a:defRPr sz="2025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</a:t>
            </a:r>
            <a:endParaRPr sz="2025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7905750" y="1809750"/>
            <a:ext cx="3143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4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定义目标、优先级、禁止范围和高风险决策。</a:t>
            </a:r>
            <a:endParaRPr sz="14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905750" y="2714625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 fontScale="98765"/>
          </a:bodyPr>
          <a:lstStyle/>
          <a:p>
            <a:pPr algn="l">
              <a:defRPr sz="2025" b="1">
                <a:solidFill>
                  <a:srgbClr val="715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715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AI</a:t>
            </a:r>
            <a:endParaRPr sz="2025" b="1">
              <a:solidFill>
                <a:srgbClr val="7157B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7905750" y="3143250"/>
            <a:ext cx="314325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4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检索上下文、提出方案、执行最小动作并说明不确定性。</a:t>
            </a:r>
            <a:endParaRPr sz="14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7905750" y="4095750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 fontScale="98765"/>
          </a:bodyPr>
          <a:lstStyle/>
          <a:p>
            <a:pPr algn="l">
              <a:defRPr sz="2025" b="1">
                <a:solidFill>
                  <a:srgbClr val="2F8F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2F8F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环境</a:t>
            </a:r>
            <a:endParaRPr sz="2025" b="1">
              <a:solidFill>
                <a:srgbClr val="2F8F5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7905750" y="4524375"/>
            <a:ext cx="3143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4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用测试、日志、系统回读和真实画面给出不可争辩的反馈。</a:t>
            </a:r>
            <a:endParaRPr sz="14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1476375" y="5953125"/>
            <a:ext cx="57150" cy="400050"/>
          </a:xfrm>
          <a:prstGeom prst="rect">
            <a:avLst/>
          </a:prstGeom>
          <a:solidFill>
            <a:srgbClr val="1677C8"/>
          </a:solidFill>
          <a:ln w="0">
            <a:noFill/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1647825" y="5991225"/>
            <a:ext cx="9067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5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人不替 AI 做每一步；AI 也不能替人定义“什么算对”。</a:t>
            </a:r>
            <a:endParaRPr sz="15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5" name="矩形 14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 人—AI 对齐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人能判断“更好”，却未必能一次写清目标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05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8572500" y="1476375"/>
            <a:ext cx="2762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875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OpenAI 的后空翻实验</a:t>
            </a:r>
            <a:endParaRPr sz="1875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8477250" y="2095500"/>
            <a:ext cx="29527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5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人不需要先写出完整奖励函数。</a:t>
            </a:r>
            <a:endParaRPr sz="15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sz="1500"/>
          </a:p>
          <a:p>
            <a:pPr algn="l">
              <a:defRPr sz="15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只需反复比较两段动作：</a:t>
            </a:r>
            <a:endParaRPr sz="15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5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哪一段更接近目标？</a:t>
            </a:r>
            <a:endParaRPr sz="15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8572500" y="3857625"/>
            <a:ext cx="2762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875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约 900 次二选一反馈</a:t>
            </a:r>
            <a:endParaRPr sz="1875" b="1">
              <a:solidFill>
                <a:srgbClr val="1677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8572500" y="4286250"/>
            <a:ext cx="2762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350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让 Agent 逐步学会后空翻</a:t>
            </a:r>
            <a:endParaRPr sz="1350" b="0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428750" y="5905500"/>
            <a:ext cx="57150" cy="400050"/>
          </a:xfrm>
          <a:prstGeom prst="rect">
            <a:avLst/>
          </a:prstGeom>
          <a:solidFill>
            <a:srgbClr val="168C82"/>
          </a:solidFill>
          <a:ln w="0">
            <a:noFill/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1600200" y="5943600"/>
            <a:ext cx="9163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5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容易判断，不等于容易说明；对齐可以从可重复的判断开始。</a:t>
            </a:r>
            <a:endParaRPr sz="15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6" name="OpenAI Human Feedback Training Vide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71500" y="1238250"/>
            <a:ext cx="7524750" cy="4429125"/>
          </a:xfrm>
          <a:prstGeom prst="rect">
            <a:avLst/>
          </a:prstGeom>
        </p:spPr>
      </p:pic>
      <p:sp>
        <p:nvSpPr>
          <p:cNvPr id="7" name="圆角矩形 6"/>
          <p:cNvSpPr>
            <a:spLocks noGrp="1"/>
          </p:cNvSpPr>
          <p:nvPr/>
        </p:nvSpPr>
        <p:spPr>
          <a:xfrm>
            <a:off x="571500" y="1238250"/>
            <a:ext cx="7524750" cy="4429125"/>
          </a:xfrm>
          <a:prstGeom prst="roundRect">
            <a:avLst>
              <a:gd name="adj" fmla="val 2581"/>
            </a:avLst>
          </a:prstGeom>
          <a:noFill/>
          <a:ln w="9525">
            <a:solidFill>
              <a:srgbClr val="D8E0E8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1" name="矩形 30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 人—AI 对齐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高层目标直接交给 Agent，会出现两种典型失控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06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666750" y="1190625"/>
            <a:ext cx="57150" cy="552450"/>
          </a:xfrm>
          <a:prstGeom prst="rect">
            <a:avLst/>
          </a:prstGeom>
          <a:solidFill>
            <a:srgbClr val="E26852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38200" y="1228725"/>
            <a:ext cx="106870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8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“构建一个 claude.ai 克隆应用。”</a:t>
            </a:r>
            <a:endParaRPr sz="18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85800" y="1952625"/>
            <a:ext cx="108108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5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Anthropic 发现：即使是前沿编码模型，只有高层目标也会在长任务中失控。</a:t>
            </a:r>
            <a:endParaRPr sz="15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圆角矩形 8"/>
          <p:cNvSpPr>
            <a:spLocks noGrp="1"/>
          </p:cNvSpPr>
          <p:nvPr/>
        </p:nvSpPr>
        <p:spPr>
          <a:xfrm>
            <a:off x="666750" y="2857500"/>
            <a:ext cx="2333625" cy="16668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838200" y="3009900"/>
            <a:ext cx="57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</a:t>
            </a:r>
            <a:endParaRPr sz="1200" b="1">
              <a:solidFill>
                <a:srgbClr val="1677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838200" y="3429000"/>
            <a:ext cx="1952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7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一次做太多</a:t>
            </a:r>
            <a:endParaRPr sz="17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838200" y="3905250"/>
            <a:ext cx="195262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75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试图 one-shot 整个应用</a:t>
            </a:r>
            <a:endParaRPr sz="1275" b="0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圆角矩形 12"/>
          <p:cNvSpPr>
            <a:spLocks noGrp="1"/>
          </p:cNvSpPr>
          <p:nvPr/>
        </p:nvSpPr>
        <p:spPr>
          <a:xfrm>
            <a:off x="3429000" y="2857500"/>
            <a:ext cx="2333625" cy="16668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89518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3600450" y="3009900"/>
            <a:ext cx="57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D8951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D8951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</a:t>
            </a:r>
            <a:endParaRPr sz="1200" b="1">
              <a:solidFill>
                <a:srgbClr val="D8951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3600450" y="3429000"/>
            <a:ext cx="1952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7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上下文中断</a:t>
            </a:r>
            <a:endParaRPr sz="17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3600450" y="3905250"/>
            <a:ext cx="195262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75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留下半实现、无记录的功能</a:t>
            </a:r>
            <a:endParaRPr sz="1275" b="0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圆角矩形 16"/>
          <p:cNvSpPr>
            <a:spLocks noGrp="1"/>
          </p:cNvSpPr>
          <p:nvPr/>
        </p:nvSpPr>
        <p:spPr>
          <a:xfrm>
            <a:off x="6191250" y="2857500"/>
            <a:ext cx="2333625" cy="16668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6852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6362700" y="3009900"/>
            <a:ext cx="57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</a:t>
            </a:r>
            <a:endParaRPr sz="12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6362700" y="3429000"/>
            <a:ext cx="1952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7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下一轮靠猜</a:t>
            </a:r>
            <a:endParaRPr sz="17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6362700" y="3905250"/>
            <a:ext cx="195262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75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先花时间恢复基本可运行状态</a:t>
            </a:r>
            <a:endParaRPr sz="1275" b="0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圆角矩形 20"/>
          <p:cNvSpPr>
            <a:spLocks noGrp="1"/>
          </p:cNvSpPr>
          <p:nvPr/>
        </p:nvSpPr>
        <p:spPr>
          <a:xfrm>
            <a:off x="8953500" y="2857500"/>
            <a:ext cx="2333625" cy="16668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84B4B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9124950" y="3009900"/>
            <a:ext cx="57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</a:t>
            </a:r>
            <a:endParaRPr sz="1200" b="1">
              <a:solidFill>
                <a:srgbClr val="C84B4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9124950" y="3429000"/>
            <a:ext cx="1952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7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过早宣布完成</a:t>
            </a:r>
            <a:endParaRPr sz="17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9124950" y="3905250"/>
            <a:ext cx="195262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75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看到已有进度，就误判全部结束</a:t>
            </a:r>
            <a:endParaRPr sz="1275" b="0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55" name="直接箭头连接符 54"/>
          <p:cNvCxnSpPr>
            <a:stCxn id="9" idx="3"/>
            <a:endCxn id="13" idx="1"/>
          </p:cNvCxnSpPr>
          <p:nvPr/>
        </p:nvCxnSpPr>
        <p:spPr>
          <a:xfrm>
            <a:off x="3000375" y="3690938"/>
            <a:ext cx="428625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6" name="直接箭头连接符 55"/>
          <p:cNvCxnSpPr>
            <a:stCxn id="13" idx="3"/>
            <a:endCxn id="17" idx="1"/>
          </p:cNvCxnSpPr>
          <p:nvPr/>
        </p:nvCxnSpPr>
        <p:spPr>
          <a:xfrm>
            <a:off x="5762625" y="3690938"/>
            <a:ext cx="428625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7" name="直接箭头连接符 56"/>
          <p:cNvCxnSpPr>
            <a:stCxn id="17" idx="3"/>
            <a:endCxn id="21" idx="1"/>
          </p:cNvCxnSpPr>
          <p:nvPr/>
        </p:nvCxnSpPr>
        <p:spPr>
          <a:xfrm>
            <a:off x="8524875" y="3690938"/>
            <a:ext cx="428625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8" name="矩形 27"/>
          <p:cNvSpPr>
            <a:spLocks noGrp="1"/>
          </p:cNvSpPr>
          <p:nvPr/>
        </p:nvSpPr>
        <p:spPr>
          <a:xfrm>
            <a:off x="1524000" y="5286375"/>
            <a:ext cx="57150" cy="609600"/>
          </a:xfrm>
          <a:prstGeom prst="rect">
            <a:avLst/>
          </a:prstGeom>
          <a:solidFill>
            <a:srgbClr val="C84B4B"/>
          </a:solidFill>
          <a:ln w="0">
            <a:noFill/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1695450" y="5324475"/>
            <a:ext cx="89725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7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问题不是 AI 不会写代码，而是目标、进度和完成标准没有被外化。</a:t>
            </a:r>
            <a:endParaRPr sz="17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7" name="矩形 26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 人—AI 对齐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对齐不是一次确认，而是生成、评估、反馈的循环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07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pic>
        <p:nvPicPr>
          <p:cNvPr id="32" name="图片 3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1572220"/>
            <a:ext cx="6858000" cy="2856310"/>
          </a:xfrm>
          <a:prstGeom prst="roundRect">
            <a:avLst>
              <a:gd name="adj" fmla="val 3636"/>
            </a:avLst>
          </a:prstGeom>
        </p:spPr>
      </p:pic>
      <p:sp>
        <p:nvSpPr>
          <p:cNvPr id="7" name="圆角矩形 6"/>
          <p:cNvSpPr>
            <a:spLocks noGrp="1"/>
          </p:cNvSpPr>
          <p:nvPr/>
        </p:nvSpPr>
        <p:spPr>
          <a:xfrm>
            <a:off x="571500" y="1428750"/>
            <a:ext cx="6858000" cy="3143250"/>
          </a:xfrm>
          <a:prstGeom prst="roundRect">
            <a:avLst>
              <a:gd name="adj" fmla="val 3636"/>
            </a:avLst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7953375" y="1524000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800" b="1">
                <a:solidFill>
                  <a:srgbClr val="715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715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生成器</a:t>
            </a:r>
            <a:endParaRPr sz="1800" b="1">
              <a:solidFill>
                <a:srgbClr val="7157B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7953375" y="1924050"/>
            <a:ext cx="3143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350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给出候选方案或最小改动</a:t>
            </a:r>
            <a:endParaRPr sz="1350" b="0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953375" y="2714625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800" b="1">
                <a:solidFill>
                  <a:srgbClr val="16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16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评估器</a:t>
            </a:r>
            <a:endParaRPr sz="1800" b="1">
              <a:solidFill>
                <a:srgbClr val="168C8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7953375" y="3114675"/>
            <a:ext cx="3143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350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按预先冻结的标准检查结果</a:t>
            </a:r>
            <a:endParaRPr sz="1350" b="0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7953375" y="3905250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8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反馈</a:t>
            </a:r>
            <a:endParaRPr sz="18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7953375" y="4305300"/>
            <a:ext cx="3143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350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指出缺口和下一条可执行动作</a:t>
            </a:r>
            <a:endParaRPr sz="1350" b="0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857250" y="5191125"/>
            <a:ext cx="2490788" cy="619125"/>
          </a:xfrm>
          <a:prstGeom prst="roundRect">
            <a:avLst>
              <a:gd name="adj" fmla="val 18462"/>
            </a:avLst>
          </a:prstGeom>
          <a:solidFill>
            <a:srgbClr val="FCEEEE"/>
          </a:solidFill>
          <a:ln w="9525">
            <a:solidFill>
              <a:srgbClr val="C84B4B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933450" y="5248275"/>
            <a:ext cx="2338388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目标未满足</a:t>
            </a:r>
            <a:endParaRPr sz="13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圆角矩形 15"/>
          <p:cNvSpPr>
            <a:spLocks noGrp="1"/>
          </p:cNvSpPr>
          <p:nvPr/>
        </p:nvSpPr>
        <p:spPr>
          <a:xfrm>
            <a:off x="3519488" y="5191125"/>
            <a:ext cx="2490788" cy="619125"/>
          </a:xfrm>
          <a:prstGeom prst="roundRect">
            <a:avLst>
              <a:gd name="adj" fmla="val 18462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3595688" y="5248275"/>
            <a:ext cx="2338388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给出证据</a:t>
            </a:r>
            <a:endParaRPr sz="13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圆角矩形 17"/>
          <p:cNvSpPr>
            <a:spLocks noGrp="1"/>
          </p:cNvSpPr>
          <p:nvPr/>
        </p:nvSpPr>
        <p:spPr>
          <a:xfrm>
            <a:off x="6181725" y="5191125"/>
            <a:ext cx="2490788" cy="619125"/>
          </a:xfrm>
          <a:prstGeom prst="roundRect">
            <a:avLst>
              <a:gd name="adj" fmla="val 18462"/>
            </a:avLst>
          </a:prstGeom>
          <a:solidFill>
            <a:srgbClr val="FFF7E3"/>
          </a:solidFill>
          <a:ln w="9525">
            <a:solidFill>
              <a:srgbClr val="D89518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6257925" y="5248275"/>
            <a:ext cx="2338388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缩小差距</a:t>
            </a:r>
            <a:endParaRPr sz="13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圆角矩形 19"/>
          <p:cNvSpPr>
            <a:spLocks noGrp="1"/>
          </p:cNvSpPr>
          <p:nvPr/>
        </p:nvSpPr>
        <p:spPr>
          <a:xfrm>
            <a:off x="8843963" y="5191125"/>
            <a:ext cx="2490788" cy="619125"/>
          </a:xfrm>
          <a:prstGeom prst="roundRect">
            <a:avLst>
              <a:gd name="adj" fmla="val 18462"/>
            </a:avLst>
          </a:prstGeom>
          <a:solidFill>
            <a:srgbClr val="EBF8F1"/>
          </a:solidFill>
          <a:ln w="9525">
            <a:solidFill>
              <a:srgbClr val="2F8F5B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8920163" y="5248275"/>
            <a:ext cx="2338388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重新评估</a:t>
            </a:r>
            <a:endParaRPr sz="13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48" name="直接箭头连接符 47"/>
          <p:cNvCxnSpPr>
            <a:stCxn id="14" idx="3"/>
            <a:endCxn id="16" idx="1"/>
          </p:cNvCxnSpPr>
          <p:nvPr/>
        </p:nvCxnSpPr>
        <p:spPr>
          <a:xfrm>
            <a:off x="3348038" y="5500688"/>
            <a:ext cx="17145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9" name="直接箭头连接符 48"/>
          <p:cNvCxnSpPr>
            <a:stCxn id="16" idx="3"/>
            <a:endCxn id="18" idx="1"/>
          </p:cNvCxnSpPr>
          <p:nvPr/>
        </p:nvCxnSpPr>
        <p:spPr>
          <a:xfrm>
            <a:off x="6010276" y="5500688"/>
            <a:ext cx="171449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0" name="直接箭头连接符 49"/>
          <p:cNvCxnSpPr>
            <a:stCxn id="18" idx="3"/>
            <a:endCxn id="20" idx="1"/>
          </p:cNvCxnSpPr>
          <p:nvPr/>
        </p:nvCxnSpPr>
        <p:spPr>
          <a:xfrm>
            <a:off x="8672513" y="5500688"/>
            <a:ext cx="17145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5" name="矩形 24"/>
          <p:cNvSpPr>
            <a:spLocks noGrp="1"/>
          </p:cNvSpPr>
          <p:nvPr/>
        </p:nvSpPr>
        <p:spPr>
          <a:xfrm>
            <a:off x="2571750" y="6000750"/>
            <a:ext cx="7048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ctr">
              <a:defRPr sz="15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接受不是“AI 觉得可以”，而是检查标准已经通过。</a:t>
            </a:r>
            <a:endParaRPr sz="15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0" name="矩形 29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 人—AI 对齐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进入工程案例前，先把四件事写成契约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08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666750" y="1190625"/>
            <a:ext cx="1085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ctr">
              <a:defRPr sz="1575" b="1">
                <a:solidFill>
                  <a:srgbClr val="16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1">
                <a:solidFill>
                  <a:srgbClr val="16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后面的两个案例都会从同一份“对齐契约”开始，而不是从写代码开始。</a:t>
            </a:r>
            <a:endParaRPr sz="1575" b="1">
              <a:solidFill>
                <a:srgbClr val="168C8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圆角矩形 6"/>
          <p:cNvSpPr>
            <a:spLocks noGrp="1"/>
          </p:cNvSpPr>
          <p:nvPr/>
        </p:nvSpPr>
        <p:spPr>
          <a:xfrm>
            <a:off x="904875" y="1809750"/>
            <a:ext cx="10382250" cy="333375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1190625" y="2009775"/>
            <a:ext cx="5238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</a:t>
            </a:r>
            <a:endParaRPr sz="1200" b="1">
              <a:solidFill>
                <a:srgbClr val="1677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905000" y="1952625"/>
            <a:ext cx="1047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7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</a:t>
            </a:r>
            <a:endParaRPr sz="17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3190875" y="1952625"/>
            <a:ext cx="528637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3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本轮唯一要改变的结果是什么？</a:t>
            </a:r>
            <a:endParaRPr sz="13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8763000" y="1952625"/>
            <a:ext cx="21431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200" b="1">
                <a:solidFill>
                  <a:srgbClr val="5F6B7A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00" b="1">
                <a:solidFill>
                  <a:srgbClr val="5F6B7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spec / success criteria</a:t>
            </a:r>
            <a:endParaRPr sz="1200" b="1">
              <a:solidFill>
                <a:srgbClr val="5F6B7A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143000" y="2657475"/>
            <a:ext cx="99060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1190625" y="2790825"/>
            <a:ext cx="5238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715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715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</a:t>
            </a:r>
            <a:endParaRPr sz="1200" b="1">
              <a:solidFill>
                <a:srgbClr val="7157B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1905000" y="2733675"/>
            <a:ext cx="1047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7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边界</a:t>
            </a:r>
            <a:endParaRPr sz="17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3190875" y="2733675"/>
            <a:ext cx="528637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3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允许改什么、禁止改什么，哪些决定必须由人关闭？</a:t>
            </a:r>
            <a:endParaRPr sz="13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763000" y="2733675"/>
            <a:ext cx="21431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200" b="1">
                <a:solidFill>
                  <a:srgbClr val="5F6B7A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00" b="1">
                <a:solidFill>
                  <a:srgbClr val="5F6B7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allowed / forbidden / open</a:t>
            </a:r>
            <a:endParaRPr sz="1200" b="1">
              <a:solidFill>
                <a:srgbClr val="5F6B7A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1143000" y="3438525"/>
            <a:ext cx="99060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1190625" y="3571875"/>
            <a:ext cx="5238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2F8F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2F8F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</a:t>
            </a:r>
            <a:endParaRPr sz="1200" b="1">
              <a:solidFill>
                <a:srgbClr val="2F8F5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1905000" y="3514725"/>
            <a:ext cx="1047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7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验收</a:t>
            </a:r>
            <a:endParaRPr sz="17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3190875" y="3514725"/>
            <a:ext cx="528637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3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用什么测试、回读、日志或画面证明结果成立？</a:t>
            </a:r>
            <a:endParaRPr sz="13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8763000" y="3514725"/>
            <a:ext cx="21431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200" b="1">
                <a:solidFill>
                  <a:srgbClr val="5F6B7A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00" b="1">
                <a:solidFill>
                  <a:srgbClr val="5F6B7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RED / GREEN / evidence</a:t>
            </a:r>
            <a:endParaRPr sz="1200" b="1">
              <a:solidFill>
                <a:srgbClr val="5F6B7A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1143000" y="4219575"/>
            <a:ext cx="99060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1190625" y="4352925"/>
            <a:ext cx="5238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</a:t>
            </a:r>
            <a:endParaRPr sz="12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1905000" y="4295775"/>
            <a:ext cx="1047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7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停止</a:t>
            </a:r>
            <a:endParaRPr sz="17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3190875" y="4295775"/>
            <a:ext cx="528637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3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何时提交，何时回退，何时保留 UNKNOWN 并问人？</a:t>
            </a:r>
            <a:endParaRPr sz="13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8763000" y="4295775"/>
            <a:ext cx="21431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200" b="1">
                <a:solidFill>
                  <a:srgbClr val="5F6B7A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00" b="1">
                <a:solidFill>
                  <a:srgbClr val="5F6B7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stop / rollback / escalate</a:t>
            </a:r>
            <a:endParaRPr sz="1200" b="1">
              <a:solidFill>
                <a:srgbClr val="5F6B7A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1524000" y="5572125"/>
            <a:ext cx="57150" cy="552450"/>
          </a:xfrm>
          <a:prstGeom prst="rect">
            <a:avLst/>
          </a:prstGeom>
          <a:solidFill>
            <a:srgbClr val="E26852"/>
          </a:solidFill>
          <a:ln w="0">
            <a:noFill/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1695450" y="5610225"/>
            <a:ext cx="8972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6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 9 页开始：把这四项放进真实文档、代码、测试和设备证据。</a:t>
            </a:r>
            <a:endParaRPr sz="16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1" name="矩形 50"/>
          <p:cNvSpPr>
            <a:spLocks noGrp="1"/>
          </p:cNvSpPr>
          <p:nvPr/>
        </p:nvSpPr>
        <p:spPr>
          <a:xfrm>
            <a:off x="514350" y="1714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MDM 案例｜真实交付链</a:t>
            </a:r>
            <a:endParaRPr sz="975" b="1">
              <a:solidFill>
                <a:srgbClr val="E764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334750" y="1714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09</a:t>
            </a:r>
            <a:endParaRPr sz="975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419100"/>
            <a:ext cx="1066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MDM 案例：账号变化后，防火墙为什么仍可能“看起来正常、实际错误”</a:t>
            </a:r>
            <a:endParaRPr sz="20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866775"/>
            <a:ext cx="1066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真实业务：系统账号增删后，policy、规则、本地记录和跨进程 UI 必须收敛到同一账号集合</a:t>
            </a:r>
            <a:endParaRPr sz="1125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1152525"/>
            <a:ext cx="11163300" cy="14288"/>
          </a:xfrm>
          <a:prstGeom prst="rect">
            <a:avLst/>
          </a:prstGeom>
          <a:solidFill>
            <a:srgbClr val="D7E0EA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590550" y="1323975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业务链路</a:t>
            </a:r>
            <a:endParaRPr sz="1275" b="1">
              <a:solidFill>
                <a:srgbClr val="2878D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09600" y="1590675"/>
            <a:ext cx="590550" cy="38100"/>
          </a:xfrm>
          <a:prstGeom prst="rect">
            <a:avLst/>
          </a:prstGeom>
          <a:solidFill>
            <a:srgbClr val="2878D0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8" name="圆角矩形 7"/>
          <p:cNvSpPr>
            <a:spLocks noGrp="1"/>
          </p:cNvSpPr>
          <p:nvPr/>
        </p:nvSpPr>
        <p:spPr>
          <a:xfrm>
            <a:off x="609600" y="1724025"/>
            <a:ext cx="1828800" cy="685800"/>
          </a:xfrm>
          <a:prstGeom prst="roundRect">
            <a:avLst>
              <a:gd name="adj" fmla="val 16667"/>
            </a:avLst>
          </a:prstGeom>
          <a:solidFill>
            <a:srgbClr val="EAF3FD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685800" y="1809750"/>
            <a:ext cx="1676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系统账号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新增 / 删除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486025" y="1914525"/>
            <a:ext cx="2952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1650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圆角矩形 10"/>
          <p:cNvSpPr>
            <a:spLocks noGrp="1"/>
          </p:cNvSpPr>
          <p:nvPr/>
        </p:nvSpPr>
        <p:spPr>
          <a:xfrm>
            <a:off x="2819400" y="1724025"/>
            <a:ext cx="1828800" cy="685800"/>
          </a:xfrm>
          <a:prstGeom prst="roundRect">
            <a:avLst>
              <a:gd name="adj" fmla="val 16667"/>
            </a:avLst>
          </a:prstGeom>
          <a:solidFill>
            <a:srgbClr val="E8F6F3"/>
          </a:solidFill>
          <a:ln w="11430">
            <a:solidFill>
              <a:srgbClr val="248C82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2895600" y="1809750"/>
            <a:ext cx="1676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603"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EnterpriseAdminAbility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收到事件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695825" y="1914525"/>
            <a:ext cx="2952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1650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5029200" y="1724025"/>
            <a:ext cx="1828800" cy="685800"/>
          </a:xfrm>
          <a:prstGeom prst="roundRect">
            <a:avLst>
              <a:gd name="adj" fmla="val 16667"/>
            </a:avLst>
          </a:prstGeom>
          <a:solidFill>
            <a:srgbClr val="F1EDFF"/>
          </a:solidFill>
          <a:ln w="11430">
            <a:solidFill>
              <a:srgbClr val="7256D8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5105400" y="1809750"/>
            <a:ext cx="1676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Coordinator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读取稳定全量快照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6905625" y="1914525"/>
            <a:ext cx="2952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1650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圆角矩形 16"/>
          <p:cNvSpPr>
            <a:spLocks noGrp="1"/>
          </p:cNvSpPr>
          <p:nvPr/>
        </p:nvSpPr>
        <p:spPr>
          <a:xfrm>
            <a:off x="7239000" y="1724025"/>
            <a:ext cx="1828800" cy="685800"/>
          </a:xfrm>
          <a:prstGeom prst="roundRect">
            <a:avLst>
              <a:gd name="adj" fmla="val 16667"/>
            </a:avLst>
          </a:prstGeom>
          <a:solidFill>
            <a:srgbClr val="FFF6DE"/>
          </a:solidFill>
          <a:ln w="11430">
            <a:solidFill>
              <a:srgbClr val="D99018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7315200" y="1809750"/>
            <a:ext cx="1676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Firewall Handler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prune / policy / rules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9115425" y="1914525"/>
            <a:ext cx="2952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1650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圆角矩形 19"/>
          <p:cNvSpPr>
            <a:spLocks noGrp="1"/>
          </p:cNvSpPr>
          <p:nvPr/>
        </p:nvSpPr>
        <p:spPr>
          <a:xfrm>
            <a:off x="9448800" y="1724025"/>
            <a:ext cx="1828800" cy="685800"/>
          </a:xfrm>
          <a:prstGeom prst="roundRect">
            <a:avLst>
              <a:gd name="adj" fmla="val 16667"/>
            </a:avLst>
          </a:prstGeom>
          <a:solidFill>
            <a:srgbClr val="EAF7EF"/>
          </a:solidFill>
          <a:ln w="11430">
            <a:solidFill>
              <a:srgbClr val="258A58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9525000" y="1809750"/>
            <a:ext cx="1676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系统事实 + UI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跨进程刷新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590550" y="2657475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为什么这是复杂需求</a:t>
            </a:r>
            <a:endParaRPr sz="1275" b="1">
              <a:solidFill>
                <a:srgbClr val="E764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609600" y="2924175"/>
            <a:ext cx="590550" cy="38100"/>
          </a:xfrm>
          <a:prstGeom prst="rect">
            <a:avLst/>
          </a:prstGeom>
          <a:solidFill>
            <a:srgbClr val="E7644A"/>
          </a:solidFill>
          <a:ln w="11430">
            <a:solidFill>
              <a:srgbClr val="E7644A"/>
            </a:solidFill>
            <a:prstDash val="solid"/>
          </a:ln>
        </p:spPr>
      </p:sp>
      <p:sp>
        <p:nvSpPr>
          <p:cNvPr id="24" name="圆角矩形 23"/>
          <p:cNvSpPr>
            <a:spLocks noGrp="1"/>
          </p:cNvSpPr>
          <p:nvPr/>
        </p:nvSpPr>
        <p:spPr>
          <a:xfrm>
            <a:off x="590550" y="3067050"/>
            <a:ext cx="3371850" cy="14859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25" name="圆角矩形 24"/>
          <p:cNvSpPr>
            <a:spLocks noGrp="1"/>
          </p:cNvSpPr>
          <p:nvPr/>
        </p:nvSpPr>
        <p:spPr>
          <a:xfrm>
            <a:off x="723900" y="3181350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FFF0EC"/>
          </a:solidFill>
          <a:ln w="11430">
            <a:solidFill>
              <a:srgbClr val="E7644A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781050" y="3190875"/>
            <a:ext cx="1314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误判 1</a:t>
            </a:r>
            <a:endParaRPr sz="975" b="1">
              <a:solidFill>
                <a:srgbClr val="E764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733425" y="3524250"/>
            <a:ext cx="3086100" cy="933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事件已到达 ≠ 完整账号列表已经更新</a:t>
            </a:r>
            <a:endParaRPr sz="11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sz="1125"/>
          </a:p>
          <a:p>
            <a:pPr algn="l">
              <a:lnSpc>
                <a:spcPct val="108000"/>
              </a:lnSpc>
              <a:buNone/>
              <a:def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首次读取仍可能是旧集合，直接 dispatch 会把旧事实当成功。</a:t>
            </a:r>
            <a:endParaRPr sz="11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圆角矩形 27"/>
          <p:cNvSpPr>
            <a:spLocks noGrp="1"/>
          </p:cNvSpPr>
          <p:nvPr/>
        </p:nvSpPr>
        <p:spPr>
          <a:xfrm>
            <a:off x="4171950" y="3067050"/>
            <a:ext cx="3371850" cy="14859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29" name="圆角矩形 28"/>
          <p:cNvSpPr>
            <a:spLocks noGrp="1"/>
          </p:cNvSpPr>
          <p:nvPr/>
        </p:nvSpPr>
        <p:spPr>
          <a:xfrm>
            <a:off x="4305300" y="3181350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1430">
            <a:solidFill>
              <a:srgbClr val="7256D8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4362450" y="3190875"/>
            <a:ext cx="1314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误判 2</a:t>
            </a:r>
            <a:endParaRPr sz="975" b="1">
              <a:solidFill>
                <a:srgbClr val="7256D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4314825" y="3524250"/>
            <a:ext cx="3086100" cy="933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8162"/>
          </a:bodyPr>
          <a:lstStyle/>
          <a:p>
            <a:pPr algn="l">
              <a:lnSpc>
                <a:spcPct val="108000"/>
              </a:lnSpc>
              <a:buNone/>
              <a:def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Handler 返回 success ≠ UI 进程全部刷新</a:t>
            </a:r>
            <a:endParaRPr sz="11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sz="1125"/>
          </a:p>
          <a:p>
            <a:pPr algn="l">
              <a:lnSpc>
                <a:spcPct val="108000"/>
              </a:lnSpc>
              <a:buNone/>
              <a:def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Extension 与 UI 是不同进程，进程内回调和静态变量不能跨边界。</a:t>
            </a:r>
            <a:endParaRPr sz="11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圆角矩形 31"/>
          <p:cNvSpPr>
            <a:spLocks noGrp="1"/>
          </p:cNvSpPr>
          <p:nvPr/>
        </p:nvSpPr>
        <p:spPr>
          <a:xfrm>
            <a:off x="7753350" y="3067050"/>
            <a:ext cx="3371850" cy="14859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33" name="圆角矩形 32"/>
          <p:cNvSpPr>
            <a:spLocks noGrp="1"/>
          </p:cNvSpPr>
          <p:nvPr/>
        </p:nvSpPr>
        <p:spPr>
          <a:xfrm>
            <a:off x="7886700" y="3181350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FFF6DE"/>
          </a:solidFill>
          <a:ln w="11430">
            <a:solidFill>
              <a:srgbClr val="D99018"/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7943850" y="3190875"/>
            <a:ext cx="1314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D9901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误判 3</a:t>
            </a:r>
            <a:endParaRPr sz="975" b="1">
              <a:solidFill>
                <a:srgbClr val="D9901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7896225" y="3524250"/>
            <a:ext cx="3086100" cy="933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页面显示正确 ≠ 系统 policy / rules 已正确</a:t>
            </a:r>
            <a:endParaRPr sz="11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sz="1125"/>
          </a:p>
          <a:p>
            <a:pPr algn="l">
              <a:lnSpc>
                <a:spcPct val="108000"/>
              </a:lnSpc>
              <a:buNone/>
              <a:def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截图只能证明 UI；最终验收还要读取每个账号的系统事实。</a:t>
            </a:r>
            <a:endParaRPr sz="11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6" name="圆角矩形 35"/>
          <p:cNvSpPr>
            <a:spLocks noGrp="1"/>
          </p:cNvSpPr>
          <p:nvPr/>
        </p:nvSpPr>
        <p:spPr>
          <a:xfrm>
            <a:off x="590550" y="4781550"/>
            <a:ext cx="10534650" cy="123825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781050" y="49339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本案例真正要交付的不是一个页面，而是一条可证明的状态收敛协议</a:t>
            </a:r>
            <a:endParaRPr sz="15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圆角矩形 37"/>
          <p:cNvSpPr>
            <a:spLocks noGrp="1"/>
          </p:cNvSpPr>
          <p:nvPr/>
        </p:nvSpPr>
        <p:spPr>
          <a:xfrm>
            <a:off x="781050" y="5334000"/>
            <a:ext cx="2800350" cy="266700"/>
          </a:xfrm>
          <a:prstGeom prst="roundRect">
            <a:avLst>
              <a:gd name="adj" fmla="val 50000"/>
            </a:avLst>
          </a:prstGeom>
          <a:solidFill>
            <a:srgbClr val="EAF3FD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39" name="矩形 38"/>
          <p:cNvSpPr>
            <a:spLocks noGrp="1"/>
          </p:cNvSpPr>
          <p:nvPr/>
        </p:nvSpPr>
        <p:spPr>
          <a:xfrm>
            <a:off x="838200" y="5343525"/>
            <a:ext cx="26860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 最新账号集合</a:t>
            </a:r>
            <a:endParaRPr sz="975" b="1">
              <a:solidFill>
                <a:srgbClr val="2878D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0" name="圆角矩形 39"/>
          <p:cNvSpPr>
            <a:spLocks noGrp="1"/>
          </p:cNvSpPr>
          <p:nvPr/>
        </p:nvSpPr>
        <p:spPr>
          <a:xfrm>
            <a:off x="3924300" y="5334000"/>
            <a:ext cx="2800350" cy="266700"/>
          </a:xfrm>
          <a:prstGeom prst="roundRect">
            <a:avLst>
              <a:gd name="adj" fmla="val 50000"/>
            </a:avLst>
          </a:prstGeom>
          <a:solidFill>
            <a:srgbClr val="E8F6F3"/>
          </a:solidFill>
          <a:ln w="11430">
            <a:solidFill>
              <a:srgbClr val="248C82"/>
            </a:solidFill>
            <a:prstDash val="solid"/>
          </a:ln>
        </p:spPr>
      </p:sp>
      <p:sp>
        <p:nvSpPr>
          <p:cNvPr id="41" name="矩形 40"/>
          <p:cNvSpPr>
            <a:spLocks noGrp="1"/>
          </p:cNvSpPr>
          <p:nvPr/>
        </p:nvSpPr>
        <p:spPr>
          <a:xfrm>
            <a:off x="3981450" y="5343525"/>
            <a:ext cx="26860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4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 每账号 policy / rules</a:t>
            </a:r>
            <a:endParaRPr sz="975" b="1">
              <a:solidFill>
                <a:srgbClr val="248C8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2" name="圆角矩形 41"/>
          <p:cNvSpPr>
            <a:spLocks noGrp="1"/>
          </p:cNvSpPr>
          <p:nvPr/>
        </p:nvSpPr>
        <p:spPr>
          <a:xfrm>
            <a:off x="7067550" y="5334000"/>
            <a:ext cx="2800350" cy="266700"/>
          </a:xfrm>
          <a:prstGeom prst="roundRect">
            <a:avLst>
              <a:gd name="adj" fmla="val 50000"/>
            </a:avLst>
          </a:prstGeom>
          <a:solidFill>
            <a:srgbClr val="EAF3FD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43" name="矩形 42"/>
          <p:cNvSpPr>
            <a:spLocks noGrp="1"/>
          </p:cNvSpPr>
          <p:nvPr/>
        </p:nvSpPr>
        <p:spPr>
          <a:xfrm>
            <a:off x="7124700" y="5343525"/>
            <a:ext cx="26860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 本地 intent / deployment</a:t>
            </a:r>
            <a:endParaRPr sz="975" b="1">
              <a:solidFill>
                <a:srgbClr val="2878D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4" name="圆角矩形 43"/>
          <p:cNvSpPr>
            <a:spLocks noGrp="1"/>
          </p:cNvSpPr>
          <p:nvPr/>
        </p:nvSpPr>
        <p:spPr>
          <a:xfrm>
            <a:off x="781050" y="5695950"/>
            <a:ext cx="2800350" cy="266700"/>
          </a:xfrm>
          <a:prstGeom prst="roundRect">
            <a:avLst>
              <a:gd name="adj" fmla="val 50000"/>
            </a:avLst>
          </a:prstGeom>
          <a:solidFill>
            <a:srgbClr val="E8F6F3"/>
          </a:solidFill>
          <a:ln w="11430">
            <a:solidFill>
              <a:srgbClr val="248C82"/>
            </a:solidFill>
            <a:prstDash val="solid"/>
          </a:ln>
        </p:spPr>
      </p:sp>
      <p:sp>
        <p:nvSpPr>
          <p:cNvPr id="45" name="矩形 44"/>
          <p:cNvSpPr>
            <a:spLocks noGrp="1"/>
          </p:cNvSpPr>
          <p:nvPr/>
        </p:nvSpPr>
        <p:spPr>
          <a:xfrm>
            <a:off x="838200" y="5705475"/>
            <a:ext cx="26860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4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 跨进程 UI</a:t>
            </a:r>
            <a:endParaRPr sz="975" b="1">
              <a:solidFill>
                <a:srgbClr val="248C8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" name="圆角矩形 45"/>
          <p:cNvSpPr>
            <a:spLocks noGrp="1"/>
          </p:cNvSpPr>
          <p:nvPr/>
        </p:nvSpPr>
        <p:spPr>
          <a:xfrm>
            <a:off x="3924300" y="5695950"/>
            <a:ext cx="2800350" cy="266700"/>
          </a:xfrm>
          <a:prstGeom prst="roundRect">
            <a:avLst>
              <a:gd name="adj" fmla="val 50000"/>
            </a:avLst>
          </a:prstGeom>
          <a:solidFill>
            <a:srgbClr val="EAF3FD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47" name="矩形 46"/>
          <p:cNvSpPr>
            <a:spLocks noGrp="1"/>
          </p:cNvSpPr>
          <p:nvPr/>
        </p:nvSpPr>
        <p:spPr>
          <a:xfrm>
            <a:off x="3981450" y="5705475"/>
            <a:ext cx="26860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 失败保持与可回滚</a:t>
            </a:r>
            <a:endParaRPr sz="975" b="1">
              <a:solidFill>
                <a:srgbClr val="2878D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8" name="矩形 47"/>
          <p:cNvSpPr>
            <a:spLocks noGrp="1"/>
          </p:cNvSpPr>
          <p:nvPr/>
        </p:nvSpPr>
        <p:spPr>
          <a:xfrm>
            <a:off x="514350" y="6534150"/>
            <a:ext cx="9620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79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9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证据：evidence/mdm/account-cross-process-log.md；功能入口：EnterpriseAdminAbility.onAccountAdded/Removed</a:t>
            </a:r>
            <a:endParaRPr sz="79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9" name="圆角矩形 48"/>
          <p:cNvSpPr>
            <a:spLocks noGrp="1"/>
          </p:cNvSpPr>
          <p:nvPr/>
        </p:nvSpPr>
        <p:spPr>
          <a:xfrm>
            <a:off x="10382250" y="6477000"/>
            <a:ext cx="1295400" cy="26670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1430">
            <a:solidFill>
              <a:srgbClr val="7256D8"/>
            </a:solidFill>
            <a:prstDash val="solid"/>
          </a:ln>
        </p:spPr>
      </p:sp>
      <p:sp>
        <p:nvSpPr>
          <p:cNvPr id="50" name="矩形 49"/>
          <p:cNvSpPr>
            <a:spLocks noGrp="1"/>
          </p:cNvSpPr>
          <p:nvPr/>
        </p:nvSpPr>
        <p:spPr>
          <a:xfrm>
            <a:off x="10439400" y="6486525"/>
            <a:ext cx="11811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REPO FACT</a:t>
            </a:r>
            <a:endParaRPr sz="975" b="1">
              <a:solidFill>
                <a:srgbClr val="7256D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5" name="矩形 54"/>
          <p:cNvSpPr>
            <a:spLocks noGrp="1"/>
          </p:cNvSpPr>
          <p:nvPr/>
        </p:nvSpPr>
        <p:spPr>
          <a:xfrm>
            <a:off x="514350" y="1714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MDM 案例｜真实交付链</a:t>
            </a:r>
            <a:endParaRPr sz="975" b="1">
              <a:solidFill>
                <a:srgbClr val="E764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334750" y="1714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10</a:t>
            </a:r>
            <a:endParaRPr sz="975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419100"/>
            <a:ext cx="1066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先生成六份文档，再允许 AI 写代码：每一阶段都有出口门</a:t>
            </a:r>
            <a:endParaRPr sz="21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866775"/>
            <a:ext cx="1066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这些不是课件占位，而是本案例已经生成、可回读、可审查的真实 Markdown 产物</a:t>
            </a:r>
            <a:endParaRPr sz="1125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1152525"/>
            <a:ext cx="11163300" cy="14288"/>
          </a:xfrm>
          <a:prstGeom prst="rect">
            <a:avLst/>
          </a:prstGeom>
          <a:solidFill>
            <a:srgbClr val="D7E0EA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6" name="圆角矩形 5"/>
          <p:cNvSpPr>
            <a:spLocks noGrp="1"/>
          </p:cNvSpPr>
          <p:nvPr/>
        </p:nvSpPr>
        <p:spPr>
          <a:xfrm>
            <a:off x="552450" y="1362075"/>
            <a:ext cx="3486150" cy="17145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7" name="圆角矩形 6"/>
          <p:cNvSpPr>
            <a:spLocks noGrp="1"/>
          </p:cNvSpPr>
          <p:nvPr/>
        </p:nvSpPr>
        <p:spPr>
          <a:xfrm>
            <a:off x="704850" y="1495425"/>
            <a:ext cx="1257300" cy="266700"/>
          </a:xfrm>
          <a:prstGeom prst="roundRect">
            <a:avLst>
              <a:gd name="adj" fmla="val 50000"/>
            </a:avLst>
          </a:prstGeom>
          <a:solidFill>
            <a:srgbClr val="EAF3FD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762000" y="1504950"/>
            <a:ext cx="1143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 资产同步</a:t>
            </a:r>
            <a:endParaRPr sz="975" b="1">
              <a:solidFill>
                <a:srgbClr val="2878D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723900" y="18669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01-资产同步与冲突清单.md</a:t>
            </a:r>
            <a:endParaRPr sz="12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23900" y="2228850"/>
            <a:ext cx="3143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1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1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生成内容：来源 / 术语 / 冲突 / 缺口</a:t>
            </a:r>
            <a:endParaRPr sz="1015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圆角矩形 10"/>
          <p:cNvSpPr>
            <a:spLocks noGrp="1"/>
          </p:cNvSpPr>
          <p:nvPr/>
        </p:nvSpPr>
        <p:spPr>
          <a:xfrm>
            <a:off x="723900" y="2667000"/>
            <a:ext cx="3143250" cy="266700"/>
          </a:xfrm>
          <a:prstGeom prst="roundRect">
            <a:avLst>
              <a:gd name="adj" fmla="val 21429"/>
            </a:avLst>
          </a:prstGeom>
          <a:solidFill>
            <a:srgbClr val="EAF3FD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790575" y="2686050"/>
            <a:ext cx="3009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940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Gate：关键需求有 ID 和证据路径</a:t>
            </a:r>
            <a:endParaRPr sz="940" b="1">
              <a:solidFill>
                <a:srgbClr val="2878D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圆角矩形 12"/>
          <p:cNvSpPr>
            <a:spLocks noGrp="1"/>
          </p:cNvSpPr>
          <p:nvPr/>
        </p:nvSpPr>
        <p:spPr>
          <a:xfrm>
            <a:off x="4286250" y="1362075"/>
            <a:ext cx="3486150" cy="17145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1430">
            <a:solidFill>
              <a:srgbClr val="248C82"/>
            </a:solidFill>
            <a:prstDash val="solid"/>
          </a:ln>
        </p:spPr>
      </p:sp>
      <p:sp>
        <p:nvSpPr>
          <p:cNvPr id="14" name="圆角矩形 13"/>
          <p:cNvSpPr>
            <a:spLocks noGrp="1"/>
          </p:cNvSpPr>
          <p:nvPr/>
        </p:nvSpPr>
        <p:spPr>
          <a:xfrm>
            <a:off x="4438650" y="1495425"/>
            <a:ext cx="1257300" cy="266700"/>
          </a:xfrm>
          <a:prstGeom prst="roundRect">
            <a:avLst>
              <a:gd name="adj" fmla="val 50000"/>
            </a:avLst>
          </a:prstGeom>
          <a:solidFill>
            <a:srgbClr val="E8F6F3"/>
          </a:solidFill>
          <a:ln w="11430">
            <a:solidFill>
              <a:srgbClr val="248C82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4495800" y="1504950"/>
            <a:ext cx="1143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4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 方案推导</a:t>
            </a:r>
            <a:endParaRPr sz="975" b="1">
              <a:solidFill>
                <a:srgbClr val="248C8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4457700" y="18669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02-方案推导与决策记录.md</a:t>
            </a:r>
            <a:endParaRPr sz="12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4457700" y="2228850"/>
            <a:ext cx="3143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1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1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生成内容：备选方案 / 失败模式 / ADR</a:t>
            </a:r>
            <a:endParaRPr sz="1015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圆角矩形 17"/>
          <p:cNvSpPr>
            <a:spLocks noGrp="1"/>
          </p:cNvSpPr>
          <p:nvPr/>
        </p:nvSpPr>
        <p:spPr>
          <a:xfrm>
            <a:off x="4457700" y="2667000"/>
            <a:ext cx="3143250" cy="266700"/>
          </a:xfrm>
          <a:prstGeom prst="roundRect">
            <a:avLst>
              <a:gd name="adj" fmla="val 21429"/>
            </a:avLst>
          </a:prstGeom>
          <a:solidFill>
            <a:srgbClr val="E8F6F3"/>
          </a:solidFill>
          <a:ln w="11430">
            <a:solidFill>
              <a:srgbClr val="248C82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4524375" y="2686050"/>
            <a:ext cx="3009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940" b="1">
                <a:solidFill>
                  <a:srgbClr val="24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1">
                <a:solidFill>
                  <a:srgbClr val="24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Gate：真相源、所有权、失败语义冻结</a:t>
            </a:r>
            <a:endParaRPr sz="940" b="1">
              <a:solidFill>
                <a:srgbClr val="248C8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圆角矩形 19"/>
          <p:cNvSpPr>
            <a:spLocks noGrp="1"/>
          </p:cNvSpPr>
          <p:nvPr/>
        </p:nvSpPr>
        <p:spPr>
          <a:xfrm>
            <a:off x="8020050" y="1362075"/>
            <a:ext cx="3486150" cy="17145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1430">
            <a:solidFill>
              <a:srgbClr val="7256D8"/>
            </a:solidFill>
            <a:prstDash val="solid"/>
          </a:ln>
        </p:spPr>
      </p:sp>
      <p:sp>
        <p:nvSpPr>
          <p:cNvPr id="21" name="圆角矩形 20"/>
          <p:cNvSpPr>
            <a:spLocks noGrp="1"/>
          </p:cNvSpPr>
          <p:nvPr/>
        </p:nvSpPr>
        <p:spPr>
          <a:xfrm>
            <a:off x="8172450" y="1495425"/>
            <a:ext cx="1257300" cy="26670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1430">
            <a:solidFill>
              <a:srgbClr val="7256D8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8229600" y="1504950"/>
            <a:ext cx="1143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 架构 RFC</a:t>
            </a:r>
            <a:endParaRPr sz="975" b="1">
              <a:solidFill>
                <a:srgbClr val="7256D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8191500" y="18669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03-防火墙账号同步RFC.md</a:t>
            </a:r>
            <a:endParaRPr sz="12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8191500" y="2228850"/>
            <a:ext cx="3143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1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1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生成内容：范围 / 状态 / 不变量 / API</a:t>
            </a:r>
            <a:endParaRPr sz="1015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圆角矩形 24"/>
          <p:cNvSpPr>
            <a:spLocks noGrp="1"/>
          </p:cNvSpPr>
          <p:nvPr/>
        </p:nvSpPr>
        <p:spPr>
          <a:xfrm>
            <a:off x="8191500" y="2667000"/>
            <a:ext cx="3143250" cy="266700"/>
          </a:xfrm>
          <a:prstGeom prst="roundRect">
            <a:avLst>
              <a:gd name="adj" fmla="val 21429"/>
            </a:avLst>
          </a:prstGeom>
          <a:solidFill>
            <a:srgbClr val="F1EDFF"/>
          </a:solidFill>
          <a:ln w="11430">
            <a:solidFill>
              <a:srgbClr val="7256D8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8258175" y="2686050"/>
            <a:ext cx="3009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940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Gate：Story 不再重新猜架构</a:t>
            </a:r>
            <a:endParaRPr sz="940" b="1">
              <a:solidFill>
                <a:srgbClr val="7256D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圆角矩形 26"/>
          <p:cNvSpPr>
            <a:spLocks noGrp="1"/>
          </p:cNvSpPr>
          <p:nvPr/>
        </p:nvSpPr>
        <p:spPr>
          <a:xfrm>
            <a:off x="552450" y="3343275"/>
            <a:ext cx="3486150" cy="17145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1430">
            <a:solidFill>
              <a:srgbClr val="D99018"/>
            </a:solidFill>
            <a:prstDash val="solid"/>
          </a:ln>
        </p:spPr>
      </p:sp>
      <p:sp>
        <p:nvSpPr>
          <p:cNvPr id="28" name="圆角矩形 27"/>
          <p:cNvSpPr>
            <a:spLocks noGrp="1"/>
          </p:cNvSpPr>
          <p:nvPr/>
        </p:nvSpPr>
        <p:spPr>
          <a:xfrm>
            <a:off x="704850" y="3476625"/>
            <a:ext cx="1257300" cy="266700"/>
          </a:xfrm>
          <a:prstGeom prst="roundRect">
            <a:avLst>
              <a:gd name="adj" fmla="val 50000"/>
            </a:avLst>
          </a:prstGeom>
          <a:solidFill>
            <a:srgbClr val="FFF6DE"/>
          </a:solidFill>
          <a:ln w="11430">
            <a:solidFill>
              <a:srgbClr val="D99018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762000" y="3486150"/>
            <a:ext cx="1143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D9901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 Story 拆分</a:t>
            </a:r>
            <a:endParaRPr sz="975" b="1">
              <a:solidFill>
                <a:srgbClr val="D9901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723900" y="38481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04-Feature与Story拆解.md</a:t>
            </a:r>
            <a:endParaRPr sz="12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723900" y="4210050"/>
            <a:ext cx="3143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1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1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生成内容：依赖 / Worker Packet / oracle</a:t>
            </a:r>
            <a:endParaRPr sz="1015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圆角矩形 31"/>
          <p:cNvSpPr>
            <a:spLocks noGrp="1"/>
          </p:cNvSpPr>
          <p:nvPr/>
        </p:nvSpPr>
        <p:spPr>
          <a:xfrm>
            <a:off x="723900" y="4648200"/>
            <a:ext cx="3143250" cy="266700"/>
          </a:xfrm>
          <a:prstGeom prst="roundRect">
            <a:avLst>
              <a:gd name="adj" fmla="val 21429"/>
            </a:avLst>
          </a:prstGeom>
          <a:solidFill>
            <a:srgbClr val="FFF6DE"/>
          </a:solidFill>
          <a:ln w="11430">
            <a:solidFill>
              <a:srgbClr val="D99018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790575" y="4667250"/>
            <a:ext cx="3009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940" b="1">
                <a:solidFill>
                  <a:srgbClr val="D9901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1">
                <a:solidFill>
                  <a:srgbClr val="D9901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Gate：每个 Story 可独立证明</a:t>
            </a:r>
            <a:endParaRPr sz="940" b="1">
              <a:solidFill>
                <a:srgbClr val="D9901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圆角矩形 33"/>
          <p:cNvSpPr>
            <a:spLocks noGrp="1"/>
          </p:cNvSpPr>
          <p:nvPr/>
        </p:nvSpPr>
        <p:spPr>
          <a:xfrm>
            <a:off x="4286250" y="3343275"/>
            <a:ext cx="3486150" cy="17145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1430">
            <a:solidFill>
              <a:srgbClr val="E7644A"/>
            </a:solidFill>
            <a:prstDash val="solid"/>
          </a:ln>
        </p:spPr>
      </p:sp>
      <p:sp>
        <p:nvSpPr>
          <p:cNvPr id="35" name="圆角矩形 34"/>
          <p:cNvSpPr>
            <a:spLocks noGrp="1"/>
          </p:cNvSpPr>
          <p:nvPr/>
        </p:nvSpPr>
        <p:spPr>
          <a:xfrm>
            <a:off x="4438650" y="3476625"/>
            <a:ext cx="1257300" cy="266700"/>
          </a:xfrm>
          <a:prstGeom prst="roundRect">
            <a:avLst>
              <a:gd name="adj" fmla="val 50000"/>
            </a:avLst>
          </a:prstGeom>
          <a:solidFill>
            <a:srgbClr val="FFF0EC"/>
          </a:solidFill>
          <a:ln w="11430">
            <a:solidFill>
              <a:srgbClr val="E7644A"/>
            </a:solidFill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4495800" y="3486150"/>
            <a:ext cx="1143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 Ralph 迭代</a:t>
            </a:r>
            <a:endParaRPr sz="975" b="1">
              <a:solidFill>
                <a:srgbClr val="E764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4457700" y="38481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05-Ralph迭代运行账.md</a:t>
            </a:r>
            <a:endParaRPr sz="12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4457700" y="4210050"/>
            <a:ext cx="3143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1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1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生成内容：task / progress / evidence / stop</a:t>
            </a:r>
            <a:endParaRPr sz="1015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9" name="圆角矩形 38"/>
          <p:cNvSpPr>
            <a:spLocks noGrp="1"/>
          </p:cNvSpPr>
          <p:nvPr/>
        </p:nvSpPr>
        <p:spPr>
          <a:xfrm>
            <a:off x="4457700" y="4648200"/>
            <a:ext cx="3143250" cy="266700"/>
          </a:xfrm>
          <a:prstGeom prst="roundRect">
            <a:avLst>
              <a:gd name="adj" fmla="val 21429"/>
            </a:avLst>
          </a:prstGeom>
          <a:solidFill>
            <a:srgbClr val="FFF0EC"/>
          </a:solidFill>
          <a:ln w="11430">
            <a:solidFill>
              <a:srgbClr val="E7644A"/>
            </a:solidFill>
            <a:prstDash val="solid"/>
          </a:ln>
        </p:spPr>
      </p:sp>
      <p:sp>
        <p:nvSpPr>
          <p:cNvPr id="40" name="矩形 39"/>
          <p:cNvSpPr>
            <a:spLocks noGrp="1"/>
          </p:cNvSpPr>
          <p:nvPr/>
        </p:nvSpPr>
        <p:spPr>
          <a:xfrm>
            <a:off x="4524375" y="4667250"/>
            <a:ext cx="3009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940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Gate：每轮有结论、有下一步、有停止条件</a:t>
            </a:r>
            <a:endParaRPr sz="940" b="1">
              <a:solidFill>
                <a:srgbClr val="E764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1" name="圆角矩形 40"/>
          <p:cNvSpPr>
            <a:spLocks noGrp="1"/>
          </p:cNvSpPr>
          <p:nvPr/>
        </p:nvSpPr>
        <p:spPr>
          <a:xfrm>
            <a:off x="8020050" y="3343275"/>
            <a:ext cx="3486150" cy="17145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1430">
            <a:solidFill>
              <a:srgbClr val="258A58"/>
            </a:solidFill>
            <a:prstDash val="solid"/>
          </a:ln>
        </p:spPr>
      </p:sp>
      <p:sp>
        <p:nvSpPr>
          <p:cNvPr id="42" name="圆角矩形 41"/>
          <p:cNvSpPr>
            <a:spLocks noGrp="1"/>
          </p:cNvSpPr>
          <p:nvPr/>
        </p:nvSpPr>
        <p:spPr>
          <a:xfrm>
            <a:off x="8172450" y="3476625"/>
            <a:ext cx="1257300" cy="266700"/>
          </a:xfrm>
          <a:prstGeom prst="roundRect">
            <a:avLst>
              <a:gd name="adj" fmla="val 50000"/>
            </a:avLst>
          </a:prstGeom>
          <a:solidFill>
            <a:srgbClr val="EAF7EF"/>
          </a:solidFill>
          <a:ln w="11430">
            <a:solidFill>
              <a:srgbClr val="258A58"/>
            </a:solidFill>
            <a:prstDash val="solid"/>
          </a:ln>
        </p:spPr>
      </p:sp>
      <p:sp>
        <p:nvSpPr>
          <p:cNvPr id="43" name="矩形 42"/>
          <p:cNvSpPr>
            <a:spLocks noGrp="1"/>
          </p:cNvSpPr>
          <p:nvPr/>
        </p:nvSpPr>
        <p:spPr>
          <a:xfrm>
            <a:off x="8229600" y="3486150"/>
            <a:ext cx="1143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58A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 测试验收</a:t>
            </a:r>
            <a:endParaRPr sz="975" b="1">
              <a:solidFill>
                <a:srgbClr val="258A5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4" name="矩形 43"/>
          <p:cNvSpPr>
            <a:spLocks noGrp="1"/>
          </p:cNvSpPr>
          <p:nvPr/>
        </p:nvSpPr>
        <p:spPr>
          <a:xfrm>
            <a:off x="8191500" y="38481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06-测试验收报告.md</a:t>
            </a:r>
            <a:endParaRPr sz="12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5" name="矩形 44"/>
          <p:cNvSpPr>
            <a:spLocks noGrp="1"/>
          </p:cNvSpPr>
          <p:nvPr/>
        </p:nvSpPr>
        <p:spPr>
          <a:xfrm>
            <a:off x="8191500" y="4210050"/>
            <a:ext cx="3143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1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1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生成内容：UT / E2E / 设备 / 系统回读</a:t>
            </a:r>
            <a:endParaRPr sz="1015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" name="圆角矩形 45"/>
          <p:cNvSpPr>
            <a:spLocks noGrp="1"/>
          </p:cNvSpPr>
          <p:nvPr/>
        </p:nvSpPr>
        <p:spPr>
          <a:xfrm>
            <a:off x="8191500" y="4648200"/>
            <a:ext cx="3143250" cy="266700"/>
          </a:xfrm>
          <a:prstGeom prst="roundRect">
            <a:avLst>
              <a:gd name="adj" fmla="val 21429"/>
            </a:avLst>
          </a:prstGeom>
          <a:solidFill>
            <a:srgbClr val="EAF7EF"/>
          </a:solidFill>
          <a:ln w="11430">
            <a:solidFill>
              <a:srgbClr val="258A58"/>
            </a:solidFill>
            <a:prstDash val="solid"/>
          </a:ln>
        </p:spPr>
      </p:sp>
      <p:sp>
        <p:nvSpPr>
          <p:cNvPr id="47" name="矩形 46"/>
          <p:cNvSpPr>
            <a:spLocks noGrp="1"/>
          </p:cNvSpPr>
          <p:nvPr/>
        </p:nvSpPr>
        <p:spPr>
          <a:xfrm>
            <a:off x="8258175" y="4667250"/>
            <a:ext cx="3009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940" b="1">
                <a:solidFill>
                  <a:srgbClr val="258A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1">
                <a:solidFill>
                  <a:srgbClr val="258A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Gate：PASS / FAIL / UNKNOWN 分层判定</a:t>
            </a:r>
            <a:endParaRPr sz="940" b="1">
              <a:solidFill>
                <a:srgbClr val="258A5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8" name="圆角矩形 47"/>
          <p:cNvSpPr>
            <a:spLocks noGrp="1"/>
          </p:cNvSpPr>
          <p:nvPr/>
        </p:nvSpPr>
        <p:spPr>
          <a:xfrm>
            <a:off x="552450" y="5467350"/>
            <a:ext cx="10953750" cy="723900"/>
          </a:xfrm>
          <a:prstGeom prst="roundRect">
            <a:avLst>
              <a:gd name="adj" fmla="val 15789"/>
            </a:avLst>
          </a:prstGeom>
          <a:solidFill>
            <a:srgbClr val="F1F4F8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49" name="矩形 48"/>
          <p:cNvSpPr>
            <a:spLocks noGrp="1"/>
          </p:cNvSpPr>
          <p:nvPr/>
        </p:nvSpPr>
        <p:spPr>
          <a:xfrm>
            <a:off x="723900" y="56007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7256D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125" b="1">
                <a:solidFill>
                  <a:srgbClr val="7256D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case-materials/mdm/</a:t>
            </a:r>
            <a:endParaRPr sz="1125" b="1">
              <a:solidFill>
                <a:srgbClr val="7256D8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50" name="矩形 49"/>
          <p:cNvSpPr>
            <a:spLocks noGrp="1"/>
          </p:cNvSpPr>
          <p:nvPr/>
        </p:nvSpPr>
        <p:spPr>
          <a:xfrm>
            <a:off x="2628900" y="5600700"/>
            <a:ext cx="857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125" b="1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01…md  →  02…md  →  03…md  →  04…md  →  05…md  →  06…md</a:t>
            </a:r>
            <a:endParaRPr sz="1125" b="1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51" name="矩形 50"/>
          <p:cNvSpPr>
            <a:spLocks noGrp="1"/>
          </p:cNvSpPr>
          <p:nvPr/>
        </p:nvSpPr>
        <p:spPr>
          <a:xfrm>
            <a:off x="723900" y="5895975"/>
            <a:ext cx="10382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9206"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24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24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规则：先更新文档，再改代码；下一阶段只引用已经冻结的事实。</a:t>
            </a:r>
            <a:endParaRPr sz="1050" b="1">
              <a:solidFill>
                <a:srgbClr val="248C8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2" name="矩形 51"/>
          <p:cNvSpPr>
            <a:spLocks noGrp="1"/>
          </p:cNvSpPr>
          <p:nvPr/>
        </p:nvSpPr>
        <p:spPr>
          <a:xfrm>
            <a:off x="514350" y="6534150"/>
            <a:ext cx="9620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79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9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真实目录：case-materials/mdm/README.md；主稿：harmonyos-sdd-ralph-workshop.md#第9-25页</a:t>
            </a:r>
            <a:endParaRPr sz="79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3" name="圆角矩形 52"/>
          <p:cNvSpPr>
            <a:spLocks noGrp="1"/>
          </p:cNvSpPr>
          <p:nvPr/>
        </p:nvSpPr>
        <p:spPr>
          <a:xfrm>
            <a:off x="10382250" y="6477000"/>
            <a:ext cx="1295400" cy="26670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1430">
            <a:solidFill>
              <a:srgbClr val="7256D8"/>
            </a:solidFill>
            <a:prstDash val="solid"/>
          </a:ln>
        </p:spPr>
      </p:sp>
      <p:sp>
        <p:nvSpPr>
          <p:cNvPr id="54" name="矩形 53"/>
          <p:cNvSpPr>
            <a:spLocks noGrp="1"/>
          </p:cNvSpPr>
          <p:nvPr/>
        </p:nvSpPr>
        <p:spPr>
          <a:xfrm>
            <a:off x="10439400" y="6486525"/>
            <a:ext cx="11811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REPO FACT</a:t>
            </a:r>
            <a:endParaRPr sz="975" b="1">
              <a:solidFill>
                <a:srgbClr val="7256D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9" name="矩形 58"/>
          <p:cNvSpPr>
            <a:spLocks noGrp="1"/>
          </p:cNvSpPr>
          <p:nvPr/>
        </p:nvSpPr>
        <p:spPr>
          <a:xfrm>
            <a:off x="514350" y="1714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MDM 案例｜真实交付链</a:t>
            </a:r>
            <a:endParaRPr sz="975" b="1">
              <a:solidFill>
                <a:srgbClr val="E764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334750" y="1714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11</a:t>
            </a:r>
            <a:endParaRPr sz="975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419100"/>
            <a:ext cx="1066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资产同步不是收集文件，而是把冲突和可信边界暴露出来</a:t>
            </a:r>
            <a:endParaRPr sz="21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866775"/>
            <a:ext cx="1066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同一需求在原始 Excel、AI 修正版、PRD 和代码中有四种表达；必须先做证据对照</a:t>
            </a:r>
            <a:endParaRPr sz="1125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1152525"/>
            <a:ext cx="11163300" cy="14288"/>
          </a:xfrm>
          <a:prstGeom prst="rect">
            <a:avLst/>
          </a:prstGeom>
          <a:solidFill>
            <a:srgbClr val="D7E0EA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6" name="圆角矩形 5"/>
          <p:cNvSpPr>
            <a:spLocks noGrp="1"/>
          </p:cNvSpPr>
          <p:nvPr/>
        </p:nvSpPr>
        <p:spPr>
          <a:xfrm>
            <a:off x="533400" y="1352550"/>
            <a:ext cx="3143250" cy="175260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7" name="圆角矩形 6"/>
          <p:cNvSpPr>
            <a:spLocks noGrp="1"/>
          </p:cNvSpPr>
          <p:nvPr/>
        </p:nvSpPr>
        <p:spPr>
          <a:xfrm>
            <a:off x="666750" y="1466850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EAF3FD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723900" y="1476375"/>
            <a:ext cx="1314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真实输入资产</a:t>
            </a:r>
            <a:endParaRPr sz="975" b="1">
              <a:solidFill>
                <a:srgbClr val="2878D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76275" y="1809750"/>
            <a:ext cx="2857500" cy="1200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docs/00-原始输入/信创工具需求清单.xlsx</a:t>
            </a:r>
            <a:endParaRPr sz="100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8000"/>
              </a:lnSpc>
              <a:buNone/>
              <a:def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docs/00-原始输入/…_AI修正版.xlsx</a:t>
            </a:r>
            <a:endParaRPr sz="100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8000"/>
              </a:lnSpc>
              <a:buNone/>
              <a:def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docs/01-UX设计/index.html</a:t>
            </a:r>
            <a:endParaRPr sz="100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8000"/>
              </a:lnSpc>
              <a:buNone/>
              <a:def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docs/02-总体设计/PRD.md</a:t>
            </a:r>
            <a:endParaRPr sz="100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8000"/>
              </a:lnSpc>
              <a:buNone/>
              <a:def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docs/02-总体设计/总体设计RFC.md</a:t>
            </a:r>
            <a:endParaRPr sz="100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8000"/>
              </a:lnSpc>
              <a:buNone/>
              <a:def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docs/03-模块设计/防火墙管理组件设计说明.md</a:t>
            </a:r>
            <a:endParaRPr sz="100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3886200" y="1352550"/>
            <a:ext cx="7658100" cy="175260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057650" y="146685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真实冲突：Excel 第 4 行</a:t>
            </a:r>
            <a:endParaRPr sz="1275" b="1">
              <a:solidFill>
                <a:srgbClr val="E764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076700" y="1733550"/>
            <a:ext cx="590550" cy="38100"/>
          </a:xfrm>
          <a:prstGeom prst="rect">
            <a:avLst/>
          </a:prstGeom>
          <a:solidFill>
            <a:srgbClr val="E7644A"/>
          </a:solidFill>
          <a:ln w="11430">
            <a:solidFill>
              <a:srgbClr val="E7644A"/>
            </a:solidFill>
            <a:prstDash val="solid"/>
          </a:ln>
        </p:spPr>
      </p:sp>
      <p:sp>
        <p:nvSpPr>
          <p:cNvPr id="13" name="圆角矩形 12"/>
          <p:cNvSpPr>
            <a:spLocks noGrp="1"/>
          </p:cNvSpPr>
          <p:nvPr/>
        </p:nvSpPr>
        <p:spPr>
          <a:xfrm>
            <a:off x="4057650" y="1847850"/>
            <a:ext cx="2247900" cy="10668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14" name="圆角矩形 13"/>
          <p:cNvSpPr>
            <a:spLocks noGrp="1"/>
          </p:cNvSpPr>
          <p:nvPr/>
        </p:nvSpPr>
        <p:spPr>
          <a:xfrm>
            <a:off x="4191000" y="1962150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EAF3FD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4248150" y="1971675"/>
            <a:ext cx="1314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原始需求</a:t>
            </a:r>
            <a:endParaRPr sz="975" b="1">
              <a:solidFill>
                <a:srgbClr val="2878D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4200525" y="2305050"/>
            <a:ext cx="19621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公共 / 专用 / 自定义</a:t>
            </a:r>
            <a:endParaRPr sz="12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8000"/>
              </a:lnSpc>
              <a:buNone/>
              <a:def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三种缺省配置</a:t>
            </a:r>
            <a:endParaRPr sz="12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6343650" y="2228850"/>
            <a:ext cx="28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1650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圆角矩形 17"/>
          <p:cNvSpPr>
            <a:spLocks noGrp="1"/>
          </p:cNvSpPr>
          <p:nvPr/>
        </p:nvSpPr>
        <p:spPr>
          <a:xfrm>
            <a:off x="6667500" y="1847850"/>
            <a:ext cx="2247900" cy="10668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19" name="圆角矩形 18"/>
          <p:cNvSpPr>
            <a:spLocks noGrp="1"/>
          </p:cNvSpPr>
          <p:nvPr/>
        </p:nvSpPr>
        <p:spPr>
          <a:xfrm>
            <a:off x="6800850" y="1962150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FFF0EC"/>
          </a:solidFill>
          <a:ln w="11430">
            <a:solidFill>
              <a:srgbClr val="E7644A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6858000" y="1971675"/>
            <a:ext cx="1314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AI 修正版</a:t>
            </a:r>
            <a:endParaRPr sz="975" b="1">
              <a:solidFill>
                <a:srgbClr val="E764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6810375" y="2305050"/>
            <a:ext cx="19621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把问题改写成</a:t>
            </a:r>
            <a:endParaRPr sz="12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8000"/>
              </a:lnSpc>
              <a:buNone/>
              <a:def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IP / 域名 / DNS</a:t>
            </a:r>
            <a:endParaRPr sz="12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8953500" y="2228850"/>
            <a:ext cx="28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1650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圆角矩形 22"/>
          <p:cNvSpPr>
            <a:spLocks noGrp="1"/>
          </p:cNvSpPr>
          <p:nvPr/>
        </p:nvSpPr>
        <p:spPr>
          <a:xfrm>
            <a:off x="9277350" y="1847850"/>
            <a:ext cx="2076450" cy="10668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24" name="圆角矩形 23"/>
          <p:cNvSpPr>
            <a:spLocks noGrp="1"/>
          </p:cNvSpPr>
          <p:nvPr/>
        </p:nvSpPr>
        <p:spPr>
          <a:xfrm>
            <a:off x="9410700" y="1962150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EAF7EF"/>
          </a:solidFill>
          <a:ln w="11430">
            <a:solidFill>
              <a:srgbClr val="258A58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9467850" y="1971675"/>
            <a:ext cx="1314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58A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仓库事实</a:t>
            </a:r>
            <a:endParaRPr sz="975" b="1">
              <a:solidFill>
                <a:srgbClr val="258A5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9420225" y="2305050"/>
            <a:ext cx="17907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两条正交维度</a:t>
            </a:r>
            <a:endParaRPr sz="12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8000"/>
              </a:lnSpc>
              <a:buNone/>
              <a:def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不能互相替代</a:t>
            </a:r>
            <a:endParaRPr sz="12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圆角矩形 26"/>
          <p:cNvSpPr>
            <a:spLocks noGrp="1"/>
          </p:cNvSpPr>
          <p:nvPr/>
        </p:nvSpPr>
        <p:spPr>
          <a:xfrm>
            <a:off x="533400" y="3333750"/>
            <a:ext cx="11010900" cy="2305050"/>
          </a:xfrm>
          <a:prstGeom prst="roundRect">
            <a:avLst>
              <a:gd name="adj" fmla="val 4959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704850" y="3457575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AI 需要生成的冲突矩阵</a:t>
            </a:r>
            <a:endParaRPr sz="1275" b="1">
              <a:solidFill>
                <a:srgbClr val="7256D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723900" y="3724275"/>
            <a:ext cx="590550" cy="38100"/>
          </a:xfrm>
          <a:prstGeom prst="rect">
            <a:avLst/>
          </a:prstGeom>
          <a:solidFill>
            <a:srgbClr val="7256D8"/>
          </a:solidFill>
          <a:ln w="11430">
            <a:solidFill>
              <a:srgbClr val="7256D8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704850" y="3867150"/>
            <a:ext cx="1905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来源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2781300" y="3867150"/>
            <a:ext cx="2333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表达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5286375" y="3867150"/>
            <a:ext cx="2571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能证明什么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8020050" y="3867150"/>
            <a:ext cx="3219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不能单独决定什么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704850" y="3829050"/>
            <a:ext cx="1905000" cy="323850"/>
          </a:xfrm>
          <a:prstGeom prst="rect">
            <a:avLst/>
          </a:prstGeom>
          <a:solidFill>
            <a:srgbClr val="2878D0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2781300" y="3829050"/>
            <a:ext cx="2333625" cy="323850"/>
          </a:xfrm>
          <a:prstGeom prst="rect">
            <a:avLst/>
          </a:prstGeom>
          <a:solidFill>
            <a:srgbClr val="2878D0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5286375" y="3829050"/>
            <a:ext cx="2571750" cy="323850"/>
          </a:xfrm>
          <a:prstGeom prst="rect">
            <a:avLst/>
          </a:prstGeom>
          <a:solidFill>
            <a:srgbClr val="2878D0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8020050" y="3829050"/>
            <a:ext cx="3219450" cy="323850"/>
          </a:xfrm>
          <a:prstGeom prst="rect">
            <a:avLst/>
          </a:prstGeom>
          <a:solidFill>
            <a:srgbClr val="2878D0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781050" y="4210050"/>
            <a:ext cx="1752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原始 Excel C4</a:t>
            </a:r>
            <a:endParaRPr sz="94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2857500" y="4210050"/>
            <a:ext cx="21812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public/private/custom</a:t>
            </a:r>
            <a:endParaRPr sz="94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5362575" y="4210050"/>
            <a:ext cx="2419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产品场景意图</a:t>
            </a:r>
            <a:endParaRPr sz="94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8096250" y="4210050"/>
            <a:ext cx="3067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平台接口与失败语义</a:t>
            </a:r>
            <a:endParaRPr sz="94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2" name="矩形 41"/>
          <p:cNvSpPr>
            <a:spLocks noGrp="1"/>
          </p:cNvSpPr>
          <p:nvPr/>
        </p:nvSpPr>
        <p:spPr>
          <a:xfrm>
            <a:off x="781050" y="4533900"/>
            <a:ext cx="1752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94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AI 修正版 C4:E4</a:t>
            </a:r>
            <a:endParaRPr sz="94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3" name="矩形 42"/>
          <p:cNvSpPr>
            <a:spLocks noGrp="1"/>
          </p:cNvSpPr>
          <p:nvPr/>
        </p:nvSpPr>
        <p:spPr>
          <a:xfrm>
            <a:off x="2857500" y="4533900"/>
            <a:ext cx="21812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94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IP/DOMAIN/DNS</a:t>
            </a:r>
            <a:endParaRPr sz="94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4" name="矩形 43"/>
          <p:cNvSpPr>
            <a:spLocks noGrp="1"/>
          </p:cNvSpPr>
          <p:nvPr/>
        </p:nvSpPr>
        <p:spPr>
          <a:xfrm>
            <a:off x="5362575" y="4533900"/>
            <a:ext cx="2419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94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候选平台映射</a:t>
            </a:r>
            <a:endParaRPr sz="94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5" name="矩形 44"/>
          <p:cNvSpPr>
            <a:spLocks noGrp="1"/>
          </p:cNvSpPr>
          <p:nvPr/>
        </p:nvSpPr>
        <p:spPr>
          <a:xfrm>
            <a:off x="8096250" y="4533900"/>
            <a:ext cx="3067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94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产品取舍是否正确</a:t>
            </a:r>
            <a:endParaRPr sz="94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" name="矩形 45"/>
          <p:cNvSpPr>
            <a:spLocks noGrp="1"/>
          </p:cNvSpPr>
          <p:nvPr/>
        </p:nvSpPr>
        <p:spPr>
          <a:xfrm>
            <a:off x="781050" y="4857750"/>
            <a:ext cx="1752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PRD + 模块设计</a:t>
            </a:r>
            <a:endParaRPr sz="94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7" name="矩形 46"/>
          <p:cNvSpPr>
            <a:spLocks noGrp="1"/>
          </p:cNvSpPr>
          <p:nvPr/>
        </p:nvSpPr>
        <p:spPr>
          <a:xfrm>
            <a:off x="2857500" y="4857750"/>
            <a:ext cx="21812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两条维度并存</a:t>
            </a:r>
            <a:endParaRPr sz="94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8" name="矩形 47"/>
          <p:cNvSpPr>
            <a:spLocks noGrp="1"/>
          </p:cNvSpPr>
          <p:nvPr/>
        </p:nvSpPr>
        <p:spPr>
          <a:xfrm>
            <a:off x="5362575" y="4857750"/>
            <a:ext cx="2419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当前设计决策</a:t>
            </a:r>
            <a:endParaRPr sz="94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9" name="矩形 48"/>
          <p:cNvSpPr>
            <a:spLocks noGrp="1"/>
          </p:cNvSpPr>
          <p:nvPr/>
        </p:nvSpPr>
        <p:spPr>
          <a:xfrm>
            <a:off x="8096250" y="4857750"/>
            <a:ext cx="3067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设备能力是否真实可用</a:t>
            </a:r>
            <a:endParaRPr sz="94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0" name="矩形 49"/>
          <p:cNvSpPr>
            <a:spLocks noGrp="1"/>
          </p:cNvSpPr>
          <p:nvPr/>
        </p:nvSpPr>
        <p:spPr>
          <a:xfrm>
            <a:off x="781050" y="5181600"/>
            <a:ext cx="1752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94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代码 + 测试</a:t>
            </a:r>
            <a:endParaRPr sz="94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1" name="矩形 50"/>
          <p:cNvSpPr>
            <a:spLocks noGrp="1"/>
          </p:cNvSpPr>
          <p:nvPr/>
        </p:nvSpPr>
        <p:spPr>
          <a:xfrm>
            <a:off x="2857500" y="5181600"/>
            <a:ext cx="21812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94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PresetMode + RuleType</a:t>
            </a:r>
            <a:endParaRPr sz="94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2" name="矩形 51"/>
          <p:cNvSpPr>
            <a:spLocks noGrp="1"/>
          </p:cNvSpPr>
          <p:nvPr/>
        </p:nvSpPr>
        <p:spPr>
          <a:xfrm>
            <a:off x="5362575" y="5181600"/>
            <a:ext cx="2419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94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已实现事实</a:t>
            </a:r>
            <a:endParaRPr sz="94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3" name="矩形 52"/>
          <p:cNvSpPr>
            <a:spLocks noGrp="1"/>
          </p:cNvSpPr>
          <p:nvPr/>
        </p:nvSpPr>
        <p:spPr>
          <a:xfrm>
            <a:off x="8096250" y="5181600"/>
            <a:ext cx="3067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94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最终系统状态是否正确</a:t>
            </a:r>
            <a:endParaRPr sz="94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4" name="圆角矩形 53"/>
          <p:cNvSpPr>
            <a:spLocks noGrp="1"/>
          </p:cNvSpPr>
          <p:nvPr/>
        </p:nvSpPr>
        <p:spPr>
          <a:xfrm>
            <a:off x="704850" y="5524500"/>
            <a:ext cx="10668000" cy="419100"/>
          </a:xfrm>
          <a:prstGeom prst="roundRect">
            <a:avLst>
              <a:gd name="adj" fmla="val 13636"/>
            </a:avLst>
          </a:prstGeom>
          <a:solidFill>
            <a:srgbClr val="FFF0EC"/>
          </a:solidFill>
          <a:ln w="11430">
            <a:solidFill>
              <a:srgbClr val="E7644A"/>
            </a:solidFill>
            <a:prstDash val="solid"/>
          </a:ln>
        </p:spPr>
      </p:sp>
      <p:sp>
        <p:nvSpPr>
          <p:cNvPr id="55" name="矩形 54"/>
          <p:cNvSpPr>
            <a:spLocks noGrp="1"/>
          </p:cNvSpPr>
          <p:nvPr/>
        </p:nvSpPr>
        <p:spPr>
          <a:xfrm>
            <a:off x="838200" y="5591175"/>
            <a:ext cx="10382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16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6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决策：主模式 public/private/custom；规则类型 IP/DOMAIN/DNS。AI 的专业表述只是候选解释，不是产品决策。</a:t>
            </a:r>
            <a:endParaRPr sz="1165" b="1">
              <a:solidFill>
                <a:srgbClr val="E764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6" name="矩形 55"/>
          <p:cNvSpPr>
            <a:spLocks noGrp="1"/>
          </p:cNvSpPr>
          <p:nvPr/>
        </p:nvSpPr>
        <p:spPr>
          <a:xfrm>
            <a:off x="514350" y="6534150"/>
            <a:ext cx="9620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79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9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生成产物：case-materials/mdm/01-资产同步与冲突清单.md；原始输入：security_tool/docs/00-原始输入/</a:t>
            </a:r>
            <a:endParaRPr sz="79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7" name="圆角矩形 56"/>
          <p:cNvSpPr>
            <a:spLocks noGrp="1"/>
          </p:cNvSpPr>
          <p:nvPr/>
        </p:nvSpPr>
        <p:spPr>
          <a:xfrm>
            <a:off x="10382250" y="6477000"/>
            <a:ext cx="1295400" cy="26670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1430">
            <a:solidFill>
              <a:srgbClr val="7256D8"/>
            </a:solidFill>
            <a:prstDash val="solid"/>
          </a:ln>
        </p:spPr>
      </p:sp>
      <p:sp>
        <p:nvSpPr>
          <p:cNvPr id="58" name="矩形 57"/>
          <p:cNvSpPr>
            <a:spLocks noGrp="1"/>
          </p:cNvSpPr>
          <p:nvPr/>
        </p:nvSpPr>
        <p:spPr>
          <a:xfrm>
            <a:off x="10439400" y="6486525"/>
            <a:ext cx="11811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REPO FACT</a:t>
            </a:r>
            <a:endParaRPr sz="975" b="1">
              <a:solidFill>
                <a:srgbClr val="7256D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7" name="矩形 36"/>
          <p:cNvSpPr>
            <a:spLocks noGrp="1"/>
          </p:cNvSpPr>
          <p:nvPr/>
        </p:nvSpPr>
        <p:spPr>
          <a:xfrm>
            <a:off x="514350" y="1714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MDM 案例｜真实交付链</a:t>
            </a:r>
            <a:endParaRPr sz="975" b="1">
              <a:solidFill>
                <a:srgbClr val="E764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334750" y="1714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endParaRPr sz="975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419100"/>
            <a:ext cx="1066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资产阶段的交付物：一张能追到来源、代码和测试的需求卡</a:t>
            </a:r>
            <a:endParaRPr sz="21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866775"/>
            <a:ext cx="1066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这张卡会被 RFC、Story、测试和最终 acceptance 反复引用</a:t>
            </a:r>
            <a:endParaRPr sz="1125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1152525"/>
            <a:ext cx="11163300" cy="14288"/>
          </a:xfrm>
          <a:prstGeom prst="rect">
            <a:avLst/>
          </a:prstGeom>
          <a:solidFill>
            <a:srgbClr val="D7E0EA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6" name="圆角矩形 5"/>
          <p:cNvSpPr>
            <a:spLocks noGrp="1"/>
          </p:cNvSpPr>
          <p:nvPr/>
        </p:nvSpPr>
        <p:spPr>
          <a:xfrm>
            <a:off x="533400" y="1371600"/>
            <a:ext cx="6858000" cy="4457700"/>
          </a:xfrm>
          <a:prstGeom prst="roundRect">
            <a:avLst>
              <a:gd name="adj" fmla="val 2564"/>
            </a:avLst>
          </a:prstGeom>
          <a:solidFill>
            <a:srgbClr val="F1F4F8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66750" y="1466850"/>
            <a:ext cx="6591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01-资产同步与冲突清单.md → requirement card</a:t>
            </a:r>
            <a:endParaRPr sz="975" b="1">
              <a:solidFill>
                <a:srgbClr val="7256D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66750" y="1733550"/>
            <a:ext cx="514350" cy="28575"/>
          </a:xfrm>
          <a:prstGeom prst="rect">
            <a:avLst/>
          </a:prstGeom>
          <a:solidFill>
            <a:srgbClr val="7256D8"/>
          </a:solidFill>
          <a:ln w="11430">
            <a:solidFill>
              <a:srgbClr val="7256D8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666750" y="1828800"/>
            <a:ext cx="6591300" cy="3905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6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requirement_id: FW-MODE-001</a:t>
            </a:r>
            <a:endParaRPr sz="106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6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source:</a:t>
            </a:r>
            <a:endParaRPr sz="106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6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 原始需求清单.xlsx!Sheet1:C4</a:t>
            </a:r>
            <a:endParaRPr sz="106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6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 PRD.md#7.2</a:t>
            </a:r>
            <a:endParaRPr sz="106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6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term: 防火墙主模式</a:t>
            </a:r>
            <a:endParaRPr sz="106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6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decision: 保留 public/private/custom 产品模式</a:t>
            </a:r>
            <a:endParaRPr sz="106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6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implementation:</a:t>
            </a:r>
            <a:endParaRPr sz="106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6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 FirewallPage.ets</a:t>
            </a:r>
            <a:endParaRPr sz="106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6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 FirewallModeStrategy.ets</a:t>
            </a:r>
            <a:endParaRPr sz="106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6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tests:</a:t>
            </a:r>
            <a:endParaRPr sz="106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6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 mode-strategy.test.ets</a:t>
            </a:r>
            <a:endParaRPr sz="106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6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 scripts/e2e/cases/firewall/mode_cards.json</a:t>
            </a:r>
            <a:endParaRPr sz="106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6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conflict:</a:t>
            </a:r>
            <a:endParaRPr sz="106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6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source: AI修正版.xlsx!Sheet1:C4:E4</a:t>
            </a:r>
            <a:endParaRPr sz="106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6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resolution: 规则类型与主模式是两个维度</a:t>
            </a:r>
            <a:endParaRPr sz="106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6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status: RESOLVED</a:t>
            </a:r>
            <a:endParaRPr sz="106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677150" y="142875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24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24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机器可检查的四道门</a:t>
            </a:r>
            <a:endParaRPr sz="1275" b="1">
              <a:solidFill>
                <a:srgbClr val="248C8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7696200" y="1695450"/>
            <a:ext cx="590550" cy="38100"/>
          </a:xfrm>
          <a:prstGeom prst="rect">
            <a:avLst/>
          </a:prstGeom>
          <a:solidFill>
            <a:srgbClr val="248C82"/>
          </a:solidFill>
          <a:ln w="11430">
            <a:solidFill>
              <a:srgbClr val="248C82"/>
            </a:solidFill>
            <a:prstDash val="solid"/>
          </a:ln>
        </p:spPr>
      </p:sp>
      <p:sp>
        <p:nvSpPr>
          <p:cNvPr id="12" name="圆角矩形 11"/>
          <p:cNvSpPr>
            <a:spLocks noGrp="1"/>
          </p:cNvSpPr>
          <p:nvPr/>
        </p:nvSpPr>
        <p:spPr>
          <a:xfrm>
            <a:off x="7677150" y="1847850"/>
            <a:ext cx="3829050" cy="781050"/>
          </a:xfrm>
          <a:prstGeom prst="roundRect">
            <a:avLst>
              <a:gd name="adj" fmla="val 14634"/>
            </a:avLst>
          </a:prstGeom>
          <a:solidFill>
            <a:srgbClr val="EAF3FD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13" name="圆角矩形 12"/>
          <p:cNvSpPr>
            <a:spLocks noGrp="1"/>
          </p:cNvSpPr>
          <p:nvPr/>
        </p:nvSpPr>
        <p:spPr>
          <a:xfrm>
            <a:off x="7810500" y="1981200"/>
            <a:ext cx="40005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7867650" y="1990725"/>
            <a:ext cx="285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endParaRPr sz="975" b="1">
              <a:solidFill>
                <a:srgbClr val="2878D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8305800" y="1962150"/>
            <a:ext cx="2933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6451"/>
          </a:bodyPr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来源有坐标</a:t>
            </a:r>
            <a:endParaRPr sz="12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305800" y="2209800"/>
            <a:ext cx="295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不是“PRD 里写过”，而是 Sheet1:C4 / PRD#7.2</a:t>
            </a:r>
            <a:endParaRPr sz="94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圆角矩形 16"/>
          <p:cNvSpPr>
            <a:spLocks noGrp="1"/>
          </p:cNvSpPr>
          <p:nvPr/>
        </p:nvSpPr>
        <p:spPr>
          <a:xfrm>
            <a:off x="7677150" y="2781300"/>
            <a:ext cx="3829050" cy="781050"/>
          </a:xfrm>
          <a:prstGeom prst="roundRect">
            <a:avLst>
              <a:gd name="adj" fmla="val 14634"/>
            </a:avLst>
          </a:prstGeom>
          <a:solidFill>
            <a:srgbClr val="E8F6F3"/>
          </a:solidFill>
          <a:ln w="11430">
            <a:solidFill>
              <a:srgbClr val="248C82"/>
            </a:solidFill>
            <a:prstDash val="solid"/>
          </a:ln>
        </p:spPr>
      </p:sp>
      <p:sp>
        <p:nvSpPr>
          <p:cNvPr id="18" name="圆角矩形 17"/>
          <p:cNvSpPr>
            <a:spLocks noGrp="1"/>
          </p:cNvSpPr>
          <p:nvPr/>
        </p:nvSpPr>
        <p:spPr>
          <a:xfrm>
            <a:off x="7810500" y="2914650"/>
            <a:ext cx="40005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248C82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7867650" y="2924175"/>
            <a:ext cx="285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4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endParaRPr sz="975" b="1">
              <a:solidFill>
                <a:srgbClr val="248C8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8305800" y="2895600"/>
            <a:ext cx="2933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6451"/>
          </a:bodyPr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实现有锚点</a:t>
            </a:r>
            <a:endParaRPr sz="12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8305800" y="3143250"/>
            <a:ext cx="295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能跳到 FirewallPage / ModeStrategy</a:t>
            </a:r>
            <a:endParaRPr sz="94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圆角矩形 21"/>
          <p:cNvSpPr>
            <a:spLocks noGrp="1"/>
          </p:cNvSpPr>
          <p:nvPr/>
        </p:nvSpPr>
        <p:spPr>
          <a:xfrm>
            <a:off x="7677150" y="3714750"/>
            <a:ext cx="3829050" cy="781050"/>
          </a:xfrm>
          <a:prstGeom prst="roundRect">
            <a:avLst>
              <a:gd name="adj" fmla="val 14634"/>
            </a:avLst>
          </a:prstGeom>
          <a:solidFill>
            <a:srgbClr val="EAF3FD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23" name="圆角矩形 22"/>
          <p:cNvSpPr>
            <a:spLocks noGrp="1"/>
          </p:cNvSpPr>
          <p:nvPr/>
        </p:nvSpPr>
        <p:spPr>
          <a:xfrm>
            <a:off x="7810500" y="3848100"/>
            <a:ext cx="40005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7867650" y="3857625"/>
            <a:ext cx="285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endParaRPr sz="975" b="1">
              <a:solidFill>
                <a:srgbClr val="2878D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8305800" y="3829050"/>
            <a:ext cx="2933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6451"/>
          </a:bodyPr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测试有路径</a:t>
            </a:r>
            <a:endParaRPr sz="12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8305800" y="4076700"/>
            <a:ext cx="295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UT 与 E2E 分别证明哪一层</a:t>
            </a:r>
            <a:endParaRPr sz="94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圆角矩形 26"/>
          <p:cNvSpPr>
            <a:spLocks noGrp="1"/>
          </p:cNvSpPr>
          <p:nvPr/>
        </p:nvSpPr>
        <p:spPr>
          <a:xfrm>
            <a:off x="7677150" y="4648200"/>
            <a:ext cx="3829050" cy="781050"/>
          </a:xfrm>
          <a:prstGeom prst="roundRect">
            <a:avLst>
              <a:gd name="adj" fmla="val 14634"/>
            </a:avLst>
          </a:prstGeom>
          <a:solidFill>
            <a:srgbClr val="E8F6F3"/>
          </a:solidFill>
          <a:ln w="11430">
            <a:solidFill>
              <a:srgbClr val="248C82"/>
            </a:solidFill>
            <a:prstDash val="solid"/>
          </a:ln>
        </p:spPr>
      </p:sp>
      <p:sp>
        <p:nvSpPr>
          <p:cNvPr id="28" name="圆角矩形 27"/>
          <p:cNvSpPr>
            <a:spLocks noGrp="1"/>
          </p:cNvSpPr>
          <p:nvPr/>
        </p:nvSpPr>
        <p:spPr>
          <a:xfrm>
            <a:off x="7810500" y="4781550"/>
            <a:ext cx="40005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248C82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7867650" y="4791075"/>
            <a:ext cx="285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4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endParaRPr sz="975" b="1">
              <a:solidFill>
                <a:srgbClr val="248C8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8305800" y="4762500"/>
            <a:ext cx="2933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6451"/>
          </a:bodyPr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结论不越界</a:t>
            </a:r>
            <a:endParaRPr sz="12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8305800" y="5010150"/>
            <a:ext cx="295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RESOLVED 只表示冲突已决策，不表示设备已验收</a:t>
            </a:r>
            <a:endParaRPr sz="94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圆角矩形 31"/>
          <p:cNvSpPr>
            <a:spLocks noGrp="1"/>
          </p:cNvSpPr>
          <p:nvPr/>
        </p:nvSpPr>
        <p:spPr>
          <a:xfrm>
            <a:off x="7677150" y="5619750"/>
            <a:ext cx="3829050" cy="400050"/>
          </a:xfrm>
          <a:prstGeom prst="roundRect">
            <a:avLst>
              <a:gd name="adj" fmla="val 14286"/>
            </a:avLst>
          </a:prstGeom>
          <a:solidFill>
            <a:srgbClr val="EAF7EF"/>
          </a:solidFill>
          <a:ln w="11430">
            <a:solidFill>
              <a:srgbClr val="258A58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7810500" y="5676900"/>
            <a:ext cx="3562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258A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258A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Gate 通过 → 才进入方案推导</a:t>
            </a:r>
            <a:endParaRPr sz="1125" b="1">
              <a:solidFill>
                <a:srgbClr val="258A5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514350" y="6534150"/>
            <a:ext cx="9620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79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9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真实产物：case-materials/mdm/01-资产同步与冲突清单.md#同步后的需求卡示例</a:t>
            </a:r>
            <a:endParaRPr sz="79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圆角矩形 34"/>
          <p:cNvSpPr>
            <a:spLocks noGrp="1"/>
          </p:cNvSpPr>
          <p:nvPr/>
        </p:nvSpPr>
        <p:spPr>
          <a:xfrm>
            <a:off x="10382250" y="6477000"/>
            <a:ext cx="1295400" cy="26670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1430">
            <a:solidFill>
              <a:srgbClr val="7256D8"/>
            </a:solidFill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10439400" y="6486525"/>
            <a:ext cx="11811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REPO FACT</a:t>
            </a:r>
            <a:endParaRPr sz="975" b="1">
              <a:solidFill>
                <a:srgbClr val="7256D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3" name="矩形 42"/>
          <p:cNvSpPr>
            <a:spLocks noGrp="1"/>
          </p:cNvSpPr>
          <p:nvPr/>
        </p:nvSpPr>
        <p:spPr>
          <a:xfrm>
            <a:off x="514350" y="1714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MDM 案例｜真实交付链</a:t>
            </a:r>
            <a:endParaRPr sz="975" b="1">
              <a:solidFill>
                <a:srgbClr val="E764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334750" y="1714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13</a:t>
            </a:r>
            <a:endParaRPr sz="975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419100"/>
            <a:ext cx="1066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方案推导先攻击失败模式，再用 ADR 冻结真相源与职责</a:t>
            </a:r>
            <a:endParaRPr sz="21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866775"/>
            <a:ext cx="1066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Feature：系统账号变化后，防火墙系统状态和本地状态收敛到最新账号集合</a:t>
            </a:r>
            <a:endParaRPr sz="1125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1152525"/>
            <a:ext cx="11163300" cy="14288"/>
          </a:xfrm>
          <a:prstGeom prst="rect">
            <a:avLst/>
          </a:prstGeom>
          <a:solidFill>
            <a:srgbClr val="D7E0EA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533400" y="1323975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四个候选方案</a:t>
            </a:r>
            <a:endParaRPr sz="1275" b="1">
              <a:solidFill>
                <a:srgbClr val="E764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52450" y="1590675"/>
            <a:ext cx="590550" cy="38100"/>
          </a:xfrm>
          <a:prstGeom prst="rect">
            <a:avLst/>
          </a:prstGeom>
          <a:solidFill>
            <a:srgbClr val="E7644A"/>
          </a:solidFill>
          <a:ln w="11430">
            <a:solidFill>
              <a:srgbClr val="E7644A"/>
            </a:solidFill>
            <a:prstDash val="solid"/>
          </a:ln>
        </p:spPr>
      </p:sp>
      <p:sp>
        <p:nvSpPr>
          <p:cNvPr id="8" name="圆角矩形 7"/>
          <p:cNvSpPr>
            <a:spLocks noGrp="1"/>
          </p:cNvSpPr>
          <p:nvPr/>
        </p:nvSpPr>
        <p:spPr>
          <a:xfrm>
            <a:off x="533400" y="1695450"/>
            <a:ext cx="2590800" cy="1200150"/>
          </a:xfrm>
          <a:prstGeom prst="roundRect">
            <a:avLst>
              <a:gd name="adj" fmla="val 9524"/>
            </a:avLst>
          </a:prstGeom>
          <a:solidFill>
            <a:srgbClr val="FDEEEE"/>
          </a:solidFill>
          <a:ln w="11430">
            <a:solidFill>
              <a:srgbClr val="C94747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647700" y="1809750"/>
            <a:ext cx="2362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 Provider 直接做副作用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666750" y="2171700"/>
            <a:ext cx="23241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真相源与业务耦合；其他模块无法复用</a:t>
            </a:r>
            <a:endParaRPr sz="94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圆角矩形 10"/>
          <p:cNvSpPr>
            <a:spLocks noGrp="1"/>
          </p:cNvSpPr>
          <p:nvPr/>
        </p:nvSpPr>
        <p:spPr>
          <a:xfrm>
            <a:off x="1352550" y="2571750"/>
            <a:ext cx="9525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C94747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1409700" y="2581275"/>
            <a:ext cx="8382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C9474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C9474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拒绝</a:t>
            </a:r>
            <a:endParaRPr sz="975" b="1">
              <a:solidFill>
                <a:srgbClr val="C9474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圆角矩形 12"/>
          <p:cNvSpPr>
            <a:spLocks noGrp="1"/>
          </p:cNvSpPr>
          <p:nvPr/>
        </p:nvSpPr>
        <p:spPr>
          <a:xfrm>
            <a:off x="3314700" y="1695450"/>
            <a:ext cx="2590800" cy="1200150"/>
          </a:xfrm>
          <a:prstGeom prst="roundRect">
            <a:avLst>
              <a:gd name="adj" fmla="val 9524"/>
            </a:avLst>
          </a:prstGeom>
          <a:solidFill>
            <a:srgbClr val="FDEEEE"/>
          </a:solidFill>
          <a:ln w="11430">
            <a:solidFill>
              <a:srgbClr val="C94747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3429000" y="1809750"/>
            <a:ext cx="2362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 直接信事件 ID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3448050" y="2171700"/>
            <a:ext cx="23241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不是完整集合；删除/并发语义不完整</a:t>
            </a:r>
            <a:endParaRPr sz="94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圆角矩形 15"/>
          <p:cNvSpPr>
            <a:spLocks noGrp="1"/>
          </p:cNvSpPr>
          <p:nvPr/>
        </p:nvSpPr>
        <p:spPr>
          <a:xfrm>
            <a:off x="4133850" y="2571750"/>
            <a:ext cx="9525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C94747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4191000" y="2581275"/>
            <a:ext cx="8382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C9474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C9474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拒绝</a:t>
            </a:r>
            <a:endParaRPr sz="975" b="1">
              <a:solidFill>
                <a:srgbClr val="C9474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圆角矩形 17"/>
          <p:cNvSpPr>
            <a:spLocks noGrp="1"/>
          </p:cNvSpPr>
          <p:nvPr/>
        </p:nvSpPr>
        <p:spPr>
          <a:xfrm>
            <a:off x="6096000" y="1695450"/>
            <a:ext cx="2590800" cy="1200150"/>
          </a:xfrm>
          <a:prstGeom prst="roundRect">
            <a:avLst>
              <a:gd name="adj" fmla="val 9524"/>
            </a:avLst>
          </a:prstGeom>
          <a:solidFill>
            <a:srgbClr val="FDEEEE"/>
          </a:solidFill>
          <a:ln w="11430">
            <a:solidFill>
              <a:srgbClr val="C94747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6210300" y="1809750"/>
            <a:ext cx="2362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 页面重进强刷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6229350" y="2171700"/>
            <a:ext cx="23241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UI 看似更新，后台 policy 仍可能错误</a:t>
            </a:r>
            <a:endParaRPr sz="94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圆角矩形 20"/>
          <p:cNvSpPr>
            <a:spLocks noGrp="1"/>
          </p:cNvSpPr>
          <p:nvPr/>
        </p:nvSpPr>
        <p:spPr>
          <a:xfrm>
            <a:off x="6915150" y="2571750"/>
            <a:ext cx="9525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C94747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6972300" y="2581275"/>
            <a:ext cx="8382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C9474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C9474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拒绝</a:t>
            </a:r>
            <a:endParaRPr sz="975" b="1">
              <a:solidFill>
                <a:srgbClr val="C9474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圆角矩形 22"/>
          <p:cNvSpPr>
            <a:spLocks noGrp="1"/>
          </p:cNvSpPr>
          <p:nvPr/>
        </p:nvSpPr>
        <p:spPr>
          <a:xfrm>
            <a:off x="8877300" y="1695450"/>
            <a:ext cx="2590800" cy="1200150"/>
          </a:xfrm>
          <a:prstGeom prst="roundRect">
            <a:avLst>
              <a:gd name="adj" fmla="val 9524"/>
            </a:avLst>
          </a:prstGeom>
          <a:solidFill>
            <a:srgbClr val="EAF7EF"/>
          </a:solidFill>
          <a:ln w="11430">
            <a:solidFill>
              <a:srgbClr val="258A58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8991600" y="1809750"/>
            <a:ext cx="2362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2075"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 Coordinator + Snapshot + Handler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9010650" y="2171700"/>
            <a:ext cx="23241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真相源单一、可扩展、可测试</a:t>
            </a:r>
            <a:endParaRPr sz="94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圆角矩形 25"/>
          <p:cNvSpPr>
            <a:spLocks noGrp="1"/>
          </p:cNvSpPr>
          <p:nvPr/>
        </p:nvSpPr>
        <p:spPr>
          <a:xfrm>
            <a:off x="9696450" y="2571750"/>
            <a:ext cx="9525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258A58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9753600" y="2581275"/>
            <a:ext cx="8382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58A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选择</a:t>
            </a:r>
            <a:endParaRPr sz="975" b="1">
              <a:solidFill>
                <a:srgbClr val="258A5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圆角矩形 27"/>
          <p:cNvSpPr>
            <a:spLocks noGrp="1"/>
          </p:cNvSpPr>
          <p:nvPr/>
        </p:nvSpPr>
        <p:spPr>
          <a:xfrm>
            <a:off x="533400" y="3143250"/>
            <a:ext cx="6191250" cy="2800350"/>
          </a:xfrm>
          <a:prstGeom prst="roundRect">
            <a:avLst>
              <a:gd name="adj" fmla="val 4082"/>
            </a:avLst>
          </a:prstGeom>
          <a:solidFill>
            <a:srgbClr val="F1F4F8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666750" y="3238500"/>
            <a:ext cx="5924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02-方案推导与决策记录.md → ADR-FW-ACCOUNT-001</a:t>
            </a:r>
            <a:endParaRPr sz="975" b="1">
              <a:solidFill>
                <a:srgbClr val="7256D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666750" y="3505200"/>
            <a:ext cx="514350" cy="28575"/>
          </a:xfrm>
          <a:prstGeom prst="rect">
            <a:avLst/>
          </a:prstGeom>
          <a:solidFill>
            <a:srgbClr val="7256D8"/>
          </a:solidFill>
          <a:ln w="11430">
            <a:solidFill>
              <a:srgbClr val="7256D8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666750" y="3600450"/>
            <a:ext cx="5924550" cy="2247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2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question: 账号事件后以什么作为同步输入</a:t>
            </a:r>
            <a:endParaRPr sz="102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2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selected: 稳定的完整账号快照</a:t>
            </a:r>
            <a:endParaRPr sz="102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2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truth_source: SystemUserProvider.loadAvailableUserIds</a:t>
            </a:r>
            <a:endParaRPr sz="102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2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trigger: EnterpriseAdminAbility account event</a:t>
            </a:r>
            <a:endParaRPr sz="102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2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rejected:</a:t>
            </a:r>
            <a:endParaRPr sz="102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2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 直接使用事件 ID</a:t>
            </a:r>
            <a:endParaRPr sz="102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2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 Provider 内执行业务副作用</a:t>
            </a:r>
            <a:endParaRPr sz="102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2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 UI 强刷作为修复</a:t>
            </a:r>
            <a:endParaRPr sz="102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2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failure_semantics:</a:t>
            </a:r>
            <a:endParaRPr sz="102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2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empty_or_error: preserve local truth</a:t>
            </a:r>
            <a:endParaRPr sz="102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2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added_not_visible: bounded retry, then incomplete</a:t>
            </a:r>
            <a:endParaRPr sz="102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32" name="圆角矩形 31"/>
          <p:cNvSpPr>
            <a:spLocks noGrp="1"/>
          </p:cNvSpPr>
          <p:nvPr/>
        </p:nvSpPr>
        <p:spPr>
          <a:xfrm>
            <a:off x="6991350" y="3143250"/>
            <a:ext cx="4552950" cy="131445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33" name="圆角矩形 32"/>
          <p:cNvSpPr>
            <a:spLocks noGrp="1"/>
          </p:cNvSpPr>
          <p:nvPr/>
        </p:nvSpPr>
        <p:spPr>
          <a:xfrm>
            <a:off x="7124700" y="3257550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E8F6F3"/>
          </a:solidFill>
          <a:ln w="11430">
            <a:solidFill>
              <a:srgbClr val="248C82"/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7181850" y="3267075"/>
            <a:ext cx="1314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4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冻结后的职责</a:t>
            </a:r>
            <a:endParaRPr sz="975" b="1">
              <a:solidFill>
                <a:srgbClr val="248C8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7134225" y="3600450"/>
            <a:ext cx="42672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2594"/>
          </a:bodyPr>
          <a:lstStyle/>
          <a:p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6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事件入口：只发触发信号</a:t>
            </a:r>
            <a:endParaRPr sz="106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6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Provider：只读完整事实</a:t>
            </a:r>
            <a:endParaRPr sz="106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6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Coordinator：防抖 / 单飞 / 计算差量 / 分发</a:t>
            </a:r>
            <a:endParaRPr sz="106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6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Handler：执行业务副作用</a:t>
            </a:r>
            <a:endParaRPr sz="106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6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UI：只消费稳定结果</a:t>
            </a:r>
            <a:endParaRPr sz="106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6" name="圆角矩形 35"/>
          <p:cNvSpPr>
            <a:spLocks noGrp="1"/>
          </p:cNvSpPr>
          <p:nvPr/>
        </p:nvSpPr>
        <p:spPr>
          <a:xfrm>
            <a:off x="6991350" y="4629150"/>
            <a:ext cx="4552950" cy="131445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37" name="圆角矩形 36"/>
          <p:cNvSpPr>
            <a:spLocks noGrp="1"/>
          </p:cNvSpPr>
          <p:nvPr/>
        </p:nvSpPr>
        <p:spPr>
          <a:xfrm>
            <a:off x="7124700" y="4743450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FFF0EC"/>
          </a:solidFill>
          <a:ln w="11430">
            <a:solidFill>
              <a:srgbClr val="E7644A"/>
            </a:solidFill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7181850" y="4752975"/>
            <a:ext cx="1314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 fontScale="95481"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什么证据会让 ADR 重开</a:t>
            </a:r>
            <a:endParaRPr sz="975" b="1">
              <a:solidFill>
                <a:srgbClr val="E764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7134225" y="5086350"/>
            <a:ext cx="42672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同设备上账号 ID 长期不可见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8000"/>
              </a:lnSpc>
              <a:buNone/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Handler failure 需要自动重试/队列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8000"/>
              </a:lnSpc>
              <a:buNone/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新模块需要共享账号快照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8000"/>
              </a:lnSpc>
              <a:buNone/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设备时延不满足 400/200/5 的稳定窗口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514350" y="6534150"/>
            <a:ext cx="9620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79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9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生成产物：case-materials/mdm/02-方案推导与决策记录.md；专项方案：docs/superpowers/plans/2026-07-02-firewall-account-reconcile.md</a:t>
            </a:r>
            <a:endParaRPr sz="79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1" name="圆角矩形 40"/>
          <p:cNvSpPr>
            <a:spLocks noGrp="1"/>
          </p:cNvSpPr>
          <p:nvPr/>
        </p:nvSpPr>
        <p:spPr>
          <a:xfrm>
            <a:off x="10382250" y="6477000"/>
            <a:ext cx="1295400" cy="26670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1430">
            <a:solidFill>
              <a:srgbClr val="7256D8"/>
            </a:solidFill>
            <a:prstDash val="solid"/>
          </a:ln>
        </p:spPr>
      </p:sp>
      <p:sp>
        <p:nvSpPr>
          <p:cNvPr id="42" name="矩形 41"/>
          <p:cNvSpPr>
            <a:spLocks noGrp="1"/>
          </p:cNvSpPr>
          <p:nvPr/>
        </p:nvSpPr>
        <p:spPr>
          <a:xfrm>
            <a:off x="10439400" y="6486525"/>
            <a:ext cx="11811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REPO FACT</a:t>
            </a:r>
            <a:endParaRPr sz="975" b="1">
              <a:solidFill>
                <a:srgbClr val="7256D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2" name="矩形 41"/>
          <p:cNvSpPr>
            <a:spLocks noGrp="1"/>
          </p:cNvSpPr>
          <p:nvPr/>
        </p:nvSpPr>
        <p:spPr>
          <a:xfrm>
            <a:off x="514350" y="1714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MDM 案例｜真实交付链</a:t>
            </a:r>
            <a:endParaRPr sz="975" b="1">
              <a:solidFill>
                <a:srgbClr val="E764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334750" y="1714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14</a:t>
            </a:r>
            <a:endParaRPr sz="975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419100"/>
            <a:ext cx="1066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最小穿刺用同一个断言推翻假设：事件到了，完整账号集合未必已更新</a:t>
            </a:r>
            <a:endParaRPr sz="21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866775"/>
            <a:ext cx="1066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FR-ACC-001：旧账号快照不得提前进入 Handler</a:t>
            </a:r>
            <a:endParaRPr sz="1125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1152525"/>
            <a:ext cx="11163300" cy="14288"/>
          </a:xfrm>
          <a:prstGeom prst="rect">
            <a:avLst/>
          </a:prstGeom>
          <a:solidFill>
            <a:srgbClr val="D7E0EA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533400" y="1323975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C9474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C9474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旧实现为什么错</a:t>
            </a:r>
            <a:endParaRPr sz="1275" b="1">
              <a:solidFill>
                <a:srgbClr val="C9474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52450" y="1590675"/>
            <a:ext cx="590550" cy="38100"/>
          </a:xfrm>
          <a:prstGeom prst="rect">
            <a:avLst/>
          </a:prstGeom>
          <a:solidFill>
            <a:srgbClr val="C94747"/>
          </a:solidFill>
          <a:ln w="11430">
            <a:solidFill>
              <a:srgbClr val="C94747"/>
            </a:solidFill>
            <a:prstDash val="solid"/>
          </a:ln>
        </p:spPr>
      </p:sp>
      <p:sp>
        <p:nvSpPr>
          <p:cNvPr id="8" name="圆角矩形 7"/>
          <p:cNvSpPr>
            <a:spLocks noGrp="1"/>
          </p:cNvSpPr>
          <p:nvPr/>
        </p:nvSpPr>
        <p:spPr>
          <a:xfrm>
            <a:off x="552450" y="1695450"/>
            <a:ext cx="2381250" cy="619125"/>
          </a:xfrm>
          <a:prstGeom prst="roundRect">
            <a:avLst>
              <a:gd name="adj" fmla="val 18462"/>
            </a:avLst>
          </a:prstGeom>
          <a:solidFill>
            <a:srgbClr val="FDEEEE"/>
          </a:solidFill>
          <a:ln w="11430">
            <a:solidFill>
              <a:srgbClr val="C94747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628650" y="1771650"/>
            <a:ext cx="2228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onAccountAdded(123)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952750" y="1857375"/>
            <a:ext cx="266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C9474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C9474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1650" b="1">
              <a:solidFill>
                <a:srgbClr val="C9474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圆角矩形 10"/>
          <p:cNvSpPr>
            <a:spLocks noGrp="1"/>
          </p:cNvSpPr>
          <p:nvPr/>
        </p:nvSpPr>
        <p:spPr>
          <a:xfrm>
            <a:off x="3295650" y="1695450"/>
            <a:ext cx="2381250" cy="619125"/>
          </a:xfrm>
          <a:prstGeom prst="roundRect">
            <a:avLst>
              <a:gd name="adj" fmla="val 18462"/>
            </a:avLst>
          </a:prstGeom>
          <a:solidFill>
            <a:srgbClr val="FDEEEE"/>
          </a:solidFill>
          <a:ln w="11430">
            <a:solidFill>
              <a:srgbClr val="C94747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3371850" y="1771650"/>
            <a:ext cx="2228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首次读取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[100,122]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5695950" y="1857375"/>
            <a:ext cx="266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C9474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C9474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1650" b="1">
              <a:solidFill>
                <a:srgbClr val="C9474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6038850" y="1695450"/>
            <a:ext cx="2381250" cy="619125"/>
          </a:xfrm>
          <a:prstGeom prst="roundRect">
            <a:avLst>
              <a:gd name="adj" fmla="val 18462"/>
            </a:avLst>
          </a:prstGeom>
          <a:solidFill>
            <a:srgbClr val="FDEEEE"/>
          </a:solidFill>
          <a:ln w="11430">
            <a:solidFill>
              <a:srgbClr val="C94747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6115050" y="1771650"/>
            <a:ext cx="2228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立即 dispatch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439150" y="1857375"/>
            <a:ext cx="266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C9474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C9474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1650" b="1">
              <a:solidFill>
                <a:srgbClr val="C9474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圆角矩形 16"/>
          <p:cNvSpPr>
            <a:spLocks noGrp="1"/>
          </p:cNvSpPr>
          <p:nvPr/>
        </p:nvSpPr>
        <p:spPr>
          <a:xfrm>
            <a:off x="8782050" y="1695450"/>
            <a:ext cx="2381250" cy="619125"/>
          </a:xfrm>
          <a:prstGeom prst="roundRect">
            <a:avLst>
              <a:gd name="adj" fmla="val 18462"/>
            </a:avLst>
          </a:prstGeom>
          <a:solidFill>
            <a:srgbClr val="FDEEEE"/>
          </a:solidFill>
          <a:ln w="11430">
            <a:solidFill>
              <a:srgbClr val="C94747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8858250" y="1771650"/>
            <a:ext cx="2228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123 无 policy / rules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圆角矩形 18"/>
          <p:cNvSpPr>
            <a:spLocks noGrp="1"/>
          </p:cNvSpPr>
          <p:nvPr/>
        </p:nvSpPr>
        <p:spPr>
          <a:xfrm>
            <a:off x="533400" y="2571750"/>
            <a:ext cx="5219700" cy="2333625"/>
          </a:xfrm>
          <a:prstGeom prst="roundRect">
            <a:avLst>
              <a:gd name="adj" fmla="val 4898"/>
            </a:avLst>
          </a:prstGeom>
          <a:solidFill>
            <a:srgbClr val="FDEEEE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666750" y="266700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975" b="1">
                <a:solidFill>
                  <a:srgbClr val="C9474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C9474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evidence/mdm/t01-red-green.md → RED</a:t>
            </a:r>
            <a:endParaRPr sz="975" b="1">
              <a:solidFill>
                <a:srgbClr val="C9474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666750" y="2933700"/>
            <a:ext cx="514350" cy="28575"/>
          </a:xfrm>
          <a:prstGeom prst="rect">
            <a:avLst/>
          </a:prstGeom>
          <a:solidFill>
            <a:srgbClr val="C94747"/>
          </a:solidFill>
          <a:ln w="11430">
            <a:solidFill>
              <a:srgbClr val="C94747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666750" y="3028950"/>
            <a:ext cx="4953000" cy="1781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ERROR: Error in should wait until added account appears</a:t>
            </a:r>
            <a:endParaRPr sz="100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before dispatching handlers,</a:t>
            </a:r>
            <a:endParaRPr sz="100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expect 1 equals 2</a:t>
            </a:r>
            <a:endParaRPr sz="100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at account-change-coordinator.test.ets:77:26</a:t>
            </a:r>
            <a:endParaRPr sz="100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endParaRPr sz="1005"/>
          </a:p>
          <a:p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BUILD SUCCESSFUL in 16 s 961 ms</a:t>
            </a:r>
            <a:endParaRPr sz="100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HVIGOR_EXIT=0</a:t>
            </a:r>
            <a:endParaRPr sz="100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23" name="圆角矩形 22"/>
          <p:cNvSpPr>
            <a:spLocks noGrp="1"/>
          </p:cNvSpPr>
          <p:nvPr/>
        </p:nvSpPr>
        <p:spPr>
          <a:xfrm>
            <a:off x="5943600" y="2571750"/>
            <a:ext cx="5600700" cy="2333625"/>
          </a:xfrm>
          <a:prstGeom prst="roundRect">
            <a:avLst>
              <a:gd name="adj" fmla="val 4898"/>
            </a:avLst>
          </a:prstGeom>
          <a:solidFill>
            <a:srgbClr val="E8F6F3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6076950" y="26670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4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最小修复：等待业务条件，而不是固定 sleep</a:t>
            </a:r>
            <a:endParaRPr sz="975" b="1">
              <a:solidFill>
                <a:srgbClr val="248C8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6076950" y="2933700"/>
            <a:ext cx="514350" cy="28575"/>
          </a:xfrm>
          <a:prstGeom prst="rect">
            <a:avLst/>
          </a:prstGeom>
          <a:solidFill>
            <a:srgbClr val="248C82"/>
          </a:solidFill>
          <a:ln w="11430">
            <a:solidFill>
              <a:srgbClr val="248C82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6076950" y="3028950"/>
            <a:ext cx="5334000" cy="1781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99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loadStableSnapshot(request)</a:t>
            </a:r>
            <a:endParaRPr sz="99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99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read [100,122]</a:t>
            </a:r>
            <a:endParaRPr sz="99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99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if source=account-added</a:t>
            </a:r>
            <a:endParaRPr sz="99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99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 AND trigger=123</a:t>
            </a:r>
            <a:endParaRPr sz="99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99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 AND currentIds not contains 123:</a:t>
            </a:r>
            <a:endParaRPr sz="99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99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   wait 200ms → retry (max 5)</a:t>
            </a:r>
            <a:endParaRPr sz="99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99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stable=true  → dispatch once</a:t>
            </a:r>
            <a:endParaRPr sz="99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99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stable=false → handler=0, publish=0, preserve previous</a:t>
            </a:r>
            <a:endParaRPr sz="99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27" name="圆角矩形 26"/>
          <p:cNvSpPr>
            <a:spLocks noGrp="1"/>
          </p:cNvSpPr>
          <p:nvPr/>
        </p:nvSpPr>
        <p:spPr>
          <a:xfrm>
            <a:off x="533400" y="5124450"/>
            <a:ext cx="3371850" cy="952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28" name="圆角矩形 27"/>
          <p:cNvSpPr>
            <a:spLocks noGrp="1"/>
          </p:cNvSpPr>
          <p:nvPr/>
        </p:nvSpPr>
        <p:spPr>
          <a:xfrm>
            <a:off x="666750" y="5238750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EAF3FD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723900" y="5248275"/>
            <a:ext cx="1314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怎么做</a:t>
            </a:r>
            <a:endParaRPr sz="975" b="1">
              <a:solidFill>
                <a:srgbClr val="2878D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676275" y="5581650"/>
            <a:ext cx="3086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9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最小输入：先旧后新 / 一直旧 / removed；只改 Coordinator 协议。</a:t>
            </a:r>
            <a:endParaRPr sz="99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圆角矩形 30"/>
          <p:cNvSpPr>
            <a:spLocks noGrp="1"/>
          </p:cNvSpPr>
          <p:nvPr/>
        </p:nvSpPr>
        <p:spPr>
          <a:xfrm>
            <a:off x="4095750" y="5124450"/>
            <a:ext cx="3371850" cy="952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32" name="圆角矩形 31"/>
          <p:cNvSpPr>
            <a:spLocks noGrp="1"/>
          </p:cNvSpPr>
          <p:nvPr/>
        </p:nvSpPr>
        <p:spPr>
          <a:xfrm>
            <a:off x="4229100" y="5238750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EAF7EF"/>
          </a:solidFill>
          <a:ln w="11430">
            <a:solidFill>
              <a:srgbClr val="258A58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4286250" y="5248275"/>
            <a:ext cx="1314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58A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怎么判断</a:t>
            </a:r>
            <a:endParaRPr sz="975" b="1">
              <a:solidFill>
                <a:srgbClr val="258A5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4238625" y="5581650"/>
            <a:ext cx="3086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9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 query / handler / publish 次数，不只看 BUILD SUCCESSFUL 和退出码。</a:t>
            </a:r>
            <a:endParaRPr sz="99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圆角矩形 34"/>
          <p:cNvSpPr>
            <a:spLocks noGrp="1"/>
          </p:cNvSpPr>
          <p:nvPr/>
        </p:nvSpPr>
        <p:spPr>
          <a:xfrm>
            <a:off x="7658100" y="5124450"/>
            <a:ext cx="3886200" cy="952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36" name="圆角矩形 35"/>
          <p:cNvSpPr>
            <a:spLocks noGrp="1"/>
          </p:cNvSpPr>
          <p:nvPr/>
        </p:nvSpPr>
        <p:spPr>
          <a:xfrm>
            <a:off x="7791450" y="5238750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FFF6DE"/>
          </a:solidFill>
          <a:ln w="11430">
            <a:solidFill>
              <a:srgbClr val="D99018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7848600" y="5248275"/>
            <a:ext cx="1314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D9901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不对怎么办</a:t>
            </a:r>
            <a:endParaRPr sz="975" b="1">
              <a:solidFill>
                <a:srgbClr val="D9901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7800975" y="5581650"/>
            <a:ext cx="3600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9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RED 若来自编译、SDK 或 mock，不进入实现；先修验证链。</a:t>
            </a:r>
            <a:endParaRPr sz="99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514350" y="6534150"/>
            <a:ext cx="9620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79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9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真实运行证据：evidence/mdm/t01-red-green.md；RED 4b372d0d → GREEN c0c1bc9f</a:t>
            </a:r>
            <a:endParaRPr sz="79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0" name="圆角矩形 39"/>
          <p:cNvSpPr>
            <a:spLocks noGrp="1"/>
          </p:cNvSpPr>
          <p:nvPr/>
        </p:nvSpPr>
        <p:spPr>
          <a:xfrm>
            <a:off x="10382250" y="6477000"/>
            <a:ext cx="1295400" cy="266700"/>
          </a:xfrm>
          <a:prstGeom prst="roundRect">
            <a:avLst>
              <a:gd name="adj" fmla="val 50000"/>
            </a:avLst>
          </a:prstGeom>
          <a:solidFill>
            <a:srgbClr val="EAF7EF"/>
          </a:solidFill>
          <a:ln w="11430">
            <a:solidFill>
              <a:srgbClr val="258A58"/>
            </a:solidFill>
            <a:prstDash val="solid"/>
          </a:ln>
        </p:spPr>
      </p:sp>
      <p:sp>
        <p:nvSpPr>
          <p:cNvPr id="41" name="矩形 40"/>
          <p:cNvSpPr>
            <a:spLocks noGrp="1"/>
          </p:cNvSpPr>
          <p:nvPr/>
        </p:nvSpPr>
        <p:spPr>
          <a:xfrm>
            <a:off x="10439400" y="6486525"/>
            <a:ext cx="11811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58A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RUN FACT</a:t>
            </a:r>
            <a:endParaRPr sz="975" b="1">
              <a:solidFill>
                <a:srgbClr val="258A5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5" name="矩形 44"/>
          <p:cNvSpPr>
            <a:spLocks noGrp="1"/>
          </p:cNvSpPr>
          <p:nvPr/>
        </p:nvSpPr>
        <p:spPr>
          <a:xfrm>
            <a:off x="514350" y="1714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MDM 案例｜真实交付链</a:t>
            </a:r>
            <a:endParaRPr sz="975" b="1">
              <a:solidFill>
                <a:srgbClr val="E764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334750" y="1714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</a:t>
            </a:r>
            <a:endParaRPr sz="975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419100"/>
            <a:ext cx="1066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RFC 把决定写成系统契约：边界、状态、不变量和失败语义</a:t>
            </a:r>
            <a:endParaRPr sz="21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866775"/>
            <a:ext cx="1066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下一轮 AI 只能在契约内实现，不能在代码阶段重新选择架构</a:t>
            </a:r>
            <a:endParaRPr sz="1125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1152525"/>
            <a:ext cx="11163300" cy="14288"/>
          </a:xfrm>
          <a:prstGeom prst="rect">
            <a:avLst/>
          </a:prstGeom>
          <a:solidFill>
            <a:srgbClr val="D7E0EA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6" name="圆角矩形 5"/>
          <p:cNvSpPr>
            <a:spLocks noGrp="1"/>
          </p:cNvSpPr>
          <p:nvPr/>
        </p:nvSpPr>
        <p:spPr>
          <a:xfrm>
            <a:off x="533400" y="1371600"/>
            <a:ext cx="4572000" cy="4572000"/>
          </a:xfrm>
          <a:prstGeom prst="roundRect">
            <a:avLst>
              <a:gd name="adj" fmla="val 2500"/>
            </a:avLst>
          </a:prstGeom>
          <a:solidFill>
            <a:srgbClr val="F1F4F8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66750" y="1466850"/>
            <a:ext cx="4305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03-防火墙账号同步RFC.md</a:t>
            </a:r>
            <a:endParaRPr sz="975" b="1">
              <a:solidFill>
                <a:srgbClr val="7256D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66750" y="1733550"/>
            <a:ext cx="514350" cy="28575"/>
          </a:xfrm>
          <a:prstGeom prst="rect">
            <a:avLst/>
          </a:prstGeom>
          <a:solidFill>
            <a:srgbClr val="7256D8"/>
          </a:solidFill>
          <a:ln w="11430">
            <a:solidFill>
              <a:srgbClr val="7256D8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666750" y="1828800"/>
            <a:ext cx="4305300" cy="401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范围：</a:t>
            </a:r>
            <a:endParaRPr sz="100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+ 账号新增/删除事件接入</a:t>
            </a:r>
            <a:endParaRPr sz="100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+ 完整集合、signature、added/removed</a:t>
            </a:r>
            <a:endParaRPr sz="100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+ public/private 模式重放</a:t>
            </a:r>
            <a:endParaRPr sz="100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+ custom 默认 policy（不扩历史规则）</a:t>
            </a:r>
            <a:endParaRPr sz="100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+ 删除账号本地清理</a:t>
            </a:r>
            <a:endParaRPr sz="100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+ 稳定事实通知 UI</a:t>
            </a:r>
            <a:endParaRPr sz="100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endParaRPr sz="1000"/>
          </a:p>
          <a:p>
            <a:pPr algn="l">
              <a:lnSpc>
                <a:spcPct val="100000"/>
              </a:lnSpc>
              <a:buNone/>
              <a:def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不包含：</a:t>
            </a:r>
            <a:endParaRPr sz="100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 Provider 内执行业务副作用</a:t>
            </a:r>
            <a:endParaRPr sz="100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 UI 强刷替代同步</a:t>
            </a:r>
            <a:endParaRPr sz="100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 把 custom 历史 ALL 动态扩展</a:t>
            </a:r>
            <a:endParaRPr sz="100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endParaRPr sz="1000"/>
          </a:p>
          <a:p>
            <a:pPr algn="l">
              <a:lnSpc>
                <a:spcPct val="100000"/>
              </a:lnSpc>
              <a:buNone/>
              <a:def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状态：</a:t>
            </a:r>
            <a:endParaRPr sz="100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pendingRequest / running / previousUserIds</a:t>
            </a:r>
            <a:endParaRPr sz="100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desiredEnabled / lastAppliedMode</a:t>
            </a:r>
            <a:endParaRPr sz="100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lastAppliedUserIdsSignature / intents / deployments</a:t>
            </a:r>
            <a:endParaRPr sz="100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5391150" y="139065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RFC 的七条不变量</a:t>
            </a:r>
            <a:endParaRPr sz="1275" b="1">
              <a:solidFill>
                <a:srgbClr val="2878D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5410200" y="1657350"/>
            <a:ext cx="590550" cy="38100"/>
          </a:xfrm>
          <a:prstGeom prst="rect">
            <a:avLst/>
          </a:prstGeom>
          <a:solidFill>
            <a:srgbClr val="2878D0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12" name="圆角矩形 11"/>
          <p:cNvSpPr>
            <a:spLocks noGrp="1"/>
          </p:cNvSpPr>
          <p:nvPr/>
        </p:nvSpPr>
        <p:spPr>
          <a:xfrm>
            <a:off x="5410200" y="1771650"/>
            <a:ext cx="514350" cy="266700"/>
          </a:xfrm>
          <a:prstGeom prst="roundRect">
            <a:avLst>
              <a:gd name="adj" fmla="val 50000"/>
            </a:avLst>
          </a:prstGeom>
          <a:solidFill>
            <a:srgbClr val="EAF3FD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5467350" y="1781175"/>
            <a:ext cx="4000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I1</a:t>
            </a:r>
            <a:endParaRPr sz="975" b="1">
              <a:solidFill>
                <a:srgbClr val="2878D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6019800" y="1771650"/>
            <a:ext cx="5391150" cy="323850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6134100" y="1800225"/>
            <a:ext cx="516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6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事件只触发，不充当完整真相</a:t>
            </a:r>
            <a:endParaRPr sz="106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圆角矩形 15"/>
          <p:cNvSpPr>
            <a:spLocks noGrp="1"/>
          </p:cNvSpPr>
          <p:nvPr/>
        </p:nvSpPr>
        <p:spPr>
          <a:xfrm>
            <a:off x="5410200" y="2286000"/>
            <a:ext cx="514350" cy="266700"/>
          </a:xfrm>
          <a:prstGeom prst="roundRect">
            <a:avLst>
              <a:gd name="adj" fmla="val 50000"/>
            </a:avLst>
          </a:prstGeom>
          <a:solidFill>
            <a:srgbClr val="EAF3FD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5467350" y="2295525"/>
            <a:ext cx="4000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I2</a:t>
            </a:r>
            <a:endParaRPr sz="975" b="1">
              <a:solidFill>
                <a:srgbClr val="2878D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圆角矩形 17"/>
          <p:cNvSpPr>
            <a:spLocks noGrp="1"/>
          </p:cNvSpPr>
          <p:nvPr/>
        </p:nvSpPr>
        <p:spPr>
          <a:xfrm>
            <a:off x="6019800" y="2286000"/>
            <a:ext cx="5391150" cy="323850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6134100" y="2314575"/>
            <a:ext cx="516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6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新增账号可见后才允许分发</a:t>
            </a:r>
            <a:endParaRPr sz="106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圆角矩形 19"/>
          <p:cNvSpPr>
            <a:spLocks noGrp="1"/>
          </p:cNvSpPr>
          <p:nvPr/>
        </p:nvSpPr>
        <p:spPr>
          <a:xfrm>
            <a:off x="5410200" y="2800350"/>
            <a:ext cx="514350" cy="266700"/>
          </a:xfrm>
          <a:prstGeom prst="roundRect">
            <a:avLst>
              <a:gd name="adj" fmla="val 50000"/>
            </a:avLst>
          </a:prstGeom>
          <a:solidFill>
            <a:srgbClr val="EAF3FD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5467350" y="2809875"/>
            <a:ext cx="4000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I3</a:t>
            </a:r>
            <a:endParaRPr sz="975" b="1">
              <a:solidFill>
                <a:srgbClr val="2878D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圆角矩形 21"/>
          <p:cNvSpPr>
            <a:spLocks noGrp="1"/>
          </p:cNvSpPr>
          <p:nvPr/>
        </p:nvSpPr>
        <p:spPr>
          <a:xfrm>
            <a:off x="6019800" y="2800350"/>
            <a:ext cx="5391150" cy="323850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6134100" y="2828925"/>
            <a:ext cx="516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6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空/失败集合不能 prune 或重放</a:t>
            </a:r>
            <a:endParaRPr sz="106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圆角矩形 23"/>
          <p:cNvSpPr>
            <a:spLocks noGrp="1"/>
          </p:cNvSpPr>
          <p:nvPr/>
        </p:nvSpPr>
        <p:spPr>
          <a:xfrm>
            <a:off x="5410200" y="3314700"/>
            <a:ext cx="514350" cy="266700"/>
          </a:xfrm>
          <a:prstGeom prst="roundRect">
            <a:avLst>
              <a:gd name="adj" fmla="val 50000"/>
            </a:avLst>
          </a:prstGeom>
          <a:solidFill>
            <a:srgbClr val="EAF3FD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5467350" y="3324225"/>
            <a:ext cx="4000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I4</a:t>
            </a:r>
            <a:endParaRPr sz="975" b="1">
              <a:solidFill>
                <a:srgbClr val="2878D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圆角矩形 25"/>
          <p:cNvSpPr>
            <a:spLocks noGrp="1"/>
          </p:cNvSpPr>
          <p:nvPr/>
        </p:nvSpPr>
        <p:spPr>
          <a:xfrm>
            <a:off x="6019800" y="3314700"/>
            <a:ext cx="5391150" cy="323850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6134100" y="3343275"/>
            <a:ext cx="516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6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public/private 对最新集合生效</a:t>
            </a:r>
            <a:endParaRPr sz="106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圆角矩形 27"/>
          <p:cNvSpPr>
            <a:spLocks noGrp="1"/>
          </p:cNvSpPr>
          <p:nvPr/>
        </p:nvSpPr>
        <p:spPr>
          <a:xfrm>
            <a:off x="5410200" y="3829050"/>
            <a:ext cx="514350" cy="266700"/>
          </a:xfrm>
          <a:prstGeom prst="roundRect">
            <a:avLst>
              <a:gd name="adj" fmla="val 50000"/>
            </a:avLst>
          </a:prstGeom>
          <a:solidFill>
            <a:srgbClr val="EAF3FD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5467350" y="3838575"/>
            <a:ext cx="4000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I5</a:t>
            </a:r>
            <a:endParaRPr sz="975" b="1">
              <a:solidFill>
                <a:srgbClr val="2878D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圆角矩形 29"/>
          <p:cNvSpPr>
            <a:spLocks noGrp="1"/>
          </p:cNvSpPr>
          <p:nvPr/>
        </p:nvSpPr>
        <p:spPr>
          <a:xfrm>
            <a:off x="6019800" y="3829050"/>
            <a:ext cx="5391150" cy="323850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6134100" y="3857625"/>
            <a:ext cx="516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6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custom 不扩历史规则作用域</a:t>
            </a:r>
            <a:endParaRPr sz="106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圆角矩形 31"/>
          <p:cNvSpPr>
            <a:spLocks noGrp="1"/>
          </p:cNvSpPr>
          <p:nvPr/>
        </p:nvSpPr>
        <p:spPr>
          <a:xfrm>
            <a:off x="5410200" y="4343400"/>
            <a:ext cx="514350" cy="266700"/>
          </a:xfrm>
          <a:prstGeom prst="roundRect">
            <a:avLst>
              <a:gd name="adj" fmla="val 50000"/>
            </a:avLst>
          </a:prstGeom>
          <a:solidFill>
            <a:srgbClr val="FFF0EC"/>
          </a:solidFill>
          <a:ln w="11430">
            <a:solidFill>
              <a:srgbClr val="E7644A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5467350" y="4352925"/>
            <a:ext cx="4000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I6</a:t>
            </a:r>
            <a:endParaRPr sz="975" b="1">
              <a:solidFill>
                <a:srgbClr val="E764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圆角矩形 33"/>
          <p:cNvSpPr>
            <a:spLocks noGrp="1"/>
          </p:cNvSpPr>
          <p:nvPr/>
        </p:nvSpPr>
        <p:spPr>
          <a:xfrm>
            <a:off x="6019800" y="4343400"/>
            <a:ext cx="5391150" cy="323850"/>
          </a:xfrm>
          <a:prstGeom prst="roundRect">
            <a:avLst>
              <a:gd name="adj" fmla="val 17647"/>
            </a:avLst>
          </a:prstGeom>
          <a:solidFill>
            <a:srgbClr val="FFF0EC"/>
          </a:solidFill>
          <a:ln w="11430">
            <a:solidFill>
              <a:srgbClr val="E7644A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6134100" y="4371975"/>
            <a:ext cx="516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06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6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失败不能保存新 signature</a:t>
            </a:r>
            <a:endParaRPr sz="1065" b="1">
              <a:solidFill>
                <a:srgbClr val="E764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6" name="圆角矩形 35"/>
          <p:cNvSpPr>
            <a:spLocks noGrp="1"/>
          </p:cNvSpPr>
          <p:nvPr/>
        </p:nvSpPr>
        <p:spPr>
          <a:xfrm>
            <a:off x="5410200" y="4857750"/>
            <a:ext cx="514350" cy="266700"/>
          </a:xfrm>
          <a:prstGeom prst="roundRect">
            <a:avLst>
              <a:gd name="adj" fmla="val 50000"/>
            </a:avLst>
          </a:prstGeom>
          <a:solidFill>
            <a:srgbClr val="EAF3FD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5467350" y="4867275"/>
            <a:ext cx="4000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I7</a:t>
            </a:r>
            <a:endParaRPr sz="975" b="1">
              <a:solidFill>
                <a:srgbClr val="2878D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圆角矩形 37"/>
          <p:cNvSpPr>
            <a:spLocks noGrp="1"/>
          </p:cNvSpPr>
          <p:nvPr/>
        </p:nvSpPr>
        <p:spPr>
          <a:xfrm>
            <a:off x="6019800" y="4857750"/>
            <a:ext cx="5391150" cy="323850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39" name="矩形 38"/>
          <p:cNvSpPr>
            <a:spLocks noGrp="1"/>
          </p:cNvSpPr>
          <p:nvPr/>
        </p:nvSpPr>
        <p:spPr>
          <a:xfrm>
            <a:off x="6134100" y="4886325"/>
            <a:ext cx="516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6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UI 只消费稳定结果，不承担修复</a:t>
            </a:r>
            <a:endParaRPr sz="106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0" name="圆角矩形 39"/>
          <p:cNvSpPr>
            <a:spLocks noGrp="1"/>
          </p:cNvSpPr>
          <p:nvPr/>
        </p:nvSpPr>
        <p:spPr>
          <a:xfrm>
            <a:off x="5391150" y="5543550"/>
            <a:ext cx="6019800" cy="400050"/>
          </a:xfrm>
          <a:prstGeom prst="roundRect">
            <a:avLst>
              <a:gd name="adj" fmla="val 14286"/>
            </a:avLst>
          </a:prstGeom>
          <a:solidFill>
            <a:srgbClr val="FFF6DE"/>
          </a:solidFill>
          <a:ln w="11430">
            <a:solidFill>
              <a:srgbClr val="D99018"/>
            </a:solidFill>
            <a:prstDash val="solid"/>
          </a:ln>
        </p:spPr>
      </p:sp>
      <p:sp>
        <p:nvSpPr>
          <p:cNvPr id="41" name="矩形 40"/>
          <p:cNvSpPr>
            <a:spLocks noGrp="1"/>
          </p:cNvSpPr>
          <p:nvPr/>
        </p:nvSpPr>
        <p:spPr>
          <a:xfrm>
            <a:off x="5524500" y="5600700"/>
            <a:ext cx="5753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4194"/>
          </a:bodyPr>
          <a:lstStyle/>
          <a:p>
            <a:pPr algn="l">
              <a:lnSpc>
                <a:spcPct val="108000"/>
              </a:lnSpc>
              <a:buNone/>
              <a:defRPr sz="1015" b="1">
                <a:solidFill>
                  <a:srgbClr val="D9901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15" b="1">
                <a:solidFill>
                  <a:srgbClr val="D9901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审阅发现：I6 在当前实现中仍有原子提交与 rollback 缺口 → 生成后续 Story，而不是假装 RFC 已实现。</a:t>
            </a:r>
            <a:endParaRPr sz="1015" b="1">
              <a:solidFill>
                <a:srgbClr val="D9901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2" name="矩形 41"/>
          <p:cNvSpPr>
            <a:spLocks noGrp="1"/>
          </p:cNvSpPr>
          <p:nvPr/>
        </p:nvSpPr>
        <p:spPr>
          <a:xfrm>
            <a:off x="514350" y="6534150"/>
            <a:ext cx="9620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79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9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真实产物：case-materials/mdm/03-防火墙账号同步RFC.md；项目契约：security_tool/docs/03-模块设计/防火墙管理组件设计说明.md</a:t>
            </a:r>
            <a:endParaRPr sz="79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3" name="圆角矩形 42"/>
          <p:cNvSpPr>
            <a:spLocks noGrp="1"/>
          </p:cNvSpPr>
          <p:nvPr/>
        </p:nvSpPr>
        <p:spPr>
          <a:xfrm>
            <a:off x="10382250" y="6477000"/>
            <a:ext cx="1295400" cy="26670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1430">
            <a:solidFill>
              <a:srgbClr val="7256D8"/>
            </a:solidFill>
            <a:prstDash val="solid"/>
          </a:ln>
        </p:spPr>
      </p:sp>
      <p:sp>
        <p:nvSpPr>
          <p:cNvPr id="44" name="矩形 43"/>
          <p:cNvSpPr>
            <a:spLocks noGrp="1"/>
          </p:cNvSpPr>
          <p:nvPr/>
        </p:nvSpPr>
        <p:spPr>
          <a:xfrm>
            <a:off x="10439400" y="6486525"/>
            <a:ext cx="11811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REPO FACT</a:t>
            </a:r>
            <a:endParaRPr sz="975" b="1">
              <a:solidFill>
                <a:srgbClr val="7256D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5" name="矩形 74"/>
          <p:cNvSpPr>
            <a:spLocks noGrp="1"/>
          </p:cNvSpPr>
          <p:nvPr/>
        </p:nvSpPr>
        <p:spPr>
          <a:xfrm>
            <a:off x="514350" y="1714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MDM 案例｜真实交付链</a:t>
            </a:r>
            <a:endParaRPr sz="975" b="1">
              <a:solidFill>
                <a:srgbClr val="E764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334750" y="1714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16</a:t>
            </a:r>
            <a:endParaRPr sz="975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419100"/>
            <a:ext cx="1066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 RFC 映射到真实文件：现场沿调用链走到 netFirewall</a:t>
            </a:r>
            <a:endParaRPr sz="20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866775"/>
            <a:ext cx="1066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后台业务闭环负责状态收敛；前台跨进程闭环只负责消费稳定事实</a:t>
            </a:r>
            <a:endParaRPr sz="1125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1152525"/>
            <a:ext cx="11163300" cy="14288"/>
          </a:xfrm>
          <a:prstGeom prst="rect">
            <a:avLst/>
          </a:prstGeom>
          <a:solidFill>
            <a:srgbClr val="D7E0EA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533400" y="1323975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后台业务闭环（Extension 进程）</a:t>
            </a:r>
            <a:endParaRPr sz="1275" b="1">
              <a:solidFill>
                <a:srgbClr val="2878D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52450" y="1590675"/>
            <a:ext cx="590550" cy="38100"/>
          </a:xfrm>
          <a:prstGeom prst="rect">
            <a:avLst/>
          </a:prstGeom>
          <a:solidFill>
            <a:srgbClr val="2878D0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8" name="圆角矩形 7"/>
          <p:cNvSpPr>
            <a:spLocks noGrp="1"/>
          </p:cNvSpPr>
          <p:nvPr/>
        </p:nvSpPr>
        <p:spPr>
          <a:xfrm>
            <a:off x="533400" y="1695450"/>
            <a:ext cx="1657350" cy="800100"/>
          </a:xfrm>
          <a:prstGeom prst="roundRect">
            <a:avLst>
              <a:gd name="adj" fmla="val 14286"/>
            </a:avLst>
          </a:prstGeom>
          <a:solidFill>
            <a:srgbClr val="EAF3FD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600075" y="1771650"/>
            <a:ext cx="15240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84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EnterpriseAdminAbility.ets</a:t>
            </a:r>
            <a:endParaRPr sz="84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609600" y="2085975"/>
            <a:ext cx="15049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79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9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onAccountAdded / Removed</a:t>
            </a:r>
            <a:endParaRPr sz="79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2190750" y="1943100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1298"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1650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2381250" y="1695450"/>
            <a:ext cx="1657350" cy="800100"/>
          </a:xfrm>
          <a:prstGeom prst="roundRect">
            <a:avLst>
              <a:gd name="adj" fmla="val 14286"/>
            </a:avLst>
          </a:prstGeom>
          <a:solidFill>
            <a:srgbClr val="E8F6F3"/>
          </a:solidFill>
          <a:ln w="11430">
            <a:solidFill>
              <a:srgbClr val="248C82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2447925" y="1771650"/>
            <a:ext cx="15240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3006"/>
          </a:bodyPr>
          <a:lstStyle/>
          <a:p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84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AccountChangeCoordinator.ets</a:t>
            </a:r>
            <a:endParaRPr sz="84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2457450" y="2085975"/>
            <a:ext cx="15049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79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9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schedule → runPending → loadStableSnapshot</a:t>
            </a:r>
            <a:endParaRPr sz="79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4038600" y="1943100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1298"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1650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圆角矩形 15"/>
          <p:cNvSpPr>
            <a:spLocks noGrp="1"/>
          </p:cNvSpPr>
          <p:nvPr/>
        </p:nvSpPr>
        <p:spPr>
          <a:xfrm>
            <a:off x="4229100" y="1695450"/>
            <a:ext cx="1657350" cy="800100"/>
          </a:xfrm>
          <a:prstGeom prst="roundRect">
            <a:avLst>
              <a:gd name="adj" fmla="val 14286"/>
            </a:avLst>
          </a:prstGeom>
          <a:solidFill>
            <a:srgbClr val="EAF3FD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4295775" y="1771650"/>
            <a:ext cx="15240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84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SystemUserProvider.ets</a:t>
            </a:r>
            <a:endParaRPr sz="84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4305300" y="2085975"/>
            <a:ext cx="15049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79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9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getOsAccountLocalIds</a:t>
            </a:r>
            <a:endParaRPr sz="79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5886450" y="1943100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1298"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1650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圆角矩形 19"/>
          <p:cNvSpPr>
            <a:spLocks noGrp="1"/>
          </p:cNvSpPr>
          <p:nvPr/>
        </p:nvSpPr>
        <p:spPr>
          <a:xfrm>
            <a:off x="6076950" y="1695450"/>
            <a:ext cx="1657350" cy="800100"/>
          </a:xfrm>
          <a:prstGeom prst="roundRect">
            <a:avLst>
              <a:gd name="adj" fmla="val 14286"/>
            </a:avLst>
          </a:prstGeom>
          <a:solidFill>
            <a:srgbClr val="E8F6F3"/>
          </a:solidFill>
          <a:ln w="11430">
            <a:solidFill>
              <a:srgbClr val="248C82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6143625" y="1771650"/>
            <a:ext cx="15240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3006"/>
          </a:bodyPr>
          <a:lstStyle/>
          <a:p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84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FirewallAccountChangeHandler.ets</a:t>
            </a:r>
            <a:endParaRPr sz="84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6153150" y="2085975"/>
            <a:ext cx="15049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79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9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prune → custom / public / private</a:t>
            </a:r>
            <a:endParaRPr sz="79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7734300" y="1943100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1298"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1650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圆角矩形 23"/>
          <p:cNvSpPr>
            <a:spLocks noGrp="1"/>
          </p:cNvSpPr>
          <p:nvPr/>
        </p:nvSpPr>
        <p:spPr>
          <a:xfrm>
            <a:off x="7924800" y="1695450"/>
            <a:ext cx="1657350" cy="800100"/>
          </a:xfrm>
          <a:prstGeom prst="roundRect">
            <a:avLst>
              <a:gd name="adj" fmla="val 14286"/>
            </a:avLst>
          </a:prstGeom>
          <a:solidFill>
            <a:srgbClr val="EAF3FD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7991475" y="1771650"/>
            <a:ext cx="15240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3006"/>
          </a:bodyPr>
          <a:lstStyle/>
          <a:p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84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FirewallModeSwitchService.ets</a:t>
            </a:r>
            <a:endParaRPr sz="84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8001000" y="2085975"/>
            <a:ext cx="15049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79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9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snapshot → clear → policy → rules → rollback</a:t>
            </a:r>
            <a:endParaRPr sz="79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9582150" y="1943100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1298"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1650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圆角矩形 27"/>
          <p:cNvSpPr>
            <a:spLocks noGrp="1"/>
          </p:cNvSpPr>
          <p:nvPr/>
        </p:nvSpPr>
        <p:spPr>
          <a:xfrm>
            <a:off x="9772650" y="1695450"/>
            <a:ext cx="1657350" cy="800100"/>
          </a:xfrm>
          <a:prstGeom prst="roundRect">
            <a:avLst>
              <a:gd name="adj" fmla="val 14286"/>
            </a:avLst>
          </a:prstGeom>
          <a:solidFill>
            <a:srgbClr val="E8F6F3"/>
          </a:solidFill>
          <a:ln w="11430">
            <a:solidFill>
              <a:srgbClr val="248C82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9839325" y="1771650"/>
            <a:ext cx="15240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3006"/>
          </a:bodyPr>
          <a:lstStyle/>
          <a:p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84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FirewallSystemRepository.ets</a:t>
            </a:r>
            <a:endParaRPr sz="84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9848850" y="2085975"/>
            <a:ext cx="15049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79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9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get/set policy · list/add/remove rules</a:t>
            </a:r>
            <a:endParaRPr sz="79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圆角矩形 30"/>
          <p:cNvSpPr>
            <a:spLocks noGrp="1"/>
          </p:cNvSpPr>
          <p:nvPr/>
        </p:nvSpPr>
        <p:spPr>
          <a:xfrm>
            <a:off x="533400" y="2647950"/>
            <a:ext cx="10896600" cy="381000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685800" y="2705100"/>
            <a:ext cx="10591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248C82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1">
                <a:solidFill>
                  <a:srgbClr val="248C82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系统 API：getNetFirewallPolicy → setNetFirewallPolicy → getNetFirewallRules → remove/addNetFirewallRule</a:t>
            </a:r>
            <a:endParaRPr sz="1050" b="1">
              <a:solidFill>
                <a:srgbClr val="248C82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533400" y="32385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24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24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前台 UI 闭环（UI 进程）</a:t>
            </a:r>
            <a:endParaRPr sz="1275" b="1">
              <a:solidFill>
                <a:srgbClr val="248C8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552450" y="3505200"/>
            <a:ext cx="590550" cy="38100"/>
          </a:xfrm>
          <a:prstGeom prst="rect">
            <a:avLst/>
          </a:prstGeom>
          <a:solidFill>
            <a:srgbClr val="248C82"/>
          </a:solidFill>
          <a:ln w="11430">
            <a:solidFill>
              <a:srgbClr val="248C82"/>
            </a:solidFill>
            <a:prstDash val="solid"/>
          </a:ln>
        </p:spPr>
      </p:sp>
      <p:sp>
        <p:nvSpPr>
          <p:cNvPr id="35" name="圆角矩形 34"/>
          <p:cNvSpPr>
            <a:spLocks noGrp="1"/>
          </p:cNvSpPr>
          <p:nvPr/>
        </p:nvSpPr>
        <p:spPr>
          <a:xfrm>
            <a:off x="666750" y="3638550"/>
            <a:ext cx="1924050" cy="704850"/>
          </a:xfrm>
          <a:prstGeom prst="roundRect">
            <a:avLst>
              <a:gd name="adj" fmla="val 16216"/>
            </a:avLst>
          </a:prstGeom>
          <a:solidFill>
            <a:srgbClr val="E8F6F3"/>
          </a:solidFill>
          <a:ln w="11430">
            <a:solidFill>
              <a:srgbClr val="248C82"/>
            </a:solidFill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742950" y="3724275"/>
            <a:ext cx="1771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4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AccountChangeEventBus</a:t>
            </a:r>
            <a:endParaRPr sz="94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742950" y="4000500"/>
            <a:ext cx="1771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8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8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publishSnapshot</a:t>
            </a:r>
            <a:endParaRPr sz="84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2600325" y="3819525"/>
            <a:ext cx="2095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24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24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1650" b="1">
              <a:solidFill>
                <a:srgbClr val="248C8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9" name="圆角矩形 38"/>
          <p:cNvSpPr>
            <a:spLocks noGrp="1"/>
          </p:cNvSpPr>
          <p:nvPr/>
        </p:nvSpPr>
        <p:spPr>
          <a:xfrm>
            <a:off x="2819400" y="3638550"/>
            <a:ext cx="1924050" cy="704850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11430">
            <a:solidFill>
              <a:srgbClr val="248C82"/>
            </a:solidFill>
            <a:prstDash val="solid"/>
          </a:ln>
        </p:spPr>
      </p:sp>
      <p:sp>
        <p:nvSpPr>
          <p:cNvPr id="40" name="矩形 39"/>
          <p:cNvSpPr>
            <a:spLocks noGrp="1"/>
          </p:cNvSpPr>
          <p:nvPr/>
        </p:nvSpPr>
        <p:spPr>
          <a:xfrm>
            <a:off x="2895600" y="3724275"/>
            <a:ext cx="1771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4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commonEventManager</a:t>
            </a:r>
            <a:endParaRPr sz="94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2895600" y="4000500"/>
            <a:ext cx="1771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8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8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跨进程 publish / subscribe</a:t>
            </a:r>
            <a:endParaRPr sz="84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2" name="矩形 41"/>
          <p:cNvSpPr>
            <a:spLocks noGrp="1"/>
          </p:cNvSpPr>
          <p:nvPr/>
        </p:nvSpPr>
        <p:spPr>
          <a:xfrm>
            <a:off x="4752975" y="3819525"/>
            <a:ext cx="2095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24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24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1650" b="1">
              <a:solidFill>
                <a:srgbClr val="248C8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3" name="圆角矩形 42"/>
          <p:cNvSpPr>
            <a:spLocks noGrp="1"/>
          </p:cNvSpPr>
          <p:nvPr/>
        </p:nvSpPr>
        <p:spPr>
          <a:xfrm>
            <a:off x="4972050" y="3638550"/>
            <a:ext cx="1924050" cy="704850"/>
          </a:xfrm>
          <a:prstGeom prst="roundRect">
            <a:avLst>
              <a:gd name="adj" fmla="val 16216"/>
            </a:avLst>
          </a:prstGeom>
          <a:solidFill>
            <a:srgbClr val="E8F6F3"/>
          </a:solidFill>
          <a:ln w="11430">
            <a:solidFill>
              <a:srgbClr val="248C82"/>
            </a:solidFill>
            <a:prstDash val="solid"/>
          </a:ln>
        </p:spPr>
      </p:sp>
      <p:sp>
        <p:nvSpPr>
          <p:cNvPr id="44" name="矩形 43"/>
          <p:cNvSpPr>
            <a:spLocks noGrp="1"/>
          </p:cNvSpPr>
          <p:nvPr/>
        </p:nvSpPr>
        <p:spPr>
          <a:xfrm>
            <a:off x="5048250" y="3724275"/>
            <a:ext cx="1771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4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AccountRuntimeService</a:t>
            </a:r>
            <a:endParaRPr sz="94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5" name="矩形 44"/>
          <p:cNvSpPr>
            <a:spLocks noGrp="1"/>
          </p:cNvSpPr>
          <p:nvPr/>
        </p:nvSpPr>
        <p:spPr>
          <a:xfrm>
            <a:off x="5048250" y="4000500"/>
            <a:ext cx="1771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8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8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收到 signature / source / trigger</a:t>
            </a:r>
            <a:endParaRPr sz="84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" name="矩形 45"/>
          <p:cNvSpPr>
            <a:spLocks noGrp="1"/>
          </p:cNvSpPr>
          <p:nvPr/>
        </p:nvSpPr>
        <p:spPr>
          <a:xfrm>
            <a:off x="6905625" y="3819525"/>
            <a:ext cx="2095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24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24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1650" b="1">
              <a:solidFill>
                <a:srgbClr val="248C8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7" name="圆角矩形 46"/>
          <p:cNvSpPr>
            <a:spLocks noGrp="1"/>
          </p:cNvSpPr>
          <p:nvPr/>
        </p:nvSpPr>
        <p:spPr>
          <a:xfrm>
            <a:off x="7124700" y="3638550"/>
            <a:ext cx="1924050" cy="704850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11430">
            <a:solidFill>
              <a:srgbClr val="248C82"/>
            </a:solidFill>
            <a:prstDash val="solid"/>
          </a:ln>
        </p:spPr>
      </p:sp>
      <p:sp>
        <p:nvSpPr>
          <p:cNvPr id="48" name="矩形 47"/>
          <p:cNvSpPr>
            <a:spLocks noGrp="1"/>
          </p:cNvSpPr>
          <p:nvPr/>
        </p:nvSpPr>
        <p:spPr>
          <a:xfrm>
            <a:off x="7200900" y="3724275"/>
            <a:ext cx="1771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7696"/>
          </a:bodyPr>
          <a:lstStyle/>
          <a:p>
            <a:pPr algn="ctr">
              <a:lnSpc>
                <a:spcPct val="108000"/>
              </a:lnSpc>
              <a:buNone/>
              <a:defRPr sz="94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ApplicationRuntimeManager</a:t>
            </a:r>
            <a:endParaRPr sz="94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9" name="矩形 48"/>
          <p:cNvSpPr>
            <a:spLocks noGrp="1"/>
          </p:cNvSpPr>
          <p:nvPr/>
        </p:nvSpPr>
        <p:spPr>
          <a:xfrm>
            <a:off x="7200900" y="4000500"/>
            <a:ext cx="1771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8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8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刷新 overview / rules</a:t>
            </a:r>
            <a:endParaRPr sz="84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0" name="矩形 49"/>
          <p:cNvSpPr>
            <a:spLocks noGrp="1"/>
          </p:cNvSpPr>
          <p:nvPr/>
        </p:nvSpPr>
        <p:spPr>
          <a:xfrm>
            <a:off x="9058275" y="3819525"/>
            <a:ext cx="2095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24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24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1650" b="1">
              <a:solidFill>
                <a:srgbClr val="248C8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1" name="圆角矩形 50"/>
          <p:cNvSpPr>
            <a:spLocks noGrp="1"/>
          </p:cNvSpPr>
          <p:nvPr/>
        </p:nvSpPr>
        <p:spPr>
          <a:xfrm>
            <a:off x="9277350" y="3638550"/>
            <a:ext cx="1924050" cy="704850"/>
          </a:xfrm>
          <a:prstGeom prst="roundRect">
            <a:avLst>
              <a:gd name="adj" fmla="val 16216"/>
            </a:avLst>
          </a:prstGeom>
          <a:solidFill>
            <a:srgbClr val="E8F6F3"/>
          </a:solidFill>
          <a:ln w="11430">
            <a:solidFill>
              <a:srgbClr val="248C82"/>
            </a:solidFill>
            <a:prstDash val="solid"/>
          </a:ln>
        </p:spPr>
      </p:sp>
      <p:sp>
        <p:nvSpPr>
          <p:cNvPr id="52" name="矩形 51"/>
          <p:cNvSpPr>
            <a:spLocks noGrp="1"/>
          </p:cNvSpPr>
          <p:nvPr/>
        </p:nvSpPr>
        <p:spPr>
          <a:xfrm>
            <a:off x="9353550" y="3724275"/>
            <a:ext cx="1771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4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FirewallRulesViewModel</a:t>
            </a:r>
            <a:endParaRPr sz="94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3" name="矩形 52"/>
          <p:cNvSpPr>
            <a:spLocks noGrp="1"/>
          </p:cNvSpPr>
          <p:nvPr/>
        </p:nvSpPr>
        <p:spPr>
          <a:xfrm>
            <a:off x="9353550" y="4000500"/>
            <a:ext cx="1771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8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8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重读 users / policy / rules</a:t>
            </a:r>
            <a:endParaRPr sz="84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4" name="矩形 53"/>
          <p:cNvSpPr>
            <a:spLocks noGrp="1"/>
          </p:cNvSpPr>
          <p:nvPr/>
        </p:nvSpPr>
        <p:spPr>
          <a:xfrm>
            <a:off x="533400" y="462915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字段所有权与写入门</a:t>
            </a:r>
            <a:endParaRPr sz="1275" b="1">
              <a:solidFill>
                <a:srgbClr val="7256D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5" name="矩形 54"/>
          <p:cNvSpPr>
            <a:spLocks noGrp="1"/>
          </p:cNvSpPr>
          <p:nvPr/>
        </p:nvSpPr>
        <p:spPr>
          <a:xfrm>
            <a:off x="552450" y="4895850"/>
            <a:ext cx="590550" cy="38100"/>
          </a:xfrm>
          <a:prstGeom prst="rect">
            <a:avLst/>
          </a:prstGeom>
          <a:solidFill>
            <a:srgbClr val="7256D8"/>
          </a:solidFill>
          <a:ln w="11430">
            <a:solidFill>
              <a:srgbClr val="7256D8"/>
            </a:solidFill>
            <a:prstDash val="solid"/>
          </a:ln>
        </p:spPr>
      </p:sp>
      <p:sp>
        <p:nvSpPr>
          <p:cNvPr id="56" name="圆角矩形 55"/>
          <p:cNvSpPr>
            <a:spLocks noGrp="1"/>
          </p:cNvSpPr>
          <p:nvPr/>
        </p:nvSpPr>
        <p:spPr>
          <a:xfrm>
            <a:off x="533400" y="5010150"/>
            <a:ext cx="2571750" cy="97155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57" name="圆角矩形 56"/>
          <p:cNvSpPr>
            <a:spLocks noGrp="1"/>
          </p:cNvSpPr>
          <p:nvPr/>
        </p:nvSpPr>
        <p:spPr>
          <a:xfrm>
            <a:off x="666750" y="5124450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EAF3FD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58" name="矩形 57"/>
          <p:cNvSpPr>
            <a:spLocks noGrp="1"/>
          </p:cNvSpPr>
          <p:nvPr/>
        </p:nvSpPr>
        <p:spPr>
          <a:xfrm>
            <a:off x="723900" y="5133975"/>
            <a:ext cx="1314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Coordinator</a:t>
            </a:r>
            <a:endParaRPr sz="975" b="1">
              <a:solidFill>
                <a:srgbClr val="2878D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9" name="矩形 58"/>
          <p:cNvSpPr>
            <a:spLocks noGrp="1"/>
          </p:cNvSpPr>
          <p:nvPr/>
        </p:nvSpPr>
        <p:spPr>
          <a:xfrm>
            <a:off x="676275" y="5467350"/>
            <a:ext cx="2286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4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previousUserIds</a:t>
            </a:r>
            <a:endParaRPr sz="94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8000"/>
              </a:lnSpc>
              <a:buNone/>
              <a:defRPr sz="94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快照稳定后、Handler 分发前更新</a:t>
            </a:r>
            <a:endParaRPr sz="94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0" name="圆角矩形 59"/>
          <p:cNvSpPr>
            <a:spLocks noGrp="1"/>
          </p:cNvSpPr>
          <p:nvPr/>
        </p:nvSpPr>
        <p:spPr>
          <a:xfrm>
            <a:off x="3276600" y="5010150"/>
            <a:ext cx="2571750" cy="97155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61" name="圆角矩形 60"/>
          <p:cNvSpPr>
            <a:spLocks noGrp="1"/>
          </p:cNvSpPr>
          <p:nvPr/>
        </p:nvSpPr>
        <p:spPr>
          <a:xfrm>
            <a:off x="3409950" y="5124450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E8F6F3"/>
          </a:solidFill>
          <a:ln w="11430">
            <a:solidFill>
              <a:srgbClr val="248C82"/>
            </a:solidFill>
            <a:prstDash val="solid"/>
          </a:ln>
        </p:spPr>
      </p:sp>
      <p:sp>
        <p:nvSpPr>
          <p:cNvPr id="62" name="矩形 61"/>
          <p:cNvSpPr>
            <a:spLocks noGrp="1"/>
          </p:cNvSpPr>
          <p:nvPr/>
        </p:nvSpPr>
        <p:spPr>
          <a:xfrm>
            <a:off x="3467100" y="5133975"/>
            <a:ext cx="1314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4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LocalRepository</a:t>
            </a:r>
            <a:endParaRPr sz="975" b="1">
              <a:solidFill>
                <a:srgbClr val="248C8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3" name="矩形 62"/>
          <p:cNvSpPr>
            <a:spLocks noGrp="1"/>
          </p:cNvSpPr>
          <p:nvPr/>
        </p:nvSpPr>
        <p:spPr>
          <a:xfrm>
            <a:off x="3419475" y="5467350"/>
            <a:ext cx="2286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4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desiredEnabled / lastAppliedMode</a:t>
            </a:r>
            <a:endParaRPr sz="94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8000"/>
              </a:lnSpc>
              <a:buNone/>
              <a:defRPr sz="94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业务成功后写入</a:t>
            </a:r>
            <a:endParaRPr sz="94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4" name="圆角矩形 63"/>
          <p:cNvSpPr>
            <a:spLocks noGrp="1"/>
          </p:cNvSpPr>
          <p:nvPr/>
        </p:nvSpPr>
        <p:spPr>
          <a:xfrm>
            <a:off x="6019800" y="5010150"/>
            <a:ext cx="2571750" cy="97155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65" name="圆角矩形 64"/>
          <p:cNvSpPr>
            <a:spLocks noGrp="1"/>
          </p:cNvSpPr>
          <p:nvPr/>
        </p:nvSpPr>
        <p:spPr>
          <a:xfrm>
            <a:off x="6153150" y="5124450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FFF0EC"/>
          </a:solidFill>
          <a:ln w="11430">
            <a:solidFill>
              <a:srgbClr val="E7644A"/>
            </a:solidFill>
            <a:prstDash val="solid"/>
          </a:ln>
        </p:spPr>
      </p:sp>
      <p:sp>
        <p:nvSpPr>
          <p:cNvPr id="66" name="矩形 65"/>
          <p:cNvSpPr>
            <a:spLocks noGrp="1"/>
          </p:cNvSpPr>
          <p:nvPr/>
        </p:nvSpPr>
        <p:spPr>
          <a:xfrm>
            <a:off x="6210300" y="5133975"/>
            <a:ext cx="1314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签名门</a:t>
            </a:r>
            <a:endParaRPr sz="975" b="1">
              <a:solidFill>
                <a:srgbClr val="E764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7" name="矩形 66"/>
          <p:cNvSpPr>
            <a:spLocks noGrp="1"/>
          </p:cNvSpPr>
          <p:nvPr/>
        </p:nvSpPr>
        <p:spPr>
          <a:xfrm>
            <a:off x="6162675" y="5467350"/>
            <a:ext cx="2286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4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lastAppliedUserIdsSignature</a:t>
            </a:r>
            <a:endParaRPr sz="94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8000"/>
              </a:lnSpc>
              <a:buNone/>
              <a:defRPr sz="94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整体成功后才允许更新</a:t>
            </a:r>
            <a:endParaRPr sz="94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8" name="圆角矩形 67"/>
          <p:cNvSpPr>
            <a:spLocks noGrp="1"/>
          </p:cNvSpPr>
          <p:nvPr/>
        </p:nvSpPr>
        <p:spPr>
          <a:xfrm>
            <a:off x="8763000" y="5010150"/>
            <a:ext cx="2667000" cy="97155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69" name="圆角矩形 68"/>
          <p:cNvSpPr>
            <a:spLocks noGrp="1"/>
          </p:cNvSpPr>
          <p:nvPr/>
        </p:nvSpPr>
        <p:spPr>
          <a:xfrm>
            <a:off x="8896350" y="5124450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1430">
            <a:solidFill>
              <a:srgbClr val="7256D8"/>
            </a:solidFill>
            <a:prstDash val="solid"/>
          </a:ln>
        </p:spPr>
      </p:sp>
      <p:sp>
        <p:nvSpPr>
          <p:cNvPr id="70" name="矩形 69"/>
          <p:cNvSpPr>
            <a:spLocks noGrp="1"/>
          </p:cNvSpPr>
          <p:nvPr/>
        </p:nvSpPr>
        <p:spPr>
          <a:xfrm>
            <a:off x="8953500" y="5133975"/>
            <a:ext cx="1314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UI</a:t>
            </a:r>
            <a:endParaRPr sz="975" b="1">
              <a:solidFill>
                <a:srgbClr val="7256D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1" name="矩形 70"/>
          <p:cNvSpPr>
            <a:spLocks noGrp="1"/>
          </p:cNvSpPr>
          <p:nvPr/>
        </p:nvSpPr>
        <p:spPr>
          <a:xfrm>
            <a:off x="8905875" y="5467350"/>
            <a:ext cx="2381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4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userOptions / display model</a:t>
            </a:r>
            <a:endParaRPr sz="94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8000"/>
              </a:lnSpc>
              <a:buNone/>
              <a:defRPr sz="94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只消费，不修复后台状态</a:t>
            </a:r>
            <a:endParaRPr sz="94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2" name="矩形 71"/>
          <p:cNvSpPr>
            <a:spLocks noGrp="1"/>
          </p:cNvSpPr>
          <p:nvPr/>
        </p:nvSpPr>
        <p:spPr>
          <a:xfrm>
            <a:off x="514350" y="6534150"/>
            <a:ext cx="9620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79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9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代码级证据：case-materials/mdm/08-代码级调用链与课堂穿刺.md；真实代码：security_tool/entry/src/main/ets/</a:t>
            </a:r>
            <a:endParaRPr sz="79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3" name="圆角矩形 72"/>
          <p:cNvSpPr>
            <a:spLocks noGrp="1"/>
          </p:cNvSpPr>
          <p:nvPr/>
        </p:nvSpPr>
        <p:spPr>
          <a:xfrm>
            <a:off x="10382250" y="6477000"/>
            <a:ext cx="1295400" cy="26670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1430">
            <a:solidFill>
              <a:srgbClr val="7256D8"/>
            </a:solidFill>
            <a:prstDash val="solid"/>
          </a:ln>
        </p:spPr>
      </p:sp>
      <p:sp>
        <p:nvSpPr>
          <p:cNvPr id="74" name="矩形 73"/>
          <p:cNvSpPr>
            <a:spLocks noGrp="1"/>
          </p:cNvSpPr>
          <p:nvPr/>
        </p:nvSpPr>
        <p:spPr>
          <a:xfrm>
            <a:off x="10439400" y="6486525"/>
            <a:ext cx="11811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REPO FACT</a:t>
            </a:r>
            <a:endParaRPr sz="975" b="1">
              <a:solidFill>
                <a:srgbClr val="7256D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0" name="矩形 59"/>
          <p:cNvSpPr>
            <a:spLocks noGrp="1"/>
          </p:cNvSpPr>
          <p:nvPr/>
        </p:nvSpPr>
        <p:spPr>
          <a:xfrm>
            <a:off x="514350" y="1714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MDM 案例｜真实交付链</a:t>
            </a:r>
            <a:endParaRPr sz="975" b="1">
              <a:solidFill>
                <a:srgbClr val="E764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334750" y="1714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17</a:t>
            </a:r>
            <a:endParaRPr sz="975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419100"/>
            <a:ext cx="1066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Story 按“可独立证明的能力”拆分，验收点直接写成 oracle</a:t>
            </a:r>
            <a:endParaRPr sz="20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866775"/>
            <a:ext cx="1066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拆分边界跟着状态和职责走，不跟着页面或文件数量走</a:t>
            </a:r>
            <a:endParaRPr sz="1125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1152525"/>
            <a:ext cx="11163300" cy="14288"/>
          </a:xfrm>
          <a:prstGeom prst="rect">
            <a:avLst/>
          </a:prstGeom>
          <a:solidFill>
            <a:srgbClr val="D7E0EA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6" name="圆角矩形 5"/>
          <p:cNvSpPr>
            <a:spLocks noGrp="1"/>
          </p:cNvSpPr>
          <p:nvPr/>
        </p:nvSpPr>
        <p:spPr>
          <a:xfrm>
            <a:off x="533400" y="1428750"/>
            <a:ext cx="3467100" cy="154305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7" name="圆角矩形 6"/>
          <p:cNvSpPr>
            <a:spLocks noGrp="1"/>
          </p:cNvSpPr>
          <p:nvPr/>
        </p:nvSpPr>
        <p:spPr>
          <a:xfrm>
            <a:off x="685800" y="1562100"/>
            <a:ext cx="1352550" cy="266700"/>
          </a:xfrm>
          <a:prstGeom prst="roundRect">
            <a:avLst>
              <a:gd name="adj" fmla="val 50000"/>
            </a:avLst>
          </a:prstGeom>
          <a:solidFill>
            <a:srgbClr val="EAF3FD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742950" y="1571625"/>
            <a:ext cx="1238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S1 事实源</a:t>
            </a:r>
            <a:endParaRPr sz="975" b="1">
              <a:solidFill>
                <a:srgbClr val="2878D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704850" y="1971675"/>
            <a:ext cx="838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4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代码锚点</a:t>
            </a:r>
            <a:endParaRPr sz="940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1533525" y="1952625"/>
            <a:ext cx="2286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15" b="1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15" b="1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loadAvailableUserIds</a:t>
            </a:r>
            <a:endParaRPr sz="1015" b="1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704850" y="2305050"/>
            <a:ext cx="838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4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独立 oracle</a:t>
            </a:r>
            <a:endParaRPr sz="940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1533525" y="2266950"/>
            <a:ext cx="2286000" cy="457200"/>
          </a:xfrm>
          <a:prstGeom prst="roundRect">
            <a:avLst>
              <a:gd name="adj" fmla="val 12500"/>
            </a:avLst>
          </a:prstGeom>
          <a:solidFill>
            <a:srgbClr val="EAF3FD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1600200" y="2324100"/>
            <a:ext cx="21526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2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2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去重 / 排序 / 失败态</a:t>
            </a:r>
            <a:endParaRPr sz="925" b="1">
              <a:solidFill>
                <a:srgbClr val="2878D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4248150" y="1428750"/>
            <a:ext cx="3467100" cy="154305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1430">
            <a:solidFill>
              <a:srgbClr val="248C82"/>
            </a:solidFill>
            <a:prstDash val="solid"/>
          </a:ln>
        </p:spPr>
      </p:sp>
      <p:sp>
        <p:nvSpPr>
          <p:cNvPr id="15" name="圆角矩形 14"/>
          <p:cNvSpPr>
            <a:spLocks noGrp="1"/>
          </p:cNvSpPr>
          <p:nvPr/>
        </p:nvSpPr>
        <p:spPr>
          <a:xfrm>
            <a:off x="4400550" y="1562100"/>
            <a:ext cx="1352550" cy="266700"/>
          </a:xfrm>
          <a:prstGeom prst="roundRect">
            <a:avLst>
              <a:gd name="adj" fmla="val 50000"/>
            </a:avLst>
          </a:prstGeom>
          <a:solidFill>
            <a:srgbClr val="E8F6F3"/>
          </a:solidFill>
          <a:ln w="11430">
            <a:solidFill>
              <a:srgbClr val="248C82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4457700" y="1571625"/>
            <a:ext cx="1238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4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S2 本地清理</a:t>
            </a:r>
            <a:endParaRPr sz="975" b="1">
              <a:solidFill>
                <a:srgbClr val="248C8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4419600" y="1971675"/>
            <a:ext cx="838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4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代码锚点</a:t>
            </a:r>
            <a:endParaRPr sz="940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5248275" y="1952625"/>
            <a:ext cx="2286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15" b="1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15" b="1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pruneUnavailableUsers</a:t>
            </a:r>
            <a:endParaRPr sz="1015" b="1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4419600" y="2305050"/>
            <a:ext cx="838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4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独立 oracle</a:t>
            </a:r>
            <a:endParaRPr sz="940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圆角矩形 19"/>
          <p:cNvSpPr>
            <a:spLocks noGrp="1"/>
          </p:cNvSpPr>
          <p:nvPr/>
        </p:nvSpPr>
        <p:spPr>
          <a:xfrm>
            <a:off x="5248275" y="2266950"/>
            <a:ext cx="2286000" cy="457200"/>
          </a:xfrm>
          <a:prstGeom prst="roundRect">
            <a:avLst>
              <a:gd name="adj" fmla="val 12500"/>
            </a:avLst>
          </a:prstGeom>
          <a:solidFill>
            <a:srgbClr val="E8F6F3"/>
          </a:solidFill>
          <a:ln w="11430">
            <a:solidFill>
              <a:srgbClr val="248C82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5314950" y="2324100"/>
            <a:ext cx="21526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25" b="1">
                <a:solidFill>
                  <a:srgbClr val="24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25" b="1">
                <a:solidFill>
                  <a:srgbClr val="24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intent / deployment / history</a:t>
            </a:r>
            <a:endParaRPr sz="925" b="1">
              <a:solidFill>
                <a:srgbClr val="248C8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圆角矩形 21"/>
          <p:cNvSpPr>
            <a:spLocks noGrp="1"/>
          </p:cNvSpPr>
          <p:nvPr/>
        </p:nvSpPr>
        <p:spPr>
          <a:xfrm>
            <a:off x="7962900" y="1428750"/>
            <a:ext cx="3467100" cy="154305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1430">
            <a:solidFill>
              <a:srgbClr val="7256D8"/>
            </a:solidFill>
            <a:prstDash val="solid"/>
          </a:ln>
        </p:spPr>
      </p:sp>
      <p:sp>
        <p:nvSpPr>
          <p:cNvPr id="23" name="圆角矩形 22"/>
          <p:cNvSpPr>
            <a:spLocks noGrp="1"/>
          </p:cNvSpPr>
          <p:nvPr/>
        </p:nvSpPr>
        <p:spPr>
          <a:xfrm>
            <a:off x="8115300" y="1562100"/>
            <a:ext cx="1352550" cy="26670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1430">
            <a:solidFill>
              <a:srgbClr val="7256D8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8172450" y="1571625"/>
            <a:ext cx="1238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S3 协调器</a:t>
            </a:r>
            <a:endParaRPr sz="975" b="1">
              <a:solidFill>
                <a:srgbClr val="7256D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8134350" y="1971675"/>
            <a:ext cx="838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4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代码锚点</a:t>
            </a:r>
            <a:endParaRPr sz="940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8963025" y="1952625"/>
            <a:ext cx="2286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15" b="1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15" b="1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schedule / dispatchHandlers</a:t>
            </a:r>
            <a:endParaRPr sz="1015" b="1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8134350" y="2305050"/>
            <a:ext cx="838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4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独立 oracle</a:t>
            </a:r>
            <a:endParaRPr sz="940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圆角矩形 27"/>
          <p:cNvSpPr>
            <a:spLocks noGrp="1"/>
          </p:cNvSpPr>
          <p:nvPr/>
        </p:nvSpPr>
        <p:spPr>
          <a:xfrm>
            <a:off x="8963025" y="2266950"/>
            <a:ext cx="2286000" cy="457200"/>
          </a:xfrm>
          <a:prstGeom prst="roundRect">
            <a:avLst>
              <a:gd name="adj" fmla="val 12500"/>
            </a:avLst>
          </a:prstGeom>
          <a:solidFill>
            <a:srgbClr val="F1EDFF"/>
          </a:solidFill>
          <a:ln w="11430">
            <a:solidFill>
              <a:srgbClr val="7256D8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9029700" y="2324100"/>
            <a:ext cx="21526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2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2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防抖 / 串行 / 失败汇总</a:t>
            </a:r>
            <a:endParaRPr sz="925" b="1">
              <a:solidFill>
                <a:srgbClr val="7256D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圆角矩形 29"/>
          <p:cNvSpPr>
            <a:spLocks noGrp="1"/>
          </p:cNvSpPr>
          <p:nvPr/>
        </p:nvSpPr>
        <p:spPr>
          <a:xfrm>
            <a:off x="533400" y="3238500"/>
            <a:ext cx="3467100" cy="154305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1430">
            <a:solidFill>
              <a:srgbClr val="D99018"/>
            </a:solidFill>
            <a:prstDash val="solid"/>
          </a:ln>
        </p:spPr>
      </p:sp>
      <p:sp>
        <p:nvSpPr>
          <p:cNvPr id="31" name="圆角矩形 30"/>
          <p:cNvSpPr>
            <a:spLocks noGrp="1"/>
          </p:cNvSpPr>
          <p:nvPr/>
        </p:nvSpPr>
        <p:spPr>
          <a:xfrm>
            <a:off x="685800" y="3371850"/>
            <a:ext cx="1352550" cy="266700"/>
          </a:xfrm>
          <a:prstGeom prst="roundRect">
            <a:avLst>
              <a:gd name="adj" fmla="val 50000"/>
            </a:avLst>
          </a:prstGeom>
          <a:solidFill>
            <a:srgbClr val="FFF6DE"/>
          </a:solidFill>
          <a:ln w="11430">
            <a:solidFill>
              <a:srgbClr val="D99018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742950" y="3381375"/>
            <a:ext cx="1238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D9901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S4 跨进程</a:t>
            </a:r>
            <a:endParaRPr sz="975" b="1">
              <a:solidFill>
                <a:srgbClr val="D9901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704850" y="3781425"/>
            <a:ext cx="838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4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代码锚点</a:t>
            </a:r>
            <a:endParaRPr sz="940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1533525" y="3762375"/>
            <a:ext cx="2286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15" b="1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15" b="1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publishSnapshot / subscribe</a:t>
            </a:r>
            <a:endParaRPr sz="1015" b="1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704850" y="4114800"/>
            <a:ext cx="838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4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独立 oracle</a:t>
            </a:r>
            <a:endParaRPr sz="940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6" name="圆角矩形 35"/>
          <p:cNvSpPr>
            <a:spLocks noGrp="1"/>
          </p:cNvSpPr>
          <p:nvPr/>
        </p:nvSpPr>
        <p:spPr>
          <a:xfrm>
            <a:off x="1533525" y="4076700"/>
            <a:ext cx="2286000" cy="457200"/>
          </a:xfrm>
          <a:prstGeom prst="roundRect">
            <a:avLst>
              <a:gd name="adj" fmla="val 12500"/>
            </a:avLst>
          </a:prstGeom>
          <a:solidFill>
            <a:srgbClr val="FFF6DE"/>
          </a:solidFill>
          <a:ln w="11430">
            <a:solidFill>
              <a:srgbClr val="D99018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1600200" y="4133850"/>
            <a:ext cx="21526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25" b="1">
                <a:solidFill>
                  <a:srgbClr val="D9901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25" b="1">
                <a:solidFill>
                  <a:srgbClr val="D9901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只消费一条稳定事实</a:t>
            </a:r>
            <a:endParaRPr sz="925" b="1">
              <a:solidFill>
                <a:srgbClr val="D9901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圆角矩形 37"/>
          <p:cNvSpPr>
            <a:spLocks noGrp="1"/>
          </p:cNvSpPr>
          <p:nvPr/>
        </p:nvSpPr>
        <p:spPr>
          <a:xfrm>
            <a:off x="4248150" y="3238500"/>
            <a:ext cx="3467100" cy="154305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1430">
            <a:solidFill>
              <a:srgbClr val="E7644A"/>
            </a:solidFill>
            <a:prstDash val="solid"/>
          </a:ln>
        </p:spPr>
      </p:sp>
      <p:sp>
        <p:nvSpPr>
          <p:cNvPr id="39" name="圆角矩形 38"/>
          <p:cNvSpPr>
            <a:spLocks noGrp="1"/>
          </p:cNvSpPr>
          <p:nvPr/>
        </p:nvSpPr>
        <p:spPr>
          <a:xfrm>
            <a:off x="4400550" y="3371850"/>
            <a:ext cx="1352550" cy="266700"/>
          </a:xfrm>
          <a:prstGeom prst="roundRect">
            <a:avLst>
              <a:gd name="adj" fmla="val 50000"/>
            </a:avLst>
          </a:prstGeom>
          <a:solidFill>
            <a:srgbClr val="FFF0EC"/>
          </a:solidFill>
          <a:ln w="11430">
            <a:solidFill>
              <a:srgbClr val="E7644A"/>
            </a:solidFill>
            <a:prstDash val="solid"/>
          </a:ln>
        </p:spPr>
      </p:sp>
      <p:sp>
        <p:nvSpPr>
          <p:cNvPr id="40" name="矩形 39"/>
          <p:cNvSpPr>
            <a:spLocks noGrp="1"/>
          </p:cNvSpPr>
          <p:nvPr/>
        </p:nvSpPr>
        <p:spPr>
          <a:xfrm>
            <a:off x="4457700" y="3381375"/>
            <a:ext cx="1238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S5 稳定快照</a:t>
            </a:r>
            <a:endParaRPr sz="975" b="1">
              <a:solidFill>
                <a:srgbClr val="E764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4419600" y="3781425"/>
            <a:ext cx="838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4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代码锚点</a:t>
            </a:r>
            <a:endParaRPr sz="940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2" name="矩形 41"/>
          <p:cNvSpPr>
            <a:spLocks noGrp="1"/>
          </p:cNvSpPr>
          <p:nvPr/>
        </p:nvSpPr>
        <p:spPr>
          <a:xfrm>
            <a:off x="5248275" y="3762375"/>
            <a:ext cx="2286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15" b="1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15" b="1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loadStableSnapshot</a:t>
            </a:r>
            <a:endParaRPr sz="1015" b="1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43" name="矩形 42"/>
          <p:cNvSpPr>
            <a:spLocks noGrp="1"/>
          </p:cNvSpPr>
          <p:nvPr/>
        </p:nvSpPr>
        <p:spPr>
          <a:xfrm>
            <a:off x="4419600" y="4114800"/>
            <a:ext cx="838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4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独立 oracle</a:t>
            </a:r>
            <a:endParaRPr sz="940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4" name="圆角矩形 43"/>
          <p:cNvSpPr>
            <a:spLocks noGrp="1"/>
          </p:cNvSpPr>
          <p:nvPr/>
        </p:nvSpPr>
        <p:spPr>
          <a:xfrm>
            <a:off x="5248275" y="4076700"/>
            <a:ext cx="2286000" cy="457200"/>
          </a:xfrm>
          <a:prstGeom prst="roundRect">
            <a:avLst>
              <a:gd name="adj" fmla="val 12500"/>
            </a:avLst>
          </a:prstGeom>
          <a:solidFill>
            <a:srgbClr val="FFF0EC"/>
          </a:solidFill>
          <a:ln w="11430">
            <a:solidFill>
              <a:srgbClr val="E7644A"/>
            </a:solidFill>
            <a:prstDash val="solid"/>
          </a:ln>
        </p:spPr>
      </p:sp>
      <p:sp>
        <p:nvSpPr>
          <p:cNvPr id="45" name="矩形 44"/>
          <p:cNvSpPr>
            <a:spLocks noGrp="1"/>
          </p:cNvSpPr>
          <p:nvPr/>
        </p:nvSpPr>
        <p:spPr>
          <a:xfrm>
            <a:off x="5314950" y="4133850"/>
            <a:ext cx="21526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2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2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old→new / never-visible / removed</a:t>
            </a:r>
            <a:endParaRPr sz="925" b="1">
              <a:solidFill>
                <a:srgbClr val="E764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" name="圆角矩形 45"/>
          <p:cNvSpPr>
            <a:spLocks noGrp="1"/>
          </p:cNvSpPr>
          <p:nvPr/>
        </p:nvSpPr>
        <p:spPr>
          <a:xfrm>
            <a:off x="7962900" y="3238500"/>
            <a:ext cx="3467100" cy="154305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1430">
            <a:solidFill>
              <a:srgbClr val="258A58"/>
            </a:solidFill>
            <a:prstDash val="solid"/>
          </a:ln>
        </p:spPr>
      </p:sp>
      <p:sp>
        <p:nvSpPr>
          <p:cNvPr id="47" name="圆角矩形 46"/>
          <p:cNvSpPr>
            <a:spLocks noGrp="1"/>
          </p:cNvSpPr>
          <p:nvPr/>
        </p:nvSpPr>
        <p:spPr>
          <a:xfrm>
            <a:off x="8115300" y="3371850"/>
            <a:ext cx="1352550" cy="266700"/>
          </a:xfrm>
          <a:prstGeom prst="roundRect">
            <a:avLst>
              <a:gd name="adj" fmla="val 50000"/>
            </a:avLst>
          </a:prstGeom>
          <a:solidFill>
            <a:srgbClr val="EAF7EF"/>
          </a:solidFill>
          <a:ln w="11430">
            <a:solidFill>
              <a:srgbClr val="258A58"/>
            </a:solidFill>
            <a:prstDash val="solid"/>
          </a:ln>
        </p:spPr>
      </p:sp>
      <p:sp>
        <p:nvSpPr>
          <p:cNvPr id="48" name="矩形 47"/>
          <p:cNvSpPr>
            <a:spLocks noGrp="1"/>
          </p:cNvSpPr>
          <p:nvPr/>
        </p:nvSpPr>
        <p:spPr>
          <a:xfrm>
            <a:off x="8172450" y="3381375"/>
            <a:ext cx="1238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58A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S6 custom 签名</a:t>
            </a:r>
            <a:endParaRPr sz="975" b="1">
              <a:solidFill>
                <a:srgbClr val="258A5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9" name="矩形 48"/>
          <p:cNvSpPr>
            <a:spLocks noGrp="1"/>
          </p:cNvSpPr>
          <p:nvPr/>
        </p:nvSpPr>
        <p:spPr>
          <a:xfrm>
            <a:off x="8134350" y="3781425"/>
            <a:ext cx="838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4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代码锚点</a:t>
            </a:r>
            <a:endParaRPr sz="940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0" name="矩形 49"/>
          <p:cNvSpPr>
            <a:spLocks noGrp="1"/>
          </p:cNvSpPr>
          <p:nvPr/>
        </p:nvSpPr>
        <p:spPr>
          <a:xfrm>
            <a:off x="8963025" y="3762375"/>
            <a:ext cx="2286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15" b="1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15" b="1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applyPolicy + saveApplyState</a:t>
            </a:r>
            <a:endParaRPr sz="1015" b="1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51" name="矩形 50"/>
          <p:cNvSpPr>
            <a:spLocks noGrp="1"/>
          </p:cNvSpPr>
          <p:nvPr/>
        </p:nvSpPr>
        <p:spPr>
          <a:xfrm>
            <a:off x="8134350" y="4114800"/>
            <a:ext cx="838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4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独立 oracle</a:t>
            </a:r>
            <a:endParaRPr sz="940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2" name="圆角矩形 51"/>
          <p:cNvSpPr>
            <a:spLocks noGrp="1"/>
          </p:cNvSpPr>
          <p:nvPr/>
        </p:nvSpPr>
        <p:spPr>
          <a:xfrm>
            <a:off x="8963025" y="4076700"/>
            <a:ext cx="2286000" cy="457200"/>
          </a:xfrm>
          <a:prstGeom prst="roundRect">
            <a:avLst>
              <a:gd name="adj" fmla="val 12500"/>
            </a:avLst>
          </a:prstGeom>
          <a:solidFill>
            <a:srgbClr val="EAF7EF"/>
          </a:solidFill>
          <a:ln w="11430">
            <a:solidFill>
              <a:srgbClr val="258A58"/>
            </a:solidFill>
            <a:prstDash val="solid"/>
          </a:ln>
        </p:spPr>
      </p:sp>
      <p:sp>
        <p:nvSpPr>
          <p:cNvPr id="53" name="矩形 52"/>
          <p:cNvSpPr>
            <a:spLocks noGrp="1"/>
          </p:cNvSpPr>
          <p:nvPr/>
        </p:nvSpPr>
        <p:spPr>
          <a:xfrm>
            <a:off x="9029700" y="4133850"/>
            <a:ext cx="21526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25" b="1">
                <a:solidFill>
                  <a:srgbClr val="258A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25" b="1">
                <a:solidFill>
                  <a:srgbClr val="258A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不扩旧规则 / 保存失败=false</a:t>
            </a:r>
            <a:endParaRPr sz="925" b="1">
              <a:solidFill>
                <a:srgbClr val="258A5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4" name="圆角矩形 53"/>
          <p:cNvSpPr>
            <a:spLocks noGrp="1"/>
          </p:cNvSpPr>
          <p:nvPr/>
        </p:nvSpPr>
        <p:spPr>
          <a:xfrm>
            <a:off x="533400" y="5181600"/>
            <a:ext cx="10896600" cy="819150"/>
          </a:xfrm>
          <a:prstGeom prst="roundRect">
            <a:avLst>
              <a:gd name="adj" fmla="val 13953"/>
            </a:avLst>
          </a:prstGeom>
          <a:solidFill>
            <a:srgbClr val="FFF6DE"/>
          </a:solidFill>
          <a:ln w="11430">
            <a:solidFill>
              <a:srgbClr val="D99018"/>
            </a:solidFill>
            <a:prstDash val="solid"/>
          </a:ln>
        </p:spPr>
      </p:sp>
      <p:sp>
        <p:nvSpPr>
          <p:cNvPr id="55" name="矩形 54"/>
          <p:cNvSpPr>
            <a:spLocks noGrp="1"/>
          </p:cNvSpPr>
          <p:nvPr/>
        </p:nvSpPr>
        <p:spPr>
          <a:xfrm>
            <a:off x="723900" y="5314950"/>
            <a:ext cx="3714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4307"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D9901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D9901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Reviewer 只把真实缺口拆成下一轮候选</a:t>
            </a:r>
            <a:endParaRPr sz="1350" b="1">
              <a:solidFill>
                <a:srgbClr val="D9901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6" name="矩形 55"/>
          <p:cNvSpPr>
            <a:spLocks noGrp="1"/>
          </p:cNvSpPr>
          <p:nvPr/>
        </p:nvSpPr>
        <p:spPr>
          <a:xfrm>
            <a:off x="723900" y="5619750"/>
            <a:ext cx="10363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16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6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S7 apply-state 原子性   ·   S8 真机 policy/rules readback   ·   S9 Handler 失败重试与 UI 可见性</a:t>
            </a:r>
            <a:endParaRPr sz="116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7" name="矩形 56"/>
          <p:cNvSpPr>
            <a:spLocks noGrp="1"/>
          </p:cNvSpPr>
          <p:nvPr/>
        </p:nvSpPr>
        <p:spPr>
          <a:xfrm>
            <a:off x="514350" y="6534150"/>
            <a:ext cx="9620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79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9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真实产物：case-materials/mdm/04-Feature与Story拆解.md；依赖与提交映射来自 security_tool Git 历史</a:t>
            </a:r>
            <a:endParaRPr sz="79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8" name="圆角矩形 57"/>
          <p:cNvSpPr>
            <a:spLocks noGrp="1"/>
          </p:cNvSpPr>
          <p:nvPr/>
        </p:nvSpPr>
        <p:spPr>
          <a:xfrm>
            <a:off x="10382250" y="6477000"/>
            <a:ext cx="1295400" cy="26670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1430">
            <a:solidFill>
              <a:srgbClr val="7256D8"/>
            </a:solidFill>
            <a:prstDash val="solid"/>
          </a:ln>
        </p:spPr>
      </p:sp>
      <p:sp>
        <p:nvSpPr>
          <p:cNvPr id="59" name="矩形 58"/>
          <p:cNvSpPr>
            <a:spLocks noGrp="1"/>
          </p:cNvSpPr>
          <p:nvPr/>
        </p:nvSpPr>
        <p:spPr>
          <a:xfrm>
            <a:off x="10439400" y="6486525"/>
            <a:ext cx="11811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REPO FACT</a:t>
            </a:r>
            <a:endParaRPr sz="975" b="1">
              <a:solidFill>
                <a:srgbClr val="7256D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9" name="矩形 28"/>
          <p:cNvSpPr>
            <a:spLocks noGrp="1"/>
          </p:cNvSpPr>
          <p:nvPr/>
        </p:nvSpPr>
        <p:spPr>
          <a:xfrm>
            <a:off x="514350" y="1714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MDM 案例｜真实交付链</a:t>
            </a:r>
            <a:endParaRPr sz="975" b="1">
              <a:solidFill>
                <a:srgbClr val="E764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334750" y="1714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18</a:t>
            </a:r>
            <a:endParaRPr sz="975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419100"/>
            <a:ext cx="1066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Worker Packet 让新 Session 无需重读全仓：只拿本 Story 的范围、AC 与停止条件</a:t>
            </a:r>
            <a:endParaRPr sz="18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866775"/>
            <a:ext cx="1066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示例：S5 稳定快照协议</a:t>
            </a:r>
            <a:endParaRPr sz="1125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1152525"/>
            <a:ext cx="11163300" cy="14288"/>
          </a:xfrm>
          <a:prstGeom prst="rect">
            <a:avLst/>
          </a:prstGeom>
          <a:solidFill>
            <a:srgbClr val="D7E0EA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6" name="圆角矩形 5"/>
          <p:cNvSpPr>
            <a:spLocks noGrp="1"/>
          </p:cNvSpPr>
          <p:nvPr/>
        </p:nvSpPr>
        <p:spPr>
          <a:xfrm>
            <a:off x="533400" y="1371600"/>
            <a:ext cx="6705600" cy="4667250"/>
          </a:xfrm>
          <a:prstGeom prst="roundRect">
            <a:avLst>
              <a:gd name="adj" fmla="val 2449"/>
            </a:avLst>
          </a:prstGeom>
          <a:solidFill>
            <a:srgbClr val="F1F4F8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66750" y="1466850"/>
            <a:ext cx="6438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04-Feature与Story拆解.md → S5 Worker Packet</a:t>
            </a:r>
            <a:endParaRPr sz="975" b="1">
              <a:solidFill>
                <a:srgbClr val="E764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66750" y="1733550"/>
            <a:ext cx="514350" cy="28575"/>
          </a:xfrm>
          <a:prstGeom prst="rect">
            <a:avLst/>
          </a:prstGeom>
          <a:solidFill>
            <a:srgbClr val="E7644A"/>
          </a:solidFill>
          <a:ln w="11430">
            <a:solidFill>
              <a:srgbClr val="E7644A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666750" y="1828800"/>
            <a:ext cx="6438900" cy="411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story_id: FW-ACCOUNT-S5-STABLE-SNAPSHOT</a:t>
            </a:r>
            <a:endParaRPr sz="100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goal: 只分发包含 triggerAccountId 的稳定快照</a:t>
            </a:r>
            <a:endParaRPr sz="100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allowed_paths:</a:t>
            </a:r>
            <a:endParaRPr sz="100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 防火墙模块设计</a:t>
            </a:r>
            <a:endParaRPr sz="100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 AccountChangeCoordinator.ets::loadStableSnapshot</a:t>
            </a:r>
            <a:endParaRPr sz="100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 account-change-coordinator.test.ets::old→new/never-visible/removed</a:t>
            </a:r>
            <a:endParaRPr sz="100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forbidden:</a:t>
            </a:r>
            <a:endParaRPr sz="100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 FirewallPage.ets</a:t>
            </a:r>
            <a:endParaRPr sz="100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 Provider 内业务副作用</a:t>
            </a:r>
            <a:endParaRPr sz="100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acceptance:</a:t>
            </a:r>
            <a:endParaRPr sz="100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old_then_new: query=2, handler=1, publish=1</a:t>
            </a:r>
            <a:endParaRPr sz="100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never_visible: query=6, handler=0, publish=0, success=false</a:t>
            </a:r>
            <a:endParaRPr sz="100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removed: query=1, handler=1, publish=1</a:t>
            </a:r>
            <a:endParaRPr sz="100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stop:</a:t>
            </a:r>
            <a:endParaRPr sz="100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 repeated_failure_without_new_evidence</a:t>
            </a:r>
            <a:endParaRPr sz="100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 need_to_modify_forbidden_path</a:t>
            </a:r>
            <a:endParaRPr sz="100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524750" y="142875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课堂现场怎么用</a:t>
            </a:r>
            <a:endParaRPr sz="1275" b="1">
              <a:solidFill>
                <a:srgbClr val="2878D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7543800" y="1695450"/>
            <a:ext cx="590550" cy="38100"/>
          </a:xfrm>
          <a:prstGeom prst="rect">
            <a:avLst/>
          </a:prstGeom>
          <a:solidFill>
            <a:srgbClr val="2878D0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12" name="圆角矩形 11"/>
          <p:cNvSpPr>
            <a:spLocks noGrp="1"/>
          </p:cNvSpPr>
          <p:nvPr/>
        </p:nvSpPr>
        <p:spPr>
          <a:xfrm>
            <a:off x="7524750" y="1809750"/>
            <a:ext cx="3962400" cy="10668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13" name="圆角矩形 12"/>
          <p:cNvSpPr>
            <a:spLocks noGrp="1"/>
          </p:cNvSpPr>
          <p:nvPr/>
        </p:nvSpPr>
        <p:spPr>
          <a:xfrm>
            <a:off x="7658100" y="1924050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EAF3FD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7715250" y="1933575"/>
            <a:ext cx="1314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 Read</a:t>
            </a:r>
            <a:endParaRPr sz="975" b="1">
              <a:solidFill>
                <a:srgbClr val="2878D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7667625" y="2266950"/>
            <a:ext cx="36766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只读 requirement / current evidence / allowed paths；先复述目标和禁止项。</a:t>
            </a:r>
            <a:endParaRPr sz="10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圆角矩形 15"/>
          <p:cNvSpPr>
            <a:spLocks noGrp="1"/>
          </p:cNvSpPr>
          <p:nvPr/>
        </p:nvSpPr>
        <p:spPr>
          <a:xfrm>
            <a:off x="7524750" y="3028950"/>
            <a:ext cx="3962400" cy="10668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17" name="圆角矩形 16"/>
          <p:cNvSpPr>
            <a:spLocks noGrp="1"/>
          </p:cNvSpPr>
          <p:nvPr/>
        </p:nvSpPr>
        <p:spPr>
          <a:xfrm>
            <a:off x="7658100" y="3143250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FFF0EC"/>
          </a:solidFill>
          <a:ln w="11430">
            <a:solidFill>
              <a:srgbClr val="E7644A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7715250" y="3152775"/>
            <a:ext cx="1314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 RED First</a:t>
            </a:r>
            <a:endParaRPr sz="975" b="1">
              <a:solidFill>
                <a:srgbClr val="E764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7667625" y="3486150"/>
            <a:ext cx="36766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先让 old→new 在旧实现上失败；确认失败来自 query 次数和提前 dispatch。</a:t>
            </a:r>
            <a:endParaRPr sz="10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圆角矩形 19"/>
          <p:cNvSpPr>
            <a:spLocks noGrp="1"/>
          </p:cNvSpPr>
          <p:nvPr/>
        </p:nvSpPr>
        <p:spPr>
          <a:xfrm>
            <a:off x="7524750" y="4248150"/>
            <a:ext cx="3962400" cy="10668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21" name="圆角矩形 20"/>
          <p:cNvSpPr>
            <a:spLocks noGrp="1"/>
          </p:cNvSpPr>
          <p:nvPr/>
        </p:nvSpPr>
        <p:spPr>
          <a:xfrm>
            <a:off x="7658100" y="4362450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EAF7EF"/>
          </a:solidFill>
          <a:ln w="11430">
            <a:solidFill>
              <a:srgbClr val="258A58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7715250" y="4371975"/>
            <a:ext cx="1314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58A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 Verify + Stop</a:t>
            </a:r>
            <a:endParaRPr sz="975" b="1">
              <a:solidFill>
                <a:srgbClr val="258A5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7667625" y="4705350"/>
            <a:ext cx="36766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同一用例 GREEN；若必须改 forbidden path，返回 NEEDS_REPLAN，不扩大范围。</a:t>
            </a:r>
            <a:endParaRPr sz="10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圆角矩形 23"/>
          <p:cNvSpPr>
            <a:spLocks noGrp="1"/>
          </p:cNvSpPr>
          <p:nvPr/>
        </p:nvSpPr>
        <p:spPr>
          <a:xfrm>
            <a:off x="7524750" y="5467350"/>
            <a:ext cx="3962400" cy="571500"/>
          </a:xfrm>
          <a:prstGeom prst="roundRect">
            <a:avLst>
              <a:gd name="adj" fmla="val 10000"/>
            </a:avLst>
          </a:prstGeom>
          <a:solidFill>
            <a:srgbClr val="F1EDFF"/>
          </a:solidFill>
          <a:ln w="11430">
            <a:solidFill>
              <a:srgbClr val="7256D8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7658100" y="5543550"/>
            <a:ext cx="36957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1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1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判断 Packet 是否合格：新 Session 能否不问上下文就开始，并知道何时停。</a:t>
            </a:r>
            <a:endParaRPr sz="1015" b="1">
              <a:solidFill>
                <a:srgbClr val="7256D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514350" y="6534150"/>
            <a:ext cx="9620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79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9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模板来源：主稿附录 D1 Task Card；真实示例：case-materials/mdm/04-Feature与Story拆解.md#Worker-Packet</a:t>
            </a:r>
            <a:endParaRPr sz="79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圆角矩形 26"/>
          <p:cNvSpPr>
            <a:spLocks noGrp="1"/>
          </p:cNvSpPr>
          <p:nvPr/>
        </p:nvSpPr>
        <p:spPr>
          <a:xfrm>
            <a:off x="10382250" y="6477000"/>
            <a:ext cx="1295400" cy="26670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1430">
            <a:solidFill>
              <a:srgbClr val="7256D8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10439400" y="6486525"/>
            <a:ext cx="11811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REPO FACT</a:t>
            </a:r>
            <a:endParaRPr sz="975" b="1">
              <a:solidFill>
                <a:srgbClr val="7256D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7" name="矩形 46"/>
          <p:cNvSpPr>
            <a:spLocks noGrp="1"/>
          </p:cNvSpPr>
          <p:nvPr/>
        </p:nvSpPr>
        <p:spPr>
          <a:xfrm>
            <a:off x="514350" y="1714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MDM 案例｜真实交付链</a:t>
            </a:r>
            <a:endParaRPr sz="975" b="1">
              <a:solidFill>
                <a:srgbClr val="E764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334750" y="1714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19</a:t>
            </a:r>
            <a:endParaRPr sz="975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419100"/>
            <a:ext cx="1066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Ralph 的外部记忆不是聊天记录，而是 task / progress / evidence 三个可回读文件</a:t>
            </a:r>
            <a:endParaRPr sz="18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866775"/>
            <a:ext cx="1066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 Story 一轮一轮收敛；每轮都必须写回结论和下一步</a:t>
            </a:r>
            <a:endParaRPr sz="1125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1152525"/>
            <a:ext cx="11163300" cy="14288"/>
          </a:xfrm>
          <a:prstGeom prst="rect">
            <a:avLst/>
          </a:prstGeom>
          <a:solidFill>
            <a:srgbClr val="D7E0EA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6" name="圆角矩形 5"/>
          <p:cNvSpPr>
            <a:spLocks noGrp="1"/>
          </p:cNvSpPr>
          <p:nvPr/>
        </p:nvSpPr>
        <p:spPr>
          <a:xfrm>
            <a:off x="628650" y="1381125"/>
            <a:ext cx="1809750" cy="533400"/>
          </a:xfrm>
          <a:prstGeom prst="roundRect">
            <a:avLst>
              <a:gd name="adj" fmla="val 21429"/>
            </a:avLst>
          </a:prstGeom>
          <a:solidFill>
            <a:srgbClr val="EAF3FD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723900" y="1466850"/>
            <a:ext cx="1619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Read Task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2466975" y="1504950"/>
            <a:ext cx="323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1650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圆角矩形 8"/>
          <p:cNvSpPr>
            <a:spLocks noGrp="1"/>
          </p:cNvSpPr>
          <p:nvPr/>
        </p:nvSpPr>
        <p:spPr>
          <a:xfrm>
            <a:off x="2838450" y="1381125"/>
            <a:ext cx="1809750" cy="533400"/>
          </a:xfrm>
          <a:prstGeom prst="roundRect">
            <a:avLst>
              <a:gd name="adj" fmla="val 21429"/>
            </a:avLst>
          </a:prstGeom>
          <a:solidFill>
            <a:srgbClr val="E8F6F3"/>
          </a:solidFill>
          <a:ln w="11430">
            <a:solidFill>
              <a:srgbClr val="248C82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2933700" y="1466850"/>
            <a:ext cx="1619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制造 RED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4676775" y="1504950"/>
            <a:ext cx="323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1650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5048250" y="1381125"/>
            <a:ext cx="1809750" cy="533400"/>
          </a:xfrm>
          <a:prstGeom prst="roundRect">
            <a:avLst>
              <a:gd name="adj" fmla="val 21429"/>
            </a:avLst>
          </a:prstGeom>
          <a:solidFill>
            <a:srgbClr val="EAF3FD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5143500" y="1466850"/>
            <a:ext cx="1619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最小 Diff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6886575" y="1504950"/>
            <a:ext cx="323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1650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圆角矩形 14"/>
          <p:cNvSpPr>
            <a:spLocks noGrp="1"/>
          </p:cNvSpPr>
          <p:nvPr/>
        </p:nvSpPr>
        <p:spPr>
          <a:xfrm>
            <a:off x="7258050" y="1381125"/>
            <a:ext cx="1809750" cy="533400"/>
          </a:xfrm>
          <a:prstGeom prst="roundRect">
            <a:avLst>
              <a:gd name="adj" fmla="val 21429"/>
            </a:avLst>
          </a:prstGeom>
          <a:solidFill>
            <a:srgbClr val="E8F6F3"/>
          </a:solidFill>
          <a:ln w="11430">
            <a:solidFill>
              <a:srgbClr val="248C82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7353300" y="1466850"/>
            <a:ext cx="1619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验证 / 审阅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9096375" y="1504950"/>
            <a:ext cx="323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1650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圆角矩形 17"/>
          <p:cNvSpPr>
            <a:spLocks noGrp="1"/>
          </p:cNvSpPr>
          <p:nvPr/>
        </p:nvSpPr>
        <p:spPr>
          <a:xfrm>
            <a:off x="9467850" y="1381125"/>
            <a:ext cx="1809750" cy="533400"/>
          </a:xfrm>
          <a:prstGeom prst="roundRect">
            <a:avLst>
              <a:gd name="adj" fmla="val 21429"/>
            </a:avLst>
          </a:prstGeom>
          <a:solidFill>
            <a:srgbClr val="EAF3FD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9563100" y="1466850"/>
            <a:ext cx="1619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写回 progress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圆角矩形 19"/>
          <p:cNvSpPr>
            <a:spLocks noGrp="1"/>
          </p:cNvSpPr>
          <p:nvPr/>
        </p:nvSpPr>
        <p:spPr>
          <a:xfrm>
            <a:off x="533400" y="2238375"/>
            <a:ext cx="346710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21" name="圆角矩形 20"/>
          <p:cNvSpPr>
            <a:spLocks noGrp="1"/>
          </p:cNvSpPr>
          <p:nvPr/>
        </p:nvSpPr>
        <p:spPr>
          <a:xfrm>
            <a:off x="666750" y="2352675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EAF3FD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723900" y="2362200"/>
            <a:ext cx="1314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task.md</a:t>
            </a:r>
            <a:endParaRPr sz="975" b="1">
              <a:solidFill>
                <a:srgbClr val="2878D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676275" y="2695575"/>
            <a:ext cx="318135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65" b="1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65" b="1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目标 / allowed / forbidden</a:t>
            </a:r>
            <a:endParaRPr sz="1065" b="1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8000"/>
              </a:lnSpc>
              <a:buNone/>
              <a:defRPr sz="1065" b="1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65" b="1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acceptance / stop</a:t>
            </a:r>
            <a:endParaRPr sz="1065" b="1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24" name="圆角矩形 23"/>
          <p:cNvSpPr>
            <a:spLocks noGrp="1"/>
          </p:cNvSpPr>
          <p:nvPr/>
        </p:nvSpPr>
        <p:spPr>
          <a:xfrm>
            <a:off x="4248150" y="2238375"/>
            <a:ext cx="346710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25" name="圆角矩形 24"/>
          <p:cNvSpPr>
            <a:spLocks noGrp="1"/>
          </p:cNvSpPr>
          <p:nvPr/>
        </p:nvSpPr>
        <p:spPr>
          <a:xfrm>
            <a:off x="4381500" y="2352675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E8F6F3"/>
          </a:solidFill>
          <a:ln w="11430">
            <a:solidFill>
              <a:srgbClr val="248C82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4438650" y="2362200"/>
            <a:ext cx="1314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4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progress.md</a:t>
            </a:r>
            <a:endParaRPr sz="975" b="1">
              <a:solidFill>
                <a:srgbClr val="248C8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4391025" y="2695575"/>
            <a:ext cx="318135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65" b="1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65" b="1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本轮动作 / 命令 / 结果</a:t>
            </a:r>
            <a:endParaRPr sz="1065" b="1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8000"/>
              </a:lnSpc>
              <a:buNone/>
              <a:defRPr sz="1065" b="1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65" b="1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发现 / 下一任务 / 状态</a:t>
            </a:r>
            <a:endParaRPr sz="1065" b="1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28" name="圆角矩形 27"/>
          <p:cNvSpPr>
            <a:spLocks noGrp="1"/>
          </p:cNvSpPr>
          <p:nvPr/>
        </p:nvSpPr>
        <p:spPr>
          <a:xfrm>
            <a:off x="7962900" y="2238375"/>
            <a:ext cx="346710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29" name="圆角矩形 28"/>
          <p:cNvSpPr>
            <a:spLocks noGrp="1"/>
          </p:cNvSpPr>
          <p:nvPr/>
        </p:nvSpPr>
        <p:spPr>
          <a:xfrm>
            <a:off x="8096250" y="2352675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1430">
            <a:solidFill>
              <a:srgbClr val="7256D8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8153400" y="2362200"/>
            <a:ext cx="1314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evidence/*.md</a:t>
            </a:r>
            <a:endParaRPr sz="975" b="1">
              <a:solidFill>
                <a:srgbClr val="7256D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8105775" y="2695575"/>
            <a:ext cx="318135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65" b="1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65" b="1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RED / GREEN / 日志 / Diff</a:t>
            </a:r>
            <a:endParaRPr sz="1065" b="1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8000"/>
              </a:lnSpc>
              <a:buNone/>
              <a:defRPr sz="1065" b="1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65" b="1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证据边界与可复核路径</a:t>
            </a:r>
            <a:endParaRPr sz="1065" b="1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32" name="圆角矩形 31"/>
          <p:cNvSpPr>
            <a:spLocks noGrp="1"/>
          </p:cNvSpPr>
          <p:nvPr/>
        </p:nvSpPr>
        <p:spPr>
          <a:xfrm>
            <a:off x="533400" y="3886200"/>
            <a:ext cx="6991350" cy="2095500"/>
          </a:xfrm>
          <a:prstGeom prst="roundRect">
            <a:avLst>
              <a:gd name="adj" fmla="val 5455"/>
            </a:avLst>
          </a:prstGeom>
          <a:solidFill>
            <a:srgbClr val="F1F4F8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666750" y="3981450"/>
            <a:ext cx="67246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4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05-Ralph迭代运行账.md → progress 片段</a:t>
            </a:r>
            <a:endParaRPr sz="975" b="1">
              <a:solidFill>
                <a:srgbClr val="248C8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666750" y="4248150"/>
            <a:ext cx="514350" cy="28575"/>
          </a:xfrm>
          <a:prstGeom prst="rect">
            <a:avLst/>
          </a:prstGeom>
          <a:solidFill>
            <a:srgbClr val="248C82"/>
          </a:solidFill>
          <a:ln w="11430">
            <a:solidFill>
              <a:srgbClr val="248C82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666750" y="4343400"/>
            <a:ext cx="6724650" cy="1543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99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round: R7</a:t>
            </a:r>
            <a:endParaRPr sz="99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99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story: FW-ACCOUNT-S5-STABLE-SNAPSHOT</a:t>
            </a:r>
            <a:endParaRPr sz="99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99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input: R6 文档契约 + RED 基线 4b372d0d</a:t>
            </a:r>
            <a:endParaRPr sz="99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99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action: loadStableSnapshot + bounded retry</a:t>
            </a:r>
            <a:endParaRPr sz="99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99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verify: old→new / never-visible / removed</a:t>
            </a:r>
            <a:endParaRPr sz="99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99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result: PASS (same behavior test)</a:t>
            </a:r>
            <a:endParaRPr sz="99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99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evidence: evidence/mdm/t01-red-green.md</a:t>
            </a:r>
            <a:endParaRPr sz="99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99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next: custom signature semantics</a:t>
            </a:r>
            <a:endParaRPr sz="99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99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stop_reason: story acceptance satisfied</a:t>
            </a:r>
            <a:endParaRPr sz="99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36" name="圆角矩形 35"/>
          <p:cNvSpPr>
            <a:spLocks noGrp="1"/>
          </p:cNvSpPr>
          <p:nvPr/>
        </p:nvSpPr>
        <p:spPr>
          <a:xfrm>
            <a:off x="7734300" y="3886200"/>
            <a:ext cx="3752850" cy="97155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37" name="圆角矩形 36"/>
          <p:cNvSpPr>
            <a:spLocks noGrp="1"/>
          </p:cNvSpPr>
          <p:nvPr/>
        </p:nvSpPr>
        <p:spPr>
          <a:xfrm>
            <a:off x="7867650" y="4000500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EAF7EF"/>
          </a:solidFill>
          <a:ln w="11430">
            <a:solidFill>
              <a:srgbClr val="258A58"/>
            </a:solidFill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7924800" y="4010025"/>
            <a:ext cx="1314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58A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什么时候继续</a:t>
            </a:r>
            <a:endParaRPr sz="975" b="1">
              <a:solidFill>
                <a:srgbClr val="258A5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7877175" y="4343400"/>
            <a:ext cx="3467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有新证据；当前失败仍在 allowed scope；下一次动作可推翻假设。</a:t>
            </a:r>
            <a:endParaRPr sz="10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0" name="圆角矩形 39"/>
          <p:cNvSpPr>
            <a:spLocks noGrp="1"/>
          </p:cNvSpPr>
          <p:nvPr/>
        </p:nvSpPr>
        <p:spPr>
          <a:xfrm>
            <a:off x="7734300" y="5010150"/>
            <a:ext cx="3752850" cy="97155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41" name="圆角矩形 40"/>
          <p:cNvSpPr>
            <a:spLocks noGrp="1"/>
          </p:cNvSpPr>
          <p:nvPr/>
        </p:nvSpPr>
        <p:spPr>
          <a:xfrm>
            <a:off x="7867650" y="5124450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FFF0EC"/>
          </a:solidFill>
          <a:ln w="11430">
            <a:solidFill>
              <a:srgbClr val="E7644A"/>
            </a:solidFill>
            <a:prstDash val="solid"/>
          </a:ln>
        </p:spPr>
      </p:sp>
      <p:sp>
        <p:nvSpPr>
          <p:cNvPr id="42" name="矩形 41"/>
          <p:cNvSpPr>
            <a:spLocks noGrp="1"/>
          </p:cNvSpPr>
          <p:nvPr/>
        </p:nvSpPr>
        <p:spPr>
          <a:xfrm>
            <a:off x="7924800" y="5133975"/>
            <a:ext cx="1314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什么时候停</a:t>
            </a:r>
            <a:endParaRPr sz="975" b="1">
              <a:solidFill>
                <a:srgbClr val="E764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3" name="矩形 42"/>
          <p:cNvSpPr>
            <a:spLocks noGrp="1"/>
          </p:cNvSpPr>
          <p:nvPr/>
        </p:nvSpPr>
        <p:spPr>
          <a:xfrm>
            <a:off x="7877175" y="5467350"/>
            <a:ext cx="3467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同一失败重复且无新证据；需要越界改文件；设备事实不可见 → UNKNOWN。</a:t>
            </a:r>
            <a:endParaRPr sz="10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4" name="矩形 43"/>
          <p:cNvSpPr>
            <a:spLocks noGrp="1"/>
          </p:cNvSpPr>
          <p:nvPr/>
        </p:nvSpPr>
        <p:spPr>
          <a:xfrm>
            <a:off x="514350" y="6534150"/>
            <a:ext cx="9620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79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9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真实产物：case-materials/mdm/05-Ralph迭代运行账.md；模板：主稿附录 D Task Card / Progress Ledger</a:t>
            </a:r>
            <a:endParaRPr sz="79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5" name="圆角矩形 44"/>
          <p:cNvSpPr>
            <a:spLocks noGrp="1"/>
          </p:cNvSpPr>
          <p:nvPr/>
        </p:nvSpPr>
        <p:spPr>
          <a:xfrm>
            <a:off x="10382250" y="6477000"/>
            <a:ext cx="1295400" cy="26670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1430">
            <a:solidFill>
              <a:srgbClr val="7256D8"/>
            </a:solidFill>
            <a:prstDash val="solid"/>
          </a:ln>
        </p:spPr>
      </p:sp>
      <p:sp>
        <p:nvSpPr>
          <p:cNvPr id="46" name="矩形 45"/>
          <p:cNvSpPr>
            <a:spLocks noGrp="1"/>
          </p:cNvSpPr>
          <p:nvPr/>
        </p:nvSpPr>
        <p:spPr>
          <a:xfrm>
            <a:off x="10439400" y="6486525"/>
            <a:ext cx="11811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REPO FACT</a:t>
            </a:r>
            <a:endParaRPr sz="975" b="1">
              <a:solidFill>
                <a:srgbClr val="7256D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3" name="矩形 32"/>
          <p:cNvSpPr>
            <a:spLocks noGrp="1"/>
          </p:cNvSpPr>
          <p:nvPr/>
        </p:nvSpPr>
        <p:spPr>
          <a:xfrm>
            <a:off x="514350" y="1714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MDM 案例｜真实交付链</a:t>
            </a:r>
            <a:endParaRPr sz="975" b="1">
              <a:solidFill>
                <a:srgbClr val="E764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334750" y="1714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</a:t>
            </a:r>
            <a:endParaRPr sz="975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419100"/>
            <a:ext cx="1066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一轮真实 RED → GREEN：同一个断言证明旧快照不会提前进入 Handler</a:t>
            </a:r>
            <a:endParaRPr sz="19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866775"/>
            <a:ext cx="1066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文档契约先落为反例测试，再做最小实现</a:t>
            </a:r>
            <a:endParaRPr sz="1125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1152525"/>
            <a:ext cx="11163300" cy="14288"/>
          </a:xfrm>
          <a:prstGeom prst="rect">
            <a:avLst/>
          </a:prstGeom>
          <a:solidFill>
            <a:srgbClr val="D7E0EA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6" name="圆角矩形 5"/>
          <p:cNvSpPr>
            <a:spLocks noGrp="1"/>
          </p:cNvSpPr>
          <p:nvPr/>
        </p:nvSpPr>
        <p:spPr>
          <a:xfrm>
            <a:off x="533400" y="1390650"/>
            <a:ext cx="3333750" cy="3390900"/>
          </a:xfrm>
          <a:prstGeom prst="roundRect">
            <a:avLst>
              <a:gd name="adj" fmla="val 3429"/>
            </a:avLst>
          </a:prstGeom>
          <a:solidFill>
            <a:srgbClr val="FDEEEE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66750" y="1485900"/>
            <a:ext cx="3067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975" b="1">
                <a:solidFill>
                  <a:srgbClr val="C9474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C9474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RED @ 4b372d0d</a:t>
            </a:r>
            <a:endParaRPr sz="975" b="1">
              <a:solidFill>
                <a:srgbClr val="C9474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66750" y="1752600"/>
            <a:ext cx="514350" cy="28575"/>
          </a:xfrm>
          <a:prstGeom prst="rect">
            <a:avLst/>
          </a:prstGeom>
          <a:solidFill>
            <a:srgbClr val="C94747"/>
          </a:solidFill>
          <a:ln w="11430">
            <a:solidFill>
              <a:srgbClr val="C94747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666750" y="1847850"/>
            <a:ext cx="3067050" cy="2838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2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输入：</a:t>
            </a:r>
            <a:endParaRPr sz="102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2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read #1 = [100,122]</a:t>
            </a:r>
            <a:endParaRPr sz="102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2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read #2 = [100,122,123]</a:t>
            </a:r>
            <a:endParaRPr sz="102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endParaRPr sz="1020"/>
          </a:p>
          <a:p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2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期望：</a:t>
            </a:r>
            <a:endParaRPr sz="102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2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query=2</a:t>
            </a:r>
            <a:endParaRPr sz="102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2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handler=1</a:t>
            </a:r>
            <a:endParaRPr sz="102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2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signature=100,122,123</a:t>
            </a:r>
            <a:endParaRPr sz="102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endParaRPr sz="1020"/>
          </a:p>
          <a:p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2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真实：</a:t>
            </a:r>
            <a:endParaRPr sz="102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2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expect 1 equals 2</a:t>
            </a:r>
            <a:endParaRPr sz="102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2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旧实现第一次读取就 dispatch</a:t>
            </a:r>
            <a:endParaRPr sz="102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endParaRPr sz="1020"/>
          </a:p>
          <a:p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2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注意：</a:t>
            </a:r>
            <a:endParaRPr sz="102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2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BUILD SUCCESSFUL</a:t>
            </a:r>
            <a:endParaRPr sz="102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2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HVIGOR_EXIT=0</a:t>
            </a:r>
            <a:endParaRPr sz="102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4095750" y="1390650"/>
            <a:ext cx="3333750" cy="3390900"/>
          </a:xfrm>
          <a:prstGeom prst="roundRect">
            <a:avLst>
              <a:gd name="adj" fmla="val 3429"/>
            </a:avLst>
          </a:prstGeom>
          <a:solidFill>
            <a:srgbClr val="F1ED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229100" y="1485900"/>
            <a:ext cx="3067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MINIMAL DIFF @ c0c1bc9f</a:t>
            </a:r>
            <a:endParaRPr sz="975" b="1">
              <a:solidFill>
                <a:srgbClr val="7256D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229100" y="1752600"/>
            <a:ext cx="514350" cy="28575"/>
          </a:xfrm>
          <a:prstGeom prst="rect">
            <a:avLst/>
          </a:prstGeom>
          <a:solidFill>
            <a:srgbClr val="7256D8"/>
          </a:solidFill>
          <a:ln w="11430">
            <a:solidFill>
              <a:srgbClr val="7256D8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4229100" y="1847850"/>
            <a:ext cx="3067050" cy="2838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runOnce(request)</a:t>
            </a:r>
            <a:endParaRPr sz="100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result = loadStableSnapshot(request)</a:t>
            </a:r>
            <a:endParaRPr sz="100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if !result.stable:</a:t>
            </a:r>
            <a:endParaRPr sz="100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return false</a:t>
            </a:r>
            <a:endParaRPr sz="100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endParaRPr sz="1005"/>
          </a:p>
          <a:p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loadStableSnapshot</a:t>
            </a:r>
            <a:endParaRPr sz="100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while added ID not visible</a:t>
            </a:r>
            <a:endParaRPr sz="100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and attempt &lt;= 5:</a:t>
            </a:r>
            <a:endParaRPr sz="100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  delay 200ms</a:t>
            </a:r>
            <a:endParaRPr sz="100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  reread full set</a:t>
            </a:r>
            <a:endParaRPr sz="100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endParaRPr sz="1005"/>
          </a:p>
          <a:p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只改：</a:t>
            </a:r>
            <a:endParaRPr sz="100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Coordinator + 对应 UT</a:t>
            </a:r>
            <a:endParaRPr sz="100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7658100" y="1390650"/>
            <a:ext cx="3886200" cy="3390900"/>
          </a:xfrm>
          <a:prstGeom prst="roundRect">
            <a:avLst>
              <a:gd name="adj" fmla="val 3371"/>
            </a:avLst>
          </a:prstGeom>
          <a:solidFill>
            <a:srgbClr val="EAF7E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7791450" y="1485900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58A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GREEN @ c0c1bc9f</a:t>
            </a:r>
            <a:endParaRPr sz="975" b="1">
              <a:solidFill>
                <a:srgbClr val="258A5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7791450" y="1752600"/>
            <a:ext cx="514350" cy="28575"/>
          </a:xfrm>
          <a:prstGeom prst="rect">
            <a:avLst/>
          </a:prstGeom>
          <a:solidFill>
            <a:srgbClr val="258A58"/>
          </a:solidFill>
          <a:ln w="11430">
            <a:solidFill>
              <a:srgbClr val="258A58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7791450" y="1847850"/>
            <a:ext cx="3619500" cy="2838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class=AccountChangeCoordinator</a:t>
            </a:r>
            <a:endParaRPr sz="100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test=should wait until added account appears</a:t>
            </a:r>
            <a:endParaRPr sz="100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before dispatching handlers</a:t>
            </a:r>
            <a:endParaRPr sz="100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result=Success</a:t>
            </a:r>
            <a:endParaRPr sz="100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endParaRPr sz="1005"/>
          </a:p>
          <a:p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同一目标断言不再失败</a:t>
            </a:r>
            <a:endParaRPr sz="100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query=2</a:t>
            </a:r>
            <a:endParaRPr sz="100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handler=1</a:t>
            </a:r>
            <a:endParaRPr sz="100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publish=1</a:t>
            </a:r>
            <a:endParaRPr sz="100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endParaRPr sz="1005"/>
          </a:p>
          <a:p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独立 GAP：</a:t>
            </a:r>
            <a:endParaRPr sz="100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00507008 getInitCoverageData failed</a:t>
            </a:r>
            <a:endParaRPr sz="100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不随修复消失，不属于本 Story</a:t>
            </a:r>
            <a:endParaRPr sz="100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8" name="圆角矩形 17"/>
          <p:cNvSpPr>
            <a:spLocks noGrp="1"/>
          </p:cNvSpPr>
          <p:nvPr/>
        </p:nvSpPr>
        <p:spPr>
          <a:xfrm>
            <a:off x="533400" y="5010150"/>
            <a:ext cx="3371850" cy="9906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19" name="圆角矩形 18"/>
          <p:cNvSpPr>
            <a:spLocks noGrp="1"/>
          </p:cNvSpPr>
          <p:nvPr/>
        </p:nvSpPr>
        <p:spPr>
          <a:xfrm>
            <a:off x="666750" y="5124450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EAF3FD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723900" y="5133975"/>
            <a:ext cx="1314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怎么判断</a:t>
            </a:r>
            <a:endParaRPr sz="975" b="1">
              <a:solidFill>
                <a:srgbClr val="2878D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676275" y="5467350"/>
            <a:ext cx="30861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9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RED 与需求同源；GREEN 检查同一用例；构建、测试、覆盖率分开判定。</a:t>
            </a:r>
            <a:endParaRPr sz="99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圆角矩形 21"/>
          <p:cNvSpPr>
            <a:spLocks noGrp="1"/>
          </p:cNvSpPr>
          <p:nvPr/>
        </p:nvSpPr>
        <p:spPr>
          <a:xfrm>
            <a:off x="4095750" y="5010150"/>
            <a:ext cx="3371850" cy="9906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23" name="圆角矩形 22"/>
          <p:cNvSpPr>
            <a:spLocks noGrp="1"/>
          </p:cNvSpPr>
          <p:nvPr/>
        </p:nvSpPr>
        <p:spPr>
          <a:xfrm>
            <a:off x="4229100" y="5124450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E8F6F3"/>
          </a:solidFill>
          <a:ln w="11430">
            <a:solidFill>
              <a:srgbClr val="248C82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4286250" y="5133975"/>
            <a:ext cx="1314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4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证据输出</a:t>
            </a:r>
            <a:endParaRPr sz="975" b="1">
              <a:solidFill>
                <a:srgbClr val="248C8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4238625" y="5467350"/>
            <a:ext cx="30861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9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commit + test name + input sequence + 计数 oracle + 原始错误文本。</a:t>
            </a:r>
            <a:endParaRPr sz="99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圆角矩形 25"/>
          <p:cNvSpPr>
            <a:spLocks noGrp="1"/>
          </p:cNvSpPr>
          <p:nvPr/>
        </p:nvSpPr>
        <p:spPr>
          <a:xfrm>
            <a:off x="7658100" y="5010150"/>
            <a:ext cx="3886200" cy="9906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27" name="圆角矩形 26"/>
          <p:cNvSpPr>
            <a:spLocks noGrp="1"/>
          </p:cNvSpPr>
          <p:nvPr/>
        </p:nvSpPr>
        <p:spPr>
          <a:xfrm>
            <a:off x="7791450" y="5124450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FFF6DE"/>
          </a:solidFill>
          <a:ln w="11430">
            <a:solidFill>
              <a:srgbClr val="D99018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7848600" y="5133975"/>
            <a:ext cx="1314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D9901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不对怎么办</a:t>
            </a:r>
            <a:endParaRPr sz="975" b="1">
              <a:solidFill>
                <a:srgbClr val="D9901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7800975" y="5467350"/>
            <a:ext cx="36004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2746"/>
          </a:bodyPr>
          <a:lstStyle/>
          <a:p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9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若 RED 是 import/SDK/mock/编译错误，先修验证环境，不能推动生产代码。</a:t>
            </a:r>
            <a:endParaRPr sz="99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514350" y="6534150"/>
            <a:ext cx="9620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79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9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真实证据：evidence/mdm/t01-red-green.md；命令：hvigorw test --mode module -p product=default -p module=entry@default</a:t>
            </a:r>
            <a:endParaRPr sz="79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圆角矩形 30"/>
          <p:cNvSpPr>
            <a:spLocks noGrp="1"/>
          </p:cNvSpPr>
          <p:nvPr/>
        </p:nvSpPr>
        <p:spPr>
          <a:xfrm>
            <a:off x="10382250" y="6477000"/>
            <a:ext cx="1295400" cy="266700"/>
          </a:xfrm>
          <a:prstGeom prst="roundRect">
            <a:avLst>
              <a:gd name="adj" fmla="val 50000"/>
            </a:avLst>
          </a:prstGeom>
          <a:solidFill>
            <a:srgbClr val="EAF7EF"/>
          </a:solidFill>
          <a:ln w="11430">
            <a:solidFill>
              <a:srgbClr val="258A58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10439400" y="6486525"/>
            <a:ext cx="11811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58A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RUN FACT</a:t>
            </a:r>
            <a:endParaRPr sz="975" b="1">
              <a:solidFill>
                <a:srgbClr val="258A5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6" name="矩形 65"/>
          <p:cNvSpPr>
            <a:spLocks noGrp="1"/>
          </p:cNvSpPr>
          <p:nvPr/>
        </p:nvSpPr>
        <p:spPr>
          <a:xfrm>
            <a:off x="514350" y="1714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MDM 案例｜真实交付链</a:t>
            </a:r>
            <a:endParaRPr sz="975" b="1">
              <a:solidFill>
                <a:srgbClr val="E764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334750" y="1714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21</a:t>
            </a:r>
            <a:endParaRPr sz="975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419100"/>
            <a:ext cx="1066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九轮提交不是进度清单，而是一条因果链：每轮暴露下一层未知</a:t>
            </a:r>
            <a:endParaRPr sz="21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866775"/>
            <a:ext cx="1066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真实 Git 历史从“能读账号”逐步收敛到“稳定快照 + 跨进程消费”</a:t>
            </a:r>
            <a:endParaRPr sz="1125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1152525"/>
            <a:ext cx="11163300" cy="14288"/>
          </a:xfrm>
          <a:prstGeom prst="rect">
            <a:avLst/>
          </a:prstGeom>
          <a:solidFill>
            <a:srgbClr val="D7E0EA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6" name="圆角矩形 5"/>
          <p:cNvSpPr>
            <a:spLocks noGrp="1"/>
          </p:cNvSpPr>
          <p:nvPr/>
        </p:nvSpPr>
        <p:spPr>
          <a:xfrm>
            <a:off x="533400" y="1381125"/>
            <a:ext cx="3467100" cy="1066800"/>
          </a:xfrm>
          <a:prstGeom prst="roundRect">
            <a:avLst>
              <a:gd name="adj" fmla="val 10714"/>
            </a:avLst>
          </a:prstGeom>
          <a:solidFill>
            <a:srgbClr val="EAF3FD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7" name="圆角矩形 6"/>
          <p:cNvSpPr>
            <a:spLocks noGrp="1"/>
          </p:cNvSpPr>
          <p:nvPr/>
        </p:nvSpPr>
        <p:spPr>
          <a:xfrm>
            <a:off x="666750" y="1495425"/>
            <a:ext cx="51435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723900" y="1504950"/>
            <a:ext cx="4000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R1</a:t>
            </a:r>
            <a:endParaRPr sz="975" b="1">
              <a:solidFill>
                <a:srgbClr val="2878D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276350" y="1495425"/>
            <a:ext cx="1047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015" b="1">
                <a:solidFill>
                  <a:srgbClr val="2878D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15" b="1">
                <a:solidFill>
                  <a:srgbClr val="2878D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9ea957d2</a:t>
            </a:r>
            <a:endParaRPr sz="1015" b="1">
              <a:solidFill>
                <a:srgbClr val="2878D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685800" y="1828800"/>
            <a:ext cx="3162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9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9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账号枚举</a:t>
            </a:r>
            <a:endParaRPr sz="109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685800" y="2105025"/>
            <a:ext cx="3162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暴露：缺事件同步</a:t>
            </a:r>
            <a:endParaRPr sz="94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4248150" y="1381125"/>
            <a:ext cx="3467100" cy="1066800"/>
          </a:xfrm>
          <a:prstGeom prst="roundRect">
            <a:avLst>
              <a:gd name="adj" fmla="val 10714"/>
            </a:avLst>
          </a:prstGeom>
          <a:solidFill>
            <a:srgbClr val="EAF3FD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13" name="圆角矩形 12"/>
          <p:cNvSpPr>
            <a:spLocks noGrp="1"/>
          </p:cNvSpPr>
          <p:nvPr/>
        </p:nvSpPr>
        <p:spPr>
          <a:xfrm>
            <a:off x="4381500" y="1495425"/>
            <a:ext cx="51435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4438650" y="1504950"/>
            <a:ext cx="4000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R2</a:t>
            </a:r>
            <a:endParaRPr sz="975" b="1">
              <a:solidFill>
                <a:srgbClr val="2878D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4991100" y="1495425"/>
            <a:ext cx="1047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015" b="1">
                <a:solidFill>
                  <a:srgbClr val="2878D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15" b="1">
                <a:solidFill>
                  <a:srgbClr val="2878D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09209bb9</a:t>
            </a:r>
            <a:endParaRPr sz="1015" b="1">
              <a:solidFill>
                <a:srgbClr val="2878D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4400550" y="1828800"/>
            <a:ext cx="3162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9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9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本地清理</a:t>
            </a:r>
            <a:endParaRPr sz="109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4400550" y="2105025"/>
            <a:ext cx="3162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暴露：缺协调入口</a:t>
            </a:r>
            <a:endParaRPr sz="94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圆角矩形 17"/>
          <p:cNvSpPr>
            <a:spLocks noGrp="1"/>
          </p:cNvSpPr>
          <p:nvPr/>
        </p:nvSpPr>
        <p:spPr>
          <a:xfrm>
            <a:off x="7962900" y="1381125"/>
            <a:ext cx="3467100" cy="1066800"/>
          </a:xfrm>
          <a:prstGeom prst="roundRect">
            <a:avLst>
              <a:gd name="adj" fmla="val 10714"/>
            </a:avLst>
          </a:prstGeom>
          <a:solidFill>
            <a:srgbClr val="EAF3FD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19" name="圆角矩形 18"/>
          <p:cNvSpPr>
            <a:spLocks noGrp="1"/>
          </p:cNvSpPr>
          <p:nvPr/>
        </p:nvSpPr>
        <p:spPr>
          <a:xfrm>
            <a:off x="8096250" y="1495425"/>
            <a:ext cx="51435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8153400" y="1504950"/>
            <a:ext cx="4000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R3</a:t>
            </a:r>
            <a:endParaRPr sz="975" b="1">
              <a:solidFill>
                <a:srgbClr val="2878D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8705850" y="1495425"/>
            <a:ext cx="1047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015" b="1">
                <a:solidFill>
                  <a:srgbClr val="2878D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15" b="1">
                <a:solidFill>
                  <a:srgbClr val="2878D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94ff17e7</a:t>
            </a:r>
            <a:endParaRPr sz="1015" b="1">
              <a:solidFill>
                <a:srgbClr val="2878D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8115300" y="1828800"/>
            <a:ext cx="3162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9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9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Coordinator/Handler</a:t>
            </a:r>
            <a:endParaRPr sz="109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8115300" y="2105025"/>
            <a:ext cx="3162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暴露：跨进程不完整</a:t>
            </a:r>
            <a:endParaRPr sz="94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圆角矩形 23"/>
          <p:cNvSpPr>
            <a:spLocks noGrp="1"/>
          </p:cNvSpPr>
          <p:nvPr/>
        </p:nvSpPr>
        <p:spPr>
          <a:xfrm>
            <a:off x="533400" y="2676525"/>
            <a:ext cx="3467100" cy="1066800"/>
          </a:xfrm>
          <a:prstGeom prst="roundRect">
            <a:avLst>
              <a:gd name="adj" fmla="val 10714"/>
            </a:avLst>
          </a:prstGeom>
          <a:solidFill>
            <a:srgbClr val="EAF3FD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25" name="圆角矩形 24"/>
          <p:cNvSpPr>
            <a:spLocks noGrp="1"/>
          </p:cNvSpPr>
          <p:nvPr/>
        </p:nvSpPr>
        <p:spPr>
          <a:xfrm>
            <a:off x="666750" y="2790825"/>
            <a:ext cx="51435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723900" y="2800350"/>
            <a:ext cx="4000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R4</a:t>
            </a:r>
            <a:endParaRPr sz="975" b="1">
              <a:solidFill>
                <a:srgbClr val="2878D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1276350" y="2790825"/>
            <a:ext cx="1047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015" b="1">
                <a:solidFill>
                  <a:srgbClr val="2878D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15" b="1">
                <a:solidFill>
                  <a:srgbClr val="2878D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53751b2e</a:t>
            </a:r>
            <a:endParaRPr sz="1015" b="1">
              <a:solidFill>
                <a:srgbClr val="2878D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685800" y="3124200"/>
            <a:ext cx="3162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9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9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发布账号事实</a:t>
            </a:r>
            <a:endParaRPr sz="109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685800" y="3400425"/>
            <a:ext cx="3162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暴露：规则未收敛</a:t>
            </a:r>
            <a:endParaRPr sz="94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圆角矩形 29"/>
          <p:cNvSpPr>
            <a:spLocks noGrp="1"/>
          </p:cNvSpPr>
          <p:nvPr/>
        </p:nvSpPr>
        <p:spPr>
          <a:xfrm>
            <a:off x="4248150" y="2676525"/>
            <a:ext cx="3467100" cy="1066800"/>
          </a:xfrm>
          <a:prstGeom prst="roundRect">
            <a:avLst>
              <a:gd name="adj" fmla="val 10714"/>
            </a:avLst>
          </a:prstGeom>
          <a:solidFill>
            <a:srgbClr val="FFF0EC"/>
          </a:solidFill>
          <a:ln w="11430">
            <a:solidFill>
              <a:srgbClr val="E7644A"/>
            </a:solidFill>
            <a:prstDash val="solid"/>
          </a:ln>
        </p:spPr>
      </p:sp>
      <p:sp>
        <p:nvSpPr>
          <p:cNvPr id="31" name="圆角矩形 30"/>
          <p:cNvSpPr>
            <a:spLocks noGrp="1"/>
          </p:cNvSpPr>
          <p:nvPr/>
        </p:nvSpPr>
        <p:spPr>
          <a:xfrm>
            <a:off x="4381500" y="2790825"/>
            <a:ext cx="51435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E7644A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4438650" y="2800350"/>
            <a:ext cx="4000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R5</a:t>
            </a:r>
            <a:endParaRPr sz="975" b="1">
              <a:solidFill>
                <a:srgbClr val="E764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4991100" y="2790825"/>
            <a:ext cx="1047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015" b="1">
                <a:solidFill>
                  <a:srgbClr val="E7644A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15" b="1">
                <a:solidFill>
                  <a:srgbClr val="E7644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586880a3</a:t>
            </a:r>
            <a:endParaRPr sz="1015" b="1">
              <a:solidFill>
                <a:srgbClr val="E7644A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4400550" y="3124200"/>
            <a:ext cx="3162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9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9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规则 reconcile</a:t>
            </a:r>
            <a:endParaRPr sz="109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4400550" y="3400425"/>
            <a:ext cx="3162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暴露：发现时序窗口</a:t>
            </a:r>
            <a:endParaRPr sz="94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6" name="圆角矩形 35"/>
          <p:cNvSpPr>
            <a:spLocks noGrp="1"/>
          </p:cNvSpPr>
          <p:nvPr/>
        </p:nvSpPr>
        <p:spPr>
          <a:xfrm>
            <a:off x="7962900" y="2676525"/>
            <a:ext cx="3467100" cy="1066800"/>
          </a:xfrm>
          <a:prstGeom prst="roundRect">
            <a:avLst>
              <a:gd name="adj" fmla="val 10714"/>
            </a:avLst>
          </a:prstGeom>
          <a:solidFill>
            <a:srgbClr val="F1EDFF"/>
          </a:solidFill>
          <a:ln w="11430">
            <a:solidFill>
              <a:srgbClr val="7256D8"/>
            </a:solidFill>
            <a:prstDash val="solid"/>
          </a:ln>
        </p:spPr>
      </p:sp>
      <p:sp>
        <p:nvSpPr>
          <p:cNvPr id="37" name="圆角矩形 36"/>
          <p:cNvSpPr>
            <a:spLocks noGrp="1"/>
          </p:cNvSpPr>
          <p:nvPr/>
        </p:nvSpPr>
        <p:spPr>
          <a:xfrm>
            <a:off x="8096250" y="2790825"/>
            <a:ext cx="51435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7256D8"/>
            </a:solidFill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8153400" y="2800350"/>
            <a:ext cx="4000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R6</a:t>
            </a:r>
            <a:endParaRPr sz="975" b="1">
              <a:solidFill>
                <a:srgbClr val="7256D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8705850" y="2790825"/>
            <a:ext cx="1047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015" b="1">
                <a:solidFill>
                  <a:srgbClr val="7256D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15" b="1">
                <a:solidFill>
                  <a:srgbClr val="7256D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4b372d0d</a:t>
            </a:r>
            <a:endParaRPr sz="1015" b="1">
              <a:solidFill>
                <a:srgbClr val="7256D8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8115300" y="3124200"/>
            <a:ext cx="3162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9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9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先写稳定快照契约</a:t>
            </a:r>
            <a:endParaRPr sz="109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8115300" y="3400425"/>
            <a:ext cx="3162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暴露：等待实现</a:t>
            </a:r>
            <a:endParaRPr sz="94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2" name="圆角矩形 41"/>
          <p:cNvSpPr>
            <a:spLocks noGrp="1"/>
          </p:cNvSpPr>
          <p:nvPr/>
        </p:nvSpPr>
        <p:spPr>
          <a:xfrm>
            <a:off x="533400" y="3971925"/>
            <a:ext cx="3467100" cy="1066800"/>
          </a:xfrm>
          <a:prstGeom prst="roundRect">
            <a:avLst>
              <a:gd name="adj" fmla="val 10714"/>
            </a:avLst>
          </a:prstGeom>
          <a:solidFill>
            <a:srgbClr val="EAF7EF"/>
          </a:solidFill>
          <a:ln w="11430">
            <a:solidFill>
              <a:srgbClr val="258A58"/>
            </a:solidFill>
            <a:prstDash val="solid"/>
          </a:ln>
        </p:spPr>
      </p:sp>
      <p:sp>
        <p:nvSpPr>
          <p:cNvPr id="43" name="圆角矩形 42"/>
          <p:cNvSpPr>
            <a:spLocks noGrp="1"/>
          </p:cNvSpPr>
          <p:nvPr/>
        </p:nvSpPr>
        <p:spPr>
          <a:xfrm>
            <a:off x="666750" y="4086225"/>
            <a:ext cx="51435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258A58"/>
            </a:solidFill>
            <a:prstDash val="solid"/>
          </a:ln>
        </p:spPr>
      </p:sp>
      <p:sp>
        <p:nvSpPr>
          <p:cNvPr id="44" name="矩形 43"/>
          <p:cNvSpPr>
            <a:spLocks noGrp="1"/>
          </p:cNvSpPr>
          <p:nvPr/>
        </p:nvSpPr>
        <p:spPr>
          <a:xfrm>
            <a:off x="723900" y="4095750"/>
            <a:ext cx="4000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58A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R7</a:t>
            </a:r>
            <a:endParaRPr sz="975" b="1">
              <a:solidFill>
                <a:srgbClr val="258A5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5" name="矩形 44"/>
          <p:cNvSpPr>
            <a:spLocks noGrp="1"/>
          </p:cNvSpPr>
          <p:nvPr/>
        </p:nvSpPr>
        <p:spPr>
          <a:xfrm>
            <a:off x="1276350" y="4086225"/>
            <a:ext cx="1047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015" b="1">
                <a:solidFill>
                  <a:srgbClr val="258A58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15" b="1">
                <a:solidFill>
                  <a:srgbClr val="258A5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c0c1bc9f</a:t>
            </a:r>
            <a:endParaRPr sz="1015" b="1">
              <a:solidFill>
                <a:srgbClr val="258A58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46" name="矩形 45"/>
          <p:cNvSpPr>
            <a:spLocks noGrp="1"/>
          </p:cNvSpPr>
          <p:nvPr/>
        </p:nvSpPr>
        <p:spPr>
          <a:xfrm>
            <a:off x="685800" y="4419600"/>
            <a:ext cx="3162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9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9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等待 ID 可见</a:t>
            </a:r>
            <a:endParaRPr sz="109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7" name="矩形 46"/>
          <p:cNvSpPr>
            <a:spLocks noGrp="1"/>
          </p:cNvSpPr>
          <p:nvPr/>
        </p:nvSpPr>
        <p:spPr>
          <a:xfrm>
            <a:off x="685800" y="4695825"/>
            <a:ext cx="3162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暴露：custom 签名</a:t>
            </a:r>
            <a:endParaRPr sz="94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8" name="圆角矩形 47"/>
          <p:cNvSpPr>
            <a:spLocks noGrp="1"/>
          </p:cNvSpPr>
          <p:nvPr/>
        </p:nvSpPr>
        <p:spPr>
          <a:xfrm>
            <a:off x="4248150" y="3971925"/>
            <a:ext cx="3467100" cy="1066800"/>
          </a:xfrm>
          <a:prstGeom prst="roundRect">
            <a:avLst>
              <a:gd name="adj" fmla="val 10714"/>
            </a:avLst>
          </a:prstGeom>
          <a:solidFill>
            <a:srgbClr val="EAF3FD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49" name="圆角矩形 48"/>
          <p:cNvSpPr>
            <a:spLocks noGrp="1"/>
          </p:cNvSpPr>
          <p:nvPr/>
        </p:nvSpPr>
        <p:spPr>
          <a:xfrm>
            <a:off x="4381500" y="4086225"/>
            <a:ext cx="51435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50" name="矩形 49"/>
          <p:cNvSpPr>
            <a:spLocks noGrp="1"/>
          </p:cNvSpPr>
          <p:nvPr/>
        </p:nvSpPr>
        <p:spPr>
          <a:xfrm>
            <a:off x="4438650" y="4095750"/>
            <a:ext cx="4000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R8</a:t>
            </a:r>
            <a:endParaRPr sz="975" b="1">
              <a:solidFill>
                <a:srgbClr val="2878D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1" name="矩形 50"/>
          <p:cNvSpPr>
            <a:spLocks noGrp="1"/>
          </p:cNvSpPr>
          <p:nvPr/>
        </p:nvSpPr>
        <p:spPr>
          <a:xfrm>
            <a:off x="4991100" y="4086225"/>
            <a:ext cx="1047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015" b="1">
                <a:solidFill>
                  <a:srgbClr val="2878D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15" b="1">
                <a:solidFill>
                  <a:srgbClr val="2878D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9c7fb186</a:t>
            </a:r>
            <a:endParaRPr sz="1015" b="1">
              <a:solidFill>
                <a:srgbClr val="2878D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52" name="矩形 51"/>
          <p:cNvSpPr>
            <a:spLocks noGrp="1"/>
          </p:cNvSpPr>
          <p:nvPr/>
        </p:nvSpPr>
        <p:spPr>
          <a:xfrm>
            <a:off x="4400550" y="4419600"/>
            <a:ext cx="3162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9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9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保存 custom 签名</a:t>
            </a:r>
            <a:endParaRPr sz="109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3" name="矩形 52"/>
          <p:cNvSpPr>
            <a:spLocks noGrp="1"/>
          </p:cNvSpPr>
          <p:nvPr/>
        </p:nvSpPr>
        <p:spPr>
          <a:xfrm>
            <a:off x="4400550" y="4695825"/>
            <a:ext cx="3162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暴露：运行时职责</a:t>
            </a:r>
            <a:endParaRPr sz="94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4" name="圆角矩形 53"/>
          <p:cNvSpPr>
            <a:spLocks noGrp="1"/>
          </p:cNvSpPr>
          <p:nvPr/>
        </p:nvSpPr>
        <p:spPr>
          <a:xfrm>
            <a:off x="7962900" y="3971925"/>
            <a:ext cx="3467100" cy="1066800"/>
          </a:xfrm>
          <a:prstGeom prst="roundRect">
            <a:avLst>
              <a:gd name="adj" fmla="val 10714"/>
            </a:avLst>
          </a:prstGeom>
          <a:solidFill>
            <a:srgbClr val="EAF3FD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55" name="圆角矩形 54"/>
          <p:cNvSpPr>
            <a:spLocks noGrp="1"/>
          </p:cNvSpPr>
          <p:nvPr/>
        </p:nvSpPr>
        <p:spPr>
          <a:xfrm>
            <a:off x="8096250" y="4086225"/>
            <a:ext cx="51435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56" name="矩形 55"/>
          <p:cNvSpPr>
            <a:spLocks noGrp="1"/>
          </p:cNvSpPr>
          <p:nvPr/>
        </p:nvSpPr>
        <p:spPr>
          <a:xfrm>
            <a:off x="8153400" y="4095750"/>
            <a:ext cx="4000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R9</a:t>
            </a:r>
            <a:endParaRPr sz="975" b="1">
              <a:solidFill>
                <a:srgbClr val="2878D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7" name="矩形 56"/>
          <p:cNvSpPr>
            <a:spLocks noGrp="1"/>
          </p:cNvSpPr>
          <p:nvPr/>
        </p:nvSpPr>
        <p:spPr>
          <a:xfrm>
            <a:off x="8705850" y="4086225"/>
            <a:ext cx="1047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015" b="1">
                <a:solidFill>
                  <a:srgbClr val="2878D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15" b="1">
                <a:solidFill>
                  <a:srgbClr val="2878D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cecf6d17</a:t>
            </a:r>
            <a:endParaRPr sz="1015" b="1">
              <a:solidFill>
                <a:srgbClr val="2878D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58" name="矩形 57"/>
          <p:cNvSpPr>
            <a:spLocks noGrp="1"/>
          </p:cNvSpPr>
          <p:nvPr/>
        </p:nvSpPr>
        <p:spPr>
          <a:xfrm>
            <a:off x="8115300" y="4419600"/>
            <a:ext cx="3162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9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9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RuntimeManager 收口</a:t>
            </a:r>
            <a:endParaRPr sz="109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9" name="矩形 58"/>
          <p:cNvSpPr>
            <a:spLocks noGrp="1"/>
          </p:cNvSpPr>
          <p:nvPr/>
        </p:nvSpPr>
        <p:spPr>
          <a:xfrm>
            <a:off x="8115300" y="4695825"/>
            <a:ext cx="3162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暴露：整体验收</a:t>
            </a:r>
            <a:endParaRPr sz="94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0" name="圆角矩形 59"/>
          <p:cNvSpPr>
            <a:spLocks noGrp="1"/>
          </p:cNvSpPr>
          <p:nvPr/>
        </p:nvSpPr>
        <p:spPr>
          <a:xfrm>
            <a:off x="533400" y="5391150"/>
            <a:ext cx="10896600" cy="647700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61" name="矩形 60"/>
          <p:cNvSpPr>
            <a:spLocks noGrp="1"/>
          </p:cNvSpPr>
          <p:nvPr/>
        </p:nvSpPr>
        <p:spPr>
          <a:xfrm>
            <a:off x="704850" y="5514975"/>
            <a:ext cx="1123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6451"/>
          </a:bodyPr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关键因果链</a:t>
            </a:r>
            <a:endParaRPr sz="1200" b="1">
              <a:solidFill>
                <a:srgbClr val="E764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2" name="矩形 61"/>
          <p:cNvSpPr>
            <a:spLocks noGrp="1"/>
          </p:cNvSpPr>
          <p:nvPr/>
        </p:nvSpPr>
        <p:spPr>
          <a:xfrm>
            <a:off x="1847850" y="5486400"/>
            <a:ext cx="9353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R5 发现新增账号时序窗口  →  R6 先写文档契约与 RED  →  R7 最小实现 + GREEN  →  R8/R9 继续收敛边界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3" name="矩形 62"/>
          <p:cNvSpPr>
            <a:spLocks noGrp="1"/>
          </p:cNvSpPr>
          <p:nvPr/>
        </p:nvSpPr>
        <p:spPr>
          <a:xfrm>
            <a:off x="514350" y="6534150"/>
            <a:ext cx="9620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79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9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真实 Git：security_tool commits 9ea957d2…cecf6d17；整理产物：case-materials/mdm/05-Ralph迭代运行账.md</a:t>
            </a:r>
            <a:endParaRPr sz="79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4" name="圆角矩形 63"/>
          <p:cNvSpPr>
            <a:spLocks noGrp="1"/>
          </p:cNvSpPr>
          <p:nvPr/>
        </p:nvSpPr>
        <p:spPr>
          <a:xfrm>
            <a:off x="10382250" y="6477000"/>
            <a:ext cx="1295400" cy="26670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1430">
            <a:solidFill>
              <a:srgbClr val="7256D8"/>
            </a:solidFill>
            <a:prstDash val="solid"/>
          </a:ln>
        </p:spPr>
      </p:sp>
      <p:sp>
        <p:nvSpPr>
          <p:cNvPr id="65" name="矩形 64"/>
          <p:cNvSpPr>
            <a:spLocks noGrp="1"/>
          </p:cNvSpPr>
          <p:nvPr/>
        </p:nvSpPr>
        <p:spPr>
          <a:xfrm>
            <a:off x="10439400" y="6486525"/>
            <a:ext cx="11811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GIT FACT</a:t>
            </a:r>
            <a:endParaRPr sz="975" b="1">
              <a:solidFill>
                <a:srgbClr val="7256D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8" name="矩形 47"/>
          <p:cNvSpPr>
            <a:spLocks noGrp="1"/>
          </p:cNvSpPr>
          <p:nvPr/>
        </p:nvSpPr>
        <p:spPr>
          <a:xfrm>
            <a:off x="514350" y="1714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MDM 案例｜真实交付链</a:t>
            </a:r>
            <a:endParaRPr sz="975" b="1">
              <a:solidFill>
                <a:srgbClr val="E764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334750" y="1714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22</a:t>
            </a:r>
            <a:endParaRPr sz="975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419100"/>
            <a:ext cx="1066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文档先行的价值：816/816 之后，仍能发现没有被交付的不变量</a:t>
            </a:r>
            <a:endParaRPr sz="21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866775"/>
            <a:ext cx="1066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RFC 是审阅 oracle；测试全绿只能证明现有测试覆盖的契约</a:t>
            </a:r>
            <a:endParaRPr sz="1125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1152525"/>
            <a:ext cx="11163300" cy="14288"/>
          </a:xfrm>
          <a:prstGeom prst="rect">
            <a:avLst/>
          </a:prstGeom>
          <a:solidFill>
            <a:srgbClr val="D7E0EA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6" name="圆角矩形 5"/>
          <p:cNvSpPr>
            <a:spLocks noGrp="1"/>
          </p:cNvSpPr>
          <p:nvPr/>
        </p:nvSpPr>
        <p:spPr>
          <a:xfrm>
            <a:off x="533400" y="1390650"/>
            <a:ext cx="3181350" cy="161925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7" name="圆角矩形 6"/>
          <p:cNvSpPr>
            <a:spLocks noGrp="1"/>
          </p:cNvSpPr>
          <p:nvPr/>
        </p:nvSpPr>
        <p:spPr>
          <a:xfrm>
            <a:off x="666750" y="1504950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EAF7EF"/>
          </a:solidFill>
          <a:ln w="11430">
            <a:solidFill>
              <a:srgbClr val="258A58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723900" y="1514475"/>
            <a:ext cx="1314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58A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已验证</a:t>
            </a:r>
            <a:endParaRPr sz="975" b="1">
              <a:solidFill>
                <a:srgbClr val="258A5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76275" y="1847850"/>
            <a:ext cx="28956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文档一致性：PASS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E2E 资产结构：PASS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本地 UT：816 / 816 PASS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S5 稳定快照：PASS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3905250" y="1390650"/>
            <a:ext cx="3181350" cy="161925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11" name="圆角矩形 10"/>
          <p:cNvSpPr>
            <a:spLocks noGrp="1"/>
          </p:cNvSpPr>
          <p:nvPr/>
        </p:nvSpPr>
        <p:spPr>
          <a:xfrm>
            <a:off x="4038600" y="1504950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FFF6DE"/>
          </a:solidFill>
          <a:ln w="11430">
            <a:solidFill>
              <a:srgbClr val="D99018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4095750" y="1514475"/>
            <a:ext cx="1314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D9901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未执行</a:t>
            </a:r>
            <a:endParaRPr sz="975" b="1">
              <a:solidFill>
                <a:srgbClr val="D9901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048125" y="1847850"/>
            <a:ext cx="28956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HAP 构建：UNKNOWN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签名 / 安装 / 管理员：UNKNOWN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真机新增账号：UNKNOWN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system policy / rules readback：UNKNOWN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7277100" y="1390650"/>
            <a:ext cx="4229100" cy="161925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15" name="圆角矩形 14"/>
          <p:cNvSpPr>
            <a:spLocks noGrp="1"/>
          </p:cNvSpPr>
          <p:nvPr/>
        </p:nvSpPr>
        <p:spPr>
          <a:xfrm>
            <a:off x="7410450" y="1504950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FFF0EC"/>
          </a:solidFill>
          <a:ln w="11430">
            <a:solidFill>
              <a:srgbClr val="E7644A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7467600" y="1514475"/>
            <a:ext cx="1314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RFC 反查出的代码缺口</a:t>
            </a:r>
            <a:endParaRPr sz="975" b="1">
              <a:solidFill>
                <a:srgbClr val="E764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7419975" y="1847850"/>
            <a:ext cx="39433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1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1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saveModeApplyState 两次写 Preference，非原子</a:t>
            </a:r>
            <a:endParaRPr sz="101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8000"/>
              </a:lnSpc>
              <a:buNone/>
              <a:defRPr sz="101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1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rollback 未恢复 last-applied signature</a:t>
            </a:r>
            <a:endParaRPr sz="101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8000"/>
              </a:lnSpc>
              <a:buNone/>
              <a:defRPr sz="101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1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listRules 失败回退 []，混淆“空”与“读失败”</a:t>
            </a:r>
            <a:endParaRPr sz="101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8000"/>
              </a:lnSpc>
              <a:buNone/>
              <a:defRPr sz="101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1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Handler 失败没有自动业务重试与 UI 可见性</a:t>
            </a:r>
            <a:endParaRPr sz="101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圆角矩形 17"/>
          <p:cNvSpPr>
            <a:spLocks noGrp="1"/>
          </p:cNvSpPr>
          <p:nvPr/>
        </p:nvSpPr>
        <p:spPr>
          <a:xfrm>
            <a:off x="533400" y="3276600"/>
            <a:ext cx="5562600" cy="2628900"/>
          </a:xfrm>
          <a:prstGeom prst="roundRect">
            <a:avLst>
              <a:gd name="adj" fmla="val 4348"/>
            </a:avLst>
          </a:prstGeom>
          <a:solidFill>
            <a:srgbClr val="F1F4F8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666750" y="3371850"/>
            <a:ext cx="5295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06-测试验收报告.md → 当前总判定</a:t>
            </a:r>
            <a:endParaRPr sz="975" b="1">
              <a:solidFill>
                <a:srgbClr val="7256D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666750" y="3638550"/>
            <a:ext cx="514350" cy="28575"/>
          </a:xfrm>
          <a:prstGeom prst="rect">
            <a:avLst/>
          </a:prstGeom>
          <a:solidFill>
            <a:srgbClr val="7256D8"/>
          </a:solidFill>
          <a:ln w="11430">
            <a:solidFill>
              <a:srgbClr val="7256D8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666750" y="3733800"/>
            <a:ext cx="5295900" cy="2076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3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story_code_and_unit_contract: PASS</a:t>
            </a:r>
            <a:endParaRPr sz="103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3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repository_static_contract: PASS</a:t>
            </a:r>
            <a:endParaRPr sz="103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3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device_delivery: UNKNOWN</a:t>
            </a:r>
            <a:endParaRPr sz="103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3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business_system_truth: UNKNOWN</a:t>
            </a:r>
            <a:endParaRPr sz="103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3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overall: INCOMPLETE</a:t>
            </a:r>
            <a:endParaRPr sz="103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endParaRPr sz="1035"/>
          </a:p>
          <a:p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3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local_apply_state_atomicity: INCOMPLETE</a:t>
            </a:r>
            <a:endParaRPr sz="103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3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rollback_restores_last_applied_signature: FAIL_BY_INSPECTION</a:t>
            </a:r>
            <a:endParaRPr sz="103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3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rule_snapshot_distinguishes_read_failure_from_empty: FAIL_BY_INSPECTION</a:t>
            </a:r>
            <a:endParaRPr sz="103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35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handler_failure_retry_and_ui_visibility: INCOMPLETE</a:t>
            </a:r>
            <a:endParaRPr sz="1035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22" name="圆角矩形 21"/>
          <p:cNvSpPr>
            <a:spLocks noGrp="1"/>
          </p:cNvSpPr>
          <p:nvPr/>
        </p:nvSpPr>
        <p:spPr>
          <a:xfrm>
            <a:off x="6324600" y="3276600"/>
            <a:ext cx="5181600" cy="26289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6515100" y="34290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证据等级不能互相覆盖</a:t>
            </a:r>
            <a:endParaRPr sz="1275" b="1">
              <a:solidFill>
                <a:srgbClr val="2878D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6534150" y="3695700"/>
            <a:ext cx="590550" cy="38100"/>
          </a:xfrm>
          <a:prstGeom prst="rect">
            <a:avLst/>
          </a:prstGeom>
          <a:solidFill>
            <a:srgbClr val="2878D0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6515100" y="3810000"/>
            <a:ext cx="114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0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代码 / UT</a:t>
            </a:r>
            <a:endParaRPr sz="10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7734300" y="38100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91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1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能证明纯逻辑与当前测试契约</a:t>
            </a:r>
            <a:endParaRPr sz="915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圆角矩形 26"/>
          <p:cNvSpPr>
            <a:spLocks noGrp="1"/>
          </p:cNvSpPr>
          <p:nvPr/>
        </p:nvSpPr>
        <p:spPr>
          <a:xfrm>
            <a:off x="10191750" y="3810000"/>
            <a:ext cx="1104900" cy="266700"/>
          </a:xfrm>
          <a:prstGeom prst="roundRect">
            <a:avLst>
              <a:gd name="adj" fmla="val 50000"/>
            </a:avLst>
          </a:prstGeom>
          <a:solidFill>
            <a:srgbClr val="EAF7EF"/>
          </a:solidFill>
          <a:ln w="11430">
            <a:solidFill>
              <a:srgbClr val="258A58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10248900" y="3819525"/>
            <a:ext cx="9906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58A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PASS</a:t>
            </a:r>
            <a:endParaRPr sz="975" b="1">
              <a:solidFill>
                <a:srgbClr val="258A5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6515100" y="4191000"/>
            <a:ext cx="114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0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构建 / 安装</a:t>
            </a:r>
            <a:endParaRPr sz="10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7734300" y="41910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91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1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能证明包可交付到设备</a:t>
            </a:r>
            <a:endParaRPr sz="915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圆角矩形 30"/>
          <p:cNvSpPr>
            <a:spLocks noGrp="1"/>
          </p:cNvSpPr>
          <p:nvPr/>
        </p:nvSpPr>
        <p:spPr>
          <a:xfrm>
            <a:off x="10191750" y="4191000"/>
            <a:ext cx="1104900" cy="266700"/>
          </a:xfrm>
          <a:prstGeom prst="roundRect">
            <a:avLst>
              <a:gd name="adj" fmla="val 50000"/>
            </a:avLst>
          </a:prstGeom>
          <a:solidFill>
            <a:srgbClr val="FFF6DE"/>
          </a:solidFill>
          <a:ln w="11430">
            <a:solidFill>
              <a:srgbClr val="D99018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10248900" y="4200525"/>
            <a:ext cx="9906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D9901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UNKNOWN</a:t>
            </a:r>
            <a:endParaRPr sz="975" b="1">
              <a:solidFill>
                <a:srgbClr val="D9901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6515100" y="4572000"/>
            <a:ext cx="114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0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UI E2E</a:t>
            </a:r>
            <a:endParaRPr sz="10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7734300" y="45720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91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1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能证明页面流程与可见文本</a:t>
            </a:r>
            <a:endParaRPr sz="915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圆角矩形 34"/>
          <p:cNvSpPr>
            <a:spLocks noGrp="1"/>
          </p:cNvSpPr>
          <p:nvPr/>
        </p:nvSpPr>
        <p:spPr>
          <a:xfrm>
            <a:off x="10191750" y="4572000"/>
            <a:ext cx="1104900" cy="26670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1430">
            <a:solidFill>
              <a:srgbClr val="7256D8"/>
            </a:solidFill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10248900" y="4581525"/>
            <a:ext cx="9906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PARTIAL</a:t>
            </a:r>
            <a:endParaRPr sz="975" b="1">
              <a:solidFill>
                <a:srgbClr val="7256D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6515100" y="4953000"/>
            <a:ext cx="114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0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系统 getter</a:t>
            </a:r>
            <a:endParaRPr sz="10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7734300" y="49530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91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1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能证明每账号 policy / rules</a:t>
            </a:r>
            <a:endParaRPr sz="915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9" name="圆角矩形 38"/>
          <p:cNvSpPr>
            <a:spLocks noGrp="1"/>
          </p:cNvSpPr>
          <p:nvPr/>
        </p:nvSpPr>
        <p:spPr>
          <a:xfrm>
            <a:off x="10191750" y="4953000"/>
            <a:ext cx="1104900" cy="266700"/>
          </a:xfrm>
          <a:prstGeom prst="roundRect">
            <a:avLst>
              <a:gd name="adj" fmla="val 50000"/>
            </a:avLst>
          </a:prstGeom>
          <a:solidFill>
            <a:srgbClr val="FFF6DE"/>
          </a:solidFill>
          <a:ln w="11430">
            <a:solidFill>
              <a:srgbClr val="D99018"/>
            </a:solidFill>
            <a:prstDash val="solid"/>
          </a:ln>
        </p:spPr>
      </p:sp>
      <p:sp>
        <p:nvSpPr>
          <p:cNvPr id="40" name="矩形 39"/>
          <p:cNvSpPr>
            <a:spLocks noGrp="1"/>
          </p:cNvSpPr>
          <p:nvPr/>
        </p:nvSpPr>
        <p:spPr>
          <a:xfrm>
            <a:off x="10248900" y="4962525"/>
            <a:ext cx="9906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D9901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UNKNOWN</a:t>
            </a:r>
            <a:endParaRPr sz="975" b="1">
              <a:solidFill>
                <a:srgbClr val="D9901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6515100" y="5334000"/>
            <a:ext cx="114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0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业务结果</a:t>
            </a:r>
            <a:endParaRPr sz="10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2" name="矩形 41"/>
          <p:cNvSpPr>
            <a:spLocks noGrp="1"/>
          </p:cNvSpPr>
          <p:nvPr/>
        </p:nvSpPr>
        <p:spPr>
          <a:xfrm>
            <a:off x="7734300" y="53340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91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1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所有关键不变量都成立</a:t>
            </a:r>
            <a:endParaRPr sz="915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3" name="圆角矩形 42"/>
          <p:cNvSpPr>
            <a:spLocks noGrp="1"/>
          </p:cNvSpPr>
          <p:nvPr/>
        </p:nvSpPr>
        <p:spPr>
          <a:xfrm>
            <a:off x="10191750" y="5334000"/>
            <a:ext cx="1104900" cy="266700"/>
          </a:xfrm>
          <a:prstGeom prst="roundRect">
            <a:avLst>
              <a:gd name="adj" fmla="val 50000"/>
            </a:avLst>
          </a:prstGeom>
          <a:solidFill>
            <a:srgbClr val="FFF6DE"/>
          </a:solidFill>
          <a:ln w="11430">
            <a:solidFill>
              <a:srgbClr val="D99018"/>
            </a:solidFill>
            <a:prstDash val="solid"/>
          </a:ln>
        </p:spPr>
      </p:sp>
      <p:sp>
        <p:nvSpPr>
          <p:cNvPr id="44" name="矩形 43"/>
          <p:cNvSpPr>
            <a:spLocks noGrp="1"/>
          </p:cNvSpPr>
          <p:nvPr/>
        </p:nvSpPr>
        <p:spPr>
          <a:xfrm>
            <a:off x="10248900" y="5343525"/>
            <a:ext cx="9906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D9901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INCOMPLETE</a:t>
            </a:r>
            <a:endParaRPr sz="975" b="1">
              <a:solidFill>
                <a:srgbClr val="D9901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5" name="矩形 44"/>
          <p:cNvSpPr>
            <a:spLocks noGrp="1"/>
          </p:cNvSpPr>
          <p:nvPr/>
        </p:nvSpPr>
        <p:spPr>
          <a:xfrm>
            <a:off x="514350" y="6534150"/>
            <a:ext cx="9620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79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9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真实产物：case-materials/mdm/06-测试验收报告.md；系统回读缺口：evidence/mdm/firewall-runtime-readback.md</a:t>
            </a:r>
            <a:endParaRPr sz="79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" name="圆角矩形 45"/>
          <p:cNvSpPr>
            <a:spLocks noGrp="1"/>
          </p:cNvSpPr>
          <p:nvPr/>
        </p:nvSpPr>
        <p:spPr>
          <a:xfrm>
            <a:off x="10382250" y="6477000"/>
            <a:ext cx="1295400" cy="266700"/>
          </a:xfrm>
          <a:prstGeom prst="roundRect">
            <a:avLst>
              <a:gd name="adj" fmla="val 50000"/>
            </a:avLst>
          </a:prstGeom>
          <a:solidFill>
            <a:srgbClr val="EAF7EF"/>
          </a:solidFill>
          <a:ln w="11430">
            <a:solidFill>
              <a:srgbClr val="258A58"/>
            </a:solidFill>
            <a:prstDash val="solid"/>
          </a:ln>
        </p:spPr>
      </p:sp>
      <p:sp>
        <p:nvSpPr>
          <p:cNvPr id="47" name="矩形 46"/>
          <p:cNvSpPr>
            <a:spLocks noGrp="1"/>
          </p:cNvSpPr>
          <p:nvPr/>
        </p:nvSpPr>
        <p:spPr>
          <a:xfrm>
            <a:off x="10439400" y="6486525"/>
            <a:ext cx="11811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58A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RUN FACT</a:t>
            </a:r>
            <a:endParaRPr sz="975" b="1">
              <a:solidFill>
                <a:srgbClr val="258A5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0" name="矩形 19"/>
          <p:cNvSpPr>
            <a:spLocks noGrp="1"/>
          </p:cNvSpPr>
          <p:nvPr/>
        </p:nvSpPr>
        <p:spPr>
          <a:xfrm>
            <a:off x="514350" y="1714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MDM 案例｜真实交付链</a:t>
            </a:r>
            <a:endParaRPr sz="975" b="1">
              <a:solidFill>
                <a:srgbClr val="E764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334750" y="1714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23</a:t>
            </a:r>
            <a:endParaRPr sz="975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419100"/>
            <a:ext cx="1066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MCP 把 AI 接到真实环境：本页保留给讲师已有材料</a:t>
            </a:r>
            <a:endParaRPr sz="21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866775"/>
            <a:ext cx="1066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本节只承担转场：前面定义“验什么”，后面用工具链真正执行并留下证据</a:t>
            </a:r>
            <a:endParaRPr sz="1125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1152525"/>
            <a:ext cx="11163300" cy="14288"/>
          </a:xfrm>
          <a:prstGeom prst="rect">
            <a:avLst/>
          </a:prstGeom>
          <a:solidFill>
            <a:srgbClr val="D7E0EA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6" name="圆角矩形 5"/>
          <p:cNvSpPr>
            <a:spLocks noGrp="1"/>
          </p:cNvSpPr>
          <p:nvPr/>
        </p:nvSpPr>
        <p:spPr>
          <a:xfrm>
            <a:off x="666750" y="1409700"/>
            <a:ext cx="10858500" cy="382905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1430">
            <a:solidFill>
              <a:srgbClr val="7256D8"/>
            </a:solidFill>
            <a:prstDash val="solid"/>
          </a:ln>
        </p:spPr>
      </p:sp>
      <p:sp>
        <p:nvSpPr>
          <p:cNvPr id="7" name="圆角矩形 6"/>
          <p:cNvSpPr>
            <a:spLocks noGrp="1"/>
          </p:cNvSpPr>
          <p:nvPr/>
        </p:nvSpPr>
        <p:spPr>
          <a:xfrm>
            <a:off x="876300" y="1600200"/>
            <a:ext cx="1619250" cy="26670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1430">
            <a:solidFill>
              <a:srgbClr val="7256D8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933450" y="1609725"/>
            <a:ext cx="15049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讲师材料粘贴区</a:t>
            </a:r>
            <a:endParaRPr sz="975" b="1">
              <a:solidFill>
                <a:srgbClr val="7256D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047750" y="2647950"/>
            <a:ext cx="10096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【保留空白】MCP 架构 / 工具清单 / Connect → Build → Install → Operate → Observe</a:t>
            </a:r>
            <a:endParaRPr sz="1800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1047750" y="3352800"/>
            <a:ext cx="1009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建议放：真实工具调用截图、设备连接状态、build/install 输出、UI 操作与日志采集入口</a:t>
            </a:r>
            <a:endParaRPr sz="1125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圆角矩形 10"/>
          <p:cNvSpPr>
            <a:spLocks noGrp="1"/>
          </p:cNvSpPr>
          <p:nvPr/>
        </p:nvSpPr>
        <p:spPr>
          <a:xfrm>
            <a:off x="857250" y="5467350"/>
            <a:ext cx="3238500" cy="514350"/>
          </a:xfrm>
          <a:prstGeom prst="roundRect">
            <a:avLst>
              <a:gd name="adj" fmla="val 22222"/>
            </a:avLst>
          </a:prstGeom>
          <a:solidFill>
            <a:srgbClr val="EAF3FD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952500" y="5543550"/>
            <a:ext cx="3048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前页：验收对象与证据等级已定义</a:t>
            </a:r>
            <a:endParaRPr sz="1050" b="1">
              <a:solidFill>
                <a:srgbClr val="2878D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圆角矩形 12"/>
          <p:cNvSpPr>
            <a:spLocks noGrp="1"/>
          </p:cNvSpPr>
          <p:nvPr/>
        </p:nvSpPr>
        <p:spPr>
          <a:xfrm>
            <a:off x="4457700" y="5467350"/>
            <a:ext cx="3238500" cy="514350"/>
          </a:xfrm>
          <a:prstGeom prst="roundRect">
            <a:avLst>
              <a:gd name="adj" fmla="val 22222"/>
            </a:avLst>
          </a:prstGeom>
          <a:solidFill>
            <a:srgbClr val="F1EDFF"/>
          </a:solidFill>
          <a:ln w="11430">
            <a:solidFill>
              <a:srgbClr val="7256D8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4552950" y="5543550"/>
            <a:ext cx="3048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本页：工具接入真实环境</a:t>
            </a:r>
            <a:endParaRPr sz="1050" b="1">
              <a:solidFill>
                <a:srgbClr val="7256D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圆角矩形 14"/>
          <p:cNvSpPr>
            <a:spLocks noGrp="1"/>
          </p:cNvSpPr>
          <p:nvPr/>
        </p:nvSpPr>
        <p:spPr>
          <a:xfrm>
            <a:off x="8058150" y="5467350"/>
            <a:ext cx="3238500" cy="514350"/>
          </a:xfrm>
          <a:prstGeom prst="roundRect">
            <a:avLst>
              <a:gd name="adj" fmla="val 22222"/>
            </a:avLst>
          </a:prstGeom>
          <a:solidFill>
            <a:srgbClr val="EAF3FD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8153400" y="5543550"/>
            <a:ext cx="3048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下页：Case JSON 变成可执行证据链</a:t>
            </a:r>
            <a:endParaRPr sz="1050" b="1">
              <a:solidFill>
                <a:srgbClr val="2878D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514350" y="6534150"/>
            <a:ext cx="9620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79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9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【补充素材】替换为讲师已有 MCP 介绍页；不要用工具 action success 代替业务 assertion</a:t>
            </a:r>
            <a:endParaRPr sz="79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圆角矩形 17"/>
          <p:cNvSpPr>
            <a:spLocks noGrp="1"/>
          </p:cNvSpPr>
          <p:nvPr/>
        </p:nvSpPr>
        <p:spPr>
          <a:xfrm>
            <a:off x="10382250" y="6477000"/>
            <a:ext cx="1295400" cy="26670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1430">
            <a:solidFill>
              <a:srgbClr val="7256D8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10439400" y="6486525"/>
            <a:ext cx="11811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REPO FACT</a:t>
            </a:r>
            <a:endParaRPr sz="975" b="1">
              <a:solidFill>
                <a:srgbClr val="7256D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7" name="矩形 46"/>
          <p:cNvSpPr>
            <a:spLocks noGrp="1"/>
          </p:cNvSpPr>
          <p:nvPr/>
        </p:nvSpPr>
        <p:spPr>
          <a:xfrm>
            <a:off x="514350" y="1714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MDM 案例｜真实交付链</a:t>
            </a:r>
            <a:endParaRPr sz="975" b="1">
              <a:solidFill>
                <a:srgbClr val="E764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334750" y="1714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24</a:t>
            </a:r>
            <a:endParaRPr sz="975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419100"/>
            <a:ext cx="1066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E2E 第一页：一个 Case JSON 如何走到 MCP / HDC，再生成结果与证据</a:t>
            </a:r>
            <a:endParaRPr sz="19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866775"/>
            <a:ext cx="1066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课堂动作：打开真实文件，沿五个锚点完成一次静态穿刺</a:t>
            </a:r>
            <a:endParaRPr sz="1125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1152525"/>
            <a:ext cx="11163300" cy="14288"/>
          </a:xfrm>
          <a:prstGeom prst="rect">
            <a:avLst/>
          </a:prstGeom>
          <a:solidFill>
            <a:srgbClr val="D7E0EA"/>
          </a:solidFill>
          <a:ln w="11430">
            <a:solidFill>
              <a:srgbClr val="D7E0EA"/>
            </a:solidFill>
            <a:prstDash val="solid"/>
          </a:ln>
        </p:spPr>
      </p:sp>
      <p:pic>
        <p:nvPicPr>
          <p:cNvPr id="52" name="图片 5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1070" y="1371600"/>
            <a:ext cx="8835560" cy="1809750"/>
          </a:xfrm>
          <a:prstGeom prst="roundRect">
            <a:avLst>
              <a:gd name="adj" fmla="val 6316"/>
            </a:avLst>
          </a:prstGeom>
        </p:spPr>
      </p:pic>
      <p:sp>
        <p:nvSpPr>
          <p:cNvPr id="7" name="矩形 6"/>
          <p:cNvSpPr>
            <a:spLocks noGrp="1"/>
          </p:cNvSpPr>
          <p:nvPr/>
        </p:nvSpPr>
        <p:spPr>
          <a:xfrm>
            <a:off x="533400" y="337185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真实代码路由</a:t>
            </a:r>
            <a:endParaRPr sz="1275" b="1">
              <a:solidFill>
                <a:srgbClr val="2878D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552450" y="3638550"/>
            <a:ext cx="590550" cy="38100"/>
          </a:xfrm>
          <a:prstGeom prst="rect">
            <a:avLst/>
          </a:prstGeom>
          <a:solidFill>
            <a:srgbClr val="2878D0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9" name="圆角矩形 8"/>
          <p:cNvSpPr>
            <a:spLocks noGrp="1"/>
          </p:cNvSpPr>
          <p:nvPr/>
        </p:nvSpPr>
        <p:spPr>
          <a:xfrm>
            <a:off x="533400" y="3733800"/>
            <a:ext cx="1657350" cy="742950"/>
          </a:xfrm>
          <a:prstGeom prst="roundRect">
            <a:avLst>
              <a:gd name="adj" fmla="val 15385"/>
            </a:avLst>
          </a:prstGeom>
          <a:solidFill>
            <a:srgbClr val="EAF3FD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609600" y="3810000"/>
            <a:ext cx="1504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4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 Case JSON</a:t>
            </a:r>
            <a:endParaRPr sz="94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609600" y="4076700"/>
            <a:ext cx="1504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715" b="0">
                <a:solidFill>
                  <a:srgbClr val="64748B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715" b="0">
                <a:solidFill>
                  <a:srgbClr val="64748B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cases/firewall/rule_create.json</a:t>
            </a:r>
            <a:endParaRPr sz="715" b="0">
              <a:solidFill>
                <a:srgbClr val="64748B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2190750" y="3924300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1298"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1650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圆角矩形 12"/>
          <p:cNvSpPr>
            <a:spLocks noGrp="1"/>
          </p:cNvSpPr>
          <p:nvPr/>
        </p:nvSpPr>
        <p:spPr>
          <a:xfrm>
            <a:off x="2381250" y="3733800"/>
            <a:ext cx="1657350" cy="742950"/>
          </a:xfrm>
          <a:prstGeom prst="roundRect">
            <a:avLst>
              <a:gd name="adj" fmla="val 15385"/>
            </a:avLst>
          </a:prstGeom>
          <a:solidFill>
            <a:srgbClr val="E8F6F3"/>
          </a:solidFill>
          <a:ln w="11430">
            <a:solidFill>
              <a:srgbClr val="248C82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2457450" y="3810000"/>
            <a:ext cx="1504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4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 Normalize</a:t>
            </a:r>
            <a:endParaRPr sz="94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2457450" y="4076700"/>
            <a:ext cx="1504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715" b="0">
                <a:solidFill>
                  <a:srgbClr val="64748B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715" b="0">
                <a:solidFill>
                  <a:srgbClr val="64748B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core/normalizer.py</a:t>
            </a:r>
            <a:endParaRPr sz="715" b="0">
              <a:solidFill>
                <a:srgbClr val="64748B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4038600" y="3924300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1298"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1650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圆角矩形 16"/>
          <p:cNvSpPr>
            <a:spLocks noGrp="1"/>
          </p:cNvSpPr>
          <p:nvPr/>
        </p:nvSpPr>
        <p:spPr>
          <a:xfrm>
            <a:off x="4229100" y="3733800"/>
            <a:ext cx="1657350" cy="742950"/>
          </a:xfrm>
          <a:prstGeom prst="roundRect">
            <a:avLst>
              <a:gd name="adj" fmla="val 15385"/>
            </a:avLst>
          </a:prstGeom>
          <a:solidFill>
            <a:srgbClr val="EAF3FD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4305300" y="3810000"/>
            <a:ext cx="1504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4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Runner</a:t>
            </a:r>
            <a:endParaRPr sz="94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4305300" y="4076700"/>
            <a:ext cx="1504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715" b="0">
                <a:solidFill>
                  <a:srgbClr val="64748B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715" b="0">
                <a:solidFill>
                  <a:srgbClr val="64748B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core/runner.py</a:t>
            </a:r>
            <a:endParaRPr sz="715" b="0">
              <a:solidFill>
                <a:srgbClr val="64748B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5886450" y="3924300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1298"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1650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圆角矩形 20"/>
          <p:cNvSpPr>
            <a:spLocks noGrp="1"/>
          </p:cNvSpPr>
          <p:nvPr/>
        </p:nvSpPr>
        <p:spPr>
          <a:xfrm>
            <a:off x="6076950" y="3733800"/>
            <a:ext cx="1657350" cy="742950"/>
          </a:xfrm>
          <a:prstGeom prst="roundRect">
            <a:avLst>
              <a:gd name="adj" fmla="val 15385"/>
            </a:avLst>
          </a:prstGeom>
          <a:solidFill>
            <a:srgbClr val="E8F6F3"/>
          </a:solidFill>
          <a:ln w="11430">
            <a:solidFill>
              <a:srgbClr val="248C82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6153150" y="3810000"/>
            <a:ext cx="1504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4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 Flow</a:t>
            </a:r>
            <a:endParaRPr sz="94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6153150" y="4076700"/>
            <a:ext cx="1504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715" b="0">
                <a:solidFill>
                  <a:srgbClr val="64748B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715" b="0">
                <a:solidFill>
                  <a:srgbClr val="64748B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adapters/.../flows/executor.py</a:t>
            </a:r>
            <a:endParaRPr sz="715" b="0">
              <a:solidFill>
                <a:srgbClr val="64748B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7734300" y="3924300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1298"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1650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圆角矩形 24"/>
          <p:cNvSpPr>
            <a:spLocks noGrp="1"/>
          </p:cNvSpPr>
          <p:nvPr/>
        </p:nvSpPr>
        <p:spPr>
          <a:xfrm>
            <a:off x="7924800" y="3733800"/>
            <a:ext cx="1657350" cy="742950"/>
          </a:xfrm>
          <a:prstGeom prst="roundRect">
            <a:avLst>
              <a:gd name="adj" fmla="val 15385"/>
            </a:avLst>
          </a:prstGeom>
          <a:solidFill>
            <a:srgbClr val="EAF3FD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8001000" y="3810000"/>
            <a:ext cx="1504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4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05 Driver</a:t>
            </a:r>
            <a:endParaRPr sz="94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8001000" y="4076700"/>
            <a:ext cx="1504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715" b="0">
                <a:solidFill>
                  <a:srgbClr val="64748B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715" b="0">
                <a:solidFill>
                  <a:srgbClr val="64748B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drivers/mcp_driver.py / hdc_driver.py</a:t>
            </a:r>
            <a:endParaRPr sz="715" b="0">
              <a:solidFill>
                <a:srgbClr val="64748B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9582150" y="3924300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1298"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1650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圆角矩形 28"/>
          <p:cNvSpPr>
            <a:spLocks noGrp="1"/>
          </p:cNvSpPr>
          <p:nvPr/>
        </p:nvSpPr>
        <p:spPr>
          <a:xfrm>
            <a:off x="9772650" y="3733800"/>
            <a:ext cx="1657350" cy="742950"/>
          </a:xfrm>
          <a:prstGeom prst="roundRect">
            <a:avLst>
              <a:gd name="adj" fmla="val 15385"/>
            </a:avLst>
          </a:prstGeom>
          <a:solidFill>
            <a:srgbClr val="E8F6F3"/>
          </a:solidFill>
          <a:ln w="11430">
            <a:solidFill>
              <a:srgbClr val="248C82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9848850" y="3810000"/>
            <a:ext cx="1504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4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06 Assertion</a:t>
            </a:r>
            <a:endParaRPr sz="94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9848850" y="4076700"/>
            <a:ext cx="1504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715" b="0">
                <a:solidFill>
                  <a:srgbClr val="64748B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715" b="0">
                <a:solidFill>
                  <a:srgbClr val="64748B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assertions/executor.py</a:t>
            </a:r>
            <a:endParaRPr sz="715" b="0">
              <a:solidFill>
                <a:srgbClr val="64748B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32" name="圆角矩形 31"/>
          <p:cNvSpPr>
            <a:spLocks noGrp="1"/>
          </p:cNvSpPr>
          <p:nvPr/>
        </p:nvSpPr>
        <p:spPr>
          <a:xfrm>
            <a:off x="533400" y="4762500"/>
            <a:ext cx="3371850" cy="121920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33" name="圆角矩形 32"/>
          <p:cNvSpPr>
            <a:spLocks noGrp="1"/>
          </p:cNvSpPr>
          <p:nvPr/>
        </p:nvSpPr>
        <p:spPr>
          <a:xfrm>
            <a:off x="666750" y="4876800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EAF3FD"/>
          </a:solidFill>
          <a:ln w="11430">
            <a:solidFill>
              <a:srgbClr val="2878D0"/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723900" y="4886325"/>
            <a:ext cx="1314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878D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输入文档</a:t>
            </a:r>
            <a:endParaRPr sz="975" b="1">
              <a:solidFill>
                <a:srgbClr val="2878D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676275" y="5219700"/>
            <a:ext cx="30861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4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94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rule_create.json</a:t>
            </a:r>
            <a:endParaRPr sz="94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8000"/>
              </a:lnSpc>
              <a:buNone/>
              <a:defRPr sz="94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94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operation: entity.create</a:t>
            </a:r>
            <a:endParaRPr sz="94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8000"/>
              </a:lnSpc>
              <a:buNone/>
              <a:defRPr sz="94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94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entity: firewall.rule.domain</a:t>
            </a:r>
            <a:endParaRPr sz="94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8000"/>
              </a:lnSpc>
              <a:buNone/>
              <a:defRPr sz="94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94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assert: text_presence</a:t>
            </a:r>
            <a:endParaRPr sz="94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36" name="圆角矩形 35"/>
          <p:cNvSpPr>
            <a:spLocks noGrp="1"/>
          </p:cNvSpPr>
          <p:nvPr/>
        </p:nvSpPr>
        <p:spPr>
          <a:xfrm>
            <a:off x="4095750" y="4762500"/>
            <a:ext cx="3371850" cy="121920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37" name="圆角矩形 36"/>
          <p:cNvSpPr>
            <a:spLocks noGrp="1"/>
          </p:cNvSpPr>
          <p:nvPr/>
        </p:nvSpPr>
        <p:spPr>
          <a:xfrm>
            <a:off x="4229100" y="4876800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1430">
            <a:solidFill>
              <a:srgbClr val="7256D8"/>
            </a:solidFill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4286250" y="4886325"/>
            <a:ext cx="1314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执行文档</a:t>
            </a:r>
            <a:endParaRPr sz="975" b="1">
              <a:solidFill>
                <a:srgbClr val="7256D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4238625" y="5219700"/>
            <a:ext cx="30861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4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94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ACTION_TEMPLATES</a:t>
            </a:r>
            <a:endParaRPr sz="94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8000"/>
              </a:lnSpc>
              <a:buNone/>
              <a:defRPr sz="94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94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open_firewall_rules_page</a:t>
            </a:r>
            <a:endParaRPr sz="94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8000"/>
              </a:lnSpc>
              <a:buNone/>
              <a:defRPr sz="94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94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submit_firewall_rule_form</a:t>
            </a:r>
            <a:endParaRPr sz="94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8000"/>
              </a:lnSpc>
              <a:buNone/>
              <a:defRPr sz="94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94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resolve_operation_binding</a:t>
            </a:r>
            <a:endParaRPr sz="94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40" name="圆角矩形 39"/>
          <p:cNvSpPr>
            <a:spLocks noGrp="1"/>
          </p:cNvSpPr>
          <p:nvPr/>
        </p:nvSpPr>
        <p:spPr>
          <a:xfrm>
            <a:off x="7658100" y="4762500"/>
            <a:ext cx="3886200" cy="121920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41" name="圆角矩形 40"/>
          <p:cNvSpPr>
            <a:spLocks noGrp="1"/>
          </p:cNvSpPr>
          <p:nvPr/>
        </p:nvSpPr>
        <p:spPr>
          <a:xfrm>
            <a:off x="7791450" y="4876800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EAF7EF"/>
          </a:solidFill>
          <a:ln w="11430">
            <a:solidFill>
              <a:srgbClr val="258A58"/>
            </a:solidFill>
            <a:prstDash val="solid"/>
          </a:ln>
        </p:spPr>
      </p:sp>
      <p:sp>
        <p:nvSpPr>
          <p:cNvPr id="42" name="矩形 41"/>
          <p:cNvSpPr>
            <a:spLocks noGrp="1"/>
          </p:cNvSpPr>
          <p:nvPr/>
        </p:nvSpPr>
        <p:spPr>
          <a:xfrm>
            <a:off x="7848600" y="4886325"/>
            <a:ext cx="1314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58A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生成文档 / 证据</a:t>
            </a:r>
            <a:endParaRPr sz="975" b="1">
              <a:solidFill>
                <a:srgbClr val="258A5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3" name="矩形 42"/>
          <p:cNvSpPr>
            <a:spLocks noGrp="1"/>
          </p:cNvSpPr>
          <p:nvPr/>
        </p:nvSpPr>
        <p:spPr>
          <a:xfrm>
            <a:off x="7800975" y="5219700"/>
            <a:ext cx="36004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4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94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CaseResult(status, failure_stage)</a:t>
            </a:r>
            <a:endParaRPr sz="94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8000"/>
              </a:lnSpc>
              <a:buNone/>
              <a:defRPr sz="94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94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primary_evidence / secondary_evidence</a:t>
            </a:r>
            <a:endParaRPr sz="94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8000"/>
              </a:lnSpc>
              <a:buNone/>
              <a:defRPr sz="94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94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JSON report + Markdown report + screenshots/logs</a:t>
            </a:r>
            <a:endParaRPr sz="94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44" name="矩形 43"/>
          <p:cNvSpPr>
            <a:spLocks noGrp="1"/>
          </p:cNvSpPr>
          <p:nvPr/>
        </p:nvSpPr>
        <p:spPr>
          <a:xfrm>
            <a:off x="514350" y="6534150"/>
            <a:ext cx="9620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79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9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真实框架：security_tool/scripts/e2e/；设计文档：docs/04-测试文档/e2e测试/端到端测试框架设计.md</a:t>
            </a:r>
            <a:endParaRPr sz="79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5" name="圆角矩形 44"/>
          <p:cNvSpPr>
            <a:spLocks noGrp="1"/>
          </p:cNvSpPr>
          <p:nvPr/>
        </p:nvSpPr>
        <p:spPr>
          <a:xfrm>
            <a:off x="10382250" y="6477000"/>
            <a:ext cx="1295400" cy="26670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1430">
            <a:solidFill>
              <a:srgbClr val="7256D8"/>
            </a:solidFill>
            <a:prstDash val="solid"/>
          </a:ln>
        </p:spPr>
      </p:sp>
      <p:sp>
        <p:nvSpPr>
          <p:cNvPr id="46" name="矩形 45"/>
          <p:cNvSpPr>
            <a:spLocks noGrp="1"/>
          </p:cNvSpPr>
          <p:nvPr/>
        </p:nvSpPr>
        <p:spPr>
          <a:xfrm>
            <a:off x="10439400" y="6486525"/>
            <a:ext cx="11811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REPO FACT</a:t>
            </a:r>
            <a:endParaRPr sz="975" b="1">
              <a:solidFill>
                <a:srgbClr val="7256D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9" name="矩形 38"/>
          <p:cNvSpPr>
            <a:spLocks noGrp="1"/>
          </p:cNvSpPr>
          <p:nvPr/>
        </p:nvSpPr>
        <p:spPr>
          <a:xfrm>
            <a:off x="514350" y="1714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MDM 案例｜真实交付链</a:t>
            </a:r>
            <a:endParaRPr sz="975" b="1">
              <a:solidFill>
                <a:srgbClr val="E764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334750" y="1714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25</a:t>
            </a:r>
            <a:endParaRPr sz="975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419100"/>
            <a:ext cx="1066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E2E 第二页：跑完用例后，必须说明它证明了什么、还缺什么</a:t>
            </a:r>
            <a:endParaRPr sz="21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33400" y="866775"/>
            <a:ext cx="1066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示例：DOMAIN rule 创建与重复创建失败；截图只是证据的一层</a:t>
            </a:r>
            <a:endParaRPr sz="1125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1152525"/>
            <a:ext cx="11163300" cy="14288"/>
          </a:xfrm>
          <a:prstGeom prst="rect">
            <a:avLst/>
          </a:prstGeom>
          <a:solidFill>
            <a:srgbClr val="D7E0EA"/>
          </a:solidFill>
          <a:ln w="11430">
            <a:solidFill>
              <a:srgbClr val="D7E0EA"/>
            </a:solidFill>
            <a:prstDash val="solid"/>
          </a:ln>
        </p:spPr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738" y="1371600"/>
            <a:ext cx="3514725" cy="2343150"/>
          </a:xfrm>
          <a:prstGeom prst="roundRect">
            <a:avLst>
              <a:gd name="adj" fmla="val 4878"/>
            </a:avLst>
          </a:prstGeom>
        </p:spPr>
      </p:pic>
      <p:pic>
        <p:nvPicPr>
          <p:cNvPr id="45" name="图片 4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8638" y="1371600"/>
            <a:ext cx="3514725" cy="2343150"/>
          </a:xfrm>
          <a:prstGeom prst="roundRect">
            <a:avLst>
              <a:gd name="adj" fmla="val 4878"/>
            </a:avLst>
          </a:prstGeom>
        </p:spPr>
      </p:pic>
      <p:sp>
        <p:nvSpPr>
          <p:cNvPr id="8" name="圆角矩形 7"/>
          <p:cNvSpPr>
            <a:spLocks noGrp="1"/>
          </p:cNvSpPr>
          <p:nvPr/>
        </p:nvSpPr>
        <p:spPr>
          <a:xfrm>
            <a:off x="8077200" y="1371600"/>
            <a:ext cx="3467100" cy="2343150"/>
          </a:xfrm>
          <a:prstGeom prst="roundRect">
            <a:avLst>
              <a:gd name="adj" fmla="val 4878"/>
            </a:avLst>
          </a:prstGeom>
          <a:solidFill>
            <a:srgbClr val="F1F4F8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8210550" y="1466850"/>
            <a:ext cx="3200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7256D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CaseResult / acceptance</a:t>
            </a:r>
            <a:endParaRPr sz="975" b="1">
              <a:solidFill>
                <a:srgbClr val="7256D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8210550" y="1733550"/>
            <a:ext cx="514350" cy="28575"/>
          </a:xfrm>
          <a:prstGeom prst="rect">
            <a:avLst/>
          </a:prstGeom>
          <a:solidFill>
            <a:srgbClr val="7256D8"/>
          </a:solidFill>
          <a:ln w="11430">
            <a:solidFill>
              <a:srgbClr val="7256D8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8210550" y="1828800"/>
            <a:ext cx="3200400" cy="1790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driver_action: PASS</a:t>
            </a:r>
            <a:endParaRPr sz="100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ui_text_presence: PASS</a:t>
            </a:r>
            <a:endParaRPr sz="100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duplicate_failure_ui: PASS</a:t>
            </a:r>
            <a:endParaRPr sz="100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artifact.screenshot: PRESENT</a:t>
            </a:r>
            <a:endParaRPr sz="100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internal_getPolicy/listRules: PRESENT</a:t>
            </a:r>
            <a:endParaRPr sz="100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acceptance_bridge.get_runtime_state: MISSING</a:t>
            </a:r>
            <a:endParaRPr sz="100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system_policy_rules: UNKNOWN</a:t>
            </a:r>
            <a:endParaRPr sz="100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0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overall: INCOMPLETE</a:t>
            </a:r>
            <a:endParaRPr sz="100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533400" y="394335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分层判定</a:t>
            </a:r>
            <a:endParaRPr sz="1275" b="1">
              <a:solidFill>
                <a:srgbClr val="E764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552450" y="4210050"/>
            <a:ext cx="590550" cy="38100"/>
          </a:xfrm>
          <a:prstGeom prst="rect">
            <a:avLst/>
          </a:prstGeom>
          <a:solidFill>
            <a:srgbClr val="E7644A"/>
          </a:solidFill>
          <a:ln w="11430">
            <a:solidFill>
              <a:srgbClr val="E7644A"/>
            </a:solidFill>
            <a:prstDash val="solid"/>
          </a:ln>
        </p:spPr>
      </p:sp>
      <p:sp>
        <p:nvSpPr>
          <p:cNvPr id="14" name="圆角矩形 13"/>
          <p:cNvSpPr>
            <a:spLocks noGrp="1"/>
          </p:cNvSpPr>
          <p:nvPr/>
        </p:nvSpPr>
        <p:spPr>
          <a:xfrm>
            <a:off x="533400" y="4305300"/>
            <a:ext cx="2571750" cy="914400"/>
          </a:xfrm>
          <a:prstGeom prst="roundRect">
            <a:avLst>
              <a:gd name="adj" fmla="val 12500"/>
            </a:avLst>
          </a:prstGeom>
          <a:solidFill>
            <a:srgbClr val="EAF7EF"/>
          </a:solidFill>
          <a:ln w="11430">
            <a:solidFill>
              <a:srgbClr val="258A58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666750" y="4410075"/>
            <a:ext cx="76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动作层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圆角矩形 15"/>
          <p:cNvSpPr>
            <a:spLocks noGrp="1"/>
          </p:cNvSpPr>
          <p:nvPr/>
        </p:nvSpPr>
        <p:spPr>
          <a:xfrm>
            <a:off x="1905000" y="4362450"/>
            <a:ext cx="104775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258A58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1962150" y="4371975"/>
            <a:ext cx="933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58A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PASS</a:t>
            </a:r>
            <a:endParaRPr sz="975" b="1">
              <a:solidFill>
                <a:srgbClr val="258A5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666750" y="4714875"/>
            <a:ext cx="2305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1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1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MCP/HDC 执行表单与点击</a:t>
            </a:r>
            <a:endParaRPr sz="915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圆角矩形 18"/>
          <p:cNvSpPr>
            <a:spLocks noGrp="1"/>
          </p:cNvSpPr>
          <p:nvPr/>
        </p:nvSpPr>
        <p:spPr>
          <a:xfrm>
            <a:off x="3276600" y="4305300"/>
            <a:ext cx="2571750" cy="914400"/>
          </a:xfrm>
          <a:prstGeom prst="roundRect">
            <a:avLst>
              <a:gd name="adj" fmla="val 12500"/>
            </a:avLst>
          </a:prstGeom>
          <a:solidFill>
            <a:srgbClr val="EAF7EF"/>
          </a:solidFill>
          <a:ln w="11430">
            <a:solidFill>
              <a:srgbClr val="258A58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3409950" y="4410075"/>
            <a:ext cx="76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UI 层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圆角矩形 20"/>
          <p:cNvSpPr>
            <a:spLocks noGrp="1"/>
          </p:cNvSpPr>
          <p:nvPr/>
        </p:nvSpPr>
        <p:spPr>
          <a:xfrm>
            <a:off x="4648200" y="4362450"/>
            <a:ext cx="104775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258A58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4705350" y="4371975"/>
            <a:ext cx="933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58A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PASS</a:t>
            </a:r>
            <a:endParaRPr sz="975" b="1">
              <a:solidFill>
                <a:srgbClr val="258A5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3409950" y="4714875"/>
            <a:ext cx="2305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1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1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文本出现、错误提示、截图</a:t>
            </a:r>
            <a:endParaRPr sz="915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圆角矩形 23"/>
          <p:cNvSpPr>
            <a:spLocks noGrp="1"/>
          </p:cNvSpPr>
          <p:nvPr/>
        </p:nvSpPr>
        <p:spPr>
          <a:xfrm>
            <a:off x="6019800" y="4305300"/>
            <a:ext cx="2571750" cy="914400"/>
          </a:xfrm>
          <a:prstGeom prst="roundRect">
            <a:avLst>
              <a:gd name="adj" fmla="val 12500"/>
            </a:avLst>
          </a:prstGeom>
          <a:solidFill>
            <a:srgbClr val="FFF6DE"/>
          </a:solidFill>
          <a:ln w="11430">
            <a:solidFill>
              <a:srgbClr val="D99018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6153150" y="4410075"/>
            <a:ext cx="76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系统层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圆角矩形 25"/>
          <p:cNvSpPr>
            <a:spLocks noGrp="1"/>
          </p:cNvSpPr>
          <p:nvPr/>
        </p:nvSpPr>
        <p:spPr>
          <a:xfrm>
            <a:off x="7391400" y="4362450"/>
            <a:ext cx="104775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D99018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7448550" y="4371975"/>
            <a:ext cx="933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D9901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UNKNOWN</a:t>
            </a:r>
            <a:endParaRPr sz="975" b="1">
              <a:solidFill>
                <a:srgbClr val="D9901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6153150" y="4714875"/>
            <a:ext cx="2305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1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1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每账号 policy / rules 结构化 readback</a:t>
            </a:r>
            <a:endParaRPr sz="915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圆角矩形 28"/>
          <p:cNvSpPr>
            <a:spLocks noGrp="1"/>
          </p:cNvSpPr>
          <p:nvPr/>
        </p:nvSpPr>
        <p:spPr>
          <a:xfrm>
            <a:off x="8763000" y="4305300"/>
            <a:ext cx="2571750" cy="914400"/>
          </a:xfrm>
          <a:prstGeom prst="roundRect">
            <a:avLst>
              <a:gd name="adj" fmla="val 12500"/>
            </a:avLst>
          </a:prstGeom>
          <a:solidFill>
            <a:srgbClr val="FFF0EC"/>
          </a:solidFill>
          <a:ln w="11430">
            <a:solidFill>
              <a:srgbClr val="E7644A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8896350" y="4410075"/>
            <a:ext cx="76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业务层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圆角矩形 30"/>
          <p:cNvSpPr>
            <a:spLocks noGrp="1"/>
          </p:cNvSpPr>
          <p:nvPr/>
        </p:nvSpPr>
        <p:spPr>
          <a:xfrm>
            <a:off x="10134600" y="4362450"/>
            <a:ext cx="104775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E7644A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10191750" y="4371975"/>
            <a:ext cx="933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E764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INCOMPLETE</a:t>
            </a:r>
            <a:endParaRPr sz="975" b="1">
              <a:solidFill>
                <a:srgbClr val="E764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8896350" y="4714875"/>
            <a:ext cx="2305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1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15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账号集合与防火墙状态最终收敛</a:t>
            </a:r>
            <a:endParaRPr sz="915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圆角矩形 33"/>
          <p:cNvSpPr>
            <a:spLocks noGrp="1"/>
          </p:cNvSpPr>
          <p:nvPr/>
        </p:nvSpPr>
        <p:spPr>
          <a:xfrm>
            <a:off x="533400" y="5448300"/>
            <a:ext cx="10801350" cy="552450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685800" y="55626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9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9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验收报告要留下：case.json · result.json · report.md · screenshot/log · commit/包版本 · PASS/FAIL/UNKNOWN 解释</a:t>
            </a:r>
            <a:endParaRPr sz="109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514350" y="6534150"/>
            <a:ext cx="9620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79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90" b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真实截图：harmonyos-sdd-workshop-media/mdm/；证据边界：evidence/mdm/firewall-runtime-readback.md</a:t>
            </a:r>
            <a:endParaRPr sz="790" b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圆角矩形 36"/>
          <p:cNvSpPr>
            <a:spLocks noGrp="1"/>
          </p:cNvSpPr>
          <p:nvPr/>
        </p:nvSpPr>
        <p:spPr>
          <a:xfrm>
            <a:off x="10382250" y="6477000"/>
            <a:ext cx="1295400" cy="266700"/>
          </a:xfrm>
          <a:prstGeom prst="roundRect">
            <a:avLst>
              <a:gd name="adj" fmla="val 50000"/>
            </a:avLst>
          </a:prstGeom>
          <a:solidFill>
            <a:srgbClr val="EAF7EF"/>
          </a:solidFill>
          <a:ln w="11430">
            <a:solidFill>
              <a:srgbClr val="258A58"/>
            </a:solidFill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10439400" y="6486525"/>
            <a:ext cx="11811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0" rIns="19050" bIns="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58A5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RUN FACT</a:t>
            </a:r>
            <a:endParaRPr sz="975" b="1">
              <a:solidFill>
                <a:srgbClr val="258A5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8" name="矩形 27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 Ralph 与验收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实践：把验收写成可执行的系统契约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buNone/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26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6" name="圆角矩形 5"/>
          <p:cNvSpPr>
            <a:spLocks noGrp="1"/>
          </p:cNvSpPr>
          <p:nvPr/>
        </p:nvSpPr>
        <p:spPr>
          <a:xfrm>
            <a:off x="571500" y="1143000"/>
            <a:ext cx="6858000" cy="4953000"/>
          </a:xfrm>
          <a:prstGeom prst="roundRect">
            <a:avLst>
              <a:gd name="adj" fmla="val 2692"/>
            </a:avLst>
          </a:prstGeom>
          <a:solidFill>
            <a:srgbClr val="F4F6F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723900" y="1257300"/>
            <a:ext cx="6553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1200" b="1">
                <a:solidFill>
                  <a:srgbClr val="715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715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Acceptance Case JSON</a:t>
            </a:r>
            <a:endParaRPr sz="1200" b="1">
              <a:solidFill>
                <a:srgbClr val="7157B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723900" y="1543050"/>
            <a:ext cx="609600" cy="28575"/>
          </a:xfrm>
          <a:prstGeom prst="rect">
            <a:avLst/>
          </a:prstGeom>
          <a:solidFill>
            <a:srgbClr val="7157B8"/>
          </a:solidFill>
          <a:ln w="0">
            <a:noFill/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723900" y="1619250"/>
            <a:ext cx="6553200" cy="436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"result": "PASS|FAIL|UNKNOWN",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"accounts": [100, 112, 123],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"mode": "public",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"signature": "100,112,123",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"users": [{"id": 123, "isOpen": true, "ruleCount": 4}],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"failures": [],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"evidence": {"device": "...", "timestamp": "..."}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8001000" y="1381125"/>
            <a:ext cx="3143250" cy="619125"/>
          </a:xfrm>
          <a:prstGeom prst="roundRect">
            <a:avLst>
              <a:gd name="adj" fmla="val 18462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8077200" y="1438275"/>
            <a:ext cx="299085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Case Contract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8001000" y="2114550"/>
            <a:ext cx="3143250" cy="619125"/>
          </a:xfrm>
          <a:prstGeom prst="roundRect">
            <a:avLst>
              <a:gd name="adj" fmla="val 18462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8077200" y="2171700"/>
            <a:ext cx="299085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Action Binding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8001000" y="2847975"/>
            <a:ext cx="3143250" cy="619125"/>
          </a:xfrm>
          <a:prstGeom prst="roundRect">
            <a:avLst>
              <a:gd name="adj" fmla="val 18462"/>
            </a:avLst>
          </a:prstGeom>
          <a:solidFill>
            <a:srgbClr val="F2EEFF"/>
          </a:solidFill>
          <a:ln w="9525">
            <a:solidFill>
              <a:srgbClr val="7157B8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8077200" y="2905125"/>
            <a:ext cx="299085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MCP / HDC 操作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圆角矩形 15"/>
          <p:cNvSpPr>
            <a:spLocks noGrp="1"/>
          </p:cNvSpPr>
          <p:nvPr/>
        </p:nvSpPr>
        <p:spPr>
          <a:xfrm>
            <a:off x="8001000" y="3581400"/>
            <a:ext cx="3143250" cy="619125"/>
          </a:xfrm>
          <a:prstGeom prst="roundRect">
            <a:avLst>
              <a:gd name="adj" fmla="val 18462"/>
            </a:avLst>
          </a:prstGeom>
          <a:solidFill>
            <a:srgbClr val="FFF7E3"/>
          </a:solidFill>
          <a:ln w="9525">
            <a:solidFill>
              <a:srgbClr val="D89518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8077200" y="3638550"/>
            <a:ext cx="299085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系统 getter / 日志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圆角矩形 17"/>
          <p:cNvSpPr>
            <a:spLocks noGrp="1"/>
          </p:cNvSpPr>
          <p:nvPr/>
        </p:nvSpPr>
        <p:spPr>
          <a:xfrm>
            <a:off x="8001000" y="4314825"/>
            <a:ext cx="3143250" cy="619125"/>
          </a:xfrm>
          <a:prstGeom prst="roundRect">
            <a:avLst>
              <a:gd name="adj" fmla="val 18462"/>
            </a:avLst>
          </a:prstGeom>
          <a:solidFill>
            <a:srgbClr val="EBF8F1"/>
          </a:solidFill>
          <a:ln w="9525">
            <a:solidFill>
              <a:srgbClr val="2F8F5B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8077200" y="4371975"/>
            <a:ext cx="299085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Primary + Secondary Evidence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圆角矩形 19"/>
          <p:cNvSpPr>
            <a:spLocks noGrp="1"/>
          </p:cNvSpPr>
          <p:nvPr/>
        </p:nvSpPr>
        <p:spPr>
          <a:xfrm>
            <a:off x="8001000" y="5048250"/>
            <a:ext cx="3143250" cy="619125"/>
          </a:xfrm>
          <a:prstGeom prst="roundRect">
            <a:avLst>
              <a:gd name="adj" fmla="val 18462"/>
            </a:avLst>
          </a:prstGeom>
          <a:solidFill>
            <a:srgbClr val="FFF0EC"/>
          </a:solidFill>
          <a:ln w="9525">
            <a:solidFill>
              <a:srgbClr val="E26852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8077200" y="5105400"/>
            <a:ext cx="299085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PASS / FAIL / UNKNOWN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75" name="直接箭头连接符 74"/>
          <p:cNvCxnSpPr>
            <a:stCxn id="10" idx="2"/>
            <a:endCxn id="12" idx="0"/>
          </p:cNvCxnSpPr>
          <p:nvPr/>
        </p:nvCxnSpPr>
        <p:spPr>
          <a:xfrm>
            <a:off x="9572625" y="2000250"/>
            <a:ext cx="0" cy="11430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6" name="直接箭头连接符 75"/>
          <p:cNvCxnSpPr>
            <a:stCxn id="12" idx="2"/>
            <a:endCxn id="14" idx="0"/>
          </p:cNvCxnSpPr>
          <p:nvPr/>
        </p:nvCxnSpPr>
        <p:spPr>
          <a:xfrm>
            <a:off x="9572625" y="2733675"/>
            <a:ext cx="0" cy="11430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7" name="直接箭头连接符 76"/>
          <p:cNvCxnSpPr>
            <a:stCxn id="14" idx="2"/>
            <a:endCxn id="16" idx="0"/>
          </p:cNvCxnSpPr>
          <p:nvPr/>
        </p:nvCxnSpPr>
        <p:spPr>
          <a:xfrm>
            <a:off x="9572625" y="3467100"/>
            <a:ext cx="0" cy="11430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8" name="直接箭头连接符 77"/>
          <p:cNvCxnSpPr>
            <a:stCxn id="16" idx="2"/>
            <a:endCxn id="18" idx="0"/>
          </p:cNvCxnSpPr>
          <p:nvPr/>
        </p:nvCxnSpPr>
        <p:spPr>
          <a:xfrm>
            <a:off x="9572625" y="4200525"/>
            <a:ext cx="0" cy="11430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9" name="直接箭头连接符 78"/>
          <p:cNvCxnSpPr>
            <a:stCxn id="18" idx="2"/>
            <a:endCxn id="20" idx="0"/>
          </p:cNvCxnSpPr>
          <p:nvPr/>
        </p:nvCxnSpPr>
        <p:spPr>
          <a:xfrm>
            <a:off x="9572625" y="4933950"/>
            <a:ext cx="0" cy="11430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7" name="矩形 26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4" name="矩形 33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 Ralph 与验收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MDM Checkpoint：交付一条完整证据链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buNone/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27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6" name="圆角矩形 5"/>
          <p:cNvSpPr>
            <a:spLocks noGrp="1"/>
          </p:cNvSpPr>
          <p:nvPr/>
        </p:nvSpPr>
        <p:spPr>
          <a:xfrm>
            <a:off x="523875" y="1143000"/>
            <a:ext cx="4762500" cy="314325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76275" y="1257300"/>
            <a:ext cx="4457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同伴验收：只问六件事</a:t>
            </a:r>
            <a:endParaRPr sz="12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76275" y="1543050"/>
            <a:ext cx="609600" cy="28575"/>
          </a:xfrm>
          <a:prstGeom prst="rect">
            <a:avLst/>
          </a:prstGeom>
          <a:solidFill>
            <a:srgbClr val="E26852"/>
          </a:solidFill>
          <a:ln w="0">
            <a:noFill/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714375" y="1619250"/>
            <a:ext cx="4381500" cy="2428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 spec.md 是否冻结账号事实、失败语义与提交点？</a:t>
            </a:r>
            <a:endParaRPr sz="12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 design.md 是否区分 intent、local apply、system truth、UI？</a:t>
            </a:r>
            <a:endParaRPr sz="12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3. T01 是否真的出现过可解释 RED 与 GREEN？</a:t>
            </a:r>
            <a:endParaRPr sz="12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4. T02 故障后是否恢复 identity，而非只恢复数量？</a:t>
            </a:r>
            <a:endParaRPr sz="12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5. 设备证据是否来自真机，UNKNOWN 是否被诚实保留？</a:t>
            </a:r>
            <a:endParaRPr sz="12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6. diff 是否完全落在任务允许边界？</a:t>
            </a:r>
            <a:endParaRPr sz="12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14375" y="3924300"/>
            <a:ext cx="43338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ctr">
              <a:buNone/>
              <a:defRPr sz="1125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唯一结果：PASS / FAIL / UNKNOWN</a:t>
            </a:r>
            <a:endParaRPr sz="1125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523875" y="4476750"/>
            <a:ext cx="857250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600075" y="4524375"/>
            <a:ext cx="704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Eval 层</a:t>
            </a:r>
            <a:endParaRPr sz="9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1381125" y="4476750"/>
            <a:ext cx="2047875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1457325" y="4524375"/>
            <a:ext cx="18954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检查什么</a:t>
            </a:r>
            <a:endParaRPr sz="9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3429000" y="4476750"/>
            <a:ext cx="1857375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3505200" y="4524375"/>
            <a:ext cx="17049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反例</a:t>
            </a:r>
            <a:endParaRPr sz="9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523875" y="4876800"/>
            <a:ext cx="857250" cy="5619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600075" y="4924425"/>
            <a:ext cx="704850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Trace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1381125" y="4876800"/>
            <a:ext cx="2047875" cy="5619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1457325" y="4924425"/>
            <a:ext cx="1895475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Prompt、工具调用、diff、测试、是否越界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3429000" y="4876800"/>
            <a:ext cx="1857375" cy="5619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3505200" y="4924425"/>
            <a:ext cx="1704975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过程规范，但底层调用仍失败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523875" y="5438775"/>
            <a:ext cx="857250" cy="561975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600075" y="5486400"/>
            <a:ext cx="704850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Outcome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1381125" y="5438775"/>
            <a:ext cx="2047875" cy="561975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1457325" y="5486400"/>
            <a:ext cx="1895475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系统账号、policy、rules、signature、mapping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3429000" y="5438775"/>
            <a:ext cx="1857375" cy="561975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3505200" y="5486400"/>
            <a:ext cx="1704975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页面偶然正确，但 AI 伪造账号事实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64" name="图片 6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19750" y="1798364"/>
            <a:ext cx="6000750" cy="2499271"/>
          </a:xfrm>
          <a:prstGeom prst="roundRect">
            <a:avLst>
              <a:gd name="adj" fmla="val 3077"/>
            </a:avLst>
          </a:prstGeom>
        </p:spPr>
      </p:pic>
      <p:sp>
        <p:nvSpPr>
          <p:cNvPr id="30" name="圆角矩形 29"/>
          <p:cNvSpPr>
            <a:spLocks noGrp="1"/>
          </p:cNvSpPr>
          <p:nvPr/>
        </p:nvSpPr>
        <p:spPr>
          <a:xfrm>
            <a:off x="5619750" y="1190625"/>
            <a:ext cx="6000750" cy="3714750"/>
          </a:xfrm>
          <a:prstGeom prst="roundRect">
            <a:avLst>
              <a:gd name="adj" fmla="val 3077"/>
            </a:avLst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6191250" y="5238750"/>
            <a:ext cx="57150" cy="685800"/>
          </a:xfrm>
          <a:prstGeom prst="rect">
            <a:avLst/>
          </a:prstGeom>
          <a:solidFill>
            <a:srgbClr val="168C82"/>
          </a:solidFill>
          <a:ln w="0">
            <a:noFill/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6362700" y="5276850"/>
            <a:ext cx="45910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15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最终结论由 Outcome 决定；Trace 用于解释可信度、复现过程与发现越界。</a:t>
            </a:r>
            <a:endParaRPr sz="15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3" name="矩形 32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05 FreeRDP 实战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案例二先回答：我们到底知道什么，不知道什么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buNone/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28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pic>
        <p:nvPicPr>
          <p:cNvPr id="70" name="图片 69"/>
          <p:cNvPicPr>
            <a:picLocks noChangeAspect="1"/>
          </p:cNvPicPr>
          <p:nvPr/>
        </p:nvPicPr>
        <p:blipFill>
          <a:blip r:embed="rId1"/>
          <a:srcRect t="9426" b="9426"/>
          <a:stretch>
            <a:fillRect/>
          </a:stretch>
        </p:blipFill>
        <p:spPr>
          <a:xfrm>
            <a:off x="523875" y="1143000"/>
            <a:ext cx="5810250" cy="3143250"/>
          </a:xfrm>
          <a:prstGeom prst="roundRect">
            <a:avLst>
              <a:gd name="adj" fmla="val 3636"/>
            </a:avLst>
          </a:prstGeom>
        </p:spPr>
      </p:pic>
      <p:sp>
        <p:nvSpPr>
          <p:cNvPr id="7" name="圆角矩形 6"/>
          <p:cNvSpPr>
            <a:spLocks noGrp="1"/>
          </p:cNvSpPr>
          <p:nvPr/>
        </p:nvSpPr>
        <p:spPr>
          <a:xfrm>
            <a:off x="523875" y="1143000"/>
            <a:ext cx="5810250" cy="3143250"/>
          </a:xfrm>
          <a:prstGeom prst="roundRect">
            <a:avLst>
              <a:gd name="adj" fmla="val 3636"/>
            </a:avLst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8" name="圆角矩形 7"/>
          <p:cNvSpPr>
            <a:spLocks noGrp="1"/>
          </p:cNvSpPr>
          <p:nvPr/>
        </p:nvSpPr>
        <p:spPr>
          <a:xfrm>
            <a:off x="904875" y="1285875"/>
            <a:ext cx="5048250" cy="400050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981075" y="1343025"/>
            <a:ext cx="4895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本地代码快照：2014 个相关源文件 · 约 559,355 行</a:t>
            </a:r>
            <a:endParaRPr sz="12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6667500" y="1143000"/>
            <a:ext cx="4953000" cy="40005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6819900" y="1257300"/>
            <a:ext cx="4648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先把事实分成三类</a:t>
            </a:r>
            <a:endParaRPr sz="12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6819900" y="1543050"/>
            <a:ext cx="609600" cy="28575"/>
          </a:xfrm>
          <a:prstGeom prst="rect">
            <a:avLst/>
          </a:prstGeom>
          <a:solidFill>
            <a:srgbClr val="E26852"/>
          </a:solidFill>
          <a:ln w="0">
            <a:noFill/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6953250" y="1666875"/>
            <a:ext cx="857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1425" b="1">
                <a:solidFill>
                  <a:srgbClr val="2F8F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1">
                <a:solidFill>
                  <a:srgbClr val="2F8F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已知</a:t>
            </a:r>
            <a:endParaRPr sz="1425" b="1">
              <a:solidFill>
                <a:srgbClr val="2F8F5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7858125" y="1619250"/>
            <a:ext cx="3429000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用户报告“远端视频卡顿”</a:t>
            </a:r>
            <a:endParaRPr sz="12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仓库中存在 bridge → compositor → EndFrame 路径</a:t>
            </a:r>
            <a:endParaRPr sz="12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现有媒体只能证明某次运行“看得见画面”</a:t>
            </a:r>
            <a:endParaRPr sz="12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6953250" y="2714625"/>
            <a:ext cx="857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1425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未知</a:t>
            </a:r>
            <a:endParaRPr sz="1425" b="1">
              <a:solidFill>
                <a:srgbClr val="C84B4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7858125" y="2667000"/>
            <a:ext cx="3429000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当次运行到底走软件解码还是硬件解码</a:t>
            </a:r>
            <a:endParaRPr sz="12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frame 的 owner、stride/plane 与 present 是否一致</a:t>
            </a:r>
            <a:endParaRPr sz="12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CPU / FPS / 卡顿改善幅度</a:t>
            </a:r>
            <a:endParaRPr sz="12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6953250" y="3810000"/>
            <a:ext cx="857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1425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第一步</a:t>
            </a:r>
            <a:endParaRPr sz="1425" b="1">
              <a:solidFill>
                <a:srgbClr val="1677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7858125" y="3762375"/>
            <a:ext cx="3429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 commit、runId、decoder path、frameId、CPU/FPS 绑定到同一次运行，建立 before 基线。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圆角矩形 18"/>
          <p:cNvSpPr>
            <a:spLocks noGrp="1"/>
          </p:cNvSpPr>
          <p:nvPr/>
        </p:nvSpPr>
        <p:spPr>
          <a:xfrm>
            <a:off x="523875" y="4524375"/>
            <a:ext cx="5810250" cy="68580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714375" y="4648200"/>
            <a:ext cx="5429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ctr">
              <a:buNone/>
              <a:defRPr sz="1200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BEFORE VIDEO · PENDING</a:t>
            </a:r>
            <a:endParaRPr sz="1200" b="1">
              <a:solidFill>
                <a:srgbClr val="C84B4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buNone/>
              <a:defRPr sz="1200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当前占位图不证明卡顿；正式视频需同时录入 path / CPU / FPS</a:t>
            </a:r>
            <a:endParaRPr sz="1200" b="1">
              <a:solidFill>
                <a:srgbClr val="C84B4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圆角矩形 20"/>
          <p:cNvSpPr>
            <a:spLocks noGrp="1"/>
          </p:cNvSpPr>
          <p:nvPr/>
        </p:nvSpPr>
        <p:spPr>
          <a:xfrm>
            <a:off x="809625" y="5572125"/>
            <a:ext cx="2514600" cy="552450"/>
          </a:xfrm>
          <a:prstGeom prst="roundRect">
            <a:avLst>
              <a:gd name="adj" fmla="val 20690"/>
            </a:avLst>
          </a:prstGeom>
          <a:solidFill>
            <a:srgbClr val="FFF0EC"/>
          </a:solidFill>
          <a:ln w="9525">
            <a:solidFill>
              <a:srgbClr val="E26852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885825" y="5629275"/>
            <a:ext cx="23622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用户现象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圆角矩形 22"/>
          <p:cNvSpPr>
            <a:spLocks noGrp="1"/>
          </p:cNvSpPr>
          <p:nvPr/>
        </p:nvSpPr>
        <p:spPr>
          <a:xfrm>
            <a:off x="3495675" y="5572125"/>
            <a:ext cx="2514600" cy="552450"/>
          </a:xfrm>
          <a:prstGeom prst="roundRect">
            <a:avLst>
              <a:gd name="adj" fmla="val 20690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3571875" y="5629275"/>
            <a:ext cx="23622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当前路径证明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圆角矩形 24"/>
          <p:cNvSpPr>
            <a:spLocks noGrp="1"/>
          </p:cNvSpPr>
          <p:nvPr/>
        </p:nvSpPr>
        <p:spPr>
          <a:xfrm>
            <a:off x="6181725" y="5572125"/>
            <a:ext cx="2514600" cy="552450"/>
          </a:xfrm>
          <a:prstGeom prst="roundRect">
            <a:avLst>
              <a:gd name="adj" fmla="val 20690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6257925" y="5629275"/>
            <a:ext cx="23622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before 基线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圆角矩形 26"/>
          <p:cNvSpPr>
            <a:spLocks noGrp="1"/>
          </p:cNvSpPr>
          <p:nvPr/>
        </p:nvSpPr>
        <p:spPr>
          <a:xfrm>
            <a:off x="8867775" y="5572125"/>
            <a:ext cx="2514600" cy="552450"/>
          </a:xfrm>
          <a:prstGeom prst="roundRect">
            <a:avLst>
              <a:gd name="adj" fmla="val 20690"/>
            </a:avLst>
          </a:prstGeom>
          <a:solidFill>
            <a:srgbClr val="EBF8F1"/>
          </a:solidFill>
          <a:ln w="9525">
            <a:solidFill>
              <a:srgbClr val="2F8F5B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8943975" y="5629275"/>
            <a:ext cx="23622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再讨论硬解 / GPU 方案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93" name="直接箭头连接符 92"/>
          <p:cNvCxnSpPr>
            <a:stCxn id="21" idx="3"/>
            <a:endCxn id="23" idx="1"/>
          </p:cNvCxnSpPr>
          <p:nvPr/>
        </p:nvCxnSpPr>
        <p:spPr>
          <a:xfrm>
            <a:off x="3324225" y="5848350"/>
            <a:ext cx="17145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4" name="直接箭头连接符 93"/>
          <p:cNvCxnSpPr>
            <a:stCxn id="23" idx="3"/>
            <a:endCxn id="25" idx="1"/>
          </p:cNvCxnSpPr>
          <p:nvPr/>
        </p:nvCxnSpPr>
        <p:spPr>
          <a:xfrm>
            <a:off x="6010275" y="5848350"/>
            <a:ext cx="17145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5" name="直接箭头连接符 94"/>
          <p:cNvCxnSpPr>
            <a:stCxn id="25" idx="3"/>
            <a:endCxn id="27" idx="1"/>
          </p:cNvCxnSpPr>
          <p:nvPr/>
        </p:nvCxnSpPr>
        <p:spPr>
          <a:xfrm>
            <a:off x="8696325" y="5848350"/>
            <a:ext cx="17145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32" name="矩形 31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5" name="矩形 54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05 FreeRDP 实战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读大仓库不是读全库，而是沿一帧回答五个问题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buNone/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29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6" name="圆角矩形 5"/>
          <p:cNvSpPr>
            <a:spLocks noGrp="1"/>
          </p:cNvSpPr>
          <p:nvPr/>
        </p:nvSpPr>
        <p:spPr>
          <a:xfrm>
            <a:off x="523875" y="1143000"/>
            <a:ext cx="3429000" cy="476250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76275" y="1257300"/>
            <a:ext cx="3124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先问五个问题</a:t>
            </a:r>
            <a:endParaRPr sz="12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76275" y="1543050"/>
            <a:ext cx="609600" cy="28575"/>
          </a:xfrm>
          <a:prstGeom prst="rect">
            <a:avLst/>
          </a:prstGeom>
          <a:solidFill>
            <a:srgbClr val="E26852"/>
          </a:solidFill>
          <a:ln w="0">
            <a:noFill/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742950" y="1666875"/>
            <a:ext cx="1143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12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 协议入口</a:t>
            </a:r>
            <a:endParaRPr sz="1200" b="1">
              <a:solidFill>
                <a:srgbClr val="1677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1857375" y="1638300"/>
            <a:ext cx="1809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H.264 从哪里进入？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742950" y="2447925"/>
            <a:ext cx="1143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12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 路径选择</a:t>
            </a:r>
            <a:endParaRPr sz="1200" b="1">
              <a:solidFill>
                <a:srgbClr val="1677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857375" y="2419350"/>
            <a:ext cx="1809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 fontScale="99206"/>
          </a:bodyPr>
          <a:lstStyle/>
          <a:p>
            <a:pPr algn="l">
              <a:buNone/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command 被 GPU consumed，还是回 original GDI？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742950" y="3228975"/>
            <a:ext cx="1143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12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 输出格式</a:t>
            </a:r>
            <a:endParaRPr sz="1200" b="1">
              <a:solidFill>
                <a:srgbClr val="1677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1857375" y="3200400"/>
            <a:ext cx="1809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format、stride、plane 是什么？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742950" y="4010025"/>
            <a:ext cx="1143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12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 显示所有权</a:t>
            </a:r>
            <a:endParaRPr sz="1200" b="1">
              <a:solidFill>
                <a:srgbClr val="1677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1857375" y="3981450"/>
            <a:ext cx="1809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谁拥有 Surface，何时 present？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742950" y="4791075"/>
            <a:ext cx="1143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 同轮证明</a:t>
            </a:r>
            <a:endParaRPr sz="12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1857375" y="4762500"/>
            <a:ext cx="1809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 fontScale="99206"/>
          </a:bodyPr>
          <a:lstStyle/>
          <a:p>
            <a:pPr algn="l">
              <a:buNone/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怎样把 decoder、frame、owner、present 绑定到同一 run？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圆角矩形 18"/>
          <p:cNvSpPr>
            <a:spLocks noGrp="1"/>
          </p:cNvSpPr>
          <p:nvPr/>
        </p:nvSpPr>
        <p:spPr>
          <a:xfrm>
            <a:off x="4286250" y="1143000"/>
            <a:ext cx="4476750" cy="545306"/>
          </a:xfrm>
          <a:prstGeom prst="roundRect">
            <a:avLst>
              <a:gd name="adj" fmla="val 20961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4362450" y="1200150"/>
            <a:ext cx="4324350" cy="43100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gfx→SurfaceCommand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圆角矩形 20"/>
          <p:cNvSpPr>
            <a:spLocks noGrp="1"/>
          </p:cNvSpPr>
          <p:nvPr/>
        </p:nvSpPr>
        <p:spPr>
          <a:xfrm>
            <a:off x="4286250" y="1745456"/>
            <a:ext cx="4476750" cy="545306"/>
          </a:xfrm>
          <a:prstGeom prst="roundRect">
            <a:avLst>
              <a:gd name="adj" fmla="val 20961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4362450" y="1802606"/>
            <a:ext cx="4324350" cy="43100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ohos_rdpgfx_surface_command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圆角矩形 22"/>
          <p:cNvSpPr>
            <a:spLocks noGrp="1"/>
          </p:cNvSpPr>
          <p:nvPr/>
        </p:nvSpPr>
        <p:spPr>
          <a:xfrm>
            <a:off x="4286250" y="2347913"/>
            <a:ext cx="4476750" cy="545306"/>
          </a:xfrm>
          <a:prstGeom prst="roundRect">
            <a:avLst>
              <a:gd name="adj" fmla="val 20961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4362450" y="2405063"/>
            <a:ext cx="4324350" cy="43100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record_avc420_gpu_candidate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圆角矩形 24"/>
          <p:cNvSpPr>
            <a:spLocks noGrp="1"/>
          </p:cNvSpPr>
          <p:nvPr/>
        </p:nvSpPr>
        <p:spPr>
          <a:xfrm>
            <a:off x="4286250" y="2950369"/>
            <a:ext cx="4476750" cy="545306"/>
          </a:xfrm>
          <a:prstGeom prst="roundRect">
            <a:avLst>
              <a:gd name="adj" fmla="val 20961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4362450" y="3007519"/>
            <a:ext cx="4324350" cy="43100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OnSurfaceCommand → worker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圆角矩形 26"/>
          <p:cNvSpPr>
            <a:spLocks noGrp="1"/>
          </p:cNvSpPr>
          <p:nvPr/>
        </p:nvSpPr>
        <p:spPr>
          <a:xfrm>
            <a:off x="4286250" y="3552825"/>
            <a:ext cx="4476750" cy="545306"/>
          </a:xfrm>
          <a:prstGeom prst="roundRect">
            <a:avLst>
              <a:gd name="adj" fmla="val 20961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4362450" y="3609975"/>
            <a:ext cx="4324350" cy="43100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ProcessCommand → OH_AVCodec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圆角矩形 28"/>
          <p:cNvSpPr>
            <a:spLocks noGrp="1"/>
          </p:cNvSpPr>
          <p:nvPr/>
        </p:nvSpPr>
        <p:spPr>
          <a:xfrm>
            <a:off x="4286250" y="4155281"/>
            <a:ext cx="4476750" cy="545306"/>
          </a:xfrm>
          <a:prstGeom prst="roundRect">
            <a:avLst>
              <a:gd name="adj" fmla="val 20961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4362450" y="4212431"/>
            <a:ext cx="4324350" cy="43100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native buffer → CompositeFrame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圆角矩形 30"/>
          <p:cNvSpPr>
            <a:spLocks noGrp="1"/>
          </p:cNvSpPr>
          <p:nvPr/>
        </p:nvSpPr>
        <p:spPr>
          <a:xfrm>
            <a:off x="4286250" y="4757738"/>
            <a:ext cx="4476750" cy="545306"/>
          </a:xfrm>
          <a:prstGeom prst="roundRect">
            <a:avLst>
              <a:gd name="adj" fmla="val 20961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4362450" y="4814888"/>
            <a:ext cx="4324350" cy="43100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pendingFrameId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圆角矩形 32"/>
          <p:cNvSpPr>
            <a:spLocks noGrp="1"/>
          </p:cNvSpPr>
          <p:nvPr/>
        </p:nvSpPr>
        <p:spPr>
          <a:xfrm>
            <a:off x="4286250" y="5360194"/>
            <a:ext cx="4476750" cy="545306"/>
          </a:xfrm>
          <a:prstGeom prst="roundRect">
            <a:avLst>
              <a:gd name="adj" fmla="val 20961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4362450" y="5417344"/>
            <a:ext cx="4324350" cy="43100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matched EndFrame → PresentComposite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40" name="直接箭头连接符 139"/>
          <p:cNvCxnSpPr>
            <a:stCxn id="19" idx="2"/>
            <a:endCxn id="21" idx="0"/>
          </p:cNvCxnSpPr>
          <p:nvPr/>
        </p:nvCxnSpPr>
        <p:spPr>
          <a:xfrm>
            <a:off x="6524625" y="1688306"/>
            <a:ext cx="0" cy="5715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41" name="直接箭头连接符 140"/>
          <p:cNvCxnSpPr>
            <a:stCxn id="21" idx="2"/>
            <a:endCxn id="23" idx="0"/>
          </p:cNvCxnSpPr>
          <p:nvPr/>
        </p:nvCxnSpPr>
        <p:spPr>
          <a:xfrm>
            <a:off x="6524625" y="2290762"/>
            <a:ext cx="0" cy="57151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42" name="直接箭头连接符 141"/>
          <p:cNvCxnSpPr>
            <a:stCxn id="23" idx="2"/>
            <a:endCxn id="25" idx="0"/>
          </p:cNvCxnSpPr>
          <p:nvPr/>
        </p:nvCxnSpPr>
        <p:spPr>
          <a:xfrm>
            <a:off x="6524625" y="2893219"/>
            <a:ext cx="0" cy="5715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43" name="直接箭头连接符 142"/>
          <p:cNvCxnSpPr>
            <a:stCxn id="25" idx="2"/>
            <a:endCxn id="27" idx="0"/>
          </p:cNvCxnSpPr>
          <p:nvPr/>
        </p:nvCxnSpPr>
        <p:spPr>
          <a:xfrm>
            <a:off x="6524625" y="3495675"/>
            <a:ext cx="0" cy="5715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44" name="直接箭头连接符 143"/>
          <p:cNvCxnSpPr>
            <a:stCxn id="27" idx="2"/>
            <a:endCxn id="29" idx="0"/>
          </p:cNvCxnSpPr>
          <p:nvPr/>
        </p:nvCxnSpPr>
        <p:spPr>
          <a:xfrm>
            <a:off x="6524625" y="4098131"/>
            <a:ext cx="0" cy="5715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45" name="直接箭头连接符 144"/>
          <p:cNvCxnSpPr>
            <a:stCxn id="29" idx="2"/>
            <a:endCxn id="31" idx="0"/>
          </p:cNvCxnSpPr>
          <p:nvPr/>
        </p:nvCxnSpPr>
        <p:spPr>
          <a:xfrm>
            <a:off x="6524625" y="4700587"/>
            <a:ext cx="0" cy="57151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46" name="直接箭头连接符 145"/>
          <p:cNvCxnSpPr>
            <a:stCxn id="31" idx="2"/>
            <a:endCxn id="33" idx="0"/>
          </p:cNvCxnSpPr>
          <p:nvPr/>
        </p:nvCxnSpPr>
        <p:spPr>
          <a:xfrm>
            <a:off x="6524625" y="5303044"/>
            <a:ext cx="0" cy="5715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42" name="圆角矩形 41"/>
          <p:cNvSpPr>
            <a:spLocks noGrp="1"/>
          </p:cNvSpPr>
          <p:nvPr/>
        </p:nvSpPr>
        <p:spPr>
          <a:xfrm>
            <a:off x="9048750" y="1143000"/>
            <a:ext cx="2571750" cy="1619250"/>
          </a:xfrm>
          <a:prstGeom prst="roundRect">
            <a:avLst>
              <a:gd name="adj" fmla="val 8235"/>
            </a:avLst>
          </a:prstGeom>
          <a:solidFill>
            <a:srgbClr val="FFF0E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3" name="矩形 42"/>
          <p:cNvSpPr>
            <a:spLocks noGrp="1"/>
          </p:cNvSpPr>
          <p:nvPr/>
        </p:nvSpPr>
        <p:spPr>
          <a:xfrm>
            <a:off x="9201150" y="1257300"/>
            <a:ext cx="22669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一轮只给 AI 这么多上下文</a:t>
            </a:r>
            <a:endParaRPr sz="12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4" name="矩形 43"/>
          <p:cNvSpPr>
            <a:spLocks noGrp="1"/>
          </p:cNvSpPr>
          <p:nvPr/>
        </p:nvSpPr>
        <p:spPr>
          <a:xfrm>
            <a:off x="9201150" y="1543050"/>
            <a:ext cx="609600" cy="28575"/>
          </a:xfrm>
          <a:prstGeom prst="rect">
            <a:avLst/>
          </a:prstGeom>
          <a:solidFill>
            <a:srgbClr val="E26852"/>
          </a:solidFill>
          <a:ln w="0">
            <a:noFill/>
            <a:prstDash val="solid"/>
          </a:ln>
        </p:spPr>
      </p:sp>
      <p:sp>
        <p:nvSpPr>
          <p:cNvPr id="45" name="矩形 44"/>
          <p:cNvSpPr>
            <a:spLocks noGrp="1"/>
          </p:cNvSpPr>
          <p:nvPr/>
        </p:nvSpPr>
        <p:spPr>
          <a:xfrm>
            <a:off x="9429750" y="1619250"/>
            <a:ext cx="18097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 fontScale="96078"/>
          </a:bodyPr>
          <a:lstStyle/>
          <a:p>
            <a:pPr algn="ctr">
              <a:buNone/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 个问题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buNone/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 条调用链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buNone/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3–7 个接口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buNone/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 个假设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buNone/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 条下一步命令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" name="圆角矩形 45"/>
          <p:cNvSpPr>
            <a:spLocks noGrp="1"/>
          </p:cNvSpPr>
          <p:nvPr/>
        </p:nvSpPr>
        <p:spPr>
          <a:xfrm>
            <a:off x="9239250" y="3143250"/>
            <a:ext cx="2190750" cy="495300"/>
          </a:xfrm>
          <a:prstGeom prst="roundRect">
            <a:avLst>
              <a:gd name="adj" fmla="val 23077"/>
            </a:avLst>
          </a:prstGeom>
          <a:solidFill>
            <a:srgbClr val="FCEEEE"/>
          </a:solidFill>
          <a:ln w="9525">
            <a:solidFill>
              <a:srgbClr val="C84B4B"/>
            </a:solidFill>
            <a:prstDash val="solid"/>
          </a:ln>
        </p:spPr>
      </p:sp>
      <p:sp>
        <p:nvSpPr>
          <p:cNvPr id="47" name="矩形 46"/>
          <p:cNvSpPr>
            <a:spLocks noGrp="1"/>
          </p:cNvSpPr>
          <p:nvPr/>
        </p:nvSpPr>
        <p:spPr>
          <a:xfrm>
            <a:off x="9315450" y="3200400"/>
            <a:ext cx="20383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未接管 / 不满足 ready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8" name="圆角矩形 47"/>
          <p:cNvSpPr>
            <a:spLocks noGrp="1"/>
          </p:cNvSpPr>
          <p:nvPr/>
        </p:nvSpPr>
        <p:spPr>
          <a:xfrm>
            <a:off x="9239250" y="3905250"/>
            <a:ext cx="2190750" cy="666750"/>
          </a:xfrm>
          <a:prstGeom prst="roundRect">
            <a:avLst>
              <a:gd name="adj" fmla="val 17143"/>
            </a:avLst>
          </a:prstGeom>
          <a:solidFill>
            <a:srgbClr val="FFF7E3"/>
          </a:solidFill>
          <a:ln w="9525">
            <a:solidFill>
              <a:srgbClr val="D89518"/>
            </a:solidFill>
            <a:prstDash val="solid"/>
          </a:ln>
        </p:spPr>
      </p:sp>
      <p:sp>
        <p:nvSpPr>
          <p:cNvPr id="49" name="矩形 48"/>
          <p:cNvSpPr>
            <a:spLocks noGrp="1"/>
          </p:cNvSpPr>
          <p:nvPr/>
        </p:nvSpPr>
        <p:spPr>
          <a:xfrm>
            <a:off x="9315450" y="3962400"/>
            <a:ext cx="20383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original SurfaceCommand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buNone/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 GDI / H264 subsystem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55" name="直接箭头连接符 154"/>
          <p:cNvCxnSpPr>
            <a:stCxn id="46" idx="2"/>
            <a:endCxn id="48" idx="0"/>
          </p:cNvCxnSpPr>
          <p:nvPr/>
        </p:nvCxnSpPr>
        <p:spPr>
          <a:xfrm>
            <a:off x="10334625" y="3638550"/>
            <a:ext cx="0" cy="266700"/>
          </a:xfrm>
          <a:prstGeom prst="straightConnector1">
            <a:avLst/>
          </a:prstGeom>
          <a:ln w="19050">
            <a:solidFill>
              <a:srgbClr val="C84B4B"/>
            </a:solidFill>
            <a:prstDash val="solid"/>
            <a:tailEnd type="arrow" w="med" len="med"/>
          </a:ln>
        </p:spPr>
      </p:cxnSp>
      <p:sp>
        <p:nvSpPr>
          <p:cNvPr id="51" name="矩形 50"/>
          <p:cNvSpPr>
            <a:spLocks noGrp="1"/>
          </p:cNvSpPr>
          <p:nvPr/>
        </p:nvSpPr>
        <p:spPr>
          <a:xfrm>
            <a:off x="9096375" y="4762500"/>
            <a:ext cx="24765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ctr">
              <a:buNone/>
              <a:defRPr sz="1050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这条 fallback 必须保留；否则“尝试硬解”会直接变成黑屏风险。</a:t>
            </a:r>
            <a:endParaRPr sz="1050" b="1">
              <a:solidFill>
                <a:srgbClr val="C84B4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57" name="图片 156"/>
          <p:cNvPicPr>
            <a:picLocks noChangeAspect="1"/>
          </p:cNvPicPr>
          <p:nvPr/>
        </p:nvPicPr>
        <p:blipFill>
          <a:blip r:embed="rId1"/>
          <a:srcRect t="32065" b="32065"/>
          <a:stretch>
            <a:fillRect/>
          </a:stretch>
        </p:blipFill>
        <p:spPr>
          <a:xfrm>
            <a:off x="9239250" y="5381625"/>
            <a:ext cx="2190750" cy="523875"/>
          </a:xfrm>
          <a:prstGeom prst="roundRect">
            <a:avLst>
              <a:gd name="adj" fmla="val 21818"/>
            </a:avLst>
          </a:prstGeom>
        </p:spPr>
      </p:pic>
      <p:sp>
        <p:nvSpPr>
          <p:cNvPr id="53" name="圆角矩形 52"/>
          <p:cNvSpPr>
            <a:spLocks noGrp="1"/>
          </p:cNvSpPr>
          <p:nvPr/>
        </p:nvSpPr>
        <p:spPr>
          <a:xfrm>
            <a:off x="9239250" y="5381625"/>
            <a:ext cx="2190750" cy="523875"/>
          </a:xfrm>
          <a:prstGeom prst="roundRect">
            <a:avLst>
              <a:gd name="adj" fmla="val 21818"/>
            </a:avLst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54" name="矩形 53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2" name="矩形 61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05 FreeRDP 实战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跨平台调研只复制生命周期契约，不复制实现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buNone/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30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6" name="圆角矩形 5"/>
          <p:cNvSpPr>
            <a:spLocks noGrp="1"/>
          </p:cNvSpPr>
          <p:nvPr/>
        </p:nvSpPr>
        <p:spPr>
          <a:xfrm>
            <a:off x="619125" y="1143000"/>
            <a:ext cx="1466850" cy="552450"/>
          </a:xfrm>
          <a:prstGeom prst="roundRect">
            <a:avLst>
              <a:gd name="adj" fmla="val 20690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95325" y="1200150"/>
            <a:ext cx="13144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Create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圆角矩形 7"/>
          <p:cNvSpPr>
            <a:spLocks noGrp="1"/>
          </p:cNvSpPr>
          <p:nvPr/>
        </p:nvSpPr>
        <p:spPr>
          <a:xfrm>
            <a:off x="2200275" y="1143000"/>
            <a:ext cx="1466850" cy="552450"/>
          </a:xfrm>
          <a:prstGeom prst="roundRect">
            <a:avLst>
              <a:gd name="adj" fmla="val 20690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2276475" y="1200150"/>
            <a:ext cx="13144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Configure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3781425" y="1143000"/>
            <a:ext cx="1466850" cy="552450"/>
          </a:xfrm>
          <a:prstGeom prst="roundRect">
            <a:avLst>
              <a:gd name="adj" fmla="val 20690"/>
            </a:avLst>
          </a:prstGeom>
          <a:solidFill>
            <a:srgbClr val="F2EEFF"/>
          </a:solidFill>
          <a:ln w="9525">
            <a:solidFill>
              <a:srgbClr val="7157B8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3857625" y="1200150"/>
            <a:ext cx="13144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Start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5362575" y="1143000"/>
            <a:ext cx="1466850" cy="552450"/>
          </a:xfrm>
          <a:prstGeom prst="roundRect">
            <a:avLst>
              <a:gd name="adj" fmla="val 20690"/>
            </a:avLst>
          </a:prstGeom>
          <a:solidFill>
            <a:srgbClr val="FFF7E3"/>
          </a:solidFill>
          <a:ln w="9525">
            <a:solidFill>
              <a:srgbClr val="D89518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5438775" y="1200150"/>
            <a:ext cx="13144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Input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6943725" y="1143000"/>
            <a:ext cx="1466850" cy="552450"/>
          </a:xfrm>
          <a:prstGeom prst="roundRect">
            <a:avLst>
              <a:gd name="adj" fmla="val 20690"/>
            </a:avLst>
          </a:prstGeom>
          <a:solidFill>
            <a:srgbClr val="EBF8F1"/>
          </a:solidFill>
          <a:ln w="9525">
            <a:solidFill>
              <a:srgbClr val="2F8F5B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7019925" y="1200150"/>
            <a:ext cx="13144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Output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圆角矩形 15"/>
          <p:cNvSpPr>
            <a:spLocks noGrp="1"/>
          </p:cNvSpPr>
          <p:nvPr/>
        </p:nvSpPr>
        <p:spPr>
          <a:xfrm>
            <a:off x="8524875" y="1143000"/>
            <a:ext cx="1466850" cy="552450"/>
          </a:xfrm>
          <a:prstGeom prst="roundRect">
            <a:avLst>
              <a:gd name="adj" fmla="val 20690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8601075" y="1200150"/>
            <a:ext cx="13144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Validate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圆角矩形 17"/>
          <p:cNvSpPr>
            <a:spLocks noGrp="1"/>
          </p:cNvSpPr>
          <p:nvPr/>
        </p:nvSpPr>
        <p:spPr>
          <a:xfrm>
            <a:off x="10106025" y="1143000"/>
            <a:ext cx="1466850" cy="552450"/>
          </a:xfrm>
          <a:prstGeom prst="roundRect">
            <a:avLst>
              <a:gd name="adj" fmla="val 20690"/>
            </a:avLst>
          </a:prstGeom>
          <a:solidFill>
            <a:srgbClr val="FFF0EC"/>
          </a:solidFill>
          <a:ln w="9525">
            <a:solidFill>
              <a:srgbClr val="E26852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10182225" y="1200150"/>
            <a:ext cx="13144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Release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07" name="直接箭头连接符 106"/>
          <p:cNvCxnSpPr>
            <a:stCxn id="6" idx="3"/>
            <a:endCxn id="8" idx="1"/>
          </p:cNvCxnSpPr>
          <p:nvPr/>
        </p:nvCxnSpPr>
        <p:spPr>
          <a:xfrm>
            <a:off x="2085975" y="1419225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08" name="直接箭头连接符 107"/>
          <p:cNvCxnSpPr>
            <a:stCxn id="8" idx="3"/>
            <a:endCxn id="10" idx="1"/>
          </p:cNvCxnSpPr>
          <p:nvPr/>
        </p:nvCxnSpPr>
        <p:spPr>
          <a:xfrm>
            <a:off x="3667125" y="1419225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09" name="直接箭头连接符 108"/>
          <p:cNvCxnSpPr>
            <a:stCxn id="10" idx="3"/>
            <a:endCxn id="12" idx="1"/>
          </p:cNvCxnSpPr>
          <p:nvPr/>
        </p:nvCxnSpPr>
        <p:spPr>
          <a:xfrm>
            <a:off x="5248275" y="1419225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10" name="直接箭头连接符 109"/>
          <p:cNvCxnSpPr>
            <a:stCxn id="12" idx="3"/>
            <a:endCxn id="14" idx="1"/>
          </p:cNvCxnSpPr>
          <p:nvPr/>
        </p:nvCxnSpPr>
        <p:spPr>
          <a:xfrm>
            <a:off x="6829425" y="1419225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11" name="直接箭头连接符 110"/>
          <p:cNvCxnSpPr>
            <a:stCxn id="14" idx="3"/>
            <a:endCxn id="16" idx="1"/>
          </p:cNvCxnSpPr>
          <p:nvPr/>
        </p:nvCxnSpPr>
        <p:spPr>
          <a:xfrm>
            <a:off x="8410575" y="1419225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12" name="直接箭头连接符 111"/>
          <p:cNvCxnSpPr>
            <a:stCxn id="16" idx="3"/>
            <a:endCxn id="18" idx="1"/>
          </p:cNvCxnSpPr>
          <p:nvPr/>
        </p:nvCxnSpPr>
        <p:spPr>
          <a:xfrm>
            <a:off x="9991725" y="1419225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6" name="矩形 25"/>
          <p:cNvSpPr>
            <a:spLocks noGrp="1"/>
          </p:cNvSpPr>
          <p:nvPr/>
        </p:nvSpPr>
        <p:spPr>
          <a:xfrm>
            <a:off x="1095375" y="1885950"/>
            <a:ext cx="1000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ctr">
              <a:buNone/>
              <a:defRPr sz="1350" b="1">
                <a:solidFill>
                  <a:srgbClr val="16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6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所有平台都必须回答同一生命周期；真正需要重新设计的是 buffer 所有权、输出格式与 Surface 生命周期。</a:t>
            </a:r>
            <a:endParaRPr sz="1350" b="1">
              <a:solidFill>
                <a:srgbClr val="168C8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523875" y="2428875"/>
            <a:ext cx="1809750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600075" y="2476500"/>
            <a:ext cx="1657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已有后端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2333625" y="2428875"/>
            <a:ext cx="1954530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2409825" y="2476500"/>
            <a:ext cx="180213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作用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4288155" y="2428875"/>
            <a:ext cx="3474720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4364355" y="2476500"/>
            <a:ext cx="332232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AI 应该学习什么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523875" y="2828925"/>
            <a:ext cx="1809750" cy="55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600075" y="2876550"/>
            <a:ext cx="1657350" cy="45958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FFmpeg / OpenH264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2333625" y="2828925"/>
            <a:ext cx="1954530" cy="55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2409825" y="2876550"/>
            <a:ext cx="1802130" cy="45958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通用软件路径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4288155" y="2828925"/>
            <a:ext cx="3474720" cy="55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4364355" y="2876550"/>
            <a:ext cx="3322320" cy="45958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正确性 fallback、YUV 输出语义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523875" y="3383756"/>
            <a:ext cx="1809750" cy="554831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0" name="矩形 39"/>
          <p:cNvSpPr>
            <a:spLocks noGrp="1"/>
          </p:cNvSpPr>
          <p:nvPr/>
        </p:nvSpPr>
        <p:spPr>
          <a:xfrm>
            <a:off x="600075" y="3431381"/>
            <a:ext cx="1657350" cy="45958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Windows Media Foundation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2333625" y="3383756"/>
            <a:ext cx="1954530" cy="554831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2" name="矩形 41"/>
          <p:cNvSpPr>
            <a:spLocks noGrp="1"/>
          </p:cNvSpPr>
          <p:nvPr/>
        </p:nvSpPr>
        <p:spPr>
          <a:xfrm>
            <a:off x="2409825" y="3431381"/>
            <a:ext cx="1802130" cy="45958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Windows 硬解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3" name="矩形 42"/>
          <p:cNvSpPr>
            <a:spLocks noGrp="1"/>
          </p:cNvSpPr>
          <p:nvPr/>
        </p:nvSpPr>
        <p:spPr>
          <a:xfrm>
            <a:off x="4288155" y="3383756"/>
            <a:ext cx="3474720" cy="554831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4" name="矩形 43"/>
          <p:cNvSpPr>
            <a:spLocks noGrp="1"/>
          </p:cNvSpPr>
          <p:nvPr/>
        </p:nvSpPr>
        <p:spPr>
          <a:xfrm>
            <a:off x="4364355" y="3431381"/>
            <a:ext cx="3322320" cy="45958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平台 decoder 生命周期与失败传播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5" name="矩形 44"/>
          <p:cNvSpPr>
            <a:spLocks noGrp="1"/>
          </p:cNvSpPr>
          <p:nvPr/>
        </p:nvSpPr>
        <p:spPr>
          <a:xfrm>
            <a:off x="523875" y="3938588"/>
            <a:ext cx="1809750" cy="55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6" name="矩形 45"/>
          <p:cNvSpPr>
            <a:spLocks noGrp="1"/>
          </p:cNvSpPr>
          <p:nvPr/>
        </p:nvSpPr>
        <p:spPr>
          <a:xfrm>
            <a:off x="600075" y="3986213"/>
            <a:ext cx="1657350" cy="45958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Android MediaCodec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7" name="矩形 46"/>
          <p:cNvSpPr>
            <a:spLocks noGrp="1"/>
          </p:cNvSpPr>
          <p:nvPr/>
        </p:nvSpPr>
        <p:spPr>
          <a:xfrm>
            <a:off x="2333625" y="3938588"/>
            <a:ext cx="1954530" cy="55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8" name="矩形 47"/>
          <p:cNvSpPr>
            <a:spLocks noGrp="1"/>
          </p:cNvSpPr>
          <p:nvPr/>
        </p:nvSpPr>
        <p:spPr>
          <a:xfrm>
            <a:off x="2409825" y="3986213"/>
            <a:ext cx="1802130" cy="45958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移动平台硬解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9" name="矩形 48"/>
          <p:cNvSpPr>
            <a:spLocks noGrp="1"/>
          </p:cNvSpPr>
          <p:nvPr/>
        </p:nvSpPr>
        <p:spPr>
          <a:xfrm>
            <a:off x="4288155" y="3938588"/>
            <a:ext cx="3474720" cy="55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0" name="矩形 49"/>
          <p:cNvSpPr>
            <a:spLocks noGrp="1"/>
          </p:cNvSpPr>
          <p:nvPr/>
        </p:nvSpPr>
        <p:spPr>
          <a:xfrm>
            <a:off x="4364355" y="3986213"/>
            <a:ext cx="3322320" cy="45958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buffer 输入输出、format change、释放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1" name="矩形 50"/>
          <p:cNvSpPr>
            <a:spLocks noGrp="1"/>
          </p:cNvSpPr>
          <p:nvPr/>
        </p:nvSpPr>
        <p:spPr>
          <a:xfrm>
            <a:off x="523875" y="4493419"/>
            <a:ext cx="1809750" cy="554831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2" name="矩形 51"/>
          <p:cNvSpPr>
            <a:spLocks noGrp="1"/>
          </p:cNvSpPr>
          <p:nvPr/>
        </p:nvSpPr>
        <p:spPr>
          <a:xfrm>
            <a:off x="600075" y="4541044"/>
            <a:ext cx="1657350" cy="45958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OH_AVCodec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3" name="矩形 52"/>
          <p:cNvSpPr>
            <a:spLocks noGrp="1"/>
          </p:cNvSpPr>
          <p:nvPr/>
        </p:nvSpPr>
        <p:spPr>
          <a:xfrm>
            <a:off x="2333625" y="4493419"/>
            <a:ext cx="1954530" cy="554831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4" name="矩形 53"/>
          <p:cNvSpPr>
            <a:spLocks noGrp="1"/>
          </p:cNvSpPr>
          <p:nvPr/>
        </p:nvSpPr>
        <p:spPr>
          <a:xfrm>
            <a:off x="2409825" y="4541044"/>
            <a:ext cx="1802130" cy="45958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目标平台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5" name="矩形 54"/>
          <p:cNvSpPr>
            <a:spLocks noGrp="1"/>
          </p:cNvSpPr>
          <p:nvPr/>
        </p:nvSpPr>
        <p:spPr>
          <a:xfrm>
            <a:off x="4288155" y="4493419"/>
            <a:ext cx="3474720" cy="554831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6" name="矩形 55"/>
          <p:cNvSpPr>
            <a:spLocks noGrp="1"/>
          </p:cNvSpPr>
          <p:nvPr/>
        </p:nvSpPr>
        <p:spPr>
          <a:xfrm>
            <a:off x="4364355" y="4541044"/>
            <a:ext cx="3322320" cy="45958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能力查询、AVBuffer/Surface、stride/plane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44" name="图片 143"/>
          <p:cNvPicPr>
            <a:picLocks noChangeAspect="1"/>
          </p:cNvPicPr>
          <p:nvPr/>
        </p:nvPicPr>
        <p:blipFill>
          <a:blip r:embed="rId1"/>
          <a:srcRect l="4545" r="4545"/>
          <a:stretch>
            <a:fillRect/>
          </a:stretch>
        </p:blipFill>
        <p:spPr>
          <a:xfrm>
            <a:off x="8048625" y="2428875"/>
            <a:ext cx="3571875" cy="2619375"/>
          </a:xfrm>
          <a:prstGeom prst="roundRect">
            <a:avLst>
              <a:gd name="adj" fmla="val 4364"/>
            </a:avLst>
          </a:prstGeom>
        </p:spPr>
      </p:pic>
      <p:sp>
        <p:nvSpPr>
          <p:cNvPr id="58" name="圆角矩形 57"/>
          <p:cNvSpPr>
            <a:spLocks noGrp="1"/>
          </p:cNvSpPr>
          <p:nvPr/>
        </p:nvSpPr>
        <p:spPr>
          <a:xfrm>
            <a:off x="8048625" y="2428875"/>
            <a:ext cx="3571875" cy="2619375"/>
          </a:xfrm>
          <a:prstGeom prst="roundRect">
            <a:avLst>
              <a:gd name="adj" fmla="val 4364"/>
            </a:avLst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59" name="矩形 58"/>
          <p:cNvSpPr>
            <a:spLocks noGrp="1"/>
          </p:cNvSpPr>
          <p:nvPr/>
        </p:nvSpPr>
        <p:spPr>
          <a:xfrm>
            <a:off x="1143000" y="5381625"/>
            <a:ext cx="57150" cy="552450"/>
          </a:xfrm>
          <a:prstGeom prst="rect">
            <a:avLst/>
          </a:prstGeom>
          <a:solidFill>
            <a:srgbClr val="E26852"/>
          </a:solidFill>
          <a:ln w="0">
            <a:noFill/>
            <a:prstDash val="solid"/>
          </a:ln>
        </p:spPr>
      </p:sp>
      <p:sp>
        <p:nvSpPr>
          <p:cNvPr id="60" name="矩形 59"/>
          <p:cNvSpPr>
            <a:spLocks noGrp="1"/>
          </p:cNvSpPr>
          <p:nvPr/>
        </p:nvSpPr>
        <p:spPr>
          <a:xfrm>
            <a:off x="1314450" y="5419725"/>
            <a:ext cx="9734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14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学习已有后端的“契约和失败语义”，不要照抄 Windows / Android 的 API、线程模型或 buffer ownership。</a:t>
            </a:r>
            <a:endParaRPr sz="14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1" name="矩形 60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8" name="矩形 57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05 FreeRDP 实战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对接方案分三层：接管、合成、回退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buNone/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31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6" name="圆角矩形 5"/>
          <p:cNvSpPr>
            <a:spLocks noGrp="1"/>
          </p:cNvSpPr>
          <p:nvPr/>
        </p:nvSpPr>
        <p:spPr>
          <a:xfrm>
            <a:off x="523875" y="1123950"/>
            <a:ext cx="11144250" cy="1190625"/>
          </a:xfrm>
          <a:prstGeom prst="roundRect">
            <a:avLst>
              <a:gd name="adj" fmla="val 11200"/>
            </a:avLst>
          </a:prstGeom>
          <a:solidFill>
            <a:srgbClr val="EAF5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76275" y="1238250"/>
            <a:ext cx="10839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12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  Bridge：只决定“是否接管”</a:t>
            </a:r>
            <a:endParaRPr sz="1200" b="1">
              <a:solidFill>
                <a:srgbClr val="1677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76275" y="1524000"/>
            <a:ext cx="609600" cy="28575"/>
          </a:xfrm>
          <a:prstGeom prst="rect">
            <a:avLst/>
          </a:prstGeom>
          <a:solidFill>
            <a:srgbClr val="1677C8"/>
          </a:solidFill>
          <a:ln w="0">
            <a:noFill/>
            <a:prstDash val="solid"/>
          </a:ln>
        </p:spPr>
      </p:sp>
      <p:sp>
        <p:nvSpPr>
          <p:cNvPr id="9" name="圆角矩形 8"/>
          <p:cNvSpPr>
            <a:spLocks noGrp="1"/>
          </p:cNvSpPr>
          <p:nvPr/>
        </p:nvSpPr>
        <p:spPr>
          <a:xfrm>
            <a:off x="2857500" y="1552575"/>
            <a:ext cx="2009775" cy="495300"/>
          </a:xfrm>
          <a:prstGeom prst="roundRect">
            <a:avLst>
              <a:gd name="adj" fmla="val 23077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2933700" y="1609725"/>
            <a:ext cx="1857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gfx→SurfaceCommand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圆角矩形 10"/>
          <p:cNvSpPr>
            <a:spLocks noGrp="1"/>
          </p:cNvSpPr>
          <p:nvPr/>
        </p:nvSpPr>
        <p:spPr>
          <a:xfrm>
            <a:off x="4981575" y="1552575"/>
            <a:ext cx="2009775" cy="495300"/>
          </a:xfrm>
          <a:prstGeom prst="roundRect">
            <a:avLst>
              <a:gd name="adj" fmla="val 23077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5057775" y="1609725"/>
            <a:ext cx="1857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OHOS RDPGFX bridge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圆角矩形 12"/>
          <p:cNvSpPr>
            <a:spLocks noGrp="1"/>
          </p:cNvSpPr>
          <p:nvPr/>
        </p:nvSpPr>
        <p:spPr>
          <a:xfrm>
            <a:off x="7105650" y="1552575"/>
            <a:ext cx="2009775" cy="495300"/>
          </a:xfrm>
          <a:prstGeom prst="roundRect">
            <a:avLst>
              <a:gd name="adj" fmla="val 23077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7181850" y="1609725"/>
            <a:ext cx="1857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顺序校验 + candidate policy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圆角矩形 14"/>
          <p:cNvSpPr>
            <a:spLocks noGrp="1"/>
          </p:cNvSpPr>
          <p:nvPr/>
        </p:nvSpPr>
        <p:spPr>
          <a:xfrm>
            <a:off x="9229725" y="1552575"/>
            <a:ext cx="2009775" cy="495300"/>
          </a:xfrm>
          <a:prstGeom prst="roundRect">
            <a:avLst>
              <a:gd name="adj" fmla="val 23077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9305925" y="1609725"/>
            <a:ext cx="1857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ready / consumed ?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29" name="直接箭头连接符 128"/>
          <p:cNvCxnSpPr>
            <a:stCxn id="9" idx="3"/>
            <a:endCxn id="11" idx="1"/>
          </p:cNvCxnSpPr>
          <p:nvPr/>
        </p:nvCxnSpPr>
        <p:spPr>
          <a:xfrm>
            <a:off x="4867275" y="1800225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30" name="直接箭头连接符 129"/>
          <p:cNvCxnSpPr>
            <a:stCxn id="11" idx="3"/>
            <a:endCxn id="13" idx="1"/>
          </p:cNvCxnSpPr>
          <p:nvPr/>
        </p:nvCxnSpPr>
        <p:spPr>
          <a:xfrm>
            <a:off x="6991350" y="1800225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31" name="直接箭头连接符 130"/>
          <p:cNvCxnSpPr>
            <a:stCxn id="13" idx="3"/>
            <a:endCxn id="15" idx="1"/>
          </p:cNvCxnSpPr>
          <p:nvPr/>
        </p:nvCxnSpPr>
        <p:spPr>
          <a:xfrm>
            <a:off x="9115425" y="1800225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0" name="矩形 19"/>
          <p:cNvSpPr>
            <a:spLocks noGrp="1"/>
          </p:cNvSpPr>
          <p:nvPr/>
        </p:nvSpPr>
        <p:spPr>
          <a:xfrm>
            <a:off x="742950" y="1619250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保存原回调；在接管前完成校验。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圆角矩形 20"/>
          <p:cNvSpPr>
            <a:spLocks noGrp="1"/>
          </p:cNvSpPr>
          <p:nvPr/>
        </p:nvSpPr>
        <p:spPr>
          <a:xfrm>
            <a:off x="523875" y="2524125"/>
            <a:ext cx="11144250" cy="1809750"/>
          </a:xfrm>
          <a:prstGeom prst="roundRect">
            <a:avLst>
              <a:gd name="adj" fmla="val 7368"/>
            </a:avLst>
          </a:prstGeom>
          <a:solidFill>
            <a:srgbClr val="EAF8F5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676275" y="2638425"/>
            <a:ext cx="10839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1200" b="1">
                <a:solidFill>
                  <a:srgbClr val="16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6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  Compositor：接管后负责“一帧完整闭环”</a:t>
            </a:r>
            <a:endParaRPr sz="1200" b="1">
              <a:solidFill>
                <a:srgbClr val="168C8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676275" y="2924175"/>
            <a:ext cx="609600" cy="28575"/>
          </a:xfrm>
          <a:prstGeom prst="rect">
            <a:avLst/>
          </a:prstGeom>
          <a:solidFill>
            <a:srgbClr val="168C82"/>
          </a:solidFill>
          <a:ln w="0">
            <a:noFill/>
            <a:prstDash val="solid"/>
          </a:ln>
        </p:spPr>
      </p:sp>
      <p:sp>
        <p:nvSpPr>
          <p:cNvPr id="24" name="圆角矩形 23"/>
          <p:cNvSpPr>
            <a:spLocks noGrp="1"/>
          </p:cNvSpPr>
          <p:nvPr/>
        </p:nvSpPr>
        <p:spPr>
          <a:xfrm>
            <a:off x="2714625" y="3143250"/>
            <a:ext cx="1349375" cy="59055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2790825" y="3200400"/>
            <a:ext cx="119697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callback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圆角矩形 25"/>
          <p:cNvSpPr>
            <a:spLocks noGrp="1"/>
          </p:cNvSpPr>
          <p:nvPr/>
        </p:nvSpPr>
        <p:spPr>
          <a:xfrm>
            <a:off x="4159250" y="3143250"/>
            <a:ext cx="1349375" cy="59055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4235450" y="3200400"/>
            <a:ext cx="119697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worker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圆角矩形 27"/>
          <p:cNvSpPr>
            <a:spLocks noGrp="1"/>
          </p:cNvSpPr>
          <p:nvPr/>
        </p:nvSpPr>
        <p:spPr>
          <a:xfrm>
            <a:off x="5603875" y="3143250"/>
            <a:ext cx="1349375" cy="59055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5680075" y="3200400"/>
            <a:ext cx="119697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OH_AVCodec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圆角矩形 29"/>
          <p:cNvSpPr>
            <a:spLocks noGrp="1"/>
          </p:cNvSpPr>
          <p:nvPr/>
        </p:nvSpPr>
        <p:spPr>
          <a:xfrm>
            <a:off x="7048500" y="3143250"/>
            <a:ext cx="1349375" cy="59055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7124700" y="3200400"/>
            <a:ext cx="119697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NativeBuffer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圆角矩形 31"/>
          <p:cNvSpPr>
            <a:spLocks noGrp="1"/>
          </p:cNvSpPr>
          <p:nvPr/>
        </p:nvSpPr>
        <p:spPr>
          <a:xfrm>
            <a:off x="8493125" y="3143250"/>
            <a:ext cx="1349375" cy="59055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8569325" y="3200400"/>
            <a:ext cx="119697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CompositeFrame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buNone/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+ pendingFrameId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圆角矩形 33"/>
          <p:cNvSpPr>
            <a:spLocks noGrp="1"/>
          </p:cNvSpPr>
          <p:nvPr/>
        </p:nvSpPr>
        <p:spPr>
          <a:xfrm>
            <a:off x="9937750" y="3143250"/>
            <a:ext cx="1349375" cy="59055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10013950" y="3200400"/>
            <a:ext cx="119697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matched EndFrame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buNone/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 EGL swap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48" name="直接箭头连接符 147"/>
          <p:cNvCxnSpPr>
            <a:stCxn id="24" idx="3"/>
            <a:endCxn id="26" idx="1"/>
          </p:cNvCxnSpPr>
          <p:nvPr/>
        </p:nvCxnSpPr>
        <p:spPr>
          <a:xfrm>
            <a:off x="4064000" y="3438525"/>
            <a:ext cx="9525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49" name="直接箭头连接符 148"/>
          <p:cNvCxnSpPr>
            <a:stCxn id="26" idx="3"/>
            <a:endCxn id="28" idx="1"/>
          </p:cNvCxnSpPr>
          <p:nvPr/>
        </p:nvCxnSpPr>
        <p:spPr>
          <a:xfrm>
            <a:off x="5508625" y="3438525"/>
            <a:ext cx="9525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50" name="直接箭头连接符 149"/>
          <p:cNvCxnSpPr>
            <a:stCxn id="28" idx="3"/>
            <a:endCxn id="30" idx="1"/>
          </p:cNvCxnSpPr>
          <p:nvPr/>
        </p:nvCxnSpPr>
        <p:spPr>
          <a:xfrm>
            <a:off x="6953250" y="3438525"/>
            <a:ext cx="9525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51" name="直接箭头连接符 150"/>
          <p:cNvCxnSpPr>
            <a:stCxn id="30" idx="3"/>
            <a:endCxn id="32" idx="1"/>
          </p:cNvCxnSpPr>
          <p:nvPr/>
        </p:nvCxnSpPr>
        <p:spPr>
          <a:xfrm>
            <a:off x="8397875" y="3438525"/>
            <a:ext cx="9525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52" name="直接箭头连接符 151"/>
          <p:cNvCxnSpPr>
            <a:stCxn id="32" idx="3"/>
            <a:endCxn id="34" idx="1"/>
          </p:cNvCxnSpPr>
          <p:nvPr/>
        </p:nvCxnSpPr>
        <p:spPr>
          <a:xfrm>
            <a:off x="9842500" y="3438525"/>
            <a:ext cx="9525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41" name="矩形 40"/>
          <p:cNvSpPr>
            <a:spLocks noGrp="1"/>
          </p:cNvSpPr>
          <p:nvPr/>
        </p:nvSpPr>
        <p:spPr>
          <a:xfrm>
            <a:off x="742950" y="3190875"/>
            <a:ext cx="1714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 fontScale="89286"/>
          </a:bodyPr>
          <a:lstStyle/>
          <a:p>
            <a:pPr algn="l">
              <a:buNone/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同一个 frameId 必须贯穿 decoder output、owner、pending 与 present。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2" name="圆角矩形 41"/>
          <p:cNvSpPr>
            <a:spLocks noGrp="1"/>
          </p:cNvSpPr>
          <p:nvPr/>
        </p:nvSpPr>
        <p:spPr>
          <a:xfrm>
            <a:off x="523875" y="4572000"/>
            <a:ext cx="11144250" cy="1190625"/>
          </a:xfrm>
          <a:prstGeom prst="roundRect">
            <a:avLst>
              <a:gd name="adj" fmla="val 11200"/>
            </a:avLst>
          </a:prstGeom>
          <a:solidFill>
            <a:srgbClr val="FFF7E3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3" name="矩形 42"/>
          <p:cNvSpPr>
            <a:spLocks noGrp="1"/>
          </p:cNvSpPr>
          <p:nvPr/>
        </p:nvSpPr>
        <p:spPr>
          <a:xfrm>
            <a:off x="676275" y="4686300"/>
            <a:ext cx="10839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1200" b="1">
                <a:solidFill>
                  <a:srgbClr val="D8951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D8951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  Fallback：接管前失败必须回到原路径</a:t>
            </a:r>
            <a:endParaRPr sz="1200" b="1">
              <a:solidFill>
                <a:srgbClr val="D8951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4" name="矩形 43"/>
          <p:cNvSpPr>
            <a:spLocks noGrp="1"/>
          </p:cNvSpPr>
          <p:nvPr/>
        </p:nvSpPr>
        <p:spPr>
          <a:xfrm>
            <a:off x="676275" y="4972050"/>
            <a:ext cx="609600" cy="28575"/>
          </a:xfrm>
          <a:prstGeom prst="rect">
            <a:avLst/>
          </a:prstGeom>
          <a:solidFill>
            <a:srgbClr val="D89518"/>
          </a:solidFill>
          <a:ln w="0">
            <a:noFill/>
            <a:prstDash val="solid"/>
          </a:ln>
        </p:spPr>
      </p:sp>
      <p:sp>
        <p:nvSpPr>
          <p:cNvPr id="45" name="圆角矩形 44"/>
          <p:cNvSpPr>
            <a:spLocks noGrp="1"/>
          </p:cNvSpPr>
          <p:nvPr/>
        </p:nvSpPr>
        <p:spPr>
          <a:xfrm>
            <a:off x="3143250" y="5000625"/>
            <a:ext cx="1924050" cy="495300"/>
          </a:xfrm>
          <a:prstGeom prst="roundRect">
            <a:avLst>
              <a:gd name="adj" fmla="val 23077"/>
            </a:avLst>
          </a:prstGeom>
          <a:solidFill>
            <a:srgbClr val="FCEEEE"/>
          </a:solidFill>
          <a:ln w="9525">
            <a:solidFill>
              <a:srgbClr val="C84B4B"/>
            </a:solidFill>
            <a:prstDash val="solid"/>
          </a:ln>
        </p:spPr>
      </p:sp>
      <p:sp>
        <p:nvSpPr>
          <p:cNvPr id="46" name="矩形 45"/>
          <p:cNvSpPr>
            <a:spLocks noGrp="1"/>
          </p:cNvSpPr>
          <p:nvPr/>
        </p:nvSpPr>
        <p:spPr>
          <a:xfrm>
            <a:off x="3219450" y="5057775"/>
            <a:ext cx="17716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takeover 前失败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7" name="圆角矩形 46"/>
          <p:cNvSpPr>
            <a:spLocks noGrp="1"/>
          </p:cNvSpPr>
          <p:nvPr/>
        </p:nvSpPr>
        <p:spPr>
          <a:xfrm>
            <a:off x="5200650" y="5000625"/>
            <a:ext cx="1924050" cy="495300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9525">
            <a:solidFill>
              <a:srgbClr val="D89518"/>
            </a:solidFill>
            <a:prstDash val="solid"/>
          </a:ln>
        </p:spPr>
      </p:sp>
      <p:sp>
        <p:nvSpPr>
          <p:cNvPr id="48" name="矩形 47"/>
          <p:cNvSpPr>
            <a:spLocks noGrp="1"/>
          </p:cNvSpPr>
          <p:nvPr/>
        </p:nvSpPr>
        <p:spPr>
          <a:xfrm>
            <a:off x="5276850" y="5057775"/>
            <a:ext cx="17716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original SurfaceCommand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9" name="圆角矩形 48"/>
          <p:cNvSpPr>
            <a:spLocks noGrp="1"/>
          </p:cNvSpPr>
          <p:nvPr/>
        </p:nvSpPr>
        <p:spPr>
          <a:xfrm>
            <a:off x="7258050" y="5000625"/>
            <a:ext cx="1924050" cy="495300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9525">
            <a:solidFill>
              <a:srgbClr val="D89518"/>
            </a:solidFill>
            <a:prstDash val="solid"/>
          </a:ln>
        </p:spPr>
      </p:sp>
      <p:sp>
        <p:nvSpPr>
          <p:cNvPr id="50" name="矩形 49"/>
          <p:cNvSpPr>
            <a:spLocks noGrp="1"/>
          </p:cNvSpPr>
          <p:nvPr/>
        </p:nvSpPr>
        <p:spPr>
          <a:xfrm>
            <a:off x="7334250" y="5057775"/>
            <a:ext cx="17716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gdi_SurfaceCommand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1" name="圆角矩形 50"/>
          <p:cNvSpPr>
            <a:spLocks noGrp="1"/>
          </p:cNvSpPr>
          <p:nvPr/>
        </p:nvSpPr>
        <p:spPr>
          <a:xfrm>
            <a:off x="9315450" y="5000625"/>
            <a:ext cx="1924050" cy="495300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9525">
            <a:solidFill>
              <a:srgbClr val="D89518"/>
            </a:solidFill>
            <a:prstDash val="solid"/>
          </a:ln>
        </p:spPr>
      </p:sp>
      <p:sp>
        <p:nvSpPr>
          <p:cNvPr id="52" name="矩形 51"/>
          <p:cNvSpPr>
            <a:spLocks noGrp="1"/>
          </p:cNvSpPr>
          <p:nvPr/>
        </p:nvSpPr>
        <p:spPr>
          <a:xfrm>
            <a:off x="9391650" y="5057775"/>
            <a:ext cx="17716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H264 subsystem / GDI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65" name="直接箭头连接符 164"/>
          <p:cNvCxnSpPr>
            <a:stCxn id="45" idx="3"/>
            <a:endCxn id="47" idx="1"/>
          </p:cNvCxnSpPr>
          <p:nvPr/>
        </p:nvCxnSpPr>
        <p:spPr>
          <a:xfrm>
            <a:off x="5067300" y="5248275"/>
            <a:ext cx="13335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66" name="直接箭头连接符 165"/>
          <p:cNvCxnSpPr>
            <a:stCxn id="47" idx="3"/>
            <a:endCxn id="49" idx="1"/>
          </p:cNvCxnSpPr>
          <p:nvPr/>
        </p:nvCxnSpPr>
        <p:spPr>
          <a:xfrm>
            <a:off x="7124700" y="5248275"/>
            <a:ext cx="13335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67" name="直接箭头连接符 166"/>
          <p:cNvCxnSpPr>
            <a:stCxn id="49" idx="3"/>
            <a:endCxn id="51" idx="1"/>
          </p:cNvCxnSpPr>
          <p:nvPr/>
        </p:nvCxnSpPr>
        <p:spPr>
          <a:xfrm>
            <a:off x="9182100" y="5248275"/>
            <a:ext cx="13335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56" name="矩形 55"/>
          <p:cNvSpPr>
            <a:spLocks noGrp="1"/>
          </p:cNvSpPr>
          <p:nvPr/>
        </p:nvSpPr>
        <p:spPr>
          <a:xfrm>
            <a:off x="1285875" y="5953125"/>
            <a:ext cx="962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ctr">
              <a:buNone/>
              <a:defRPr sz="1350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边界原则：接管前可回退；接管后不能再让 GDI 与 GPU 同时写同一 Surface。</a:t>
            </a:r>
            <a:endParaRPr sz="1350" b="1">
              <a:solidFill>
                <a:srgbClr val="C84B4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7" name="矩形 56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1" name="矩形 60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05 FreeRDP 实战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最小穿刺不是性能优化，只证明一帧闭环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buNone/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32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523875" y="1143000"/>
            <a:ext cx="838200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00075" y="1190625"/>
            <a:ext cx="685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穿刺</a:t>
            </a:r>
            <a:endParaRPr sz="9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362075" y="1143000"/>
            <a:ext cx="2362200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1438275" y="1190625"/>
            <a:ext cx="2209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只证明什么</a:t>
            </a:r>
            <a:endParaRPr sz="9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3724275" y="1143000"/>
            <a:ext cx="2286000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3800475" y="1190625"/>
            <a:ext cx="2133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必须看到的证据</a:t>
            </a:r>
            <a:endParaRPr sz="9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6010275" y="1143000"/>
            <a:ext cx="2133600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6086475" y="1190625"/>
            <a:ext cx="1981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还不能证明什么</a:t>
            </a:r>
            <a:endParaRPr sz="9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523875" y="1543050"/>
            <a:ext cx="838200" cy="87249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600075" y="1590675"/>
            <a:ext cx="68580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SP-01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1362075" y="1543050"/>
            <a:ext cx="2362200" cy="87249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1438275" y="1590675"/>
            <a:ext cx="220980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bridge 与 compositor 真正进入 arm64 / HAP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3724275" y="1543050"/>
            <a:ext cx="2286000" cy="87249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3800475" y="1590675"/>
            <a:ext cx="213360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build symbol / packaged binary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6010275" y="1543050"/>
            <a:ext cx="2133600" cy="87249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6086475" y="1590675"/>
            <a:ext cx="198120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真机一定走 GPU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523875" y="2415540"/>
            <a:ext cx="838200" cy="87249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600075" y="2463165"/>
            <a:ext cx="68580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SP-02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1362075" y="2415540"/>
            <a:ext cx="2362200" cy="87249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1438275" y="2463165"/>
            <a:ext cx="220980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真机选择到 hardware decoder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3724275" y="2415540"/>
            <a:ext cx="2286000" cy="87249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3800475" y="2463165"/>
            <a:ext cx="213360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decoder identity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6010275" y="2415540"/>
            <a:ext cx="2133600" cy="87249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6086475" y="2463165"/>
            <a:ext cx="198120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一帧已正确显示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523875" y="3288030"/>
            <a:ext cx="838200" cy="87249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600075" y="3335655"/>
            <a:ext cx="68580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SP-03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1362075" y="3288030"/>
            <a:ext cx="2362200" cy="87249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1438275" y="3335655"/>
            <a:ext cx="220980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 AVC420 sample 有可关联输出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3724275" y="3288030"/>
            <a:ext cx="2286000" cy="87249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3800475" y="3335655"/>
            <a:ext cx="213360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frameId + format + stride / planes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6010275" y="3288030"/>
            <a:ext cx="2133600" cy="87249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6086475" y="3335655"/>
            <a:ext cx="198120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owner 与 present 正确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523875" y="4160520"/>
            <a:ext cx="838200" cy="87249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9" name="矩形 38"/>
          <p:cNvSpPr>
            <a:spLocks noGrp="1"/>
          </p:cNvSpPr>
          <p:nvPr/>
        </p:nvSpPr>
        <p:spPr>
          <a:xfrm>
            <a:off x="600075" y="4208145"/>
            <a:ext cx="68580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SP-04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1362075" y="4160520"/>
            <a:ext cx="2362200" cy="87249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1" name="矩形 40"/>
          <p:cNvSpPr>
            <a:spLocks noGrp="1"/>
          </p:cNvSpPr>
          <p:nvPr/>
        </p:nvSpPr>
        <p:spPr>
          <a:xfrm>
            <a:off x="1438275" y="4208145"/>
            <a:ext cx="220980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同一帧完成 composite → pending → matched present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2" name="矩形 41"/>
          <p:cNvSpPr>
            <a:spLocks noGrp="1"/>
          </p:cNvSpPr>
          <p:nvPr/>
        </p:nvSpPr>
        <p:spPr>
          <a:xfrm>
            <a:off x="3724275" y="4160520"/>
            <a:ext cx="2286000" cy="87249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3" name="矩形 42"/>
          <p:cNvSpPr>
            <a:spLocks noGrp="1"/>
          </p:cNvSpPr>
          <p:nvPr/>
        </p:nvSpPr>
        <p:spPr>
          <a:xfrm>
            <a:off x="3800475" y="4208145"/>
            <a:ext cx="213360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owner + matched EndFrame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4" name="矩形 43"/>
          <p:cNvSpPr>
            <a:spLocks noGrp="1"/>
          </p:cNvSpPr>
          <p:nvPr/>
        </p:nvSpPr>
        <p:spPr>
          <a:xfrm>
            <a:off x="6010275" y="4160520"/>
            <a:ext cx="2133600" cy="87249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5" name="矩形 44"/>
          <p:cNvSpPr>
            <a:spLocks noGrp="1"/>
          </p:cNvSpPr>
          <p:nvPr/>
        </p:nvSpPr>
        <p:spPr>
          <a:xfrm>
            <a:off x="6086475" y="4208145"/>
            <a:ext cx="198120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连续播放不卡顿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" name="矩形 45"/>
          <p:cNvSpPr>
            <a:spLocks noGrp="1"/>
          </p:cNvSpPr>
          <p:nvPr/>
        </p:nvSpPr>
        <p:spPr>
          <a:xfrm>
            <a:off x="523875" y="5033010"/>
            <a:ext cx="838200" cy="87249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7" name="矩形 46"/>
          <p:cNvSpPr>
            <a:spLocks noGrp="1"/>
          </p:cNvSpPr>
          <p:nvPr/>
        </p:nvSpPr>
        <p:spPr>
          <a:xfrm>
            <a:off x="600075" y="5080635"/>
            <a:ext cx="68580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SP-05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8" name="矩形 47"/>
          <p:cNvSpPr>
            <a:spLocks noGrp="1"/>
          </p:cNvSpPr>
          <p:nvPr/>
        </p:nvSpPr>
        <p:spPr>
          <a:xfrm>
            <a:off x="1362075" y="5033010"/>
            <a:ext cx="2362200" cy="87249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9" name="矩形 48"/>
          <p:cNvSpPr>
            <a:spLocks noGrp="1"/>
          </p:cNvSpPr>
          <p:nvPr/>
        </p:nvSpPr>
        <p:spPr>
          <a:xfrm>
            <a:off x="1438275" y="5080635"/>
            <a:ext cx="220980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接管前失败能回到原路径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0" name="矩形 49"/>
          <p:cNvSpPr>
            <a:spLocks noGrp="1"/>
          </p:cNvSpPr>
          <p:nvPr/>
        </p:nvSpPr>
        <p:spPr>
          <a:xfrm>
            <a:off x="3724275" y="5033010"/>
            <a:ext cx="2286000" cy="87249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1" name="矩形 50"/>
          <p:cNvSpPr>
            <a:spLocks noGrp="1"/>
          </p:cNvSpPr>
          <p:nvPr/>
        </p:nvSpPr>
        <p:spPr>
          <a:xfrm>
            <a:off x="3800475" y="5080635"/>
            <a:ext cx="213360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fallback reason + original callback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2" name="矩形 51"/>
          <p:cNvSpPr>
            <a:spLocks noGrp="1"/>
          </p:cNvSpPr>
          <p:nvPr/>
        </p:nvSpPr>
        <p:spPr>
          <a:xfrm>
            <a:off x="6010275" y="5033010"/>
            <a:ext cx="2133600" cy="87249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3" name="矩形 52"/>
          <p:cNvSpPr>
            <a:spLocks noGrp="1"/>
          </p:cNvSpPr>
          <p:nvPr/>
        </p:nvSpPr>
        <p:spPr>
          <a:xfrm>
            <a:off x="6086475" y="5080635"/>
            <a:ext cx="198120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工程化队列和生命周期完成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16" name="图片 115"/>
          <p:cNvPicPr>
            <a:picLocks noChangeAspect="1"/>
          </p:cNvPicPr>
          <p:nvPr/>
        </p:nvPicPr>
        <p:blipFill>
          <a:blip r:embed="rId1"/>
          <a:srcRect l="4422" r="4422"/>
          <a:stretch>
            <a:fillRect/>
          </a:stretch>
        </p:blipFill>
        <p:spPr>
          <a:xfrm>
            <a:off x="8429625" y="1143000"/>
            <a:ext cx="3190875" cy="2333625"/>
          </a:xfrm>
          <a:prstGeom prst="roundRect">
            <a:avLst>
              <a:gd name="adj" fmla="val 4898"/>
            </a:avLst>
          </a:prstGeom>
        </p:spPr>
      </p:pic>
      <p:sp>
        <p:nvSpPr>
          <p:cNvPr id="55" name="圆角矩形 54"/>
          <p:cNvSpPr>
            <a:spLocks noGrp="1"/>
          </p:cNvSpPr>
          <p:nvPr/>
        </p:nvSpPr>
        <p:spPr>
          <a:xfrm>
            <a:off x="8429625" y="1143000"/>
            <a:ext cx="3190875" cy="2333625"/>
          </a:xfrm>
          <a:prstGeom prst="roundRect">
            <a:avLst>
              <a:gd name="adj" fmla="val 4898"/>
            </a:avLst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56" name="圆角矩形 55"/>
          <p:cNvSpPr>
            <a:spLocks noGrp="1"/>
          </p:cNvSpPr>
          <p:nvPr/>
        </p:nvSpPr>
        <p:spPr>
          <a:xfrm>
            <a:off x="8429625" y="3762375"/>
            <a:ext cx="3190875" cy="2143125"/>
          </a:xfrm>
          <a:prstGeom prst="roundRect">
            <a:avLst>
              <a:gd name="adj" fmla="val 6222"/>
            </a:avLst>
          </a:prstGeom>
          <a:solidFill>
            <a:srgbClr val="FFF0E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7" name="矩形 56"/>
          <p:cNvSpPr>
            <a:spLocks noGrp="1"/>
          </p:cNvSpPr>
          <p:nvPr/>
        </p:nvSpPr>
        <p:spPr>
          <a:xfrm>
            <a:off x="8582025" y="3876675"/>
            <a:ext cx="28860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为什么只做一帧</a:t>
            </a:r>
            <a:endParaRPr sz="12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8" name="矩形 57"/>
          <p:cNvSpPr>
            <a:spLocks noGrp="1"/>
          </p:cNvSpPr>
          <p:nvPr/>
        </p:nvSpPr>
        <p:spPr>
          <a:xfrm>
            <a:off x="8582025" y="4162425"/>
            <a:ext cx="609600" cy="28575"/>
          </a:xfrm>
          <a:prstGeom prst="rect">
            <a:avLst/>
          </a:prstGeom>
          <a:solidFill>
            <a:srgbClr val="E26852"/>
          </a:solidFill>
          <a:ln w="0">
            <a:noFill/>
            <a:prstDash val="solid"/>
          </a:ln>
        </p:spPr>
      </p:sp>
      <p:sp>
        <p:nvSpPr>
          <p:cNvPr id="59" name="矩形 58"/>
          <p:cNvSpPr>
            <a:spLocks noGrp="1"/>
          </p:cNvSpPr>
          <p:nvPr/>
        </p:nvSpPr>
        <p:spPr>
          <a:xfrm>
            <a:off x="8715375" y="4238625"/>
            <a:ext cx="2619375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 fontScale="96354"/>
          </a:bodyPr>
          <a:lstStyle/>
          <a:p>
            <a:pPr algn="l">
              <a:buNone/>
              <a:def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一帧足以验证接口边界：</a:t>
            </a:r>
            <a:endParaRPr sz="12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sz="1200"/>
          </a:p>
          <a:p>
            <a:pPr algn="l">
              <a:buNone/>
              <a:def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decoder 输出格式是否可用</a:t>
            </a:r>
            <a:endParaRPr sz="12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owner 是否唯一</a:t>
            </a:r>
            <a:endParaRPr sz="12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EndFrame 是否与 pending 匹配</a:t>
            </a:r>
            <a:endParaRPr sz="12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失败是否可回退</a:t>
            </a:r>
            <a:endParaRPr sz="12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sz="1200"/>
          </a:p>
          <a:p>
            <a:pPr algn="l">
              <a:buNone/>
              <a:def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但它不等于性能优化完成。</a:t>
            </a:r>
            <a:endParaRPr sz="12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0" name="矩形 59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" name="矩形 89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05 FreeRDP 实战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穿刺之后再拆任务，每张任务卡只有一个结果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buNone/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33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6" name="圆角矩形 5"/>
          <p:cNvSpPr>
            <a:spLocks noGrp="1"/>
          </p:cNvSpPr>
          <p:nvPr/>
        </p:nvSpPr>
        <p:spPr>
          <a:xfrm>
            <a:off x="1619250" y="1095375"/>
            <a:ext cx="2124075" cy="495300"/>
          </a:xfrm>
          <a:prstGeom prst="roundRect">
            <a:avLst>
              <a:gd name="adj" fmla="val 23077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695450" y="1152525"/>
            <a:ext cx="19716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观察 T00</a:t>
            </a:r>
            <a:endParaRPr sz="12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圆角矩形 7"/>
          <p:cNvSpPr>
            <a:spLocks noGrp="1"/>
          </p:cNvSpPr>
          <p:nvPr/>
        </p:nvSpPr>
        <p:spPr>
          <a:xfrm>
            <a:off x="3895725" y="1095375"/>
            <a:ext cx="2124075" cy="495300"/>
          </a:xfrm>
          <a:prstGeom prst="roundRect">
            <a:avLst>
              <a:gd name="adj" fmla="val 23077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3971925" y="1152525"/>
            <a:ext cx="19716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路径 T01–T03</a:t>
            </a:r>
            <a:endParaRPr sz="12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6172200" y="1095375"/>
            <a:ext cx="2124075" cy="495300"/>
          </a:xfrm>
          <a:prstGeom prst="roundRect">
            <a:avLst>
              <a:gd name="adj" fmla="val 23077"/>
            </a:avLst>
          </a:prstGeom>
          <a:solidFill>
            <a:srgbClr val="FFF7E3"/>
          </a:solidFill>
          <a:ln w="9525">
            <a:solidFill>
              <a:srgbClr val="D89518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6248400" y="1152525"/>
            <a:ext cx="19716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韧性 T04–T06</a:t>
            </a:r>
            <a:endParaRPr sz="12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8448675" y="1095375"/>
            <a:ext cx="2124075" cy="495300"/>
          </a:xfrm>
          <a:prstGeom prst="roundRect">
            <a:avLst>
              <a:gd name="adj" fmla="val 23077"/>
            </a:avLst>
          </a:prstGeom>
          <a:solidFill>
            <a:srgbClr val="EBF8F1"/>
          </a:solidFill>
          <a:ln w="9525">
            <a:solidFill>
              <a:srgbClr val="2F8F5B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8524875" y="1152525"/>
            <a:ext cx="19716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验收 T07</a:t>
            </a:r>
            <a:endParaRPr sz="12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19" name="直接箭头连接符 118"/>
          <p:cNvCxnSpPr>
            <a:stCxn id="6" idx="3"/>
            <a:endCxn id="8" idx="1"/>
          </p:cNvCxnSpPr>
          <p:nvPr/>
        </p:nvCxnSpPr>
        <p:spPr>
          <a:xfrm>
            <a:off x="3743325" y="1343025"/>
            <a:ext cx="1524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20" name="直接箭头连接符 119"/>
          <p:cNvCxnSpPr>
            <a:stCxn id="8" idx="3"/>
            <a:endCxn id="10" idx="1"/>
          </p:cNvCxnSpPr>
          <p:nvPr/>
        </p:nvCxnSpPr>
        <p:spPr>
          <a:xfrm>
            <a:off x="6019800" y="1343025"/>
            <a:ext cx="1524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21" name="直接箭头连接符 120"/>
          <p:cNvCxnSpPr>
            <a:stCxn id="10" idx="3"/>
            <a:endCxn id="12" idx="1"/>
          </p:cNvCxnSpPr>
          <p:nvPr/>
        </p:nvCxnSpPr>
        <p:spPr>
          <a:xfrm>
            <a:off x="8296275" y="1343025"/>
            <a:ext cx="1524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17" name="矩形 16"/>
          <p:cNvSpPr>
            <a:spLocks noGrp="1"/>
          </p:cNvSpPr>
          <p:nvPr/>
        </p:nvSpPr>
        <p:spPr>
          <a:xfrm>
            <a:off x="428625" y="1809750"/>
            <a:ext cx="906780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504825" y="1857375"/>
            <a:ext cx="75438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阶段</a:t>
            </a:r>
            <a:endParaRPr sz="9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1335405" y="1809750"/>
            <a:ext cx="793433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1411605" y="1857375"/>
            <a:ext cx="641033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Task</a:t>
            </a:r>
            <a:endParaRPr sz="9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2128838" y="1809750"/>
            <a:ext cx="4307205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2205038" y="1857375"/>
            <a:ext cx="415480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主要源码边界</a:t>
            </a:r>
            <a:endParaRPr sz="9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6436043" y="1809750"/>
            <a:ext cx="5327333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6512243" y="1857375"/>
            <a:ext cx="5174933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一个可观察结果 / Stop</a:t>
            </a:r>
            <a:endParaRPr sz="9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428625" y="2209800"/>
            <a:ext cx="906780" cy="47982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504825" y="2257425"/>
            <a:ext cx="754380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观察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1335405" y="2209800"/>
            <a:ext cx="793433" cy="47982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1411605" y="2257425"/>
            <a:ext cx="641033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T00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2128838" y="2209800"/>
            <a:ext cx="4307205" cy="47982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2205038" y="2257425"/>
            <a:ext cx="4154805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diagnostics only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6436043" y="2209800"/>
            <a:ext cx="5327333" cy="47982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6512243" y="2257425"/>
            <a:ext cx="5174933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保存同 runId before；路径不明则不归因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428625" y="2689622"/>
            <a:ext cx="906780" cy="479822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504825" y="2737247"/>
            <a:ext cx="754380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路径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1335405" y="2689622"/>
            <a:ext cx="793433" cy="479822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1411605" y="2737247"/>
            <a:ext cx="641033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T01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2128838" y="2689622"/>
            <a:ext cx="4307205" cy="479822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2205038" y="2737247"/>
            <a:ext cx="4154805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InstallRdpgfxDiagnosticsHooks、bridge_attach、decoder init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6436043" y="2689622"/>
            <a:ext cx="5327333" cy="479822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0" name="矩形 39"/>
          <p:cNvSpPr>
            <a:spLocks noGrp="1"/>
          </p:cNvSpPr>
          <p:nvPr/>
        </p:nvSpPr>
        <p:spPr>
          <a:xfrm>
            <a:off x="6512243" y="2737247"/>
            <a:ext cx="5174933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bridge + hardware decoder 真机成立；只编译成功则停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428625" y="3169444"/>
            <a:ext cx="906780" cy="47982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2" name="矩形 41"/>
          <p:cNvSpPr>
            <a:spLocks noGrp="1"/>
          </p:cNvSpPr>
          <p:nvPr/>
        </p:nvSpPr>
        <p:spPr>
          <a:xfrm>
            <a:off x="504825" y="3217069"/>
            <a:ext cx="754380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路径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3" name="矩形 42"/>
          <p:cNvSpPr>
            <a:spLocks noGrp="1"/>
          </p:cNvSpPr>
          <p:nvPr/>
        </p:nvSpPr>
        <p:spPr>
          <a:xfrm>
            <a:off x="1335405" y="3169444"/>
            <a:ext cx="793433" cy="47982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4" name="矩形 43"/>
          <p:cNvSpPr>
            <a:spLocks noGrp="1"/>
          </p:cNvSpPr>
          <p:nvPr/>
        </p:nvSpPr>
        <p:spPr>
          <a:xfrm>
            <a:off x="1411605" y="3217069"/>
            <a:ext cx="641033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T02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5" name="矩形 44"/>
          <p:cNvSpPr>
            <a:spLocks noGrp="1"/>
          </p:cNvSpPr>
          <p:nvPr/>
        </p:nvSpPr>
        <p:spPr>
          <a:xfrm>
            <a:off x="2128838" y="3169444"/>
            <a:ext cx="4307205" cy="47982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6" name="矩形 45"/>
          <p:cNvSpPr>
            <a:spLocks noGrp="1"/>
          </p:cNvSpPr>
          <p:nvPr/>
        </p:nvSpPr>
        <p:spPr>
          <a:xfrm>
            <a:off x="2205038" y="3217069"/>
            <a:ext cx="4154805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decoder input/output、OH_AVBuffer_GetNativeBuffer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7" name="矩形 46"/>
          <p:cNvSpPr>
            <a:spLocks noGrp="1"/>
          </p:cNvSpPr>
          <p:nvPr/>
        </p:nvSpPr>
        <p:spPr>
          <a:xfrm>
            <a:off x="6436043" y="3169444"/>
            <a:ext cx="5327333" cy="47982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8" name="矩形 47"/>
          <p:cNvSpPr>
            <a:spLocks noGrp="1"/>
          </p:cNvSpPr>
          <p:nvPr/>
        </p:nvSpPr>
        <p:spPr>
          <a:xfrm>
            <a:off x="6512243" y="3217069"/>
            <a:ext cx="5174933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一帧输入输出可关联；format/native buffer 不明则停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9" name="矩形 48"/>
          <p:cNvSpPr>
            <a:spLocks noGrp="1"/>
          </p:cNvSpPr>
          <p:nvPr/>
        </p:nvSpPr>
        <p:spPr>
          <a:xfrm>
            <a:off x="428625" y="3649266"/>
            <a:ext cx="906780" cy="479822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0" name="矩形 49"/>
          <p:cNvSpPr>
            <a:spLocks noGrp="1"/>
          </p:cNvSpPr>
          <p:nvPr/>
        </p:nvSpPr>
        <p:spPr>
          <a:xfrm>
            <a:off x="504825" y="3696891"/>
            <a:ext cx="754380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路径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1" name="矩形 50"/>
          <p:cNvSpPr>
            <a:spLocks noGrp="1"/>
          </p:cNvSpPr>
          <p:nvPr/>
        </p:nvSpPr>
        <p:spPr>
          <a:xfrm>
            <a:off x="1335405" y="3649266"/>
            <a:ext cx="793433" cy="479822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2" name="矩形 51"/>
          <p:cNvSpPr>
            <a:spLocks noGrp="1"/>
          </p:cNvSpPr>
          <p:nvPr/>
        </p:nvSpPr>
        <p:spPr>
          <a:xfrm>
            <a:off x="1411605" y="3696891"/>
            <a:ext cx="641033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T03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3" name="矩形 52"/>
          <p:cNvSpPr>
            <a:spLocks noGrp="1"/>
          </p:cNvSpPr>
          <p:nvPr/>
        </p:nvSpPr>
        <p:spPr>
          <a:xfrm>
            <a:off x="2128838" y="3649266"/>
            <a:ext cx="4307205" cy="479822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4" name="矩形 53"/>
          <p:cNvSpPr>
            <a:spLocks noGrp="1"/>
          </p:cNvSpPr>
          <p:nvPr/>
        </p:nvSpPr>
        <p:spPr>
          <a:xfrm>
            <a:off x="2205038" y="3696891"/>
            <a:ext cx="4154805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candidate policy、OnSurfaceCommand、ProcessCommand、PresentEndFrame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5" name="矩形 54"/>
          <p:cNvSpPr>
            <a:spLocks noGrp="1"/>
          </p:cNvSpPr>
          <p:nvPr/>
        </p:nvSpPr>
        <p:spPr>
          <a:xfrm>
            <a:off x="6436043" y="3649266"/>
            <a:ext cx="5327333" cy="479822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6" name="矩形 55"/>
          <p:cNvSpPr>
            <a:spLocks noGrp="1"/>
          </p:cNvSpPr>
          <p:nvPr/>
        </p:nvSpPr>
        <p:spPr>
          <a:xfrm>
            <a:off x="6512243" y="3696891"/>
            <a:ext cx="5174933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consumed→owner→matched present 闭环；GDI/GPU 双写则 FAIL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7" name="矩形 56"/>
          <p:cNvSpPr>
            <a:spLocks noGrp="1"/>
          </p:cNvSpPr>
          <p:nvPr/>
        </p:nvSpPr>
        <p:spPr>
          <a:xfrm>
            <a:off x="428625" y="4129088"/>
            <a:ext cx="906780" cy="47982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8" name="矩形 57"/>
          <p:cNvSpPr>
            <a:spLocks noGrp="1"/>
          </p:cNvSpPr>
          <p:nvPr/>
        </p:nvSpPr>
        <p:spPr>
          <a:xfrm>
            <a:off x="504825" y="4176713"/>
            <a:ext cx="754380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韧性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9" name="矩形 58"/>
          <p:cNvSpPr>
            <a:spLocks noGrp="1"/>
          </p:cNvSpPr>
          <p:nvPr/>
        </p:nvSpPr>
        <p:spPr>
          <a:xfrm>
            <a:off x="1335405" y="4129088"/>
            <a:ext cx="793433" cy="47982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60" name="矩形 59"/>
          <p:cNvSpPr>
            <a:spLocks noGrp="1"/>
          </p:cNvSpPr>
          <p:nvPr/>
        </p:nvSpPr>
        <p:spPr>
          <a:xfrm>
            <a:off x="1411605" y="4176713"/>
            <a:ext cx="641033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T04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1" name="矩形 60"/>
          <p:cNvSpPr>
            <a:spLocks noGrp="1"/>
          </p:cNvSpPr>
          <p:nvPr/>
        </p:nvSpPr>
        <p:spPr>
          <a:xfrm>
            <a:off x="2128838" y="4129088"/>
            <a:ext cx="4307205" cy="47982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62" name="矩形 61"/>
          <p:cNvSpPr>
            <a:spLocks noGrp="1"/>
          </p:cNvSpPr>
          <p:nvPr/>
        </p:nvSpPr>
        <p:spPr>
          <a:xfrm>
            <a:off x="2205038" y="4176713"/>
            <a:ext cx="4154805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EnqueueSurfaceCommand、worker compaction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3" name="矩形 62"/>
          <p:cNvSpPr>
            <a:spLocks noGrp="1"/>
          </p:cNvSpPr>
          <p:nvPr/>
        </p:nvSpPr>
        <p:spPr>
          <a:xfrm>
            <a:off x="6436043" y="4129088"/>
            <a:ext cx="5327333" cy="47982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64" name="矩形 63"/>
          <p:cNvSpPr>
            <a:spLocks noGrp="1"/>
          </p:cNvSpPr>
          <p:nvPr/>
        </p:nvSpPr>
        <p:spPr>
          <a:xfrm>
            <a:off x="6512243" y="4176713"/>
            <a:ext cx="5174933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连续队列有界；depth/age 持续增长则停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5" name="矩形 64"/>
          <p:cNvSpPr>
            <a:spLocks noGrp="1"/>
          </p:cNvSpPr>
          <p:nvPr/>
        </p:nvSpPr>
        <p:spPr>
          <a:xfrm>
            <a:off x="428625" y="4608909"/>
            <a:ext cx="906780" cy="479822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66" name="矩形 65"/>
          <p:cNvSpPr>
            <a:spLocks noGrp="1"/>
          </p:cNvSpPr>
          <p:nvPr/>
        </p:nvSpPr>
        <p:spPr>
          <a:xfrm>
            <a:off x="504825" y="4656534"/>
            <a:ext cx="754380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韧性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7" name="矩形 66"/>
          <p:cNvSpPr>
            <a:spLocks noGrp="1"/>
          </p:cNvSpPr>
          <p:nvPr/>
        </p:nvSpPr>
        <p:spPr>
          <a:xfrm>
            <a:off x="1335405" y="4608909"/>
            <a:ext cx="793433" cy="479822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68" name="矩形 67"/>
          <p:cNvSpPr>
            <a:spLocks noGrp="1"/>
          </p:cNvSpPr>
          <p:nvPr/>
        </p:nvSpPr>
        <p:spPr>
          <a:xfrm>
            <a:off x="1411605" y="4656534"/>
            <a:ext cx="641033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T05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9" name="矩形 68"/>
          <p:cNvSpPr>
            <a:spLocks noGrp="1"/>
          </p:cNvSpPr>
          <p:nvPr/>
        </p:nvSpPr>
        <p:spPr>
          <a:xfrm>
            <a:off x="2128838" y="4608909"/>
            <a:ext cx="4307205" cy="479822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0" name="矩形 69"/>
          <p:cNvSpPr>
            <a:spLocks noGrp="1"/>
          </p:cNvSpPr>
          <p:nvPr/>
        </p:nvSpPr>
        <p:spPr>
          <a:xfrm>
            <a:off x="2205038" y="4656534"/>
            <a:ext cx="4154805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target generation、pause/detach/recreate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1" name="矩形 70"/>
          <p:cNvSpPr>
            <a:spLocks noGrp="1"/>
          </p:cNvSpPr>
          <p:nvPr/>
        </p:nvSpPr>
        <p:spPr>
          <a:xfrm>
            <a:off x="6436043" y="4608909"/>
            <a:ext cx="5327333" cy="479822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2" name="矩形 71"/>
          <p:cNvSpPr>
            <a:spLocks noGrp="1"/>
          </p:cNvSpPr>
          <p:nvPr/>
        </p:nvSpPr>
        <p:spPr>
          <a:xfrm>
            <a:off x="6512243" y="4656534"/>
            <a:ext cx="5174933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resize/后台/重连拒绝 stale task；旧 target 可写则 FAIL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3" name="矩形 72"/>
          <p:cNvSpPr>
            <a:spLocks noGrp="1"/>
          </p:cNvSpPr>
          <p:nvPr/>
        </p:nvSpPr>
        <p:spPr>
          <a:xfrm>
            <a:off x="428625" y="5088731"/>
            <a:ext cx="906780" cy="47982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4" name="矩形 73"/>
          <p:cNvSpPr>
            <a:spLocks noGrp="1"/>
          </p:cNvSpPr>
          <p:nvPr/>
        </p:nvSpPr>
        <p:spPr>
          <a:xfrm>
            <a:off x="504825" y="5136356"/>
            <a:ext cx="754380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韧性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5" name="矩形 74"/>
          <p:cNvSpPr>
            <a:spLocks noGrp="1"/>
          </p:cNvSpPr>
          <p:nvPr/>
        </p:nvSpPr>
        <p:spPr>
          <a:xfrm>
            <a:off x="1335405" y="5088731"/>
            <a:ext cx="793433" cy="47982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6" name="矩形 75"/>
          <p:cNvSpPr>
            <a:spLocks noGrp="1"/>
          </p:cNvSpPr>
          <p:nvPr/>
        </p:nvSpPr>
        <p:spPr>
          <a:xfrm>
            <a:off x="1411605" y="5136356"/>
            <a:ext cx="641033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T06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7" name="矩形 76"/>
          <p:cNvSpPr>
            <a:spLocks noGrp="1"/>
          </p:cNvSpPr>
          <p:nvPr/>
        </p:nvSpPr>
        <p:spPr>
          <a:xfrm>
            <a:off x="2128838" y="5088731"/>
            <a:ext cx="4307205" cy="47982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8" name="矩形 77"/>
          <p:cNvSpPr>
            <a:spLocks noGrp="1"/>
          </p:cNvSpPr>
          <p:nvPr/>
        </p:nvSpPr>
        <p:spPr>
          <a:xfrm>
            <a:off x="2205038" y="5136356"/>
            <a:ext cx="4154805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AVC444 candidate/compositor、LC retained state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9" name="矩形 78"/>
          <p:cNvSpPr>
            <a:spLocks noGrp="1"/>
          </p:cNvSpPr>
          <p:nvPr/>
        </p:nvSpPr>
        <p:spPr>
          <a:xfrm>
            <a:off x="6436043" y="5088731"/>
            <a:ext cx="5327333" cy="47982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80" name="矩形 79"/>
          <p:cNvSpPr>
            <a:spLocks noGrp="1"/>
          </p:cNvSpPr>
          <p:nvPr/>
        </p:nvSpPr>
        <p:spPr>
          <a:xfrm>
            <a:off x="6512243" y="5136356"/>
            <a:ext cx="5174933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 decoder + LC + EndFrame；复用 420 假设则停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1" name="矩形 80"/>
          <p:cNvSpPr>
            <a:spLocks noGrp="1"/>
          </p:cNvSpPr>
          <p:nvPr/>
        </p:nvSpPr>
        <p:spPr>
          <a:xfrm>
            <a:off x="428625" y="5568553"/>
            <a:ext cx="906780" cy="479822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82" name="矩形 81"/>
          <p:cNvSpPr>
            <a:spLocks noGrp="1"/>
          </p:cNvSpPr>
          <p:nvPr/>
        </p:nvSpPr>
        <p:spPr>
          <a:xfrm>
            <a:off x="504825" y="5616178"/>
            <a:ext cx="754380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验收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3" name="矩形 82"/>
          <p:cNvSpPr>
            <a:spLocks noGrp="1"/>
          </p:cNvSpPr>
          <p:nvPr/>
        </p:nvSpPr>
        <p:spPr>
          <a:xfrm>
            <a:off x="1335405" y="5568553"/>
            <a:ext cx="793433" cy="479822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84" name="矩形 83"/>
          <p:cNvSpPr>
            <a:spLocks noGrp="1"/>
          </p:cNvSpPr>
          <p:nvPr/>
        </p:nvSpPr>
        <p:spPr>
          <a:xfrm>
            <a:off x="1411605" y="5616178"/>
            <a:ext cx="641033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T07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5" name="矩形 84"/>
          <p:cNvSpPr>
            <a:spLocks noGrp="1"/>
          </p:cNvSpPr>
          <p:nvPr/>
        </p:nvSpPr>
        <p:spPr>
          <a:xfrm>
            <a:off x="2128838" y="5568553"/>
            <a:ext cx="4307205" cy="479822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86" name="矩形 85"/>
          <p:cNvSpPr>
            <a:spLocks noGrp="1"/>
          </p:cNvSpPr>
          <p:nvPr/>
        </p:nvSpPr>
        <p:spPr>
          <a:xfrm>
            <a:off x="2205038" y="5616178"/>
            <a:ext cx="4154805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测试/脚本/报告，生产代码冻结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7" name="矩形 86"/>
          <p:cNvSpPr>
            <a:spLocks noGrp="1"/>
          </p:cNvSpPr>
          <p:nvPr/>
        </p:nvSpPr>
        <p:spPr>
          <a:xfrm>
            <a:off x="6436043" y="5568553"/>
            <a:ext cx="5327333" cy="479822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88" name="矩形 87"/>
          <p:cNvSpPr>
            <a:spLocks noGrp="1"/>
          </p:cNvSpPr>
          <p:nvPr/>
        </p:nvSpPr>
        <p:spPr>
          <a:xfrm>
            <a:off x="6512243" y="5616178"/>
            <a:ext cx="5174933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同场景 A/B；缺 CPU/FPS/path/soak 则 UNKNOWN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9" name="矩形 88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8" name="矩形 57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05 FreeRDP 实战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五个角色接力：每一步都留下可审查产物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buNone/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34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6" name="圆角矩形 5"/>
          <p:cNvSpPr>
            <a:spLocks noGrp="1"/>
          </p:cNvSpPr>
          <p:nvPr/>
        </p:nvSpPr>
        <p:spPr>
          <a:xfrm>
            <a:off x="666750" y="1190625"/>
            <a:ext cx="1619250" cy="457200"/>
          </a:xfrm>
          <a:prstGeom prst="roundRect">
            <a:avLst>
              <a:gd name="adj" fmla="val 25000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742950" y="1247775"/>
            <a:ext cx="14668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Human / Planner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466850" y="1695450"/>
            <a:ext cx="19050" cy="2714625"/>
          </a:xfrm>
          <a:prstGeom prst="rect">
            <a:avLst/>
          </a:prstGeom>
          <a:solidFill>
            <a:srgbClr val="C9D3DE"/>
          </a:solidFill>
          <a:ln w="0">
            <a:noFill/>
            <a:prstDash val="solid"/>
          </a:ln>
        </p:spPr>
      </p:sp>
      <p:sp>
        <p:nvSpPr>
          <p:cNvPr id="9" name="圆角矩形 8"/>
          <p:cNvSpPr>
            <a:spLocks noGrp="1"/>
          </p:cNvSpPr>
          <p:nvPr/>
        </p:nvSpPr>
        <p:spPr>
          <a:xfrm>
            <a:off x="2952750" y="1190625"/>
            <a:ext cx="1619250" cy="457200"/>
          </a:xfrm>
          <a:prstGeom prst="roundRect">
            <a:avLst>
              <a:gd name="adj" fmla="val 25000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3028950" y="1247775"/>
            <a:ext cx="14668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Explorer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3752850" y="1695450"/>
            <a:ext cx="19050" cy="2714625"/>
          </a:xfrm>
          <a:prstGeom prst="rect">
            <a:avLst/>
          </a:prstGeom>
          <a:solidFill>
            <a:srgbClr val="C9D3DE"/>
          </a:solidFill>
          <a:ln w="0">
            <a:noFill/>
            <a:prstDash val="solid"/>
          </a:ln>
        </p:spPr>
      </p:sp>
      <p:sp>
        <p:nvSpPr>
          <p:cNvPr id="12" name="圆角矩形 11"/>
          <p:cNvSpPr>
            <a:spLocks noGrp="1"/>
          </p:cNvSpPr>
          <p:nvPr/>
        </p:nvSpPr>
        <p:spPr>
          <a:xfrm>
            <a:off x="5238750" y="1190625"/>
            <a:ext cx="1619250" cy="457200"/>
          </a:xfrm>
          <a:prstGeom prst="roundRect">
            <a:avLst>
              <a:gd name="adj" fmla="val 25000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5314950" y="1247775"/>
            <a:ext cx="14668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Implementer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6038850" y="1695450"/>
            <a:ext cx="19050" cy="2714625"/>
          </a:xfrm>
          <a:prstGeom prst="rect">
            <a:avLst/>
          </a:prstGeom>
          <a:solidFill>
            <a:srgbClr val="C9D3DE"/>
          </a:solidFill>
          <a:ln w="0">
            <a:noFill/>
            <a:prstDash val="solid"/>
          </a:ln>
        </p:spPr>
      </p:sp>
      <p:sp>
        <p:nvSpPr>
          <p:cNvPr id="15" name="圆角矩形 14"/>
          <p:cNvSpPr>
            <a:spLocks noGrp="1"/>
          </p:cNvSpPr>
          <p:nvPr/>
        </p:nvSpPr>
        <p:spPr>
          <a:xfrm>
            <a:off x="7524750" y="1190625"/>
            <a:ext cx="1619250" cy="457200"/>
          </a:xfrm>
          <a:prstGeom prst="roundRect">
            <a:avLst>
              <a:gd name="adj" fmla="val 25000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7600950" y="1247775"/>
            <a:ext cx="14668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Tool / MCP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8324850" y="1695450"/>
            <a:ext cx="19050" cy="2714625"/>
          </a:xfrm>
          <a:prstGeom prst="rect">
            <a:avLst/>
          </a:prstGeom>
          <a:solidFill>
            <a:srgbClr val="C9D3DE"/>
          </a:solidFill>
          <a:ln w="0">
            <a:noFill/>
            <a:prstDash val="solid"/>
          </a:ln>
        </p:spPr>
      </p:sp>
      <p:sp>
        <p:nvSpPr>
          <p:cNvPr id="18" name="圆角矩形 17"/>
          <p:cNvSpPr>
            <a:spLocks noGrp="1"/>
          </p:cNvSpPr>
          <p:nvPr/>
        </p:nvSpPr>
        <p:spPr>
          <a:xfrm>
            <a:off x="9810750" y="1190625"/>
            <a:ext cx="1619250" cy="457200"/>
          </a:xfrm>
          <a:prstGeom prst="roundRect">
            <a:avLst>
              <a:gd name="adj" fmla="val 25000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9886950" y="1247775"/>
            <a:ext cx="14668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Reviewer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10610850" y="1695450"/>
            <a:ext cx="19050" cy="2714625"/>
          </a:xfrm>
          <a:prstGeom prst="rect">
            <a:avLst/>
          </a:prstGeom>
          <a:solidFill>
            <a:srgbClr val="C9D3DE"/>
          </a:solidFill>
          <a:ln w="0">
            <a:noFill/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1476375" y="1905000"/>
            <a:ext cx="19050" cy="1905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3762375" y="1905000"/>
            <a:ext cx="19050" cy="19050"/>
          </a:xfrm>
          <a:prstGeom prst="rect">
            <a:avLst/>
          </a:prstGeom>
          <a:noFill/>
          <a:ln w="0">
            <a:noFill/>
            <a:prstDash val="solid"/>
          </a:ln>
        </p:spPr>
      </p:sp>
      <p:cxnSp>
        <p:nvCxnSpPr>
          <p:cNvPr id="123" name="直接箭头连接符 122"/>
          <p:cNvCxnSpPr>
            <a:stCxn id="21" idx="3"/>
            <a:endCxn id="22" idx="1"/>
          </p:cNvCxnSpPr>
          <p:nvPr/>
        </p:nvCxnSpPr>
        <p:spPr>
          <a:xfrm>
            <a:off x="1495425" y="1914525"/>
            <a:ext cx="2266950" cy="0"/>
          </a:xfrm>
          <a:prstGeom prst="straightConnector1">
            <a:avLst/>
          </a:prstGeom>
          <a:ln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24" name="矩形 23"/>
          <p:cNvSpPr>
            <a:spLocks noGrp="1"/>
          </p:cNvSpPr>
          <p:nvPr/>
        </p:nvSpPr>
        <p:spPr>
          <a:xfrm>
            <a:off x="1619250" y="1714500"/>
            <a:ext cx="2000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ctr">
              <a:buNone/>
              <a:defRPr sz="9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只读调用链与 GAP</a:t>
            </a:r>
            <a:endParaRPr sz="900" b="1">
              <a:solidFill>
                <a:srgbClr val="1677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3762375" y="2333625"/>
            <a:ext cx="19050" cy="1905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1476375" y="2333625"/>
            <a:ext cx="19050" cy="19050"/>
          </a:xfrm>
          <a:prstGeom prst="rect">
            <a:avLst/>
          </a:prstGeom>
          <a:noFill/>
          <a:ln w="0">
            <a:noFill/>
            <a:prstDash val="solid"/>
          </a:ln>
        </p:spPr>
      </p:sp>
      <p:cxnSp>
        <p:nvCxnSpPr>
          <p:cNvPr id="127" name="直接箭头连接符 126"/>
          <p:cNvCxnSpPr>
            <a:stCxn id="25" idx="1"/>
            <a:endCxn id="26" idx="3"/>
          </p:cNvCxnSpPr>
          <p:nvPr/>
        </p:nvCxnSpPr>
        <p:spPr>
          <a:xfrm flipH="1">
            <a:off x="1495425" y="2343150"/>
            <a:ext cx="2266950" cy="0"/>
          </a:xfrm>
          <a:prstGeom prst="straightConnector1">
            <a:avLst/>
          </a:prstGeom>
          <a:ln w="19050">
            <a:solidFill>
              <a:srgbClr val="E26852"/>
            </a:solidFill>
            <a:prstDash val="solid"/>
            <a:tailEnd type="arrow" w="med" len="med"/>
          </a:ln>
        </p:spPr>
      </p:cxnSp>
      <p:sp>
        <p:nvSpPr>
          <p:cNvPr id="28" name="矩形 27"/>
          <p:cNvSpPr>
            <a:spLocks noGrp="1"/>
          </p:cNvSpPr>
          <p:nvPr/>
        </p:nvSpPr>
        <p:spPr>
          <a:xfrm>
            <a:off x="1619250" y="2143125"/>
            <a:ext cx="2000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ctr">
              <a:buNone/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codebase map + evidence index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1476375" y="2809875"/>
            <a:ext cx="19050" cy="1905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6048375" y="2809875"/>
            <a:ext cx="19050" cy="19050"/>
          </a:xfrm>
          <a:prstGeom prst="rect">
            <a:avLst/>
          </a:prstGeom>
          <a:noFill/>
          <a:ln w="0">
            <a:noFill/>
            <a:prstDash val="solid"/>
          </a:ln>
        </p:spPr>
      </p:sp>
      <p:cxnSp>
        <p:nvCxnSpPr>
          <p:cNvPr id="131" name="直接箭头连接符 130"/>
          <p:cNvCxnSpPr>
            <a:stCxn id="29" idx="3"/>
            <a:endCxn id="30" idx="1"/>
          </p:cNvCxnSpPr>
          <p:nvPr/>
        </p:nvCxnSpPr>
        <p:spPr>
          <a:xfrm>
            <a:off x="1495425" y="2819400"/>
            <a:ext cx="4552950" cy="0"/>
          </a:xfrm>
          <a:prstGeom prst="straightConnector1">
            <a:avLst/>
          </a:prstGeom>
          <a:ln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32" name="矩形 31"/>
          <p:cNvSpPr>
            <a:spLocks noGrp="1"/>
          </p:cNvSpPr>
          <p:nvPr/>
        </p:nvSpPr>
        <p:spPr>
          <a:xfrm>
            <a:off x="1619250" y="2619375"/>
            <a:ext cx="4286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ctr">
              <a:buNone/>
              <a:defRPr sz="9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单张 Task Card</a:t>
            </a:r>
            <a:endParaRPr sz="900" b="1">
              <a:solidFill>
                <a:srgbClr val="1677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6048375" y="3238500"/>
            <a:ext cx="19050" cy="1905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8334375" y="3238500"/>
            <a:ext cx="19050" cy="19050"/>
          </a:xfrm>
          <a:prstGeom prst="rect">
            <a:avLst/>
          </a:prstGeom>
          <a:noFill/>
          <a:ln w="0">
            <a:noFill/>
            <a:prstDash val="solid"/>
          </a:ln>
        </p:spPr>
      </p:sp>
      <p:cxnSp>
        <p:nvCxnSpPr>
          <p:cNvPr id="135" name="直接箭头连接符 134"/>
          <p:cNvCxnSpPr>
            <a:stCxn id="33" idx="3"/>
            <a:endCxn id="34" idx="1"/>
          </p:cNvCxnSpPr>
          <p:nvPr/>
        </p:nvCxnSpPr>
        <p:spPr>
          <a:xfrm>
            <a:off x="6067425" y="3248025"/>
            <a:ext cx="2266950" cy="0"/>
          </a:xfrm>
          <a:prstGeom prst="straightConnector1">
            <a:avLst/>
          </a:prstGeom>
          <a:ln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36" name="矩形 35"/>
          <p:cNvSpPr>
            <a:spLocks noGrp="1"/>
          </p:cNvSpPr>
          <p:nvPr/>
        </p:nvSpPr>
        <p:spPr>
          <a:xfrm>
            <a:off x="6191250" y="3048000"/>
            <a:ext cx="2000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ctr">
              <a:buNone/>
              <a:defRPr sz="9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最小 diff + verify commands</a:t>
            </a:r>
            <a:endParaRPr sz="900" b="1">
              <a:solidFill>
                <a:srgbClr val="1677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8334375" y="3667125"/>
            <a:ext cx="19050" cy="1905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10620375" y="3667125"/>
            <a:ext cx="19050" cy="19050"/>
          </a:xfrm>
          <a:prstGeom prst="rect">
            <a:avLst/>
          </a:prstGeom>
          <a:noFill/>
          <a:ln w="0">
            <a:noFill/>
            <a:prstDash val="solid"/>
          </a:ln>
        </p:spPr>
      </p:sp>
      <p:cxnSp>
        <p:nvCxnSpPr>
          <p:cNvPr id="139" name="直接箭头连接符 138"/>
          <p:cNvCxnSpPr>
            <a:stCxn id="37" idx="3"/>
            <a:endCxn id="38" idx="1"/>
          </p:cNvCxnSpPr>
          <p:nvPr/>
        </p:nvCxnSpPr>
        <p:spPr>
          <a:xfrm>
            <a:off x="8353425" y="3676650"/>
            <a:ext cx="2266950" cy="0"/>
          </a:xfrm>
          <a:prstGeom prst="straightConnector1">
            <a:avLst/>
          </a:prstGeom>
          <a:ln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40" name="矩形 39"/>
          <p:cNvSpPr>
            <a:spLocks noGrp="1"/>
          </p:cNvSpPr>
          <p:nvPr/>
        </p:nvSpPr>
        <p:spPr>
          <a:xfrm>
            <a:off x="8477250" y="3476625"/>
            <a:ext cx="2000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 fontScale="95112"/>
          </a:bodyPr>
          <a:lstStyle/>
          <a:p>
            <a:pPr algn="ctr">
              <a:buNone/>
              <a:defRPr sz="9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build / device / log / video evidence</a:t>
            </a:r>
            <a:endParaRPr sz="900" b="1">
              <a:solidFill>
                <a:srgbClr val="1677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10620375" y="4095750"/>
            <a:ext cx="19050" cy="1905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42" name="矩形 41"/>
          <p:cNvSpPr>
            <a:spLocks noGrp="1"/>
          </p:cNvSpPr>
          <p:nvPr/>
        </p:nvSpPr>
        <p:spPr>
          <a:xfrm>
            <a:off x="1476375" y="4095750"/>
            <a:ext cx="19050" cy="19050"/>
          </a:xfrm>
          <a:prstGeom prst="rect">
            <a:avLst/>
          </a:prstGeom>
          <a:noFill/>
          <a:ln w="0">
            <a:noFill/>
            <a:prstDash val="solid"/>
          </a:ln>
        </p:spPr>
      </p:sp>
      <p:cxnSp>
        <p:nvCxnSpPr>
          <p:cNvPr id="143" name="直接箭头连接符 142"/>
          <p:cNvCxnSpPr>
            <a:stCxn id="41" idx="1"/>
            <a:endCxn id="42" idx="3"/>
          </p:cNvCxnSpPr>
          <p:nvPr/>
        </p:nvCxnSpPr>
        <p:spPr>
          <a:xfrm flipH="1">
            <a:off x="1495425" y="4105275"/>
            <a:ext cx="9124950" cy="0"/>
          </a:xfrm>
          <a:prstGeom prst="straightConnector1">
            <a:avLst/>
          </a:prstGeom>
          <a:ln w="19050">
            <a:solidFill>
              <a:srgbClr val="E26852"/>
            </a:solidFill>
            <a:prstDash val="solid"/>
            <a:tailEnd type="arrow" w="med" len="med"/>
          </a:ln>
        </p:spPr>
      </p:cxnSp>
      <p:sp>
        <p:nvSpPr>
          <p:cNvPr id="44" name="矩形 43"/>
          <p:cNvSpPr>
            <a:spLocks noGrp="1"/>
          </p:cNvSpPr>
          <p:nvPr/>
        </p:nvSpPr>
        <p:spPr>
          <a:xfrm>
            <a:off x="1619250" y="3905250"/>
            <a:ext cx="8858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ctr">
              <a:buNone/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Trace + Outcome verdict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5" name="圆角矩形 44"/>
          <p:cNvSpPr>
            <a:spLocks noGrp="1"/>
          </p:cNvSpPr>
          <p:nvPr/>
        </p:nvSpPr>
        <p:spPr>
          <a:xfrm>
            <a:off x="666750" y="4810125"/>
            <a:ext cx="1905000" cy="876300"/>
          </a:xfrm>
          <a:prstGeom prst="roundRect">
            <a:avLst>
              <a:gd name="adj" fmla="val 13043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46" name="矩形 45"/>
          <p:cNvSpPr>
            <a:spLocks noGrp="1"/>
          </p:cNvSpPr>
          <p:nvPr/>
        </p:nvSpPr>
        <p:spPr>
          <a:xfrm>
            <a:off x="742950" y="4867275"/>
            <a:ext cx="17526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Planner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buNone/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冻结问题与 AC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7" name="圆角矩形 46"/>
          <p:cNvSpPr>
            <a:spLocks noGrp="1"/>
          </p:cNvSpPr>
          <p:nvPr/>
        </p:nvSpPr>
        <p:spPr>
          <a:xfrm>
            <a:off x="2952750" y="4810125"/>
            <a:ext cx="1905000" cy="876300"/>
          </a:xfrm>
          <a:prstGeom prst="roundRect">
            <a:avLst>
              <a:gd name="adj" fmla="val 13043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48" name="矩形 47"/>
          <p:cNvSpPr>
            <a:spLocks noGrp="1"/>
          </p:cNvSpPr>
          <p:nvPr/>
        </p:nvSpPr>
        <p:spPr>
          <a:xfrm>
            <a:off x="3028950" y="4867275"/>
            <a:ext cx="17526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Explorer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buNone/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调用链 + GAP + 证据索引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9" name="圆角矩形 48"/>
          <p:cNvSpPr>
            <a:spLocks noGrp="1"/>
          </p:cNvSpPr>
          <p:nvPr/>
        </p:nvSpPr>
        <p:spPr>
          <a:xfrm>
            <a:off x="5238750" y="4810125"/>
            <a:ext cx="1905000" cy="876300"/>
          </a:xfrm>
          <a:prstGeom prst="roundRect">
            <a:avLst>
              <a:gd name="adj" fmla="val 13043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50" name="矩形 49"/>
          <p:cNvSpPr>
            <a:spLocks noGrp="1"/>
          </p:cNvSpPr>
          <p:nvPr/>
        </p:nvSpPr>
        <p:spPr>
          <a:xfrm>
            <a:off x="5314950" y="4867275"/>
            <a:ext cx="17526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Implementer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buNone/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最小 diff + verify 命令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1" name="圆角矩形 50"/>
          <p:cNvSpPr>
            <a:spLocks noGrp="1"/>
          </p:cNvSpPr>
          <p:nvPr/>
        </p:nvSpPr>
        <p:spPr>
          <a:xfrm>
            <a:off x="7524750" y="4810125"/>
            <a:ext cx="1905000" cy="876300"/>
          </a:xfrm>
          <a:prstGeom prst="roundRect">
            <a:avLst>
              <a:gd name="adj" fmla="val 13043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52" name="矩形 51"/>
          <p:cNvSpPr>
            <a:spLocks noGrp="1"/>
          </p:cNvSpPr>
          <p:nvPr/>
        </p:nvSpPr>
        <p:spPr>
          <a:xfrm>
            <a:off x="7600950" y="4867275"/>
            <a:ext cx="17526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Tool / MCP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buNone/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build / device / log / video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3" name="圆角矩形 52"/>
          <p:cNvSpPr>
            <a:spLocks noGrp="1"/>
          </p:cNvSpPr>
          <p:nvPr/>
        </p:nvSpPr>
        <p:spPr>
          <a:xfrm>
            <a:off x="9810750" y="4810125"/>
            <a:ext cx="1905000" cy="876300"/>
          </a:xfrm>
          <a:prstGeom prst="roundRect">
            <a:avLst>
              <a:gd name="adj" fmla="val 13043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54" name="矩形 53"/>
          <p:cNvSpPr>
            <a:spLocks noGrp="1"/>
          </p:cNvSpPr>
          <p:nvPr/>
        </p:nvSpPr>
        <p:spPr>
          <a:xfrm>
            <a:off x="9886950" y="4867275"/>
            <a:ext cx="17526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Reviewer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buNone/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Trace + Outcome verdict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5" name="矩形 54"/>
          <p:cNvSpPr>
            <a:spLocks noGrp="1"/>
          </p:cNvSpPr>
          <p:nvPr/>
        </p:nvSpPr>
        <p:spPr>
          <a:xfrm>
            <a:off x="2333625" y="5953125"/>
            <a:ext cx="57150" cy="323850"/>
          </a:xfrm>
          <a:prstGeom prst="rect">
            <a:avLst/>
          </a:prstGeom>
          <a:solidFill>
            <a:srgbClr val="E26852"/>
          </a:solidFill>
          <a:ln w="0">
            <a:noFill/>
            <a:prstDash val="solid"/>
          </a:ln>
        </p:spPr>
      </p:sp>
      <p:sp>
        <p:nvSpPr>
          <p:cNvPr id="56" name="矩形 55"/>
          <p:cNvSpPr>
            <a:spLocks noGrp="1"/>
          </p:cNvSpPr>
          <p:nvPr/>
        </p:nvSpPr>
        <p:spPr>
          <a:xfrm>
            <a:off x="2505075" y="5991225"/>
            <a:ext cx="7353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每次交接都必须是可复查产物，不是“我觉得已经做完了”。</a:t>
            </a:r>
            <a:endParaRPr sz="13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7" name="矩形 56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1" name="矩形 40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05 FreeRDP 实战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开发遇到黑屏、色块或仍卡顿：先停，再找最早异常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buNone/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35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pic>
        <p:nvPicPr>
          <p:cNvPr id="48" name="图片 47"/>
          <p:cNvPicPr>
            <a:picLocks noChangeAspect="1"/>
          </p:cNvPicPr>
          <p:nvPr/>
        </p:nvPicPr>
        <p:blipFill>
          <a:blip r:embed="rId1"/>
          <a:srcRect l="28333" r="28333"/>
          <a:stretch>
            <a:fillRect/>
          </a:stretch>
        </p:blipFill>
        <p:spPr>
          <a:xfrm>
            <a:off x="523875" y="1143000"/>
            <a:ext cx="4953000" cy="4762500"/>
          </a:xfrm>
          <a:prstGeom prst="roundRect">
            <a:avLst>
              <a:gd name="adj" fmla="val 2400"/>
            </a:avLst>
          </a:prstGeom>
        </p:spPr>
      </p:pic>
      <p:sp>
        <p:nvSpPr>
          <p:cNvPr id="7" name="圆角矩形 6"/>
          <p:cNvSpPr>
            <a:spLocks noGrp="1"/>
          </p:cNvSpPr>
          <p:nvPr/>
        </p:nvSpPr>
        <p:spPr>
          <a:xfrm>
            <a:off x="523875" y="1143000"/>
            <a:ext cx="4953000" cy="4762500"/>
          </a:xfrm>
          <a:prstGeom prst="roundRect">
            <a:avLst>
              <a:gd name="adj" fmla="val 2400"/>
            </a:avLst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8" name="圆角矩形 7"/>
          <p:cNvSpPr>
            <a:spLocks noGrp="1"/>
          </p:cNvSpPr>
          <p:nvPr/>
        </p:nvSpPr>
        <p:spPr>
          <a:xfrm>
            <a:off x="5810250" y="1143000"/>
            <a:ext cx="5810250" cy="47625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5962650" y="1257300"/>
            <a:ext cx="5505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 frame：逐层点亮</a:t>
            </a:r>
            <a:endParaRPr sz="12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5962650" y="1543050"/>
            <a:ext cx="609600" cy="28575"/>
          </a:xfrm>
          <a:prstGeom prst="rect">
            <a:avLst/>
          </a:prstGeom>
          <a:solidFill>
            <a:srgbClr val="E26852"/>
          </a:solidFill>
          <a:ln w="0">
            <a:noFill/>
            <a:prstDash val="solid"/>
          </a:ln>
        </p:spPr>
      </p:sp>
      <p:sp>
        <p:nvSpPr>
          <p:cNvPr id="11" name="圆角矩形 10"/>
          <p:cNvSpPr>
            <a:spLocks noGrp="1"/>
          </p:cNvSpPr>
          <p:nvPr/>
        </p:nvSpPr>
        <p:spPr>
          <a:xfrm>
            <a:off x="6191250" y="16192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BF8F1"/>
          </a:solidFill>
          <a:ln w="9525">
            <a:solidFill>
              <a:srgbClr val="2F8F5B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6191250" y="1619250"/>
            <a:ext cx="266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975" b="1">
                <a:solidFill>
                  <a:srgbClr val="2F8F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F8F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endParaRPr sz="975" b="1">
              <a:solidFill>
                <a:srgbClr val="2F8F5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619875" y="1600200"/>
            <a:ext cx="4572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12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command received</a:t>
            </a:r>
            <a:endParaRPr sz="12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6191250" y="204787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BF8F1"/>
          </a:solidFill>
          <a:ln w="9525">
            <a:solidFill>
              <a:srgbClr val="2F8F5B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6191250" y="2047875"/>
            <a:ext cx="266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975" b="1">
                <a:solidFill>
                  <a:srgbClr val="2F8F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F8F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endParaRPr sz="975" b="1">
              <a:solidFill>
                <a:srgbClr val="2F8F5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6619875" y="2028825"/>
            <a:ext cx="4572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12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candidate path / decoder selected</a:t>
            </a:r>
            <a:endParaRPr sz="12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圆角矩形 16"/>
          <p:cNvSpPr>
            <a:spLocks noGrp="1"/>
          </p:cNvSpPr>
          <p:nvPr/>
        </p:nvSpPr>
        <p:spPr>
          <a:xfrm>
            <a:off x="6191250" y="24765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BF8F1"/>
          </a:solidFill>
          <a:ln w="9525">
            <a:solidFill>
              <a:srgbClr val="2F8F5B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6191250" y="2476500"/>
            <a:ext cx="266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975" b="1">
                <a:solidFill>
                  <a:srgbClr val="2F8F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F8F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endParaRPr sz="975" b="1">
              <a:solidFill>
                <a:srgbClr val="2F8F5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6619875" y="2457450"/>
            <a:ext cx="4572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12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compressed input queued</a:t>
            </a:r>
            <a:endParaRPr sz="12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圆角矩形 19"/>
          <p:cNvSpPr>
            <a:spLocks noGrp="1"/>
          </p:cNvSpPr>
          <p:nvPr/>
        </p:nvSpPr>
        <p:spPr>
          <a:xfrm>
            <a:off x="6191250" y="290512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BF8F1"/>
          </a:solidFill>
          <a:ln w="9525">
            <a:solidFill>
              <a:srgbClr val="2F8F5B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6191250" y="2905125"/>
            <a:ext cx="266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975" b="1">
                <a:solidFill>
                  <a:srgbClr val="2F8F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F8F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endParaRPr sz="975" b="1">
              <a:solidFill>
                <a:srgbClr val="2F8F5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6619875" y="2886075"/>
            <a:ext cx="4572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12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decoded output valid</a:t>
            </a:r>
            <a:endParaRPr sz="12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圆角矩形 22"/>
          <p:cNvSpPr>
            <a:spLocks noGrp="1"/>
          </p:cNvSpPr>
          <p:nvPr/>
        </p:nvSpPr>
        <p:spPr>
          <a:xfrm>
            <a:off x="6191250" y="33337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FF3F7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6191250" y="3333750"/>
            <a:ext cx="266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6619875" y="3314700"/>
            <a:ext cx="4572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1275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format / stride / planes valid</a:t>
            </a:r>
            <a:endParaRPr sz="1275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圆角矩形 25"/>
          <p:cNvSpPr>
            <a:spLocks noGrp="1"/>
          </p:cNvSpPr>
          <p:nvPr/>
        </p:nvSpPr>
        <p:spPr>
          <a:xfrm>
            <a:off x="6191250" y="376237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FF3F7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6191250" y="3762375"/>
            <a:ext cx="266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6619875" y="3743325"/>
            <a:ext cx="4572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12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command state applied</a:t>
            </a:r>
            <a:endParaRPr sz="12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圆角矩形 28"/>
          <p:cNvSpPr>
            <a:spLocks noGrp="1"/>
          </p:cNvSpPr>
          <p:nvPr/>
        </p:nvSpPr>
        <p:spPr>
          <a:xfrm>
            <a:off x="6191250" y="41910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FF3F7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6191250" y="4191000"/>
            <a:ext cx="266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6619875" y="4171950"/>
            <a:ext cx="4572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12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render owner correct</a:t>
            </a:r>
            <a:endParaRPr sz="12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圆角矩形 31"/>
          <p:cNvSpPr>
            <a:spLocks noGrp="1"/>
          </p:cNvSpPr>
          <p:nvPr/>
        </p:nvSpPr>
        <p:spPr>
          <a:xfrm>
            <a:off x="6191250" y="461962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FF3F7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6191250" y="4619625"/>
            <a:ext cx="266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8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6619875" y="4600575"/>
            <a:ext cx="4572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12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EndFrame present</a:t>
            </a:r>
            <a:endParaRPr sz="12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圆角矩形 34"/>
          <p:cNvSpPr>
            <a:spLocks noGrp="1"/>
          </p:cNvSpPr>
          <p:nvPr/>
        </p:nvSpPr>
        <p:spPr>
          <a:xfrm>
            <a:off x="6191250" y="50482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FF3F7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6191250" y="5048250"/>
            <a:ext cx="266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9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6619875" y="5029200"/>
            <a:ext cx="4572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12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next frame continues</a:t>
            </a:r>
            <a:endParaRPr sz="12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6191250" y="5476875"/>
            <a:ext cx="57150" cy="438150"/>
          </a:xfrm>
          <a:prstGeom prst="rect">
            <a:avLst/>
          </a:prstGeom>
          <a:solidFill>
            <a:srgbClr val="E26852"/>
          </a:solidFill>
          <a:ln w="0">
            <a:noFill/>
            <a:prstDash val="solid"/>
          </a:ln>
        </p:spPr>
      </p:sp>
      <p:sp>
        <p:nvSpPr>
          <p:cNvPr id="39" name="矩形 38"/>
          <p:cNvSpPr>
            <a:spLocks noGrp="1"/>
          </p:cNvSpPr>
          <p:nvPr/>
        </p:nvSpPr>
        <p:spPr>
          <a:xfrm>
            <a:off x="6362700" y="5514975"/>
            <a:ext cx="47815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14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第一处与预期不一致的位置，才是本轮修改边界。</a:t>
            </a:r>
            <a:endParaRPr sz="14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9" name="矩形 58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05 FreeRDP 实战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 frame 的六个事实，才能推翻错误判断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buNone/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666750" y="1190625"/>
            <a:ext cx="1303020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742950" y="1238250"/>
            <a:ext cx="115062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frameId</a:t>
            </a:r>
            <a:endParaRPr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969770" y="1190625"/>
            <a:ext cx="1303020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2045970" y="1238250"/>
            <a:ext cx="115062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codec</a:t>
            </a:r>
            <a:endParaRPr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3272790" y="1190625"/>
            <a:ext cx="1737360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3348990" y="1238250"/>
            <a:ext cx="158496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decoder</a:t>
            </a:r>
            <a:endParaRPr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5010150" y="1190625"/>
            <a:ext cx="1628775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5086350" y="1238250"/>
            <a:ext cx="14763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output</a:t>
            </a:r>
            <a:endParaRPr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6638925" y="1190625"/>
            <a:ext cx="1411605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6715125" y="1238250"/>
            <a:ext cx="125920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owner</a:t>
            </a:r>
            <a:endParaRPr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050530" y="1190625"/>
            <a:ext cx="1411605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8126730" y="1238250"/>
            <a:ext cx="125920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present</a:t>
            </a:r>
            <a:endParaRPr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9462135" y="1190625"/>
            <a:ext cx="2063115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9538335" y="1238250"/>
            <a:ext cx="191071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verdict</a:t>
            </a:r>
            <a:endParaRPr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666750" y="1590675"/>
            <a:ext cx="1303020" cy="9810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742950" y="1638300"/>
            <a:ext cx="1150620" cy="885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待绑定</a:t>
            </a:r>
            <a:endParaRPr sz="11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1969770" y="1590675"/>
            <a:ext cx="1303020" cy="9810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2045970" y="1638300"/>
            <a:ext cx="1150620" cy="885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待确认</a:t>
            </a:r>
            <a:endParaRPr sz="11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3272790" y="1590675"/>
            <a:ext cx="1737360" cy="9810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3348990" y="1638300"/>
            <a:ext cx="1584960" cy="885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待确认</a:t>
            </a:r>
            <a:endParaRPr sz="11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5010150" y="1590675"/>
            <a:ext cx="1628775" cy="9810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5086350" y="1638300"/>
            <a:ext cx="1476375" cy="885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待采集</a:t>
            </a:r>
            <a:endParaRPr sz="11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6638925" y="1590675"/>
            <a:ext cx="1411605" cy="9810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6715125" y="1638300"/>
            <a:ext cx="1259205" cy="885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待确认</a:t>
            </a:r>
            <a:endParaRPr sz="11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8050530" y="1590675"/>
            <a:ext cx="1411605" cy="9810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8126730" y="1638300"/>
            <a:ext cx="1259205" cy="885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待验证</a:t>
            </a:r>
            <a:endParaRPr sz="11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9462135" y="1590675"/>
            <a:ext cx="2063115" cy="9810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9538335" y="1638300"/>
            <a:ext cx="1910715" cy="885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PENDING</a:t>
            </a:r>
            <a:endParaRPr sz="11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762000" y="2905125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15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一条可用证据行必须同时满足：</a:t>
            </a:r>
            <a:endParaRPr sz="15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圆角矩形 34"/>
          <p:cNvSpPr>
            <a:spLocks noGrp="1"/>
          </p:cNvSpPr>
          <p:nvPr/>
        </p:nvSpPr>
        <p:spPr>
          <a:xfrm>
            <a:off x="666750" y="3381375"/>
            <a:ext cx="1714500" cy="590550"/>
          </a:xfrm>
          <a:prstGeom prst="roundRect">
            <a:avLst>
              <a:gd name="adj" fmla="val 19355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742950" y="3438525"/>
            <a:ext cx="15621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 runId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圆角矩形 36"/>
          <p:cNvSpPr>
            <a:spLocks noGrp="1"/>
          </p:cNvSpPr>
          <p:nvPr/>
        </p:nvSpPr>
        <p:spPr>
          <a:xfrm>
            <a:off x="2495550" y="3381375"/>
            <a:ext cx="1714500" cy="590550"/>
          </a:xfrm>
          <a:prstGeom prst="roundRect">
            <a:avLst>
              <a:gd name="adj" fmla="val 19355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2571750" y="3438525"/>
            <a:ext cx="15621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 frameId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9" name="圆角矩形 38"/>
          <p:cNvSpPr>
            <a:spLocks noGrp="1"/>
          </p:cNvSpPr>
          <p:nvPr/>
        </p:nvSpPr>
        <p:spPr>
          <a:xfrm>
            <a:off x="4324350" y="3381375"/>
            <a:ext cx="1714500" cy="590550"/>
          </a:xfrm>
          <a:prstGeom prst="roundRect">
            <a:avLst>
              <a:gd name="adj" fmla="val 19355"/>
            </a:avLst>
          </a:prstGeom>
          <a:solidFill>
            <a:srgbClr val="F2EEFF"/>
          </a:solidFill>
          <a:ln w="9525">
            <a:solidFill>
              <a:srgbClr val="7157B8"/>
            </a:solidFill>
            <a:prstDash val="solid"/>
          </a:ln>
        </p:spPr>
      </p:sp>
      <p:sp>
        <p:nvSpPr>
          <p:cNvPr id="40" name="矩形 39"/>
          <p:cNvSpPr>
            <a:spLocks noGrp="1"/>
          </p:cNvSpPr>
          <p:nvPr/>
        </p:nvSpPr>
        <p:spPr>
          <a:xfrm>
            <a:off x="4400550" y="3438525"/>
            <a:ext cx="15621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decoder output 可关联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1" name="圆角矩形 40"/>
          <p:cNvSpPr>
            <a:spLocks noGrp="1"/>
          </p:cNvSpPr>
          <p:nvPr/>
        </p:nvSpPr>
        <p:spPr>
          <a:xfrm>
            <a:off x="6153150" y="3381375"/>
            <a:ext cx="1714500" cy="590550"/>
          </a:xfrm>
          <a:prstGeom prst="roundRect">
            <a:avLst>
              <a:gd name="adj" fmla="val 19355"/>
            </a:avLst>
          </a:prstGeom>
          <a:solidFill>
            <a:srgbClr val="FFF7E3"/>
          </a:solidFill>
          <a:ln w="9525">
            <a:solidFill>
              <a:srgbClr val="D89518"/>
            </a:solidFill>
            <a:prstDash val="solid"/>
          </a:ln>
        </p:spPr>
      </p:sp>
      <p:sp>
        <p:nvSpPr>
          <p:cNvPr id="42" name="矩形 41"/>
          <p:cNvSpPr>
            <a:spLocks noGrp="1"/>
          </p:cNvSpPr>
          <p:nvPr/>
        </p:nvSpPr>
        <p:spPr>
          <a:xfrm>
            <a:off x="6229350" y="3438525"/>
            <a:ext cx="15621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owner 唯一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3" name="圆角矩形 42"/>
          <p:cNvSpPr>
            <a:spLocks noGrp="1"/>
          </p:cNvSpPr>
          <p:nvPr/>
        </p:nvSpPr>
        <p:spPr>
          <a:xfrm>
            <a:off x="7981950" y="3381375"/>
            <a:ext cx="1714500" cy="590550"/>
          </a:xfrm>
          <a:prstGeom prst="roundRect">
            <a:avLst>
              <a:gd name="adj" fmla="val 19355"/>
            </a:avLst>
          </a:prstGeom>
          <a:solidFill>
            <a:srgbClr val="EBF8F1"/>
          </a:solidFill>
          <a:ln w="9525">
            <a:solidFill>
              <a:srgbClr val="2F8F5B"/>
            </a:solidFill>
            <a:prstDash val="solid"/>
          </a:ln>
        </p:spPr>
      </p:sp>
      <p:sp>
        <p:nvSpPr>
          <p:cNvPr id="44" name="矩形 43"/>
          <p:cNvSpPr>
            <a:spLocks noGrp="1"/>
          </p:cNvSpPr>
          <p:nvPr/>
        </p:nvSpPr>
        <p:spPr>
          <a:xfrm>
            <a:off x="8058150" y="3438525"/>
            <a:ext cx="15621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matched EndFrame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5" name="圆角矩形 44"/>
          <p:cNvSpPr>
            <a:spLocks noGrp="1"/>
          </p:cNvSpPr>
          <p:nvPr/>
        </p:nvSpPr>
        <p:spPr>
          <a:xfrm>
            <a:off x="9810750" y="3381375"/>
            <a:ext cx="1714500" cy="590550"/>
          </a:xfrm>
          <a:prstGeom prst="roundRect">
            <a:avLst>
              <a:gd name="adj" fmla="val 19355"/>
            </a:avLst>
          </a:prstGeom>
          <a:solidFill>
            <a:srgbClr val="FFF0EC"/>
          </a:solidFill>
          <a:ln w="9525">
            <a:solidFill>
              <a:srgbClr val="E26852"/>
            </a:solidFill>
            <a:prstDash val="solid"/>
          </a:ln>
        </p:spPr>
      </p:sp>
      <p:sp>
        <p:nvSpPr>
          <p:cNvPr id="46" name="矩形 45"/>
          <p:cNvSpPr>
            <a:spLocks noGrp="1"/>
          </p:cNvSpPr>
          <p:nvPr/>
        </p:nvSpPr>
        <p:spPr>
          <a:xfrm>
            <a:off x="9886950" y="3438525"/>
            <a:ext cx="15621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present verdict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56" name="直接箭头连接符 155"/>
          <p:cNvCxnSpPr>
            <a:stCxn id="35" idx="3"/>
            <a:endCxn id="37" idx="1"/>
          </p:cNvCxnSpPr>
          <p:nvPr/>
        </p:nvCxnSpPr>
        <p:spPr>
          <a:xfrm>
            <a:off x="2381250" y="3676650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57" name="直接箭头连接符 156"/>
          <p:cNvCxnSpPr>
            <a:stCxn id="37" idx="3"/>
            <a:endCxn id="39" idx="1"/>
          </p:cNvCxnSpPr>
          <p:nvPr/>
        </p:nvCxnSpPr>
        <p:spPr>
          <a:xfrm>
            <a:off x="4210050" y="3676650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58" name="直接箭头连接符 157"/>
          <p:cNvCxnSpPr>
            <a:stCxn id="39" idx="3"/>
            <a:endCxn id="41" idx="1"/>
          </p:cNvCxnSpPr>
          <p:nvPr/>
        </p:nvCxnSpPr>
        <p:spPr>
          <a:xfrm>
            <a:off x="6038850" y="3676650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59" name="直接箭头连接符 158"/>
          <p:cNvCxnSpPr>
            <a:stCxn id="41" idx="3"/>
            <a:endCxn id="43" idx="1"/>
          </p:cNvCxnSpPr>
          <p:nvPr/>
        </p:nvCxnSpPr>
        <p:spPr>
          <a:xfrm>
            <a:off x="7867650" y="3676650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60" name="直接箭头连接符 159"/>
          <p:cNvCxnSpPr>
            <a:stCxn id="43" idx="3"/>
            <a:endCxn id="45" idx="1"/>
          </p:cNvCxnSpPr>
          <p:nvPr/>
        </p:nvCxnSpPr>
        <p:spPr>
          <a:xfrm>
            <a:off x="9696450" y="3676650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52" name="矩形 51"/>
          <p:cNvSpPr>
            <a:spLocks noGrp="1"/>
          </p:cNvSpPr>
          <p:nvPr/>
        </p:nvSpPr>
        <p:spPr>
          <a:xfrm>
            <a:off x="1476375" y="4333875"/>
            <a:ext cx="57150" cy="523875"/>
          </a:xfrm>
          <a:prstGeom prst="rect">
            <a:avLst/>
          </a:prstGeom>
          <a:solidFill>
            <a:srgbClr val="E26852"/>
          </a:solidFill>
          <a:ln w="0">
            <a:noFill/>
            <a:prstDash val="solid"/>
          </a:ln>
        </p:spPr>
      </p:sp>
      <p:sp>
        <p:nvSpPr>
          <p:cNvPr id="53" name="矩形 52"/>
          <p:cNvSpPr>
            <a:spLocks noGrp="1"/>
          </p:cNvSpPr>
          <p:nvPr/>
        </p:nvSpPr>
        <p:spPr>
          <a:xfrm>
            <a:off x="1647825" y="4371975"/>
            <a:ext cx="9067800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15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缺任意一项，结论只能是 PENDING / UNKNOWN；不能用别的 run 的截图补洞。</a:t>
            </a:r>
            <a:endParaRPr sz="15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4" name="圆角矩形 53"/>
          <p:cNvSpPr>
            <a:spLocks noGrp="1"/>
          </p:cNvSpPr>
          <p:nvPr/>
        </p:nvSpPr>
        <p:spPr>
          <a:xfrm>
            <a:off x="1905000" y="5143500"/>
            <a:ext cx="8382000" cy="904875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5" name="矩形 54"/>
          <p:cNvSpPr>
            <a:spLocks noGrp="1"/>
          </p:cNvSpPr>
          <p:nvPr/>
        </p:nvSpPr>
        <p:spPr>
          <a:xfrm>
            <a:off x="2057400" y="5257800"/>
            <a:ext cx="807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12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两个常见误判</a:t>
            </a:r>
            <a:endParaRPr sz="1200" b="1">
              <a:solidFill>
                <a:srgbClr val="1677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6" name="矩形 55"/>
          <p:cNvSpPr>
            <a:spLocks noGrp="1"/>
          </p:cNvSpPr>
          <p:nvPr/>
        </p:nvSpPr>
        <p:spPr>
          <a:xfrm>
            <a:off x="2057400" y="5543550"/>
            <a:ext cx="609600" cy="28575"/>
          </a:xfrm>
          <a:prstGeom prst="rect">
            <a:avLst/>
          </a:prstGeom>
          <a:solidFill>
            <a:srgbClr val="1677C8"/>
          </a:solidFill>
          <a:ln w="0">
            <a:noFill/>
            <a:prstDash val="solid"/>
          </a:ln>
        </p:spPr>
      </p:sp>
      <p:sp>
        <p:nvSpPr>
          <p:cNvPr id="57" name="矩形 56"/>
          <p:cNvSpPr>
            <a:spLocks noGrp="1"/>
          </p:cNvSpPr>
          <p:nvPr/>
        </p:nvSpPr>
        <p:spPr>
          <a:xfrm>
            <a:off x="2143125" y="5619750"/>
            <a:ext cx="790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ctr">
              <a:buNone/>
              <a:def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“API 调用成功”只证明一个边界。   “截图看起来正确”只证明一个采样瞬间。</a:t>
            </a:r>
            <a:endParaRPr sz="13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8" name="矩形 57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1" name="矩形 50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05 FreeRDP 实战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穿刺证明可行，工程化决定能否交付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buNone/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37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1095375" y="1123950"/>
            <a:ext cx="57150" cy="476250"/>
          </a:xfrm>
          <a:prstGeom prst="rect">
            <a:avLst/>
          </a:prstGeom>
          <a:solidFill>
            <a:srgbClr val="168C82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266825" y="1162050"/>
            <a:ext cx="9829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15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单帧穿刺解决“能不能走通”；生命周期、队列、所有权、回退、观测和回归决定“能不能交付”。</a:t>
            </a:r>
            <a:endParaRPr sz="15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523875" y="1809750"/>
            <a:ext cx="1894523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600075" y="1857375"/>
            <a:ext cx="1742123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工程能力</a:t>
            </a:r>
            <a:endParaRPr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418398" y="1809750"/>
            <a:ext cx="5014913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2494598" y="1857375"/>
            <a:ext cx="4862513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必须回答</a:t>
            </a:r>
            <a:endParaRPr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7433310" y="1809750"/>
            <a:ext cx="4234815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7509510" y="1857375"/>
            <a:ext cx="408241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失败表现</a:t>
            </a:r>
            <a:endParaRPr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523875" y="2209800"/>
            <a:ext cx="1894523" cy="631825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600075" y="2257425"/>
            <a:ext cx="1742123" cy="536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生命周期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2418398" y="2209800"/>
            <a:ext cx="5014913" cy="631825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2494598" y="2257425"/>
            <a:ext cx="4862513" cy="536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create/start/flush/stop/destroy 与 Surface generation 如何对齐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7433310" y="2209800"/>
            <a:ext cx="4234815" cy="631825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7509510" y="2257425"/>
            <a:ext cx="4082415" cy="536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resize 黑屏、旧 target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523875" y="2841625"/>
            <a:ext cx="1894523" cy="631825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600075" y="2889250"/>
            <a:ext cx="1742123" cy="536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队列/背压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2418398" y="2841625"/>
            <a:ext cx="5014913" cy="631825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2494598" y="2889250"/>
            <a:ext cx="4862513" cy="536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输入、输出、present 队列是否有界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7433310" y="2841625"/>
            <a:ext cx="4234815" cy="631825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7509510" y="2889250"/>
            <a:ext cx="4082415" cy="536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延迟增长、内存上涨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523875" y="3473450"/>
            <a:ext cx="1894523" cy="631825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600075" y="3521075"/>
            <a:ext cx="1742123" cy="536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所有权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2418398" y="3473450"/>
            <a:ext cx="5014913" cy="631825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2494598" y="3521075"/>
            <a:ext cx="4862513" cy="536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GDI、AVC420、AVC444 谁能写 XComponent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7433310" y="3473450"/>
            <a:ext cx="4234815" cy="631825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7509510" y="3521075"/>
            <a:ext cx="4082415" cy="536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闪烁、旧帧覆盖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523875" y="4105275"/>
            <a:ext cx="1894523" cy="631825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600075" y="4152900"/>
            <a:ext cx="1742123" cy="536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回退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2418398" y="4105275"/>
            <a:ext cx="5014913" cy="631825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2494598" y="4152900"/>
            <a:ext cx="4862513" cy="536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硬解失败能否回软件/原生路径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7433310" y="4105275"/>
            <a:ext cx="4234815" cy="631825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7509510" y="4152900"/>
            <a:ext cx="4082415" cy="536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静默黑屏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523875" y="4737100"/>
            <a:ext cx="1894523" cy="631825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9" name="矩形 38"/>
          <p:cNvSpPr>
            <a:spLocks noGrp="1"/>
          </p:cNvSpPr>
          <p:nvPr/>
        </p:nvSpPr>
        <p:spPr>
          <a:xfrm>
            <a:off x="600075" y="4784725"/>
            <a:ext cx="1742123" cy="536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可观测性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2418398" y="4737100"/>
            <a:ext cx="5014913" cy="631825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1" name="矩形 40"/>
          <p:cNvSpPr>
            <a:spLocks noGrp="1"/>
          </p:cNvSpPr>
          <p:nvPr/>
        </p:nvSpPr>
        <p:spPr>
          <a:xfrm>
            <a:off x="2494598" y="4784725"/>
            <a:ext cx="4862513" cy="536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能否证明 decoder、frame、owner、present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2" name="矩形 41"/>
          <p:cNvSpPr>
            <a:spLocks noGrp="1"/>
          </p:cNvSpPr>
          <p:nvPr/>
        </p:nvSpPr>
        <p:spPr>
          <a:xfrm>
            <a:off x="7433310" y="4737100"/>
            <a:ext cx="4234815" cy="631825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3" name="矩形 42"/>
          <p:cNvSpPr>
            <a:spLocks noGrp="1"/>
          </p:cNvSpPr>
          <p:nvPr/>
        </p:nvSpPr>
        <p:spPr>
          <a:xfrm>
            <a:off x="7509510" y="4784725"/>
            <a:ext cx="4082415" cy="536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只能靠肉眼猜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4" name="矩形 43"/>
          <p:cNvSpPr>
            <a:spLocks noGrp="1"/>
          </p:cNvSpPr>
          <p:nvPr/>
        </p:nvSpPr>
        <p:spPr>
          <a:xfrm>
            <a:off x="523875" y="5368925"/>
            <a:ext cx="1894523" cy="631825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5" name="矩形 44"/>
          <p:cNvSpPr>
            <a:spLocks noGrp="1"/>
          </p:cNvSpPr>
          <p:nvPr/>
        </p:nvSpPr>
        <p:spPr>
          <a:xfrm>
            <a:off x="600075" y="5416550"/>
            <a:ext cx="1742123" cy="536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回归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" name="矩形 45"/>
          <p:cNvSpPr>
            <a:spLocks noGrp="1"/>
          </p:cNvSpPr>
          <p:nvPr/>
        </p:nvSpPr>
        <p:spPr>
          <a:xfrm>
            <a:off x="2418398" y="5368925"/>
            <a:ext cx="5014913" cy="631825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7" name="矩形 46"/>
          <p:cNvSpPr>
            <a:spLocks noGrp="1"/>
          </p:cNvSpPr>
          <p:nvPr/>
        </p:nvSpPr>
        <p:spPr>
          <a:xfrm>
            <a:off x="2494598" y="5416550"/>
            <a:ext cx="4862513" cy="536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输入、resize、后台、重连是否仍工作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8" name="矩形 47"/>
          <p:cNvSpPr>
            <a:spLocks noGrp="1"/>
          </p:cNvSpPr>
          <p:nvPr/>
        </p:nvSpPr>
        <p:spPr>
          <a:xfrm>
            <a:off x="7433310" y="5368925"/>
            <a:ext cx="4234815" cy="631825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9" name="矩形 48"/>
          <p:cNvSpPr>
            <a:spLocks noGrp="1"/>
          </p:cNvSpPr>
          <p:nvPr/>
        </p:nvSpPr>
        <p:spPr>
          <a:xfrm>
            <a:off x="7509510" y="5416550"/>
            <a:ext cx="4082415" cy="536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局部 GREEN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0" name="矩形 49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8" name="矩形 77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05 FreeRDP 实战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当前证据能证明什么，下一步还要补什么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buNone/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38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6" name="圆角矩形 5"/>
          <p:cNvSpPr>
            <a:spLocks noGrp="1"/>
          </p:cNvSpPr>
          <p:nvPr/>
        </p:nvSpPr>
        <p:spPr>
          <a:xfrm>
            <a:off x="523875" y="1143000"/>
            <a:ext cx="2524125" cy="1571625"/>
          </a:xfrm>
          <a:prstGeom prst="roundRect">
            <a:avLst>
              <a:gd name="adj" fmla="val 8485"/>
            </a:avLst>
          </a:prstGeom>
          <a:solidFill>
            <a:srgbClr val="F4F6F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76275" y="1257300"/>
            <a:ext cx="22193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1200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before 视频</a:t>
            </a:r>
            <a:endParaRPr sz="1200" b="1">
              <a:solidFill>
                <a:srgbClr val="C84B4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76275" y="1543050"/>
            <a:ext cx="609600" cy="28575"/>
          </a:xfrm>
          <a:prstGeom prst="rect">
            <a:avLst/>
          </a:prstGeom>
          <a:solidFill>
            <a:srgbClr val="C84B4B"/>
          </a:solidFill>
          <a:ln w="0">
            <a:noFill/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809625" y="1714500"/>
            <a:ext cx="195262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ctr">
              <a:buNone/>
              <a:defRPr sz="1650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PENDING</a:t>
            </a:r>
            <a:endParaRPr sz="1650" b="1">
              <a:solidFill>
                <a:srgbClr val="C84B4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buNone/>
              <a:defRPr sz="1650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当前为空</a:t>
            </a:r>
            <a:endParaRPr sz="1650" b="1">
              <a:solidFill>
                <a:srgbClr val="C84B4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523875" y="3000375"/>
            <a:ext cx="4095750" cy="26670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676275" y="3114675"/>
            <a:ext cx="37909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1200" b="1">
                <a:solidFill>
                  <a:srgbClr val="715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715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硬解路径待填证据链</a:t>
            </a:r>
            <a:endParaRPr sz="1200" b="1">
              <a:solidFill>
                <a:srgbClr val="7157B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676275" y="3400425"/>
            <a:ext cx="609600" cy="28575"/>
          </a:xfrm>
          <a:prstGeom prst="rect">
            <a:avLst/>
          </a:prstGeom>
          <a:solidFill>
            <a:srgbClr val="7157B8"/>
          </a:solidFill>
          <a:ln w="0">
            <a:noFill/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676275" y="3476625"/>
            <a:ext cx="3790950" cy="2076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1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commit:</a:t>
            </a:r>
            <a:endParaRPr sz="1125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1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runId:</a:t>
            </a:r>
            <a:endParaRPr sz="1125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1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candidate path:</a:t>
            </a:r>
            <a:endParaRPr sz="1125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1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decoder identity:</a:t>
            </a:r>
            <a:endParaRPr sz="1125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1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frameId / output:</a:t>
            </a:r>
            <a:endParaRPr sz="1125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1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owner / matched EndFrame:</a:t>
            </a:r>
            <a:endParaRPr sz="1125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1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present:</a:t>
            </a:r>
            <a:endParaRPr sz="1125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pic>
        <p:nvPicPr>
          <p:cNvPr id="168" name="图片 167"/>
          <p:cNvPicPr>
            <a:picLocks noChangeAspect="1"/>
          </p:cNvPicPr>
          <p:nvPr/>
        </p:nvPicPr>
        <p:blipFill>
          <a:blip r:embed="rId1"/>
          <a:srcRect l="32143" r="32143"/>
          <a:stretch>
            <a:fillRect/>
          </a:stretch>
        </p:blipFill>
        <p:spPr>
          <a:xfrm>
            <a:off x="4905375" y="1143000"/>
            <a:ext cx="3429000" cy="2000250"/>
          </a:xfrm>
          <a:prstGeom prst="roundRect">
            <a:avLst>
              <a:gd name="adj" fmla="val 5714"/>
            </a:avLst>
          </a:prstGeom>
        </p:spPr>
      </p:pic>
      <p:sp>
        <p:nvSpPr>
          <p:cNvPr id="15" name="圆角矩形 14"/>
          <p:cNvSpPr>
            <a:spLocks noGrp="1"/>
          </p:cNvSpPr>
          <p:nvPr/>
        </p:nvSpPr>
        <p:spPr>
          <a:xfrm>
            <a:off x="4905375" y="1143000"/>
            <a:ext cx="3429000" cy="2000250"/>
          </a:xfrm>
          <a:prstGeom prst="roundRect">
            <a:avLst>
              <a:gd name="adj" fmla="val 5714"/>
            </a:avLst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4905375" y="3381375"/>
            <a:ext cx="2618899" cy="328613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4981575" y="3429000"/>
            <a:ext cx="2466499" cy="23336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结论</a:t>
            </a:r>
            <a:endParaRPr sz="9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7524274" y="3381375"/>
            <a:ext cx="2484596" cy="328613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7600474" y="3429000"/>
            <a:ext cx="2332196" cy="23336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当前证据</a:t>
            </a:r>
            <a:endParaRPr sz="9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10008870" y="3381375"/>
            <a:ext cx="1611630" cy="328613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10085070" y="3429000"/>
            <a:ext cx="1459230" cy="23336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判定</a:t>
            </a:r>
            <a:endParaRPr sz="9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4905375" y="3709988"/>
            <a:ext cx="2618899" cy="279627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4981575" y="3757613"/>
            <a:ext cx="2466499" cy="184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源码存在 bridge→compositor→EndFrame 路径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7524274" y="3709988"/>
            <a:ext cx="2484596" cy="279627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7600474" y="3757613"/>
            <a:ext cx="2332196" cy="184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源码锚点与调用链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10008870" y="3709988"/>
            <a:ext cx="1611630" cy="279627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10085070" y="3757613"/>
            <a:ext cx="1459230" cy="184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REPO FACT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4905375" y="3989614"/>
            <a:ext cx="2618899" cy="279627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4981575" y="4037239"/>
            <a:ext cx="2466499" cy="184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当前 arm64/HAP 构建通过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7524274" y="3989614"/>
            <a:ext cx="2484596" cy="279627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7600474" y="4037239"/>
            <a:ext cx="2332196" cy="184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待产出 build 日志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10008870" y="3989614"/>
            <a:ext cx="1611630" cy="279627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10085070" y="4037239"/>
            <a:ext cx="1459230" cy="184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PENDING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4905375" y="4269241"/>
            <a:ext cx="2618899" cy="279627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4981575" y="4316866"/>
            <a:ext cx="2466499" cy="184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真机实际选择 OHOS hardware decoder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7524274" y="4269241"/>
            <a:ext cx="2484596" cy="279627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7600474" y="4316866"/>
            <a:ext cx="2332196" cy="184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待采集 decoder identity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10008870" y="4269241"/>
            <a:ext cx="1611630" cy="279627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9" name="矩形 38"/>
          <p:cNvSpPr>
            <a:spLocks noGrp="1"/>
          </p:cNvSpPr>
          <p:nvPr/>
        </p:nvSpPr>
        <p:spPr>
          <a:xfrm>
            <a:off x="10085070" y="4316866"/>
            <a:ext cx="1459230" cy="184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PENDING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4905375" y="4548868"/>
            <a:ext cx="2618899" cy="279627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1" name="矩形 40"/>
          <p:cNvSpPr>
            <a:spLocks noGrp="1"/>
          </p:cNvSpPr>
          <p:nvPr/>
        </p:nvSpPr>
        <p:spPr>
          <a:xfrm>
            <a:off x="4981575" y="4596493"/>
            <a:ext cx="2466499" cy="184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某次运行可见播放与部分交互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2" name="矩形 41"/>
          <p:cNvSpPr>
            <a:spLocks noGrp="1"/>
          </p:cNvSpPr>
          <p:nvPr/>
        </p:nvSpPr>
        <p:spPr>
          <a:xfrm>
            <a:off x="7524274" y="4548868"/>
            <a:ext cx="2484596" cy="279627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3" name="矩形 42"/>
          <p:cNvSpPr>
            <a:spLocks noGrp="1"/>
          </p:cNvSpPr>
          <p:nvPr/>
        </p:nvSpPr>
        <p:spPr>
          <a:xfrm>
            <a:off x="7600474" y="4596493"/>
            <a:ext cx="2332196" cy="184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gpu-validation-video-playback-16s.mp4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4" name="矩形 43"/>
          <p:cNvSpPr>
            <a:spLocks noGrp="1"/>
          </p:cNvSpPr>
          <p:nvPr/>
        </p:nvSpPr>
        <p:spPr>
          <a:xfrm>
            <a:off x="10008870" y="4548868"/>
            <a:ext cx="1611630" cy="279627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5" name="矩形 44"/>
          <p:cNvSpPr>
            <a:spLocks noGrp="1"/>
          </p:cNvSpPr>
          <p:nvPr/>
        </p:nvSpPr>
        <p:spPr>
          <a:xfrm>
            <a:off x="10085070" y="4596493"/>
            <a:ext cx="1459230" cy="184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MEDIA FACT / UNBOUND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" name="矩形 45"/>
          <p:cNvSpPr>
            <a:spLocks noGrp="1"/>
          </p:cNvSpPr>
          <p:nvPr/>
        </p:nvSpPr>
        <p:spPr>
          <a:xfrm>
            <a:off x="4905375" y="4828495"/>
            <a:ext cx="2618899" cy="279627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7" name="矩形 46"/>
          <p:cNvSpPr>
            <a:spLocks noGrp="1"/>
          </p:cNvSpPr>
          <p:nvPr/>
        </p:nvSpPr>
        <p:spPr>
          <a:xfrm>
            <a:off x="4981575" y="4876120"/>
            <a:ext cx="2466499" cy="184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某次运行出现黑屏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8" name="矩形 47"/>
          <p:cNvSpPr>
            <a:spLocks noGrp="1"/>
          </p:cNvSpPr>
          <p:nvPr/>
        </p:nvSpPr>
        <p:spPr>
          <a:xfrm>
            <a:off x="7524274" y="4828495"/>
            <a:ext cx="2484596" cy="279627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9" name="矩形 48"/>
          <p:cNvSpPr>
            <a:spLocks noGrp="1"/>
          </p:cNvSpPr>
          <p:nvPr/>
        </p:nvSpPr>
        <p:spPr>
          <a:xfrm>
            <a:off x="7600474" y="4876120"/>
            <a:ext cx="2332196" cy="184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gpu-failure-black-screen-13s.mp4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0" name="矩形 49"/>
          <p:cNvSpPr>
            <a:spLocks noGrp="1"/>
          </p:cNvSpPr>
          <p:nvPr/>
        </p:nvSpPr>
        <p:spPr>
          <a:xfrm>
            <a:off x="10008870" y="4828495"/>
            <a:ext cx="1611630" cy="279627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1" name="矩形 50"/>
          <p:cNvSpPr>
            <a:spLocks noGrp="1"/>
          </p:cNvSpPr>
          <p:nvPr/>
        </p:nvSpPr>
        <p:spPr>
          <a:xfrm>
            <a:off x="10085070" y="4876120"/>
            <a:ext cx="1459230" cy="184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MEDIA FACT / UNBOUND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2" name="矩形 51"/>
          <p:cNvSpPr>
            <a:spLocks noGrp="1"/>
          </p:cNvSpPr>
          <p:nvPr/>
        </p:nvSpPr>
        <p:spPr>
          <a:xfrm>
            <a:off x="4905375" y="5108121"/>
            <a:ext cx="2618899" cy="279627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3" name="矩形 52"/>
          <p:cNvSpPr>
            <a:spLocks noGrp="1"/>
          </p:cNvSpPr>
          <p:nvPr/>
        </p:nvSpPr>
        <p:spPr>
          <a:xfrm>
            <a:off x="4981575" y="5155746"/>
            <a:ext cx="2466499" cy="184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CPU/FPS 与卡顿改善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4" name="矩形 53"/>
          <p:cNvSpPr>
            <a:spLocks noGrp="1"/>
          </p:cNvSpPr>
          <p:nvPr/>
        </p:nvSpPr>
        <p:spPr>
          <a:xfrm>
            <a:off x="7524274" y="5108121"/>
            <a:ext cx="2484596" cy="279627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5" name="矩形 54"/>
          <p:cNvSpPr>
            <a:spLocks noGrp="1"/>
          </p:cNvSpPr>
          <p:nvPr/>
        </p:nvSpPr>
        <p:spPr>
          <a:xfrm>
            <a:off x="7600474" y="5155746"/>
            <a:ext cx="2332196" cy="184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待绑定同一 runId 的 CPU/FPS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6" name="矩形 55"/>
          <p:cNvSpPr>
            <a:spLocks noGrp="1"/>
          </p:cNvSpPr>
          <p:nvPr/>
        </p:nvSpPr>
        <p:spPr>
          <a:xfrm>
            <a:off x="10008870" y="5108121"/>
            <a:ext cx="1611630" cy="279627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7" name="矩形 56"/>
          <p:cNvSpPr>
            <a:spLocks noGrp="1"/>
          </p:cNvSpPr>
          <p:nvPr/>
        </p:nvSpPr>
        <p:spPr>
          <a:xfrm>
            <a:off x="10085070" y="5155746"/>
            <a:ext cx="1459230" cy="184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UNKNOWN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8" name="矩形 57"/>
          <p:cNvSpPr>
            <a:spLocks noGrp="1"/>
          </p:cNvSpPr>
          <p:nvPr/>
        </p:nvSpPr>
        <p:spPr>
          <a:xfrm>
            <a:off x="4905375" y="5387748"/>
            <a:ext cx="2618899" cy="279627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9" name="矩形 58"/>
          <p:cNvSpPr>
            <a:spLocks noGrp="1"/>
          </p:cNvSpPr>
          <p:nvPr/>
        </p:nvSpPr>
        <p:spPr>
          <a:xfrm>
            <a:off x="4981575" y="5435373"/>
            <a:ext cx="2466499" cy="184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resize/后台/重连长稳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0" name="矩形 59"/>
          <p:cNvSpPr>
            <a:spLocks noGrp="1"/>
          </p:cNvSpPr>
          <p:nvPr/>
        </p:nvSpPr>
        <p:spPr>
          <a:xfrm>
            <a:off x="7524274" y="5387748"/>
            <a:ext cx="2484596" cy="279627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61" name="矩形 60"/>
          <p:cNvSpPr>
            <a:spLocks noGrp="1"/>
          </p:cNvSpPr>
          <p:nvPr/>
        </p:nvSpPr>
        <p:spPr>
          <a:xfrm>
            <a:off x="7600474" y="5435373"/>
            <a:ext cx="2332196" cy="184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待执行 resize / 后台回归矩阵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2" name="矩形 61"/>
          <p:cNvSpPr>
            <a:spLocks noGrp="1"/>
          </p:cNvSpPr>
          <p:nvPr/>
        </p:nvSpPr>
        <p:spPr>
          <a:xfrm>
            <a:off x="10008870" y="5387748"/>
            <a:ext cx="1611630" cy="279627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63" name="矩形 62"/>
          <p:cNvSpPr>
            <a:spLocks noGrp="1"/>
          </p:cNvSpPr>
          <p:nvPr/>
        </p:nvSpPr>
        <p:spPr>
          <a:xfrm>
            <a:off x="10085070" y="5435373"/>
            <a:ext cx="1459230" cy="184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UNKNOWN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4" name="圆角矩形 63"/>
          <p:cNvSpPr>
            <a:spLocks noGrp="1"/>
          </p:cNvSpPr>
          <p:nvPr/>
        </p:nvSpPr>
        <p:spPr>
          <a:xfrm>
            <a:off x="8572500" y="1143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65" name="矩形 64"/>
          <p:cNvSpPr>
            <a:spLocks noGrp="1"/>
          </p:cNvSpPr>
          <p:nvPr/>
        </p:nvSpPr>
        <p:spPr>
          <a:xfrm>
            <a:off x="8810625" y="1666875"/>
            <a:ext cx="25717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500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VIDEO SLOT · AFTER</a:t>
            </a:r>
            <a:endParaRPr sz="1500" b="1">
              <a:solidFill>
                <a:srgbClr val="C84B4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buNone/>
              <a:defRPr sz="1500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gpu-hwdecode-after.mp4</a:t>
            </a:r>
            <a:endParaRPr sz="1500" b="1">
              <a:solidFill>
                <a:srgbClr val="C84B4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buNone/>
              <a:defRPr sz="1500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PENDING</a:t>
            </a:r>
            <a:endParaRPr sz="1500" b="1">
              <a:solidFill>
                <a:srgbClr val="C84B4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6" name="圆角矩形 65"/>
          <p:cNvSpPr>
            <a:spLocks noGrp="1"/>
          </p:cNvSpPr>
          <p:nvPr/>
        </p:nvSpPr>
        <p:spPr>
          <a:xfrm>
            <a:off x="1143000" y="5857875"/>
            <a:ext cx="2390775" cy="457200"/>
          </a:xfrm>
          <a:prstGeom prst="roundRect">
            <a:avLst>
              <a:gd name="adj" fmla="val 25000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67" name="矩形 66"/>
          <p:cNvSpPr>
            <a:spLocks noGrp="1"/>
          </p:cNvSpPr>
          <p:nvPr/>
        </p:nvSpPr>
        <p:spPr>
          <a:xfrm>
            <a:off x="1219200" y="5915025"/>
            <a:ext cx="22383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9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REPO FACT</a:t>
            </a:r>
            <a:endParaRPr sz="9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buNone/>
              <a:defRPr sz="9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源码可证明</a:t>
            </a:r>
            <a:endParaRPr sz="9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8" name="圆角矩形 67"/>
          <p:cNvSpPr>
            <a:spLocks noGrp="1"/>
          </p:cNvSpPr>
          <p:nvPr/>
        </p:nvSpPr>
        <p:spPr>
          <a:xfrm>
            <a:off x="3648075" y="5857875"/>
            <a:ext cx="2390775" cy="457200"/>
          </a:xfrm>
          <a:prstGeom prst="roundRect">
            <a:avLst>
              <a:gd name="adj" fmla="val 25000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69" name="矩形 68"/>
          <p:cNvSpPr>
            <a:spLocks noGrp="1"/>
          </p:cNvSpPr>
          <p:nvPr/>
        </p:nvSpPr>
        <p:spPr>
          <a:xfrm>
            <a:off x="3724275" y="5915025"/>
            <a:ext cx="22383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9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MEDIA FACT</a:t>
            </a:r>
            <a:endParaRPr sz="9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buNone/>
              <a:defRPr sz="9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画面可见但未绑定</a:t>
            </a:r>
            <a:endParaRPr sz="9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0" name="圆角矩形 69"/>
          <p:cNvSpPr>
            <a:spLocks noGrp="1"/>
          </p:cNvSpPr>
          <p:nvPr/>
        </p:nvSpPr>
        <p:spPr>
          <a:xfrm>
            <a:off x="6153150" y="5857875"/>
            <a:ext cx="2390775" cy="457200"/>
          </a:xfrm>
          <a:prstGeom prst="roundRect">
            <a:avLst>
              <a:gd name="adj" fmla="val 25000"/>
            </a:avLst>
          </a:prstGeom>
          <a:solidFill>
            <a:srgbClr val="FFF7E3"/>
          </a:solidFill>
          <a:ln w="9525">
            <a:solidFill>
              <a:srgbClr val="D89518"/>
            </a:solidFill>
            <a:prstDash val="solid"/>
          </a:ln>
        </p:spPr>
      </p:sp>
      <p:sp>
        <p:nvSpPr>
          <p:cNvPr id="71" name="矩形 70"/>
          <p:cNvSpPr>
            <a:spLocks noGrp="1"/>
          </p:cNvSpPr>
          <p:nvPr/>
        </p:nvSpPr>
        <p:spPr>
          <a:xfrm>
            <a:off x="6229350" y="5915025"/>
            <a:ext cx="22383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9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PENDING</a:t>
            </a:r>
            <a:endParaRPr sz="9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buNone/>
              <a:defRPr sz="9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证据待采集</a:t>
            </a:r>
            <a:endParaRPr sz="9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2" name="圆角矩形 71"/>
          <p:cNvSpPr>
            <a:spLocks noGrp="1"/>
          </p:cNvSpPr>
          <p:nvPr/>
        </p:nvSpPr>
        <p:spPr>
          <a:xfrm>
            <a:off x="8658225" y="5857875"/>
            <a:ext cx="2390775" cy="457200"/>
          </a:xfrm>
          <a:prstGeom prst="roundRect">
            <a:avLst>
              <a:gd name="adj" fmla="val 25000"/>
            </a:avLst>
          </a:prstGeom>
          <a:solidFill>
            <a:srgbClr val="FFF0EC"/>
          </a:solidFill>
          <a:ln w="9525">
            <a:solidFill>
              <a:srgbClr val="E26852"/>
            </a:solidFill>
            <a:prstDash val="solid"/>
          </a:ln>
        </p:spPr>
      </p:sp>
      <p:sp>
        <p:nvSpPr>
          <p:cNvPr id="73" name="矩形 72"/>
          <p:cNvSpPr>
            <a:spLocks noGrp="1"/>
          </p:cNvSpPr>
          <p:nvPr/>
        </p:nvSpPr>
        <p:spPr>
          <a:xfrm>
            <a:off x="8734425" y="5915025"/>
            <a:ext cx="22383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9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UNKNOWN</a:t>
            </a:r>
            <a:endParaRPr sz="9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buNone/>
              <a:defRPr sz="9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暂时不能下结论</a:t>
            </a:r>
            <a:endParaRPr sz="9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228" name="直接箭头连接符 227"/>
          <p:cNvCxnSpPr>
            <a:stCxn id="66" idx="3"/>
            <a:endCxn id="68" idx="1"/>
          </p:cNvCxnSpPr>
          <p:nvPr/>
        </p:nvCxnSpPr>
        <p:spPr>
          <a:xfrm>
            <a:off x="3533775" y="6086475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29" name="直接箭头连接符 228"/>
          <p:cNvCxnSpPr>
            <a:stCxn id="68" idx="3"/>
            <a:endCxn id="70" idx="1"/>
          </p:cNvCxnSpPr>
          <p:nvPr/>
        </p:nvCxnSpPr>
        <p:spPr>
          <a:xfrm>
            <a:off x="6038850" y="6086475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30" name="直接箭头连接符 229"/>
          <p:cNvCxnSpPr>
            <a:stCxn id="70" idx="3"/>
            <a:endCxn id="72" idx="1"/>
          </p:cNvCxnSpPr>
          <p:nvPr/>
        </p:nvCxnSpPr>
        <p:spPr>
          <a:xfrm>
            <a:off x="8543925" y="6086475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77" name="矩形 76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2" name="矩形 31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05 FreeRDP 实战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把方法带回项目，只保留七个问题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buNone/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39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6" name="圆角矩形 5"/>
          <p:cNvSpPr>
            <a:spLocks noGrp="1"/>
          </p:cNvSpPr>
          <p:nvPr/>
        </p:nvSpPr>
        <p:spPr>
          <a:xfrm>
            <a:off x="523875" y="1123950"/>
            <a:ext cx="1746250" cy="552450"/>
          </a:xfrm>
          <a:prstGeom prst="roundRect">
            <a:avLst>
              <a:gd name="adj" fmla="val 20690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00075" y="1181100"/>
            <a:ext cx="15938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事实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圆角矩形 7"/>
          <p:cNvSpPr>
            <a:spLocks noGrp="1"/>
          </p:cNvSpPr>
          <p:nvPr/>
        </p:nvSpPr>
        <p:spPr>
          <a:xfrm>
            <a:off x="2403475" y="1123950"/>
            <a:ext cx="1746250" cy="552450"/>
          </a:xfrm>
          <a:prstGeom prst="roundRect">
            <a:avLst>
              <a:gd name="adj" fmla="val 20690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2479675" y="1181100"/>
            <a:ext cx="15938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规格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4283075" y="1123950"/>
            <a:ext cx="1746250" cy="552450"/>
          </a:xfrm>
          <a:prstGeom prst="roundRect">
            <a:avLst>
              <a:gd name="adj" fmla="val 20690"/>
            </a:avLst>
          </a:prstGeom>
          <a:solidFill>
            <a:srgbClr val="F2EEFF"/>
          </a:solidFill>
          <a:ln w="9525">
            <a:solidFill>
              <a:srgbClr val="7157B8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359275" y="1181100"/>
            <a:ext cx="15938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任务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6162675" y="1123950"/>
            <a:ext cx="1746250" cy="552450"/>
          </a:xfrm>
          <a:prstGeom prst="roundRect">
            <a:avLst>
              <a:gd name="adj" fmla="val 20690"/>
            </a:avLst>
          </a:prstGeom>
          <a:solidFill>
            <a:srgbClr val="FCEEEE"/>
          </a:solidFill>
          <a:ln w="9525">
            <a:solidFill>
              <a:srgbClr val="C84B4B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6238875" y="1181100"/>
            <a:ext cx="15938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RED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8042275" y="1123950"/>
            <a:ext cx="1746250" cy="552450"/>
          </a:xfrm>
          <a:prstGeom prst="roundRect">
            <a:avLst>
              <a:gd name="adj" fmla="val 20690"/>
            </a:avLst>
          </a:prstGeom>
          <a:solidFill>
            <a:srgbClr val="FFF7E3"/>
          </a:solidFill>
          <a:ln w="9525">
            <a:solidFill>
              <a:srgbClr val="D89518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8118475" y="1181100"/>
            <a:ext cx="15938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最小 Diff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圆角矩形 15"/>
          <p:cNvSpPr>
            <a:spLocks noGrp="1"/>
          </p:cNvSpPr>
          <p:nvPr/>
        </p:nvSpPr>
        <p:spPr>
          <a:xfrm>
            <a:off x="9921875" y="1123950"/>
            <a:ext cx="1746250" cy="552450"/>
          </a:xfrm>
          <a:prstGeom prst="roundRect">
            <a:avLst>
              <a:gd name="adj" fmla="val 20690"/>
            </a:avLst>
          </a:prstGeom>
          <a:solidFill>
            <a:srgbClr val="EBF8F1"/>
          </a:solidFill>
          <a:ln w="9525">
            <a:solidFill>
              <a:srgbClr val="2F8F5B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9998075" y="1181100"/>
            <a:ext cx="15938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buNone/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系统证据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72" name="直接箭头连接符 71"/>
          <p:cNvCxnSpPr>
            <a:stCxn id="6" idx="3"/>
            <a:endCxn id="8" idx="1"/>
          </p:cNvCxnSpPr>
          <p:nvPr/>
        </p:nvCxnSpPr>
        <p:spPr>
          <a:xfrm>
            <a:off x="2270125" y="1400175"/>
            <a:ext cx="13335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3" name="直接箭头连接符 72"/>
          <p:cNvCxnSpPr>
            <a:stCxn id="8" idx="3"/>
            <a:endCxn id="10" idx="1"/>
          </p:cNvCxnSpPr>
          <p:nvPr/>
        </p:nvCxnSpPr>
        <p:spPr>
          <a:xfrm>
            <a:off x="4149725" y="1400175"/>
            <a:ext cx="13335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4" name="直接箭头连接符 73"/>
          <p:cNvCxnSpPr>
            <a:stCxn id="10" idx="3"/>
            <a:endCxn id="12" idx="1"/>
          </p:cNvCxnSpPr>
          <p:nvPr/>
        </p:nvCxnSpPr>
        <p:spPr>
          <a:xfrm>
            <a:off x="6029325" y="1400175"/>
            <a:ext cx="13335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5" name="直接箭头连接符 74"/>
          <p:cNvCxnSpPr>
            <a:stCxn id="12" idx="3"/>
            <a:endCxn id="14" idx="1"/>
          </p:cNvCxnSpPr>
          <p:nvPr/>
        </p:nvCxnSpPr>
        <p:spPr>
          <a:xfrm>
            <a:off x="7908925" y="1400175"/>
            <a:ext cx="13335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6" name="直接箭头连接符 75"/>
          <p:cNvCxnSpPr>
            <a:stCxn id="14" idx="3"/>
            <a:endCxn id="16" idx="1"/>
          </p:cNvCxnSpPr>
          <p:nvPr/>
        </p:nvCxnSpPr>
        <p:spPr>
          <a:xfrm>
            <a:off x="9788525" y="1400175"/>
            <a:ext cx="13335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pic>
        <p:nvPicPr>
          <p:cNvPr id="77" name="图片 7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8778" y="2047875"/>
            <a:ext cx="4823194" cy="2714625"/>
          </a:xfrm>
          <a:prstGeom prst="roundRect">
            <a:avLst>
              <a:gd name="adj" fmla="val 4211"/>
            </a:avLst>
          </a:prstGeom>
        </p:spPr>
      </p:pic>
      <p:sp>
        <p:nvSpPr>
          <p:cNvPr id="24" name="圆角矩形 23"/>
          <p:cNvSpPr>
            <a:spLocks noGrp="1"/>
          </p:cNvSpPr>
          <p:nvPr/>
        </p:nvSpPr>
        <p:spPr>
          <a:xfrm>
            <a:off x="523875" y="2047875"/>
            <a:ext cx="4953000" cy="2714625"/>
          </a:xfrm>
          <a:prstGeom prst="roundRect">
            <a:avLst>
              <a:gd name="adj" fmla="val 4211"/>
            </a:avLst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25" name="圆角矩形 24"/>
          <p:cNvSpPr>
            <a:spLocks noGrp="1"/>
          </p:cNvSpPr>
          <p:nvPr/>
        </p:nvSpPr>
        <p:spPr>
          <a:xfrm>
            <a:off x="5810250" y="2000250"/>
            <a:ext cx="5810250" cy="323850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5962650" y="2114550"/>
            <a:ext cx="5505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下一次只问七个问题</a:t>
            </a:r>
            <a:endParaRPr sz="12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5962650" y="2400300"/>
            <a:ext cx="609600" cy="28575"/>
          </a:xfrm>
          <a:prstGeom prst="rect">
            <a:avLst/>
          </a:prstGeom>
          <a:solidFill>
            <a:srgbClr val="E26852"/>
          </a:solidFill>
          <a:ln w="0">
            <a:noFill/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6096000" y="2524125"/>
            <a:ext cx="5238750" cy="2428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 哪些词会让实现分叉？</a:t>
            </a:r>
            <a:endParaRPr sz="12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 最终真相在哪一层？</a:t>
            </a:r>
            <a:endParaRPr sz="12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3. 哪些不变量绝不能破坏？</a:t>
            </a:r>
            <a:endParaRPr sz="12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4. 本轮只允许 AI 改哪个边界？</a:t>
            </a:r>
            <a:endParaRPr sz="12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5. 怎样先制造一个可解释的 RED？</a:t>
            </a:r>
            <a:endParaRPr sz="12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6. 最早异常证据在哪里？</a:t>
            </a:r>
            <a:endParaRPr sz="12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7. 什么证据满足后，本轮必须停止？</a:t>
            </a:r>
            <a:endParaRPr sz="12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1143000" y="5572125"/>
            <a:ext cx="57150" cy="552450"/>
          </a:xfrm>
          <a:prstGeom prst="rect">
            <a:avLst/>
          </a:prstGeom>
          <a:solidFill>
            <a:srgbClr val="168C82"/>
          </a:solidFill>
          <a:ln w="0">
            <a:noFill/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1314450" y="5610225"/>
            <a:ext cx="9734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buNone/>
              <a:def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一分钟迁移题：权限页面第一次进入为空，第二次正常。给出只读勘察、可证伪假设、禁止范围和最终事实源。</a:t>
            </a:r>
            <a:endParaRPr sz="13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buNone/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21136</Words>
  <Application>WPS 演示</Application>
  <PresentationFormat>Converted Presentation</PresentationFormat>
  <Paragraphs>2113</Paragraphs>
  <Slides>39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39</vt:i4>
      </vt:variant>
    </vt:vector>
  </HeadingPairs>
  <TitlesOfParts>
    <vt:vector size="47" baseType="lpstr">
      <vt:lpstr>Arial</vt:lpstr>
      <vt:lpstr>宋体</vt:lpstr>
      <vt:lpstr>Wingdings</vt:lpstr>
      <vt:lpstr>微软雅黑</vt:lpstr>
      <vt:lpstr>Consolas</vt:lpstr>
      <vt:lpstr>Arial Unicode MS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(๑`灬´๑)</cp:lastModifiedBy>
  <cp:revision>1</cp:revision>
  <dcterms:created xsi:type="dcterms:W3CDTF">2026-09-01T15:03:51Z</dcterms:created>
  <dcterms:modified xsi:type="dcterms:W3CDTF">2026-09-01T15:03:51Z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9F793E74A2B64466A5B7A97EA7E730CD_12</vt:lpwstr>
  </property>
  <property fmtid="{D5CDD505-2E9C-101B-9397-08002B2CF9AE}" pid="3" name="KSOProductBuildVer">
    <vt:lpwstr>2052-12.1.0.28043</vt:lpwstr>
  </property>
</Properties>
</file>