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e50903a53284cd2" /><Relationship Type="http://schemas.openxmlformats.org/officeDocument/2006/relationships/extended-properties" Target="/docProps/app.xml" Id="Rbde4221726be4aa3" /><Relationship Type="http://schemas.openxmlformats.org/officeDocument/2006/relationships/officeDocument" Target="/ppt/presentation.xml" Id="Rba1c3aab9a7b4a4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98a9c47feca49ad"/>
  </p:sldMasterIdLst>
  <p:notesMasterIdLst>
    <p:notesMasterId xmlns:r="http://schemas.openxmlformats.org/officeDocument/2006/relationships" r:id="R7eb6bfda0f0e432f"/>
  </p:notesMasterIdLst>
  <p:sldIdLst>
    <p:sldId xmlns:r="http://schemas.openxmlformats.org/officeDocument/2006/relationships" id="256" r:id="R792951ac71e24a47"/>
    <p:sldId xmlns:r="http://schemas.openxmlformats.org/officeDocument/2006/relationships" id="257" r:id="Rae9a076dd57a415e"/>
    <p:sldId xmlns:r="http://schemas.openxmlformats.org/officeDocument/2006/relationships" id="258" r:id="Re35da759d137406f"/>
    <p:sldId xmlns:r="http://schemas.openxmlformats.org/officeDocument/2006/relationships" id="259" r:id="R5f60481e4eca4eff"/>
    <p:sldId xmlns:r="http://schemas.openxmlformats.org/officeDocument/2006/relationships" id="260" r:id="Rf8fc04f655074ae6"/>
    <p:sldId xmlns:r="http://schemas.openxmlformats.org/officeDocument/2006/relationships" id="261" r:id="Re0639136553b4679"/>
    <p:sldId xmlns:r="http://schemas.openxmlformats.org/officeDocument/2006/relationships" id="262" r:id="R81da7071cd3b4715"/>
    <p:sldId xmlns:r="http://schemas.openxmlformats.org/officeDocument/2006/relationships" id="263" r:id="Ree0e1df1488544b1"/>
    <p:sldId xmlns:r="http://schemas.openxmlformats.org/officeDocument/2006/relationships" id="264" r:id="R01ec932e3c544f47"/>
    <p:sldId xmlns:r="http://schemas.openxmlformats.org/officeDocument/2006/relationships" id="265" r:id="Reb8ffc62fa6e4a95"/>
    <p:sldId xmlns:r="http://schemas.openxmlformats.org/officeDocument/2006/relationships" id="266" r:id="Re1eb3ecf3ae24a20"/>
    <p:sldId xmlns:r="http://schemas.openxmlformats.org/officeDocument/2006/relationships" id="267" r:id="R770020865a89495d"/>
    <p:sldId xmlns:r="http://schemas.openxmlformats.org/officeDocument/2006/relationships" id="268" r:id="Rf7e01c498f824ccc"/>
    <p:sldId xmlns:r="http://schemas.openxmlformats.org/officeDocument/2006/relationships" id="269" r:id="R37d9e13c04e2460f"/>
    <p:sldId xmlns:r="http://schemas.openxmlformats.org/officeDocument/2006/relationships" id="270" r:id="Re94fe3f5eebf430e"/>
    <p:sldId xmlns:r="http://schemas.openxmlformats.org/officeDocument/2006/relationships" id="271" r:id="R2ea40cd443dc4732"/>
    <p:sldId xmlns:r="http://schemas.openxmlformats.org/officeDocument/2006/relationships" id="272" r:id="Ra0cef457ef7448fa"/>
    <p:sldId xmlns:r="http://schemas.openxmlformats.org/officeDocument/2006/relationships" id="273" r:id="Rbfbc350da10041f4"/>
    <p:sldId xmlns:r="http://schemas.openxmlformats.org/officeDocument/2006/relationships" id="274" r:id="Raadd1e0f8f004794"/>
    <p:sldId xmlns:r="http://schemas.openxmlformats.org/officeDocument/2006/relationships" id="275" r:id="R91536a7c5ee0471e"/>
    <p:sldId xmlns:r="http://schemas.openxmlformats.org/officeDocument/2006/relationships" id="276" r:id="R0f1170f374c049b3"/>
    <p:sldId xmlns:r="http://schemas.openxmlformats.org/officeDocument/2006/relationships" id="277" r:id="R6d3ddfc8160a4021"/>
    <p:sldId xmlns:r="http://schemas.openxmlformats.org/officeDocument/2006/relationships" id="278" r:id="Ra651aba21acd4ac0"/>
    <p:sldId xmlns:r="http://schemas.openxmlformats.org/officeDocument/2006/relationships" id="279" r:id="R3de2bc2911e64fae"/>
    <p:sldId xmlns:r="http://schemas.openxmlformats.org/officeDocument/2006/relationships" id="280" r:id="Rba7ba52949054a81"/>
    <p:sldId xmlns:r="http://schemas.openxmlformats.org/officeDocument/2006/relationships" id="281" r:id="R7427a134466c49c6"/>
    <p:sldId xmlns:r="http://schemas.openxmlformats.org/officeDocument/2006/relationships" id="282" r:id="Rfd8241acd1754f09"/>
    <p:sldId xmlns:r="http://schemas.openxmlformats.org/officeDocument/2006/relationships" id="283" r:id="R2b5e1f606f594a36"/>
    <p:sldId xmlns:r="http://schemas.openxmlformats.org/officeDocument/2006/relationships" id="284" r:id="R8e40239577404367"/>
    <p:sldId xmlns:r="http://schemas.openxmlformats.org/officeDocument/2006/relationships" id="285" r:id="Ree1eb13b883c47a9"/>
    <p:sldId xmlns:r="http://schemas.openxmlformats.org/officeDocument/2006/relationships" id="286" r:id="R1d0296bf15d64907"/>
    <p:sldId xmlns:r="http://schemas.openxmlformats.org/officeDocument/2006/relationships" id="287" r:id="Rbae57936111e40cc"/>
    <p:sldId xmlns:r="http://schemas.openxmlformats.org/officeDocument/2006/relationships" id="288" r:id="R9d3e2326e733431f"/>
    <p:sldId xmlns:r="http://schemas.openxmlformats.org/officeDocument/2006/relationships" id="289" r:id="Rb98b64ba07a2481b"/>
    <p:sldId xmlns:r="http://schemas.openxmlformats.org/officeDocument/2006/relationships" id="290" r:id="Ra39f8a1d47474949"/>
    <p:sldId xmlns:r="http://schemas.openxmlformats.org/officeDocument/2006/relationships" id="291" r:id="Rd46b859330fc408c"/>
    <p:sldId xmlns:r="http://schemas.openxmlformats.org/officeDocument/2006/relationships" id="292" r:id="R728e9e7dbf554486"/>
    <p:sldId xmlns:r="http://schemas.openxmlformats.org/officeDocument/2006/relationships" id="293" r:id="Re8df3411af6f45e0"/>
    <p:sldId xmlns:r="http://schemas.openxmlformats.org/officeDocument/2006/relationships" id="294" r:id="R60d0c9d74016410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9689ac87499421b" /><Relationship Type="http://schemas.openxmlformats.org/officeDocument/2006/relationships/slideMaster" Target="/ppt/slideMasters/slideMaster1.xml" Id="R798a9c47feca49ad" /><Relationship Type="http://schemas.openxmlformats.org/officeDocument/2006/relationships/notesMaster" Target="/ppt/notesMasters/notesMaster1.xml" Id="R7eb6bfda0f0e432f" /><Relationship Type="http://schemas.openxmlformats.org/officeDocument/2006/relationships/presProps" Target="/ppt/presProps.xml" Id="R80ed04b1b4774e57" /><Relationship Type="http://schemas.openxmlformats.org/officeDocument/2006/relationships/tableStyles" Target="/ppt/tableStyles.xml" Id="R55026455b09a4d0f" /><Relationship Type="http://schemas.openxmlformats.org/officeDocument/2006/relationships/slide" Target="/ppt/slides/slide1.xml" Id="R792951ac71e24a47" /><Relationship Type="http://schemas.openxmlformats.org/officeDocument/2006/relationships/slide" Target="/ppt/slides/slide2.xml" Id="Rae9a076dd57a415e" /><Relationship Type="http://schemas.openxmlformats.org/officeDocument/2006/relationships/slide" Target="/ppt/slides/slide3.xml" Id="Re35da759d137406f" /><Relationship Type="http://schemas.openxmlformats.org/officeDocument/2006/relationships/slide" Target="/ppt/slides/slide4.xml" Id="R5f60481e4eca4eff" /><Relationship Type="http://schemas.openxmlformats.org/officeDocument/2006/relationships/slide" Target="/ppt/slides/slide5.xml" Id="Rf8fc04f655074ae6" /><Relationship Type="http://schemas.openxmlformats.org/officeDocument/2006/relationships/slide" Target="/ppt/slides/slide6.xml" Id="Re0639136553b4679" /><Relationship Type="http://schemas.openxmlformats.org/officeDocument/2006/relationships/slide" Target="/ppt/slides/slide7.xml" Id="R81da7071cd3b4715" /><Relationship Type="http://schemas.openxmlformats.org/officeDocument/2006/relationships/slide" Target="/ppt/slides/slide8.xml" Id="Ree0e1df1488544b1" /><Relationship Type="http://schemas.openxmlformats.org/officeDocument/2006/relationships/slide" Target="/ppt/slides/slide9.xml" Id="R01ec932e3c544f47" /><Relationship Type="http://schemas.openxmlformats.org/officeDocument/2006/relationships/slide" Target="/ppt/slides/slide10.xml" Id="Reb8ffc62fa6e4a95" /><Relationship Type="http://schemas.openxmlformats.org/officeDocument/2006/relationships/slide" Target="/ppt/slides/slide11.xml" Id="Re1eb3ecf3ae24a20" /><Relationship Type="http://schemas.openxmlformats.org/officeDocument/2006/relationships/slide" Target="/ppt/slides/slide12.xml" Id="R770020865a89495d" /><Relationship Type="http://schemas.openxmlformats.org/officeDocument/2006/relationships/slide" Target="/ppt/slides/slide13.xml" Id="Rf7e01c498f824ccc" /><Relationship Type="http://schemas.openxmlformats.org/officeDocument/2006/relationships/slide" Target="/ppt/slides/slide14.xml" Id="R37d9e13c04e2460f" /><Relationship Type="http://schemas.openxmlformats.org/officeDocument/2006/relationships/slide" Target="/ppt/slides/slide15.xml" Id="Re94fe3f5eebf430e" /><Relationship Type="http://schemas.openxmlformats.org/officeDocument/2006/relationships/slide" Target="/ppt/slides/slide16.xml" Id="R2ea40cd443dc4732" /><Relationship Type="http://schemas.openxmlformats.org/officeDocument/2006/relationships/slide" Target="/ppt/slides/slide17.xml" Id="Ra0cef457ef7448fa" /><Relationship Type="http://schemas.openxmlformats.org/officeDocument/2006/relationships/slide" Target="/ppt/slides/slide18.xml" Id="Rbfbc350da10041f4" /><Relationship Type="http://schemas.openxmlformats.org/officeDocument/2006/relationships/slide" Target="/ppt/slides/slide19.xml" Id="Raadd1e0f8f004794" /><Relationship Type="http://schemas.openxmlformats.org/officeDocument/2006/relationships/slide" Target="/ppt/slides/slide20.xml" Id="R91536a7c5ee0471e" /><Relationship Type="http://schemas.openxmlformats.org/officeDocument/2006/relationships/slide" Target="/ppt/slides/slide21.xml" Id="R0f1170f374c049b3" /><Relationship Type="http://schemas.openxmlformats.org/officeDocument/2006/relationships/slide" Target="/ppt/slides/slide22.xml" Id="R6d3ddfc8160a4021" /><Relationship Type="http://schemas.openxmlformats.org/officeDocument/2006/relationships/slide" Target="/ppt/slides/slide23.xml" Id="Ra651aba21acd4ac0" /><Relationship Type="http://schemas.openxmlformats.org/officeDocument/2006/relationships/slide" Target="/ppt/slides/slide24.xml" Id="R3de2bc2911e64fae" /><Relationship Type="http://schemas.openxmlformats.org/officeDocument/2006/relationships/slide" Target="/ppt/slides/slide25.xml" Id="Rba7ba52949054a81" /><Relationship Type="http://schemas.openxmlformats.org/officeDocument/2006/relationships/slide" Target="/ppt/slides/slide26.xml" Id="R7427a134466c49c6" /><Relationship Type="http://schemas.openxmlformats.org/officeDocument/2006/relationships/slide" Target="/ppt/slides/slide27.xml" Id="Rfd8241acd1754f09" /><Relationship Type="http://schemas.openxmlformats.org/officeDocument/2006/relationships/slide" Target="/ppt/slides/slide28.xml" Id="R2b5e1f606f594a36" /><Relationship Type="http://schemas.openxmlformats.org/officeDocument/2006/relationships/slide" Target="/ppt/slides/slide29.xml" Id="R8e40239577404367" /><Relationship Type="http://schemas.openxmlformats.org/officeDocument/2006/relationships/slide" Target="/ppt/slides/slide30.xml" Id="Ree1eb13b883c47a9" /><Relationship Type="http://schemas.openxmlformats.org/officeDocument/2006/relationships/slide" Target="/ppt/slides/slide31.xml" Id="R1d0296bf15d64907" /><Relationship Type="http://schemas.openxmlformats.org/officeDocument/2006/relationships/slide" Target="/ppt/slides/slide32.xml" Id="Rbae57936111e40cc" /><Relationship Type="http://schemas.openxmlformats.org/officeDocument/2006/relationships/slide" Target="/ppt/slides/slide33.xml" Id="R9d3e2326e733431f" /><Relationship Type="http://schemas.openxmlformats.org/officeDocument/2006/relationships/slide" Target="/ppt/slides/slide34.xml" Id="Rb98b64ba07a2481b" /><Relationship Type="http://schemas.openxmlformats.org/officeDocument/2006/relationships/slide" Target="/ppt/slides/slide35.xml" Id="Ra39f8a1d47474949" /><Relationship Type="http://schemas.openxmlformats.org/officeDocument/2006/relationships/slide" Target="/ppt/slides/slide36.xml" Id="Rd46b859330fc408c" /><Relationship Type="http://schemas.openxmlformats.org/officeDocument/2006/relationships/slide" Target="/ppt/slides/slide37.xml" Id="R728e9e7dbf554486" /><Relationship Type="http://schemas.openxmlformats.org/officeDocument/2006/relationships/slide" Target="/ppt/slides/slide38.xml" Id="Re8df3411af6f45e0" /><Relationship Type="http://schemas.openxmlformats.org/officeDocument/2006/relationships/slide" Target="/ppt/slides/slide39.xml" Id="R60d0c9d74016410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e2b17881ff64c4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dbcae1366e4458f" /><Relationship Type="http://schemas.openxmlformats.org/officeDocument/2006/relationships/notesMaster" Target="/ppt/notesMasters/notesMaster1.xml" Id="Ra93844a38499455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92e821894e84555" /><Relationship Type="http://schemas.openxmlformats.org/officeDocument/2006/relationships/notesMaster" Target="/ppt/notesMasters/notesMaster1.xml" Id="Ra838939ef33d422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2975b70297d4044" /><Relationship Type="http://schemas.openxmlformats.org/officeDocument/2006/relationships/notesMaster" Target="/ppt/notesMasters/notesMaster1.xml" Id="R175ccbbc6b7246d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fcd3ea436574eb8" /><Relationship Type="http://schemas.openxmlformats.org/officeDocument/2006/relationships/notesMaster" Target="/ppt/notesMasters/notesMaster1.xml" Id="R0a98d037d14a4cd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e7d6c242f7c468b" /><Relationship Type="http://schemas.openxmlformats.org/officeDocument/2006/relationships/notesMaster" Target="/ppt/notesMasters/notesMaster1.xml" Id="Rf207ef324548424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106c46dca8840cf" /><Relationship Type="http://schemas.openxmlformats.org/officeDocument/2006/relationships/notesMaster" Target="/ppt/notesMasters/notesMaster1.xml" Id="Ree4dbeb8b29844a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884c0c952884724" /><Relationship Type="http://schemas.openxmlformats.org/officeDocument/2006/relationships/notesMaster" Target="/ppt/notesMasters/notesMaster1.xml" Id="R020313f307bb44a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bd7daedc5f240a7" /><Relationship Type="http://schemas.openxmlformats.org/officeDocument/2006/relationships/notesMaster" Target="/ppt/notesMasters/notesMaster1.xml" Id="R1782aa7dcd29426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724099ed2d2409e" /><Relationship Type="http://schemas.openxmlformats.org/officeDocument/2006/relationships/notesMaster" Target="/ppt/notesMasters/notesMaster1.xml" Id="Rce11b7f78d0545a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c18d51b79df4f60" /><Relationship Type="http://schemas.openxmlformats.org/officeDocument/2006/relationships/notesMaster" Target="/ppt/notesMasters/notesMaster1.xml" Id="R8057833878a14c8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208f7ddbe684c6d" /><Relationship Type="http://schemas.openxmlformats.org/officeDocument/2006/relationships/notesMaster" Target="/ppt/notesMasters/notesMaster1.xml" Id="R44a4f13c1d034dc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72797f3b8274b58" /><Relationship Type="http://schemas.openxmlformats.org/officeDocument/2006/relationships/notesMaster" Target="/ppt/notesMasters/notesMaster1.xml" Id="R15cabef2859f403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9f9e50b42744127" /><Relationship Type="http://schemas.openxmlformats.org/officeDocument/2006/relationships/notesMaster" Target="/ppt/notesMasters/notesMaster1.xml" Id="R183ec190d2f6441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80e441743f14f1a" /><Relationship Type="http://schemas.openxmlformats.org/officeDocument/2006/relationships/notesMaster" Target="/ppt/notesMasters/notesMaster1.xml" Id="Rc4bb871401dc451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ad0caa19d164590" /><Relationship Type="http://schemas.openxmlformats.org/officeDocument/2006/relationships/notesMaster" Target="/ppt/notesMasters/notesMaster1.xml" Id="Rc34512ded55747d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c9a100f640549d6" /><Relationship Type="http://schemas.openxmlformats.org/officeDocument/2006/relationships/notesMaster" Target="/ppt/notesMasters/notesMaster1.xml" Id="Rd569fcc8bccf467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360fe8dbce14508" /><Relationship Type="http://schemas.openxmlformats.org/officeDocument/2006/relationships/notesMaster" Target="/ppt/notesMasters/notesMaster1.xml" Id="R7d9df336d26743e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aaeb1d4143e4f36" /><Relationship Type="http://schemas.openxmlformats.org/officeDocument/2006/relationships/notesMaster" Target="/ppt/notesMasters/notesMaster1.xml" Id="R36f00def95304da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5968ad0921347ff" /><Relationship Type="http://schemas.openxmlformats.org/officeDocument/2006/relationships/notesMaster" Target="/ppt/notesMasters/notesMaster1.xml" Id="Rd78a602dead1453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360049bdbc34edc" /><Relationship Type="http://schemas.openxmlformats.org/officeDocument/2006/relationships/notesMaster" Target="/ppt/notesMasters/notesMaster1.xml" Id="R84435a05a26045c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23b8b7db51a4e29" /><Relationship Type="http://schemas.openxmlformats.org/officeDocument/2006/relationships/notesMaster" Target="/ppt/notesMasters/notesMaster1.xml" Id="Ra7208a8e15844f5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70b76f8b96248c7" /><Relationship Type="http://schemas.openxmlformats.org/officeDocument/2006/relationships/notesMaster" Target="/ppt/notesMasters/notesMaster1.xml" Id="Ra575e9f1a47d4e9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a4bc5e162ac4230" /><Relationship Type="http://schemas.openxmlformats.org/officeDocument/2006/relationships/notesMaster" Target="/ppt/notesMasters/notesMaster1.xml" Id="R982dc5b0533f405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857987bfef34216" /><Relationship Type="http://schemas.openxmlformats.org/officeDocument/2006/relationships/notesMaster" Target="/ppt/notesMasters/notesMaster1.xml" Id="R167d29d77e0e47c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37456972b124454" /><Relationship Type="http://schemas.openxmlformats.org/officeDocument/2006/relationships/notesMaster" Target="/ppt/notesMasters/notesMaster1.xml" Id="R495168a4d0d244f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5f5ba599d9f439c" /><Relationship Type="http://schemas.openxmlformats.org/officeDocument/2006/relationships/notesMaster" Target="/ppt/notesMasters/notesMaster1.xml" Id="R65723d7a6fa342a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806f9f3e3734de5" /><Relationship Type="http://schemas.openxmlformats.org/officeDocument/2006/relationships/notesMaster" Target="/ppt/notesMasters/notesMaster1.xml" Id="Ree34084a2bde462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a4a00ff54464371" /><Relationship Type="http://schemas.openxmlformats.org/officeDocument/2006/relationships/notesMaster" Target="/ppt/notesMasters/notesMaster1.xml" Id="Rae06d16d02b7472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f4861c7cf1a44333" /><Relationship Type="http://schemas.openxmlformats.org/officeDocument/2006/relationships/notesMaster" Target="/ppt/notesMasters/notesMaster1.xml" Id="R482ac75aa29a40d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785554322324339" /><Relationship Type="http://schemas.openxmlformats.org/officeDocument/2006/relationships/notesMaster" Target="/ppt/notesMasters/notesMaster1.xml" Id="R23b1169ff0f94a5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c32ed36a45a4fe4" /><Relationship Type="http://schemas.openxmlformats.org/officeDocument/2006/relationships/notesMaster" Target="/ppt/notesMasters/notesMaster1.xml" Id="R18197f8ac15741c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f6e41ce5332c470c" /><Relationship Type="http://schemas.openxmlformats.org/officeDocument/2006/relationships/notesMaster" Target="/ppt/notesMasters/notesMaster1.xml" Id="R66d634253a5a49f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988e6d2084994094" /><Relationship Type="http://schemas.openxmlformats.org/officeDocument/2006/relationships/notesMaster" Target="/ppt/notesMasters/notesMaster1.xml" Id="Rf4add69da0554d8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589446430a294d12" /><Relationship Type="http://schemas.openxmlformats.org/officeDocument/2006/relationships/notesMaster" Target="/ppt/notesMasters/notesMaster1.xml" Id="R9274752fd6824ff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6384f1a168ed41ea" /><Relationship Type="http://schemas.openxmlformats.org/officeDocument/2006/relationships/notesMaster" Target="/ppt/notesMasters/notesMaster1.xml" Id="R0bde30b40f2e4f7e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5a8189736f44181" /><Relationship Type="http://schemas.openxmlformats.org/officeDocument/2006/relationships/notesMaster" Target="/ppt/notesMasters/notesMaster1.xml" Id="R30d48684b24646f4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9d612b8276eb4633" /><Relationship Type="http://schemas.openxmlformats.org/officeDocument/2006/relationships/notesMaster" Target="/ppt/notesMasters/notesMaster1.xml" Id="R15988d7b83f04d2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d0d6ae9c998f4f96" /><Relationship Type="http://schemas.openxmlformats.org/officeDocument/2006/relationships/notesMaster" Target="/ppt/notesMasters/notesMaster1.xml" Id="R2b09263182b9494f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c4bd278a47aa4251" /><Relationship Type="http://schemas.openxmlformats.org/officeDocument/2006/relationships/notesMaster" Target="/ppt/notesMasters/notesMaster1.xml" Id="Rc306c89a3bad4b5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C:/Users/mu/Desktop/code/ppt/harmonyos-sdd-ralph-workshop/harmonyos-sdd-workshop-media/methodology/ai-fluency-neutral.png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 使用 AI 进阶能力实现较为复杂的需求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**从需求拆解、开发、验证，到问题定位与协同闭环**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需求 → 规格 → 任务 → 代码 → 调试 → 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主视觉建议：左侧是一句模糊需求，中央是紫色受控 AI 循环，右侧是绿色设备证据包；背景只保留真实设备、测试结果和日志的低透明度拼贴。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![真实 SecurityTool 防火墙域名规则页面](harmonyos-sdd-workshop-media/mdm/firewall-domain-rule-created.jpeg)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&lt;sub&gt;这张真机图只能证明规则已出现在 UI；它不能单独证明每个账号的系统 policy/rules 已正确下发。开场让学员先说“它能证明什么、不能证明什么”。&lt;/sub&gt;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**MDM 主闭环｜TEACHING COMPOSITE**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设备当前处于 `public` 且防火墙已开启，已覆盖账号 `[100,112]`。系统收到 `account-added(123)` 后，先等待账号事实稳定，再把 public policy / preset rules 补到最新账号集合。若账号 123 的第 2 条规则下发失败，必须恢复旧状态，不得保存目标 signature，并留下可回读证据。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LR</a:t>
            </a:r>
          </a:p>
          <a:p xmlns:a="http://schemas.openxmlformats.org/drawingml/2006/main">
            <a:r>
              <a:t>    A[账号 123 新增] --&gt; B[稳定快照]</a:t>
            </a:r>
          </a:p>
          <a:p xmlns:a="http://schemas.openxmlformats.org/drawingml/2006/main">
            <a:r>
              <a:t>    B --&gt; C[模式重放]</a:t>
            </a:r>
          </a:p>
          <a:p xmlns:a="http://schemas.openxmlformats.org/drawingml/2006/main">
            <a:r>
              <a:t>    C --&gt; D[故障注入]</a:t>
            </a:r>
          </a:p>
          <a:p xmlns:a="http://schemas.openxmlformats.org/drawingml/2006/main">
            <a:r>
              <a:t>    D --&gt; E[补偿与回读]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A[Task：本轮唯一结果] --&gt; B[RED：制造可解释失败]</a:t>
            </a:r>
          </a:p>
          <a:p xmlns:a="http://schemas.openxmlformats.org/drawingml/2006/main">
            <a:r>
              <a:t>    B --&gt; C[AI：最小 Diff]</a:t>
            </a:r>
          </a:p>
          <a:p xmlns:a="http://schemas.openxmlformats.org/drawingml/2006/main">
            <a:r>
              <a:t>    C --&gt; D[Verify：窄测与回归]</a:t>
            </a:r>
          </a:p>
          <a:p xmlns:a="http://schemas.openxmlformats.org/drawingml/2006/main">
            <a:r>
              <a:t>    D --&gt; E[Evidence：日志与系统事实]</a:t>
            </a:r>
          </a:p>
          <a:p xmlns:a="http://schemas.openxmlformats.org/drawingml/2006/main">
            <a:r>
              <a:t>    E --&gt; F{停止条件满足？}</a:t>
            </a:r>
          </a:p>
          <a:p xmlns:a="http://schemas.openxmlformats.org/drawingml/2006/main">
            <a:r>
              <a:t>    F -- 否 --&gt; A</a:t>
            </a:r>
          </a:p>
          <a:p xmlns:a="http://schemas.openxmlformats.org/drawingml/2006/main">
            <a:r>
              <a:t>    F -- 是 --&gt; G[提交结果]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**可选对照图（PPT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![Autonomous Agent：Human、LLM、Environment、Feedback 与 Stop](harmonyos-sdd-workshop-media/anthropic/autonomous-agent-loop.png)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&lt;sub&gt;讲师读图：Agent 不是“连续生成代码”，而是在环境反馈中行动，并在检查点接受人类判断或满足停止条件。图源：Anthropic《Building Effective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每轮写入 `progress.md`：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`假设 / RED 命令与输出 / 修改文件 / GREEN 输出 / 新事实 / 剩余风险 / Stop 或 Next`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触发事实 → 稳定快照 → 目标状态 → 执行结果 → 系统证据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层 | 必须回答的问题 | 可验证对象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触发事实 | 这轮变化由什么事件或操作开始？ | 事件源、时间戳、参数 |</a:t>
            </a:r>
          </a:p>
          <a:p xmlns:a="http://schemas.openxmlformats.org/drawingml/2006/main">
            <a:r>
              <a:t>| 稳定快照 | 执行前的完整事实是什么？ | 系统 getter、列表、版本号 |</a:t>
            </a:r>
          </a:p>
          <a:p xmlns:a="http://schemas.openxmlformats.org/drawingml/2006/main">
            <a:r>
              <a:t>| 目标状态 | 需求冻结后的期望结果是什么？ | `spec.md`、ADR、不变量 |</a:t>
            </a:r>
          </a:p>
          <a:p xmlns:a="http://schemas.openxmlformats.org/drawingml/2006/main">
            <a:r>
              <a:t>| 执行结果 | 哪些写入成功、失败或需要补偿？ | 返回值、映射、事务边界 |</a:t>
            </a:r>
          </a:p>
          <a:p xmlns:a="http://schemas.openxmlformats.org/drawingml/2006/main">
            <a:r>
              <a:t>| 系统证据 | 最终事实是否与目标一致？ | 回读、日志、截图/视频、性能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“权限页面第一次进入为空，退出后第二次进入正常。”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这句话只描述了现象，没有告诉我们下面四个事实：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**数据来自哪里**：页面缓存、ViewModel 内存、业务 API，还是系统 getter？</a:t>
            </a:r>
          </a:p>
          <a:p xmlns:a="http://schemas.openxmlformats.org/drawingml/2006/main">
            <a:r>
              <a:t>2. **什么时候开始监听**：页面创建前后、首次读取前后，哪一个边界会丢事件？</a:t>
            </a:r>
          </a:p>
          <a:p xmlns:a="http://schemas.openxmlformats.org/drawingml/2006/main">
            <a:r>
              <a:t>3. **什么时候算完成**：调用返回、本地状态更新，还是系统回读与页面一致？</a:t>
            </a:r>
          </a:p>
          <a:p xmlns:a="http://schemas.openxmlformats.org/drawingml/2006/main">
            <a:r>
              <a:t>4. **失败时展示什么**：空列表、旧状态、加载态，还是可重试错误？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**四个答案会改变监听顺序、状态模型、回归测试和最终证据。所以下一步不是设计，而是把分叉变成选择题。**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的职责是列出互斥答案、工程影响和危险假设；人的职责是关闭高影响 `OPEN`，冻结业务语义。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待决策项 | AI 列出的互斥答案 | 本轮冻结答案 | 直接影响 |</a:t>
            </a:r>
          </a:p>
          <a:p xmlns:a="http://schemas.openxmlformats.org/drawingml/2006/main">
            <a:r>
              <a:t>|---|---|---|---|</a:t>
            </a:r>
          </a:p>
          <a:p xmlns:a="http://schemas.openxmlformats.org/drawingml/2006/main">
            <a:r>
              <a:t>| 最终事实源 | 缓存 / ViewModel / API / 系统 getter | 系统 getter；ViewModel 只缓存 | 状态所有权 |</a:t>
            </a:r>
          </a:p>
          <a:p xmlns:a="http://schemas.openxmlformats.org/drawingml/2006/main">
            <a:r>
              <a:t>| 监听与首读顺序 | 先读后监听 / 先监听后读取 | 先建立监听，再发起首读 | 是否丢失首次事件 |</a:t>
            </a:r>
          </a:p>
          <a:p xmlns:a="http://schemas.openxmlformats.org/drawingml/2006/main">
            <a:r>
              <a:t>| 未返回时的状态 | 空列表 / 加载中 / 沿用旧值 | 显示加载中，不把空当完成 | 首次进入体验与测试 |</a:t>
            </a:r>
          </a:p>
          <a:p xmlns:a="http://schemas.openxmlformats.org/drawingml/2006/main">
            <a:r>
              <a:t>| 完成判定 | 调用返回 / 本地更新 / 系统回读一致 | 系统事实返回并刷新当前页面 | 验收证据与停止条件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**仍然是 OPEN 的高影响问题不能交给 AI 开发。**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**Before：只有现象，无法验收**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第一次进入为空，第二次进入正常。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**After：教学用 EARS 规格**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WHEN 首次进入权限页面，</a:t>
            </a:r>
          </a:p>
          <a:p xmlns:a="http://schemas.openxmlformats.org/drawingml/2006/main">
            <a:r>
              <a:t>WHILE 系统事实尚未返回，</a:t>
            </a:r>
          </a:p>
          <a:p xmlns:a="http://schemas.openxmlformats.org/drawingml/2006/main">
            <a:r>
              <a:t>THE SYSTEM SHALL 显示加载态，不得把空列表提交为完成状态；</a:t>
            </a:r>
          </a:p>
          <a:p xmlns:a="http://schemas.openxmlformats.org/drawingml/2006/main">
            <a:r>
              <a:t>WHEN 系统事实返回，</a:t>
            </a:r>
          </a:p>
          <a:p xmlns:a="http://schemas.openxmlformats.org/drawingml/2006/main">
            <a:r>
              <a:t>THE SYSTEM SHALL 在当前页面刷新，不要求退出后再次进入；</a:t>
            </a:r>
          </a:p>
          <a:p xmlns:a="http://schemas.openxmlformats.org/drawingml/2006/main">
            <a:r>
              <a:t>IF 超时或读取失败，</a:t>
            </a:r>
          </a:p>
          <a:p xmlns:a="http://schemas.openxmlformats.org/drawingml/2006/main">
            <a:r>
              <a:t>THEN SHALL 显示可重试错误，并保留诊断证据。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由规格直接导出三条测试：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测试 | 条件 | 可观察结果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T01 | 数据延迟返回 | 当前页面自动更新 |</a:t>
            </a:r>
          </a:p>
          <a:p xmlns:a="http://schemas.openxmlformats.org/drawingml/2006/main">
            <a:r>
              <a:t>| T02 | 事件早于首读完成 | 首次刷新不丢失 |</a:t>
            </a:r>
          </a:p>
          <a:p xmlns:a="http://schemas.openxmlformats.org/drawingml/2006/main">
            <a:r>
              <a:t>| T03 | 读取超时 | 错误态 + 诊断证据，不显示“空成功”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进入真实工程案例前，必须交付下面四项可复查产物：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准入条件 | 必须回答 | 产物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事实时间线 | 首次进入、事件到达、数据返回、页面更新分别发生在什么时候？ | 只读勘察记录 |</a:t>
            </a:r>
          </a:p>
          <a:p xmlns:a="http://schemas.openxmlformats.org/drawingml/2006/main">
            <a:r>
              <a:t>| 最终事实源 | 哪个 API / getter 能证明系统状态？UI 与缓存只属于哪一层？ | truth-source 表 |</a:t>
            </a:r>
          </a:p>
          <a:p xmlns:a="http://schemas.openxmlformats.org/drawingml/2006/main">
            <a:r>
              <a:t>| 可执行规格 | `WHEN / WHILE / SHALL / IF / THEN` 是否完整？高影响 `OPEN` 是否关闭？ | `spec.md` |</a:t>
            </a:r>
          </a:p>
          <a:p xmlns:a="http://schemas.openxmlformats.org/drawingml/2006/main">
            <a:r>
              <a:t>| 第一张任务卡 | 唯一结果、Allowed / Forbidden、RED、Verify 与 Stop 是否明确？ | Task Card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**下一页进入真实案例：用真实文档、代码、测试和设备证据验证这四项。**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开场先让学员回答：账号新增以后，哪一层算真正完成？</a:t>
            </a:r>
          </a:p>
          <a:p xmlns:a="http://schemas.openxmlformats.org/drawingml/2006/main">
            <a:r>
              <a:t>真实问题不是页面刷新，而是事件、完整账号集合、防火墙系统状态、本地状态和跨进程 UI 的收敛。</a:t>
            </a:r>
          </a:p>
          <a:p xmlns:a="http://schemas.openxmlformats.org/drawingml/2006/main">
            <a:r>
              <a:t>本页只建立业务背景；下一页才介绍六阶段交付方法。</a:t>
            </a:r>
          </a:p>
          <a:p xmlns:a="http://schemas.openxmlformats.org/drawingml/2006/main">
            <a:r>
              <a:t>来源：case-materials/mdm/02-方案推导与决策记录.md；evidence/mdm/account-cross-process-log.md。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逐张点出六份文档的文件名，让学员知道最终要产出什么，而不是只记住六个阶段名。</a:t>
            </a:r>
          </a:p>
          <a:p xmlns:a="http://schemas.openxmlformats.org/drawingml/2006/main">
            <a:r>
              <a:t>每个阶段的出口门决定是否能进入下一步；文档不是总结，而是后续 AI Session 的输入契约。</a:t>
            </a:r>
          </a:p>
          <a:p xmlns:a="http://schemas.openxmlformats.org/drawingml/2006/main">
            <a:r>
              <a:t>现场可打开 case-materials/mdm/README.md 和六份文件的目录。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本页现场打开 01-资产同步与冲突清单.md 第 4 节。</a:t>
            </a:r>
          </a:p>
          <a:p xmlns:a="http://schemas.openxmlformats.org/drawingml/2006/main">
            <a:r>
              <a:t>让学员判断：AI 修正版为什么看起来专业却不正确？答案是把产品抽象和平台规则类型混为一谈。</a:t>
            </a:r>
          </a:p>
          <a:p xmlns:a="http://schemas.openxmlformats.org/drawingml/2006/main">
            <a:r>
              <a:t>资产同步出口门：关键需求有 ID、来源、冲突决策和证据路径；未验证平台能力进入技术穿刺。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现场练习：给出一条没有 tests 和 conflict 的需求卡，让学员指出为什么不能进入方案阶段。</a:t>
            </a:r>
          </a:p>
          <a:p xmlns:a="http://schemas.openxmlformats.org/drawingml/2006/main">
            <a:r>
              <a:t>需求卡的价值是跨文档追踪，不是 YAML 形式本身。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不要先画类图。先让学员用失败场景攻击四个方案，再选择职责边界。</a:t>
            </a:r>
          </a:p>
          <a:p xmlns:a="http://schemas.openxmlformats.org/drawingml/2006/main">
            <a:r>
              <a:t>ADR 必须包含 selected、rejected、failure semantics 和 reopen conditions。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 Hvigor 的陷阱：目标用例失败时仍可能打印 BUILD SUCCESSFUL 且退出码为 0。</a:t>
            </a:r>
          </a:p>
          <a:p xmlns:a="http://schemas.openxmlformats.org/drawingml/2006/main">
            <a:r>
              <a:t>判断必须读取用例级 ERROR 或测试结果文件。</a:t>
            </a:r>
          </a:p>
          <a:p xmlns:a="http://schemas.openxmlformats.org/drawingml/2006/main">
            <a:r>
              <a:t>可迁移原则：等待业务条件 + 有上限 + 保持旧真相，而不是记住 200ms/5 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RFC 不等于架构图。课堂重点是每个失败分支写清楚“不能改变什么”。</a:t>
            </a:r>
          </a:p>
          <a:p xmlns:a="http://schemas.openxmlformats.org/drawingml/2006/main">
            <a:r>
              <a:t>让学员从 I6 推导反例：mode 保存成功、signature 保存失败时，系统下一轮会怎么误判？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现场从 onAccountAdded 跳到 loadStableSnapshot，再追 Handler 的 custom/public/private 三分支。</a:t>
            </a:r>
          </a:p>
          <a:p xmlns:a="http://schemas.openxmlformats.org/drawingml/2006/main">
            <a:r>
              <a:t>强调前台刷新不承担业务修复；跨进程 CommonEvent 只解决传递，不自动完成规则重放。</a:t>
            </a:r>
          </a:p>
          <a:p xmlns:a="http://schemas.openxmlformats.org/drawingml/2006/main">
            <a:r>
              <a:t>本页函数名可投屏，完整实现现场打开代码。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判断 Story 是否合格：它是否有独立 oracle，失败时能明确知道哪一层不成立。</a:t>
            </a:r>
          </a:p>
          <a:p xmlns:a="http://schemas.openxmlformats.org/drawingml/2006/main">
            <a:r>
              <a:t>不要把“实现账号同步”当一个 Story；那会让一个 Session 同时修改 Provider、Coordinator、Handler、UI 和 E2E。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现场让学员把一个模糊任务改成 Packet：必须补 allowed、forbidden、acceptance 和 stop。</a:t>
            </a:r>
          </a:p>
          <a:p xmlns:a="http://schemas.openxmlformats.org/drawingml/2006/main">
            <a:r>
              <a:t>Worker Packet 是跨 Session 的最小高信号上下文，不是把全部历史复制进去。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让两位学员扮演 Worker 与 Reviewer：Worker 只执行一轮，Reviewer 决定 PASS/FAIL/UNKNOWN/NEEDS_REPLAN。</a:t>
            </a:r>
          </a:p>
          <a:p xmlns:a="http://schemas.openxmlformats.org/drawingml/2006/main">
            <a:r>
              <a:t>重点是外部记忆与停止条件，不是自动化脚本能循环多少次。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这一页现场可复制两个 commit 的测试结果对照。</a:t>
            </a:r>
          </a:p>
          <a:p xmlns:a="http://schemas.openxmlformats.org/drawingml/2006/main">
            <a:r>
              <a:t>强调同一断言、同一输入序列；不要换一条更容易通过的命令。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不要逐条念提交。只讲 R5→R6→R7 的因果链，其他轮次作为完整证据背景。</a:t>
            </a:r>
          </a:p>
          <a:p xmlns:a="http://schemas.openxmlformats.org/drawingml/2006/main">
            <a:r>
              <a:t>每轮完成后必须写“新暴露的问题”，否则 progress 只是工作日志，不是外部记忆。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 MDM 段的认知高潮：AI 完成、测试全绿和业务交付是三件不同的事。</a:t>
            </a:r>
          </a:p>
          <a:p xmlns:a="http://schemas.openxmlformats.org/drawingml/2006/main">
            <a:r>
              <a:t>让学员给 overall 判定；只要设备门和系统事实未执行，不能给 PASS。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按用户要求，本页只保留可替换区域，不重复制作 MCP 介绍。</a:t>
            </a:r>
          </a:p>
          <a:p xmlns:a="http://schemas.openxmlformats.org/drawingml/2006/main">
            <a:r>
              <a:t>转场句：工具成功只表示动作被执行；下一页 Runner 会把 assertion 和 evidence 加回来。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现场不要只讲架构图：依次打开 rule_create.json、normalizer.py、runner.py、flows/executor.py、assertions/executor.py。</a:t>
            </a:r>
          </a:p>
          <a:p xmlns:a="http://schemas.openxmlformats.org/drawingml/2006/main">
            <a:r>
              <a:t>让学员回答每一层的输入、输出、失败语义和生成证据。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先让学员看两张截图给结论，再追问：系统规则是否真的存在？答案仍是 UNKNOWN。</a:t>
            </a:r>
          </a:p>
          <a:p xmlns:a="http://schemas.openxmlformats.org/drawingml/2006/main">
            <a:r>
              <a:t>内部 getPolicy/listRules 已存在；缺的是自动验收侧结构化 readback bridge。</a:t>
            </a:r>
          </a:p>
          <a:p xmlns:a="http://schemas.openxmlformats.org/drawingml/2006/main">
            <a:r>
              <a:t>设备不可用时也能做静态路由，但最终判定不能伪装成 PASS。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**T03 / Structured Acceptance Readback — TARGET**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```json</a:t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"result": "PASS|FAIL|UNKNOWN",</a:t>
            </a:r>
          </a:p>
          <a:p xmlns:a="http://schemas.openxmlformats.org/drawingml/2006/main">
            <a:r>
              <a:t>  "accounts": [100, 112, 123],</a:t>
            </a:r>
          </a:p>
          <a:p xmlns:a="http://schemas.openxmlformats.org/drawingml/2006/main">
            <a:r>
              <a:t>  "mode": "public",</a:t>
            </a:r>
          </a:p>
          <a:p xmlns:a="http://schemas.openxmlformats.org/drawingml/2006/main">
            <a:r>
              <a:t>  "signature": "100,112,123",</a:t>
            </a:r>
          </a:p>
          <a:p xmlns:a="http://schemas.openxmlformats.org/drawingml/2006/main">
            <a:r>
              <a:t>  "users": [{"id": 123, "isOpen": true, "ruleCount": 4}],</a:t>
            </a:r>
          </a:p>
          <a:p xmlns:a="http://schemas.openxmlformats.org/drawingml/2006/main">
            <a:r>
              <a:t>  "failures": [],</a:t>
            </a:r>
          </a:p>
          <a:p xmlns:a="http://schemas.openxmlformats.org/drawingml/2006/main">
            <a:r>
              <a:t>  "evidence": {"device": "...", "timestamp": "..."}</a:t>
            </a:r>
          </a:p>
          <a:p xmlns:a="http://schemas.openxmlformats.org/drawingml/2006/main">
            <a:r>
              <a:t>}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操作链：`build → install → activate admin → trigger → logs → getter → screenshot`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**课堂任务不是 5 分钟现场开发 getter，而是先冻结证据契约和 PASS 规则。**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C:\Users\mu\Desktop\code\ppt\harmonyos-sdd-ralph-workshop\harmonyos-sdd-workshop-media\anthropic\evaluator-optimizer.png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**同伴验收只问六件事**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`spec.md` 是否冻结账号事实、失败语义与提交点？</a:t>
            </a:r>
          </a:p>
          <a:p xmlns:a="http://schemas.openxmlformats.org/drawingml/2006/main">
            <a:r>
              <a:t>2. `design.md` 是否区分 intent、local apply、system truth、UI？</a:t>
            </a:r>
          </a:p>
          <a:p xmlns:a="http://schemas.openxmlformats.org/drawingml/2006/main">
            <a:r>
              <a:t>3. T01 是否真的出现过可解释 RED 与 GREEN？</a:t>
            </a:r>
          </a:p>
          <a:p xmlns:a="http://schemas.openxmlformats.org/drawingml/2006/main">
            <a:r>
              <a:t>4. T02 故障后是否恢复 identity，而非只恢复数量？</a:t>
            </a:r>
          </a:p>
          <a:p xmlns:a="http://schemas.openxmlformats.org/drawingml/2006/main">
            <a:r>
              <a:t>5. 设备证据是否来自真机，UNKNOWN 是否被诚实保留？</a:t>
            </a:r>
          </a:p>
          <a:p xmlns:a="http://schemas.openxmlformats.org/drawingml/2006/main">
            <a:r>
              <a:t>6. diff 是否完全落在任务允许边界？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结果只允许：`PASS / FAIL / UNKNOWN`。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Eval 层 | 检查什么 | 反例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Trace | Prompt、工具调用、diff、测试、是否越界 | 过程规范，但底层调用仍失败 |</a:t>
            </a:r>
          </a:p>
          <a:p xmlns:a="http://schemas.openxmlformats.org/drawingml/2006/main">
            <a:r>
              <a:t>| Outcome | 系统账号、policy、rules、signature、mapping | 页面偶然正确，但 AI 伪造账号事实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最终结论由 Outcome 决定；Trace 用于解释可信度、复现过程和发现越界行为。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![Evaluator–Optimizer：生成、独立评估、拒绝反馈与接受](harmonyos-sdd-workshop-media/anthropic/evaluator-optimizer.png)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&lt;sub&gt;讲师读图：Implementer 不能独自给自己打分。Reviewer 返回的必须是可执行反馈与缺失证据；只有达到预先冻结的 AC 才接受。图源：Anthropic《Building Effective Agents》。&lt;/sub&gt;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C:/Users/mu/Desktop/code/harmonyos-sdd-ralph-workshop/harmonyos-sdd-ralph-workshop.md</a:t>
            </a:r>
          </a:p>
          <a:p xmlns:a="http://schemas.openxmlformats.org/drawingml/2006/main">
            <a:r>
              <a:t>- C:/Users/mu/Desktop/code/harmonyos-sdd-ralph-workshop/case-materials/gpu/01-问题与基线.md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背景冻结：当前远端视频走 CPU/软件路径，没有进入 GPU 合成链路，播放卡顿。这里是 CASE FACT。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仍需补齐：before 视频、同一 runId 的 CPU/FPS、硬解后的 decoder/frame/owner/present 与长稳数据。缺失项继续标 PENDING，不用占位图冒充性能证据。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**从“读全库”改成“回答五个问题”**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协议：H.264 从哪里进入？</a:t>
            </a:r>
          </a:p>
          <a:p xmlns:a="http://schemas.openxmlformats.org/drawingml/2006/main">
            <a:r>
              <a:t>选择：command 被 GPU compositor consumed，还是回到 original GDI？</a:t>
            </a:r>
          </a:p>
          <a:p xmlns:a="http://schemas.openxmlformats.org/drawingml/2006/main">
            <a:r>
              <a:t>输出：格式、stride、plane 是什么？</a:t>
            </a:r>
          </a:p>
          <a:p xmlns:a="http://schemas.openxmlformats.org/drawingml/2006/main">
            <a:r>
              <a:t>显示：谁拥有 Surface，何时 present？</a:t>
            </a:r>
          </a:p>
          <a:p xmlns:a="http://schemas.openxmlformats.org/drawingml/2006/main">
            <a:r>
              <a:t>证明：怎样把 decoder、frame、owner、present 绑定到同一 run？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A["gfx-&gt;SurfaceCommand"] --&gt; B["ohos_rdpgfx_surface_command"]</a:t>
            </a:r>
          </a:p>
          <a:p xmlns:a="http://schemas.openxmlformats.org/drawingml/2006/main">
            <a:r>
              <a:t>    B --&gt; C["record_avc420_gpu_candidate"]</a:t>
            </a:r>
          </a:p>
          <a:p xmlns:a="http://schemas.openxmlformats.org/drawingml/2006/main">
            <a:r>
              <a:t>    C --&gt;|ready/consumed| D["OnSurfaceCommand → worker"]</a:t>
            </a:r>
          </a:p>
          <a:p xmlns:a="http://schemas.openxmlformats.org/drawingml/2006/main">
            <a:r>
              <a:t>    D --&gt; E["ProcessCommand → OH_AVCodec"]</a:t>
            </a:r>
          </a:p>
          <a:p xmlns:a="http://schemas.openxmlformats.org/drawingml/2006/main">
            <a:r>
              <a:t>    E --&gt; F["native buffer → CompositeFrame"]</a:t>
            </a:r>
          </a:p>
          <a:p xmlns:a="http://schemas.openxmlformats.org/drawingml/2006/main">
            <a:r>
              <a:t>    F --&gt; G["pendingFrameId"]</a:t>
            </a:r>
          </a:p>
          <a:p xmlns:a="http://schemas.openxmlformats.org/drawingml/2006/main">
            <a:r>
              <a:t>    G --&gt; H["matched EndFrame → PresentComposite"]</a:t>
            </a:r>
          </a:p>
          <a:p xmlns:a="http://schemas.openxmlformats.org/drawingml/2006/main">
            <a:r>
              <a:t>    C --&gt;|not consumed| I["original SurfaceCommand"]</a:t>
            </a:r>
          </a:p>
          <a:p xmlns:a="http://schemas.openxmlformats.org/drawingml/2006/main">
            <a:r>
              <a:t>    I --&gt; J["gdi_SurfaceCommand → H264 subsystem/GDI"]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右侧放上下文预算：`1 个问题 + 1 条调用链 + 3–7 个接口 + 1 个假设 + 1 条下一步命令`。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已有后端 | 作用 | AI 应该学习什么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FFmpeg / OpenH264 | 通用软件路径 | 正确性 fallback、YUV 输出语义 |</a:t>
            </a:r>
          </a:p>
          <a:p xmlns:a="http://schemas.openxmlformats.org/drawingml/2006/main">
            <a:r>
              <a:t>| Windows Media Foundation | Windows 硬解 | 平台 decoder 生命周期与失败传播 |</a:t>
            </a:r>
          </a:p>
          <a:p xmlns:a="http://schemas.openxmlformats.org/drawingml/2006/main">
            <a:r>
              <a:t>| Android MediaCodec | 移动平台硬解 | buffer 输入输出、format change、释放 |</a:t>
            </a:r>
          </a:p>
          <a:p xmlns:a="http://schemas.openxmlformats.org/drawingml/2006/main">
            <a:r>
              <a:t>| HarmonyOS `OH_AVCodec` | 目标平台 | 能力查询、AVBuffer/Surface、stride/plane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中央结论：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共同契约：Create → Configure → Start → Input → Output → Validate → Release</a:t>
            </a:r>
          </a:p>
          <a:p xmlns:a="http://schemas.openxmlformats.org/drawingml/2006/main">
            <a:r>
              <a:t>平台差异：API、buffer ownership、output format、Surface/lifecycle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A["gfx-&gt;SurfaceCommand"] --&gt; B["ohos_rdpgfx_surface_command"]</a:t>
            </a:r>
          </a:p>
          <a:p xmlns:a="http://schemas.openxmlformats.org/drawingml/2006/main">
            <a:r>
              <a:t>    B --&gt; C["record_avc420_gpu_candidate&lt;br/&gt;原生顺序校验 + consumed policy"]</a:t>
            </a:r>
          </a:p>
          <a:p xmlns:a="http://schemas.openxmlformats.org/drawingml/2006/main">
            <a:r>
              <a:t>    C --&gt;|ready| D["Ohos...SurfaceCommandCallback"]</a:t>
            </a:r>
          </a:p>
          <a:p xmlns:a="http://schemas.openxmlformats.org/drawingml/2006/main">
            <a:r>
              <a:t>    D --&gt; E["Avc420GpuCompositor::OnSurfaceCommand"]</a:t>
            </a:r>
          </a:p>
          <a:p xmlns:a="http://schemas.openxmlformats.org/drawingml/2006/main">
            <a:r>
              <a:t>    E --&gt; F["worker → ProcessCommand"]</a:t>
            </a:r>
          </a:p>
          <a:p xmlns:a="http://schemas.openxmlformats.org/drawingml/2006/main">
            <a:r>
              <a:t>    F --&gt; G["OH_AVCodec → OH_NativeBuffer"]</a:t>
            </a:r>
          </a:p>
          <a:p xmlns:a="http://schemas.openxmlformats.org/drawingml/2006/main">
            <a:r>
              <a:t>    G --&gt; H["CompositeFrame → pendingFrameId"]</a:t>
            </a:r>
          </a:p>
          <a:p xmlns:a="http://schemas.openxmlformats.org/drawingml/2006/main">
            <a:r>
              <a:t>    H --&gt; I["matched EndFrame"]</a:t>
            </a:r>
          </a:p>
          <a:p xmlns:a="http://schemas.openxmlformats.org/drawingml/2006/main">
            <a:r>
              <a:t>    I --&gt; J["PresentQueuedUpdate → EGL swap"]</a:t>
            </a:r>
          </a:p>
          <a:p xmlns:a="http://schemas.openxmlformats.org/drawingml/2006/main">
            <a:r>
              <a:t>    C --&gt;|not consumed / takeover 前失败| K["original SurfaceCommand"]</a:t>
            </a:r>
          </a:p>
          <a:p xmlns:a="http://schemas.openxmlformats.org/drawingml/2006/main">
            <a:r>
              <a:t>    K --&gt; L["gdi_SurfaceCommand → H264 subsystem / GDI"]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Architecture Decision：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在 OHOS RDPGFX bridge 保存原回调并受控拦截；</a:t>
            </a:r>
          </a:p>
          <a:p xmlns:a="http://schemas.openxmlformats.org/drawingml/2006/main">
            <a:r>
              <a:t>App compositor 直接管理 OH_AVCodec、native buffer、retained composite 与 EndFrame；</a:t>
            </a:r>
          </a:p>
          <a:p xmlns:a="http://schemas.openxmlformats.org/drawingml/2006/main">
            <a:r>
              <a:t>takeover 前失败回到 original GDI/H264 subsystem；</a:t>
            </a:r>
          </a:p>
          <a:p xmlns:a="http://schemas.openxmlformats.org/drawingml/2006/main">
            <a:r>
              <a:t>先用 AVC420 证明一帧 decode→pending→matched present→fallback；</a:t>
            </a:r>
          </a:p>
          <a:p xmlns:a="http://schemas.openxmlformats.org/drawingml/2006/main">
            <a:r>
              <a:t>AVC444、队列与生命周期在边界证实后分任务推进。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SP-01 bridge 与 compositor 进入 arm64/HAP 产物</a:t>
            </a:r>
          </a:p>
          <a:p xmlns:a="http://schemas.openxmlformats.org/drawingml/2006/main">
            <a:r>
              <a:t>  ↓</a:t>
            </a:r>
          </a:p>
          <a:p xmlns:a="http://schemas.openxmlformats.org/drawingml/2006/main">
            <a:r>
              <a:t>SP-02 真机选择 hardware decoder</a:t>
            </a:r>
          </a:p>
          <a:p xmlns:a="http://schemas.openxmlformats.org/drawingml/2006/main">
            <a:r>
              <a:t>  ↓</a:t>
            </a:r>
          </a:p>
          <a:p xmlns:a="http://schemas.openxmlformats.org/drawingml/2006/main">
            <a:r>
              <a:t>SP-03 一个 AVC420 sample 产生可关联的 native output</a:t>
            </a:r>
          </a:p>
          <a:p xmlns:a="http://schemas.openxmlformats.org/drawingml/2006/main">
            <a:r>
              <a:t>  ↓</a:t>
            </a:r>
          </a:p>
          <a:p xmlns:a="http://schemas.openxmlformats.org/drawingml/2006/main">
            <a:r>
              <a:t>SP-04 同一 frame 完成 composite / pending / matched EndFrame present</a:t>
            </a:r>
          </a:p>
          <a:p xmlns:a="http://schemas.openxmlformats.org/drawingml/2006/main">
            <a:r>
              <a:t>  ↓</a:t>
            </a:r>
          </a:p>
          <a:p xmlns:a="http://schemas.openxmlformats.org/drawingml/2006/main">
            <a:r>
              <a:t>SP-05 注入失败时回到可解释 fallback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每个节点下固定显示一条证据：build symbol、decoder name、frameId + stride/planes、owner + EndFrame、fallback reason。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Task | 主要源码边界 | 一个可观察结果 / Stop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T00 | diagnostics only | 保存同 runId before；路径不明则不归因 |</a:t>
            </a:r>
          </a:p>
          <a:p xmlns:a="http://schemas.openxmlformats.org/drawingml/2006/main">
            <a:r>
              <a:t>| T01 | `InstallRdpgfxDiagnosticsHooks`、`bridge_attach`、decoder init | bridge + hardware decoder 真机成立；只编译成功则停 |</a:t>
            </a:r>
          </a:p>
          <a:p xmlns:a="http://schemas.openxmlformats.org/drawingml/2006/main">
            <a:r>
              <a:t>| T02 | decoder input/output、`OH_AVBuffer_GetNativeBuffer` | 一帧输入输出可关联；format/native buffer 不明则停 |</a:t>
            </a:r>
          </a:p>
          <a:p xmlns:a="http://schemas.openxmlformats.org/drawingml/2006/main">
            <a:r>
              <a:t>| T03 | candidate policy、`OnSurfaceCommand`、`ProcessCommand`、`PresentEndFrame` | consumed→owner→matched present 闭环；GDI/GPU 双写则 FAIL |</a:t>
            </a:r>
          </a:p>
          <a:p xmlns:a="http://schemas.openxmlformats.org/drawingml/2006/main">
            <a:r>
              <a:t>| T04 | `EnqueueSurfaceCommand`、worker compaction | 连续队列有界；depth/age 持续增长则停 |</a:t>
            </a:r>
          </a:p>
          <a:p xmlns:a="http://schemas.openxmlformats.org/drawingml/2006/main">
            <a:r>
              <a:t>| T05 | target generation、pause/detach/recreate | resize/后台/重连拒绝 stale task；旧 target 可写则 FAIL |</a:t>
            </a:r>
          </a:p>
          <a:p xmlns:a="http://schemas.openxmlformats.org/drawingml/2006/main">
            <a:r>
              <a:t>| T06 | AVC444 candidate/compositor、LC retained state | 单 decoder + LC + EndFrame；复用 420 假设则停 |</a:t>
            </a:r>
          </a:p>
          <a:p xmlns:a="http://schemas.openxmlformats.org/drawingml/2006/main">
            <a:r>
              <a:t>| T07 | 测试/脚本/报告，生产代码冻结 | 同场景 A/B；缺 CPU/FPS/path/soak 则 UNKNOWN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C:/Users/mu/Desktop/code/harmonyos-sdd-ralph-workshop/harmonyos-sdd-ralph-workshop.md</a:t>
            </a:r>
          </a:p>
          <a:p xmlns:a="http://schemas.openxmlformats.org/drawingml/2006/main">
            <a:r>
              <a:t>- C:/Users/mu/Desktop/code/harmonyos-sdd-ralph-workshop/case-materials/gpu/08-PPT第28-38页内容映射.md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T01 安装 bridge 与 diagnostics，证明可控接管与可回退。</a:t>
            </a:r>
          </a:p>
          <a:p xmlns:a="http://schemas.openxmlformats.org/drawingml/2006/main">
            <a:r>
              <a:t>T02 建立 decoder input/output，证明一帧输出格式、stride/planes 与 native buffer 可关联。</a:t>
            </a:r>
          </a:p>
          <a:p xmlns:a="http://schemas.openxmlformats.org/drawingml/2006/main">
            <a:r>
              <a:t>T03 完成 compositor owner、pendingFrameId 与 matched EndFrame present。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每张卡只有一个可观察结果和一个 Stop 条件。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C:/Users/mu/Desktop/code/harmonyos-sdd-ralph-workshop/harmonyos-sdd-ralph-workshop.md</a:t>
            </a:r>
          </a:p>
          <a:p xmlns:a="http://schemas.openxmlformats.org/drawingml/2006/main">
            <a:r>
              <a:t>- C:/Users/mu/Desktop/code/harmonyos-sdd-ralph-workshop/case-materials/gpu/07-开发排障复盘.md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Ralph 单轮：读取任务卡 → 最小修改 → verify → 绑定 commit/runId → 对照 AC → 记录首个异常 → 修当前边界 → 同场景复测 → 更新 progress/evidence。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左侧失败画面不是结论，只是触发本轮循环的 Symptom。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C:/Users/mu/Desktop/code/harmonyos-sdd-ralph-workshop/harmonyos-sdd-ralph-workshop.md</a:t>
            </a:r>
          </a:p>
          <a:p xmlns:a="http://schemas.openxmlformats.org/drawingml/2006/main">
            <a:r>
              <a:t>- C:/Users/mu/Desktop/code/harmonyos-sdd-ralph-workshop/case-materials/gpu/07-开发排障复盘.md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黑屏先查 output/owner/present；色块先查 format/stride/planes；仍卡顿先查 CPU/FPS/queue depth。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统一规则：找到同一 runId/frameId 上第一处与预期不一致，再把修复范围限定在那里。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C:/Users/mu/Desktop/code/harmonyos-sdd-ralph-workshop/harmonyos-sdd-ralph-workshop.md</a:t>
            </a:r>
          </a:p>
          <a:p xmlns:a="http://schemas.openxmlformats.org/drawingml/2006/main">
            <a:r>
              <a:t>- C:/Users/mu/Desktop/code/harmonyos-sdd-ralph-workshop/case-materials/gpu/06-工程验收计划.md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T04 有界队列与背压；T05 生命周期和 stale target；T06 AVC444/LC；T07 A/B 验收与证据包。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Release 不看“代码写完”，只看同场景可复查证据是否完整。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C:/Users/mu/Desktop/code/harmonyos-sdd-ralph-workshop/harmonyos-sdd-ralph-workshop.md</a:t>
            </a:r>
          </a:p>
          <a:p xmlns:a="http://schemas.openxmlformats.org/drawingml/2006/main">
            <a:r>
              <a:t>- C:/Users/mu/Desktop/code/harmonyos-sdd-ralph-workshop/case-materials/gpu/06-工程验收计划.md</a:t>
            </a:r>
          </a:p>
          <a:p xmlns:a="http://schemas.openxmlformats.org/drawingml/2006/main">
            <a:r>
              <a:t>- C:/Users/mu/Desktop/code/harmonyos-sdd-ralph-workshop/case-materials/gpu/10-文档截图与视频占位清单.md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已确认：当前走 CPU/软件路径，未进入 GPU。</a:t>
            </a:r>
          </a:p>
          <a:p xmlns:a="http://schemas.openxmlformats.org/drawingml/2006/main">
            <a:r>
              <a:t>待补：before/after 视频、同场景 CPU/FPS、decoder identity、frame trace、fallback、resize/后台/重连与 soak。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没有证据的格子继续保留 PENDING/UNKNOWN。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C:\Users\mu\Desktop\code\ppt\harmonyos-sdd-ralph-workshop\harmonyos-sdd-workshop-media\anthropic\eval-quality-layers.png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A[事实] --&gt; B[规格]</a:t>
            </a:r>
          </a:p>
          <a:p xmlns:a="http://schemas.openxmlformats.org/drawingml/2006/main">
            <a:r>
              <a:t>    B --&gt; C[任务]</a:t>
            </a:r>
          </a:p>
          <a:p xmlns:a="http://schemas.openxmlformats.org/drawingml/2006/main">
            <a:r>
              <a:t>    C --&gt; D[RED]</a:t>
            </a:r>
          </a:p>
          <a:p xmlns:a="http://schemas.openxmlformats.org/drawingml/2006/main">
            <a:r>
              <a:t>    D --&gt; E[最小 Diff]</a:t>
            </a:r>
          </a:p>
          <a:p xmlns:a="http://schemas.openxmlformats.org/drawingml/2006/main">
            <a:r>
              <a:t>    E --&gt; F[系统证据]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**可选收束主视觉（PPT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![质量的瑞士奶酪模型：自动评估、人工审阅和真实运行共同拦截缺陷](harmonyos-sdd-workshop-media/anthropic/eval-quality-layers.png)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&lt;sub&gt;讲师读图：任何单层检查都有孔洞。映射到本课就是测试、构建、日志、getter、截图/视频与同伴 Reviewer 叠加；只有多层证据对齐，才允许 PASS。图源：Anthropic《Demystifying Evals for AI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下一次拿到复杂需求，只问七个问题：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哪些词会让实现分叉？</a:t>
            </a:r>
          </a:p>
          <a:p xmlns:a="http://schemas.openxmlformats.org/drawingml/2006/main">
            <a:r>
              <a:t>2. 最终真相在哪一层？</a:t>
            </a:r>
          </a:p>
          <a:p xmlns:a="http://schemas.openxmlformats.org/drawingml/2006/main">
            <a:r>
              <a:t>3. 哪些不变量绝不能破坏？</a:t>
            </a:r>
          </a:p>
          <a:p xmlns:a="http://schemas.openxmlformats.org/drawingml/2006/main">
            <a:r>
              <a:t>4. 本轮只允许 AI 改哪个边界？</a:t>
            </a:r>
          </a:p>
          <a:p xmlns:a="http://schemas.openxmlformats.org/drawingml/2006/main">
            <a:r>
              <a:t>5. 怎样先制造一个可解释的 RED？</a:t>
            </a:r>
          </a:p>
          <a:p xmlns:a="http://schemas.openxmlformats.org/drawingml/2006/main">
            <a:r>
              <a:t>6. 最早异常证据在哪里？</a:t>
            </a:r>
          </a:p>
          <a:p xmlns:a="http://schemas.openxmlformats.org/drawingml/2006/main">
            <a:r>
              <a:t>7. 什么证据满足后，本轮必须停止？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**一分钟迁移题**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权限页面第一次进入数据为空，第二次进入正常。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每组必须用七问给出：一个最小只读勘察任务、一条可证伪假设、一项禁止修改范围和一个最终事实来源。不得直接回答“加延迟”或“页面初始化问题”。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5b9a3533b6468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754dd45a0f4127" /><Relationship Type="http://schemas.openxmlformats.org/officeDocument/2006/relationships/slideLayout" Target="/ppt/slideLayouts/slideLayout1.xml" Id="R21f5649c5b914f6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1f5649c5b914f6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531c99e5294304" /><Relationship Type="http://schemas.openxmlformats.org/officeDocument/2006/relationships/image" Target="/ppt/media/image.png" Id="Rb6ebe6697f644784" /><Relationship Type="http://schemas.openxmlformats.org/officeDocument/2006/relationships/notesSlide" Target="/ppt/notesSlides/notesSlide1.xml" Id="R129245351f0d43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f1c6d982d34178" /><Relationship Type="http://schemas.openxmlformats.org/officeDocument/2006/relationships/notesSlide" Target="/ppt/notesSlides/notesSlide2.xml" Id="R7784e0d98b024ae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f9356b13f140af" /><Relationship Type="http://schemas.openxmlformats.org/officeDocument/2006/relationships/image" Target="/ppt/media/image2.png" Id="R9c5c1253f49a4a17" /><Relationship Type="http://schemas.openxmlformats.org/officeDocument/2006/relationships/notesSlide" Target="/ppt/notesSlides/notesSlide3.xml" Id="R8f602304308544e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9a3bb1c80b48e3" /><Relationship Type="http://schemas.openxmlformats.org/officeDocument/2006/relationships/notesSlide" Target="/ppt/notesSlides/notesSlide4.xml" Id="R7b91c0656cdc4e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66a4176df949a9" /><Relationship Type="http://schemas.openxmlformats.org/officeDocument/2006/relationships/notesSlide" Target="/ppt/notesSlides/notesSlide5.xml" Id="R518a10d8da3448c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960553e2184028" /><Relationship Type="http://schemas.openxmlformats.org/officeDocument/2006/relationships/notesSlide" Target="/ppt/notesSlides/notesSlide6.xml" Id="R2562520567ea488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1e055e06254497" /><Relationship Type="http://schemas.openxmlformats.org/officeDocument/2006/relationships/notesSlide" Target="/ppt/notesSlides/notesSlide7.xml" Id="Rb31c63aac00a4f8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1a94e25757447f" /><Relationship Type="http://schemas.openxmlformats.org/officeDocument/2006/relationships/notesSlide" Target="/ppt/notesSlides/notesSlide8.xml" Id="Rc4a272704e7d47f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da9ac42d5d4614" /><Relationship Type="http://schemas.openxmlformats.org/officeDocument/2006/relationships/notesSlide" Target="/ppt/notesSlides/notesSlide9.xml" Id="Re8ca61aff1a545e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82661243164900" /><Relationship Type="http://schemas.openxmlformats.org/officeDocument/2006/relationships/notesSlide" Target="/ppt/notesSlides/notesSlide10.xml" Id="Ra6e9c0fc2f03495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e20801d9ed4650" /><Relationship Type="http://schemas.openxmlformats.org/officeDocument/2006/relationships/notesSlide" Target="/ppt/notesSlides/notesSlide11.xml" Id="R48da5a53419c421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c6af46c32a4470" /><Relationship Type="http://schemas.openxmlformats.org/officeDocument/2006/relationships/notesSlide" Target="/ppt/notesSlides/notesSlide12.xml" Id="R4ac2ae94dc2d4e7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ef32314e994f9c" /><Relationship Type="http://schemas.openxmlformats.org/officeDocument/2006/relationships/notesSlide" Target="/ppt/notesSlides/notesSlide13.xml" Id="Rbf58e2cee85842a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b767fff9b84dcc" /><Relationship Type="http://schemas.openxmlformats.org/officeDocument/2006/relationships/notesSlide" Target="/ppt/notesSlides/notesSlide14.xml" Id="R29e2e0f1e4ec4aa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006cc36ca844c4" /><Relationship Type="http://schemas.openxmlformats.org/officeDocument/2006/relationships/notesSlide" Target="/ppt/notesSlides/notesSlide15.xml" Id="R9e74501fb32749a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56198c78594bdc" /><Relationship Type="http://schemas.openxmlformats.org/officeDocument/2006/relationships/notesSlide" Target="/ppt/notesSlides/notesSlide16.xml" Id="R71606ad87cc3494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4b3454ea8644d6" /><Relationship Type="http://schemas.openxmlformats.org/officeDocument/2006/relationships/notesSlide" Target="/ppt/notesSlides/notesSlide17.xml" Id="R805a53b9fd4b4c5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321d7b94b94395" /><Relationship Type="http://schemas.openxmlformats.org/officeDocument/2006/relationships/notesSlide" Target="/ppt/notesSlides/notesSlide18.xml" Id="Rfacdfee0b85f4a5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56e7e3f3ed451e" /><Relationship Type="http://schemas.openxmlformats.org/officeDocument/2006/relationships/notesSlide" Target="/ppt/notesSlides/notesSlide19.xml" Id="Rad1e2077533548c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a9e492d2884f20" /><Relationship Type="http://schemas.openxmlformats.org/officeDocument/2006/relationships/notesSlide" Target="/ppt/notesSlides/notesSlide20.xml" Id="Rfddab1b7739240a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1930b1d82d4ba6" /><Relationship Type="http://schemas.openxmlformats.org/officeDocument/2006/relationships/notesSlide" Target="/ppt/notesSlides/notesSlide21.xml" Id="R846c74b94b8d4e1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b7c16918534219" /><Relationship Type="http://schemas.openxmlformats.org/officeDocument/2006/relationships/notesSlide" Target="/ppt/notesSlides/notesSlide22.xml" Id="R3e8db72c933b44a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88d1d7e46f4074" /><Relationship Type="http://schemas.openxmlformats.org/officeDocument/2006/relationships/notesSlide" Target="/ppt/notesSlides/notesSlide23.xml" Id="R52c3ee84542c4b8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4150c280104146" /><Relationship Type="http://schemas.openxmlformats.org/officeDocument/2006/relationships/image" Target="/ppt/media/image.jpeg" Id="R3be0221307a94a32" /><Relationship Type="http://schemas.openxmlformats.org/officeDocument/2006/relationships/notesSlide" Target="/ppt/notesSlides/notesSlide24.xml" Id="R3d08ca7b3b00419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8b9f88822f471d" /><Relationship Type="http://schemas.openxmlformats.org/officeDocument/2006/relationships/image" Target="/ppt/media/image2.jpeg" Id="Rfb5f0e8c4e694136" /><Relationship Type="http://schemas.openxmlformats.org/officeDocument/2006/relationships/image" Target="/ppt/media/image3.jpeg" Id="R6dd16707311b4752" /><Relationship Type="http://schemas.openxmlformats.org/officeDocument/2006/relationships/notesSlide" Target="/ppt/notesSlides/notesSlide25.xml" Id="R8d60c3ef2ffe4f1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a364d3c85d4bac" /><Relationship Type="http://schemas.openxmlformats.org/officeDocument/2006/relationships/notesSlide" Target="/ppt/notesSlides/notesSlide26.xml" Id="R61812801045a4cc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cef77b91254001" /><Relationship Type="http://schemas.openxmlformats.org/officeDocument/2006/relationships/image" Target="/ppt/media/image3.png" Id="Rca878defdd2e4f80" /><Relationship Type="http://schemas.openxmlformats.org/officeDocument/2006/relationships/notesSlide" Target="/ppt/notesSlides/notesSlide27.xml" Id="R0bbd244bdf164b1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cadddca8cf4dd3" /><Relationship Type="http://schemas.openxmlformats.org/officeDocument/2006/relationships/image" Target="/ppt/media/image4.jpeg" Id="R669f8de4103e4449" /><Relationship Type="http://schemas.openxmlformats.org/officeDocument/2006/relationships/notesSlide" Target="/ppt/notesSlides/notesSlide28.xml" Id="R0ea95e51effc401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db9c73f6cb45dc" /><Relationship Type="http://schemas.openxmlformats.org/officeDocument/2006/relationships/image" Target="/ppt/media/image5.jpeg" Id="R22724c20ed9b4ccb" /><Relationship Type="http://schemas.openxmlformats.org/officeDocument/2006/relationships/notesSlide" Target="/ppt/notesSlides/notesSlide29.xml" Id="R9e43e4af1b2e4d7e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ff87407782407f" /><Relationship Type="http://schemas.openxmlformats.org/officeDocument/2006/relationships/image" Target="/ppt/media/image6.jpeg" Id="R05bc6d1cbed14208" /><Relationship Type="http://schemas.openxmlformats.org/officeDocument/2006/relationships/notesSlide" Target="/ppt/notesSlides/notesSlide30.xml" Id="R5160a732eec34d9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90d4020e794e64" /><Relationship Type="http://schemas.openxmlformats.org/officeDocument/2006/relationships/notesSlide" Target="/ppt/notesSlides/notesSlide31.xml" Id="R07cc34dd680f4327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63886559e24e06" /><Relationship Type="http://schemas.openxmlformats.org/officeDocument/2006/relationships/image" Target="/ppt/media/image7.jpeg" Id="Rcecc5838a8fd4895" /><Relationship Type="http://schemas.openxmlformats.org/officeDocument/2006/relationships/notesSlide" Target="/ppt/notesSlides/notesSlide32.xml" Id="R48e48ba615dd4c67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c59b71fc3f493d" /><Relationship Type="http://schemas.openxmlformats.org/officeDocument/2006/relationships/notesSlide" Target="/ppt/notesSlides/notesSlide33.xml" Id="R02e25a33d5774970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54be040a0b4f96" /><Relationship Type="http://schemas.openxmlformats.org/officeDocument/2006/relationships/notesSlide" Target="/ppt/notesSlides/notesSlide34.xml" Id="R329f3c723f5a45f2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ceff06970048b1" /><Relationship Type="http://schemas.openxmlformats.org/officeDocument/2006/relationships/image" Target="/ppt/media/image8.jpeg" Id="R2c1a90d798b04b3f" /><Relationship Type="http://schemas.openxmlformats.org/officeDocument/2006/relationships/notesSlide" Target="/ppt/notesSlides/notesSlide35.xml" Id="Rf0472fc110c242a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276dea449a43d3" /><Relationship Type="http://schemas.openxmlformats.org/officeDocument/2006/relationships/notesSlide" Target="/ppt/notesSlides/notesSlide36.xml" Id="R64efdd659e71407e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b906d5090449dd" /><Relationship Type="http://schemas.openxmlformats.org/officeDocument/2006/relationships/notesSlide" Target="/ppt/notesSlides/notesSlide37.xml" Id="Rb2eb4a4250bc4e0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0853c380574715" /><Relationship Type="http://schemas.openxmlformats.org/officeDocument/2006/relationships/image" Target="/ppt/media/image9.jpeg" Id="Re99f15c636c34d25" /><Relationship Type="http://schemas.openxmlformats.org/officeDocument/2006/relationships/notesSlide" Target="/ppt/notesSlides/notesSlide38.xml" Id="Rce1ee4509f4944e8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763047cffa4cbf" /><Relationship Type="http://schemas.openxmlformats.org/officeDocument/2006/relationships/image" Target="/ppt/media/image4.png" Id="R3c0ee8a37b3f4df4" /><Relationship Type="http://schemas.openxmlformats.org/officeDocument/2006/relationships/notesSlide" Target="/ppt/notesSlides/notesSlide39.xml" Id="Rd1cb83b1eae0458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4E06D2-31D6-475F-9B0B-C5398910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HarmonyOS 复杂需求工程化实践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2DA694-E65E-46F5-A828-A9EA8B6B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让 AI 不只是“写出代码”，而是完成可解释、可验证、可停止的一轮工程闭环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934442-F286-4625-B2E3-0CF7B40A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133A9-F69F-4EBD-9347-F3D06946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4781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课程从一个人人都见过的现象开始：页面第一次进入为空，第二次却正常。先学会找事实，再进入两个真实工程案例。</a:t>
            </a:r>
          </a:p>
        </p:txBody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ebe6697f644784"/>
          <a:srcRect xmlns:a="http://schemas.openxmlformats.org/drawingml/2006/main" l="10625" t="0" r="1062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358F46-EEFE-4F90-9B29-FDC192E6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99B91-2F40-4BB7-B4E9-3E326813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67300"/>
            <a:ext cx="5191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核心不是一次 Prompt，而是持续澄清目标、约束边界，并让每一步都能被证据推翻。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A8C34-9593-4D16-ABDD-5D57C075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9813BA-70E2-453C-8B51-99EEBD2A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915CFC-64A1-4548-90C8-2D189C4E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93EB35-6820-4A3B-9BC5-8FD65D8B2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85F055-8435-4C99-B28F-7CB1A338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EB34C4-AEF8-4B4F-A918-9AC24BAD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3E3743-2FD4-481B-A58F-A92505CF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21E7EE-5F52-4899-979C-994CE0A6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5C9516-BC3F-4009-87CA-DE8FEE97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D8D213-9AE7-42D0-B3FF-FEAAFDE3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改动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8684D2-720E-406B-8A63-E8549711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34A8F4-86B0-419E-A8EB-5945EF6E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cxnSp>
        <p:nvCxnSpPr>
          <p:cNvPr id="120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2860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1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1529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2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0198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3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8867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4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7536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DFAD5A-1D55-4875-B0CF-74BCDE0C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4861605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8561A2A-E6D6-45A6-A5EF-D7B77BE2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106498-66E5-41F1-AC3A-DE23BD13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别急着改代码：先解释“第一次为空，第二次正常”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243E87-55F1-41AC-8AEE-309F84F1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561238-AB06-4C49-B582-E39DEE93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BB994A-D801-4C4B-952C-C324C33C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15C2BA-A7F2-4D41-A6A4-266117DA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6737F0-C1ED-4FE6-81DD-29E7590D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“权限页面第一次进入数据为空，退出后第二次进入却正常。”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5AA486-0133-4F84-8A84-58B5C0BD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这句话只描述了现象，至少存在四种完全不同的实现原因：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8C9F9-8B4F-4B25-9EAA-404E535E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86D694-48CC-465B-8E85-C6918A90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 数据尚未返回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页面先渲染，异步结果稍后到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DAA71-FCE1-49A0-9A8B-A4CE8E29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24AC4A-4032-4235-BA16-598B5EAF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  监听注册太晚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第一次事件已错过，第二次复用状态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3A62DD-271B-4750-9DDA-DD073711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F5ACCE-987E-4FF7-8A5F-7ECB3CE0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  缓存或单例残留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第二次读取的是上一轮结果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6A54F0-8330-4783-AC13-7B52A077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A3880D-21DD-4754-AD93-2E591AF3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  刷新链没有触发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事实已存在，但 ViewModel 没收到通知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7724CB-639F-4A99-9E4D-AFAAA698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7DABC7-A4E9-4D2B-B625-90F9394A1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稳定复现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6B933D-4767-43E9-94FD-61E400DF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846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DFEFBA-FD0F-41B2-8E0F-FB84C37E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466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画时间线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1D2033-FDA8-4FFA-A2EA-82156B34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730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49341C-29CC-45E1-83B9-E762D4B6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确认事实源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CDCF51-35AE-4778-AB0E-01B16998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14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D91A28-A147-4237-B62F-1431B81A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234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定位最早异常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88269E-B61D-4148-A4F3-77631400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498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A6771A-28D9-4155-AF72-9B14446C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118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只改一个边界</a:t>
            </a:r>
          </a:p>
        </p:txBody>
      </p:sp>
      <p:cxnSp>
        <p:nvCxnSpPr>
          <p:cNvPr id="150" name=""/>
          <p:cNvCxnSpPr>
            <a:stCxn xmlns:a="http://schemas.openxmlformats.org/drawingml/2006/main" id="17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78701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1" name=""/>
          <p:cNvCxnSpPr>
            <a:stCxn xmlns:a="http://schemas.openxmlformats.org/drawingml/2006/main" id="19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493585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2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708469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3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923353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265AA0-3F79-456D-81A2-36E1E772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5712A6-EF8B-41B6-B1A3-273CCE03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5991225"/>
            <a:ext cx="849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不能直接回答“加延迟”。先证明第一次和第二次究竟差在哪一个事实。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227A1F-86F2-46E8-BD3A-6D00561B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9469203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BF84DA-50B3-444D-89FA-4055FE21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643AC-D5A4-4D1B-B797-0123C117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每轮只做一个可证伪闭环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0CC041-F2EC-4D8E-8E26-FDE7EDDE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1550C7-117C-472D-9F74-3CFDA77F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B94F2-10B4-4F49-A6F0-92ACC860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64820-116F-4382-B33D-78816E61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BCA8E9-3853-4F93-B209-B039AF22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Task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本轮唯一结果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9D1E9B-DA90-4F8F-B069-4C03E915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29A154-690D-43DC-8258-A38D0F92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可解释失败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202881-9D41-4F8C-BC60-99E4FF62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11A94E-A727-4811-ADBF-926D577F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F3EA45-1705-4F92-BA13-4890EF4D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E9D33F-6BBD-4E76-89FA-062EAE30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窄测与回归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0CD992-6D2C-4284-98A3-F0561B42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62125"/>
            <a:ext cx="18097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38554-FC45-4B75-A830-F56DCF84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19275"/>
            <a:ext cx="1657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日志与系统事实</a:t>
            </a:r>
          </a:p>
        </p:txBody>
      </p:sp>
      <p:cxnSp>
        <p:nvCxnSpPr>
          <p:cNvPr id="120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381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1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476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2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572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3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667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7C66FD-B62E-4C48-AA99-D60F0DD8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20002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06104D-2C5E-4164-BE80-C8106DA5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00400"/>
            <a:ext cx="1847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停止条件满足？</a:t>
            </a:r>
          </a:p>
        </p:txBody>
      </p:sp>
      <p:cxnSp>
        <p:nvCxnSpPr>
          <p:cNvPr id="126" name=""/>
          <p:cNvCxnSpPr>
            <a:stCxn xmlns:a="http://schemas.openxmlformats.org/drawingml/2006/main" id="14" idx="2"/>
            <a:endCxn xmlns:a="http://schemas.openxmlformats.org/drawingml/2006/main" id="20" idx="3"/>
          </p:cNvCxnSpPr>
          <p:nvPr/>
        </p:nvCxnSpPr>
        <p:spPr>
          <a:xfrm xmlns:a="http://schemas.openxmlformats.org/drawingml/2006/main" flipH="1">
            <a:off x="9239250" y="2447925"/>
            <a:ext cx="809625" cy="1057275"/>
          </a:xfrm>
          <a:prstGeom xmlns:a="http://schemas.openxmlformats.org/drawingml/2006/main" prst="bentConnector5">
            <a:avLst>
              <a:gd name="adj1" fmla="val 0"/>
              <a:gd name="adj2" fmla="val 21622"/>
              <a:gd name="adj3" fmla="val 71765"/>
            </a:avLst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cxnSp>
        <p:nvCxnSpPr>
          <p:cNvPr id="127" name=""/>
          <p:cNvCxnSpPr>
            <a:stCxn xmlns:a="http://schemas.openxmlformats.org/drawingml/2006/main" id="20" idx="1"/>
            <a:endCxn xmlns:a="http://schemas.openxmlformats.org/drawingml/2006/main" id="6" idx="2"/>
          </p:cNvCxnSpPr>
          <p:nvPr/>
        </p:nvCxnSpPr>
        <p:spPr>
          <a:xfrm xmlns:a="http://schemas.openxmlformats.org/drawingml/2006/main" flipH="1" flipV="1">
            <a:off x="1571625" y="2447925"/>
            <a:ext cx="5667375" cy="1057275"/>
          </a:xfrm>
          <a:prstGeom xmlns:a="http://schemas.openxmlformats.org/drawingml/2006/main" prst="bentConnector4">
            <a:avLst>
              <a:gd name="adj1" fmla="val 4034"/>
              <a:gd name="adj2" fmla="val 78378"/>
            </a:avLst>
          </a:prstGeom>
          <a:ln xmlns:a="http://schemas.openxmlformats.org/drawingml/2006/main" w="19050">
            <a:solidFill>
              <a:srgbClr val="E26852"/>
            </a:solidFill>
            <a:prstDash val="dash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2D75AD-99A5-4708-9FF0-F38474D9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否：回到 Task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10C046-6EA2-409A-B701-7CD81908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528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是：提交结果</a:t>
            </a:r>
          </a:p>
        </p:txBody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5c1253f49a4a17"/>
          <a:stretch xmlns:a="http://schemas.openxmlformats.org/drawingml/2006/main"/>
        </p:blipFill>
        <p:spPr>
          <a:xfrm xmlns:a="http://schemas.openxmlformats.org/drawingml/2006/main">
            <a:off x="666750" y="4429472"/>
            <a:ext cx="4000500" cy="1666181"/>
          </a:xfrm>
          <a:prstGeom xmlns:a="http://schemas.openxmlformats.org/drawingml/2006/main" prst="roundRect">
            <a:avLst>
              <a:gd name="adj" fmla="val 6486"/>
            </a:avLst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189DC4-9B18-420E-9226-CEE36D76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4000500" cy="1762125"/>
          </a:xfrm>
          <a:prstGeom xmlns:a="http://schemas.openxmlformats.org/drawingml/2006/main" prst="roundRect">
            <a:avLst>
              <a:gd name="adj" fmla="val 648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D88417-9AA6-46A0-BDE6-9A7E25FB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81500"/>
            <a:ext cx="6286500" cy="1762125"/>
          </a:xfrm>
          <a:prstGeom xmlns:a="http://schemas.openxmlformats.org/drawingml/2006/main" prst="roundRect">
            <a:avLst>
              <a:gd name="adj" fmla="val 756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9237E1-5EE3-4BF6-82E3-18F159D0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49580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progress.md（外部记忆）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A4D76A-DA34-4C5E-8CFC-C8CC15DA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781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4ED46E-B2FD-4355-8E5B-70C0227A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57750"/>
            <a:ext cx="5981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task_id / red_reason / diff_scope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verify_commands / evidence / verdict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next_task / stop_reason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6676FD-9E02-4CC3-A422-12F51309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062721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EBCB931-0CA6-4BAD-848D-2C9A73ED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208FF9-C1B8-45E2-841F-D2E9039C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复杂问题先拆成五层，两个案例都沿这条链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C01C8-7D18-4FAE-9BF2-8360F652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390E6-ECAC-40FF-B527-755CE0B7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C6F825-41F8-40EA-B1F4-B687140D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37AF33-D430-44A0-9CF2-380ACE91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8532D-6C99-4131-8B76-B803F8CC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发生了什么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251D4B-0783-44CD-8540-2369C2A7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035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EAEA2-ACAB-4A90-BEC3-09BCC36B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55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此刻真实状态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265DC6-13B7-47E7-842D-89692759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158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EE331C-BA51-4CAF-8237-E728BAF8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778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应该变成什么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C1BB40-3D12-490D-AE71-CA29FE42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281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2DF1DF-6D1F-40ED-B0F4-D6943743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901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系统实际做了什么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193147-5A71-41A7-BFE3-DA544B3E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404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B5CCDD-7101-4DF2-8D5C-AFF94AF5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024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最终是否一致</a:t>
            </a:r>
          </a:p>
        </p:txBody>
      </p:sp>
      <p:cxnSp>
        <p:nvCxnSpPr>
          <p:cNvPr id="133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68795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34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90918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35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713041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36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35164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4345E3-DDB2-4DA9-B13F-B97DCA1B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241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6806AF-07D1-498E-8493-F59D3E3EE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6A6E0D-B5C0-48BA-84D5-243D1A32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524125"/>
            <a:ext cx="52120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A46992-FE90-4680-B72B-55AAFBDF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571750"/>
            <a:ext cx="505968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必须回答的问题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9CF611-5F15-4430-A765-24ADC664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524125"/>
            <a:ext cx="39090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53A0F9-3B13-453A-B3ED-9C67B90B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571750"/>
            <a:ext cx="37566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可验证对象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578A26-3AAD-41C4-B1D6-733FE079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D8D1D8-4E8B-4A84-8BC3-B96F6C03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239371-E442-45D1-96FA-BB5A9B3D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92417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CDA364-76F7-42A7-B0AC-99AFA7A5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97180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这轮变化由什么事件或操作开始？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BD21B1-F2DD-463F-BCF7-4A00693B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92417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73612A-DEFE-4273-85B2-2989D2F6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97180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事件源、时间戳、参数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C46E3B-C7EC-419E-B5EB-A7A57AFC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709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985496-BAF2-459A-8D45-542EF2E5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471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A773EF-BE05-4C16-8854-D524A55B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38709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8A4F79-5B8A-4205-A399-B7FDF804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43471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执行前的完整事实是什么？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5B5CEE-B0EB-4704-878D-ED32EEF0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38709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6B07A3-9583-4F83-87F1-50B11794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43471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getter、列表、版本号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373122-EF52-43CC-8931-31F285EE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000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47F5B5-AAFA-4C29-BF14-6531723E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9763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5FC1F8-2FED-43BD-9210-15330325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85000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99E804-4EEA-40CD-8253-854B1A8D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89763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需求冻结后的期望结果是什么？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1CCAE79-B7C2-48E4-A0A7-3871EC43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85000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1BACCD0-E77D-4123-A814-814F001C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89763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spec / ADR / 不变量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ED93AA6-C537-4AFC-9D79-3E3C864C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1292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5D83AAC-3684-4023-B169-123E68B6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054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C97E05-DBC8-4443-B158-5411461E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31292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63AD665-69E5-4931-8760-DF286820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36054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哪些写入成功、失败或需要补偿？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E5B53E6-FF68-4CE3-83CE-064A1C33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31292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A948757-FDFB-4C14-A988-BB85EE47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36054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返回值、映射、事务边界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4F74CC1-A897-4816-A0BF-19E19592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7583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3588D6-CF5E-480C-B824-EE3856BD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2346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37692E5-5969-4E62-8AF1-60E55CF4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77583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4A0CA4D-29ED-47CF-A360-532D321E4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82346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最终事实是否与目标一致？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9B4969D-4A5E-445F-927C-7906D628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77583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4DF82D6-DC62-4E82-80C3-DE3DC2E0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82346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回读、日志、截图/视频、性能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CEBB1C0-B3BC-41E1-83AC-B3983792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0CD891-0FD5-4CC4-894A-7CB9B232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案例一：多账号状态同步、失败补偿与 UI 事实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30E8A51-6CD2-4910-9ED8-835B67D8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FFA6DA5-9740-4C73-BFAA-1818315A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案例二：FreeRDP 卡顿路径、硬解穿刺与同帧证据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6FEC072-E581-4BCA-9D6C-A210605E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954401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A3B6FB-C64B-4EC3-8A70-F0C1096B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D786B4-BE94-481C-BF0A-527ABED3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同一个现象，至少有四个事实边界不能靠猜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0EB80C-2F9C-4138-99AA-69695661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0E28F-1DB5-4BBA-B57F-ECA4C490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AD3A18-22B1-4A69-848F-1A1C6CA58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74941-2D52-4128-B715-7449E120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E3116A-AF84-4C14-BA1B-8D7805E5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“权限页面第一次进入为空，退出后第二次进入正常。”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FE6CC3-DA82-41EB-BD9D-839BE989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这句话只描述了现象，没有告诉我们下面四个事实。任何一项靠猜，都会走向不同实现。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B173A6-0FD4-454D-A68C-51A00DC1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A9A21-8679-4150-B730-72A7D6102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数据来自哪里？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126D9-0AD3-4CAB-9EA2-DF162A36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5AD247-07EA-4629-BF38-CF384050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页面缓存 / ViewModel 内存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业务 API / 系统 getter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FFCE9A-573D-422A-89CA-66CC9C47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6FA476-1807-4FD5-A73C-818F8D36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什么时候开始监听？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321C14-B161-4090-8932-B8E39725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B8DC5B-BB1F-410A-B0CD-E79CAA1D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页面创建前 / 页面创建后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首次读取前 / 首次读取后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39F24B-CE43-4478-9585-7457E480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272142-52EF-4978-9C73-EC481D8F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3  什么时候算完成？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EB18D0-92EB-4BBE-BEA1-6D44C3BA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371828-F219-44BE-AF2D-E9CD8C86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本地状态更新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系统回读与页面一致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EE088A-A6C4-48B9-B066-91033FD9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ED73E9-C516-4D59-B8DF-03F6C18D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4  失败时页面展示什么？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7A1A16-6892-4B8E-9426-DC16E9F2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195B93-E8D0-45F3-82F1-C3F66EF8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旧状态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加载态 / 可重试错误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8ADC7F-CE1A-4DB6-B110-DA842902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381625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095B50-4291-41A1-A263-4A5EED15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419725"/>
            <a:ext cx="9639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四个答案会改变监听顺序、状态模型、回归测试和最终证据。所以下一步不是设计，而是把分叉变成选择题。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ABD2FE-ED1E-40A0-9633-D49B8E80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30390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5ACA117-30D5-4E95-A16A-BEF3EE45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A6B595-9C38-43A1-A842-3D8F49F5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先把分叉列完整，人再冻结本轮语义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F6DCB9-1E75-412D-99D3-60E94FCC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1C2CE-39C0-43B5-A50D-74F77C89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FBAD85-D2B1-49A4-8F53-95F7F4B2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E6327A-5D2D-4C87-97AA-8A0F7781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AI 的职责：列出互斥答案、工程影响和危险假设。人的职责：关闭高影响 OPEN，冻结业务语义。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6A3CE5-2633-4797-A2AB-45922B88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176784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351D6-F5CD-43FB-8034-E5BBEBF6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57375"/>
            <a:ext cx="161544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待决策项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6AEF01-0661-48BB-8864-C4A8216B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1809750"/>
            <a:ext cx="320421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C069E0-9D31-4BC7-A7C4-E1AD5A67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1857375"/>
            <a:ext cx="305181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列出的互斥答案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713705-8CB6-42AB-8FC5-23E985E9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809750"/>
            <a:ext cx="342519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0C998B-B3FD-4946-A79B-82E7D9E3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857375"/>
            <a:ext cx="327279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本轮冻结答案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DA870F-ED1E-4F2C-87CE-39B11678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1809750"/>
            <a:ext cx="26517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11C54F-5A22-45D5-A3AE-F72E1A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1857375"/>
            <a:ext cx="24993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直接影响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F4509A-7495-40C8-8E5F-D0E6A1D7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AE0D02-E75C-4BB7-886B-B6EC3620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57425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9DB1D4-4B93-47B3-A7F3-B17554BE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209800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7A1476-573C-4702-A7E1-E7EFDED6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2257425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缓存 / ViewModel / API / 系统 getter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7EFD39-A3F1-43ED-B0DA-B07BC4CC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209800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09C49F-C324-4C15-80A2-C6419D82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57425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getter；ViewModel 只缓存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EA4C81-7F9F-45F2-A360-8195FF26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209800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77B450-ECF1-4CCC-A988-8CE24182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257425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状态所有权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BC1F9A-BA13-474D-89F3-843FD26E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67038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9381CE-693A-4BF5-9731-40F16BB2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14663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监听与首读顺序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F4225F-E8C7-4A2F-9C20-98B23CD9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967038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4D7A40-AE16-42DE-8AA1-F09AA77F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014663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先读后监听 / 先监听后读取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C45B82-18FC-495A-A51E-8FA99C8C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967038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66527D-0C8F-49A7-994A-0342BA89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14663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先建立监听，再发起首读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2C7E1A-E312-46B9-862A-57A1737B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967038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A2CD95-5E40-44DE-BCAE-A402BAD6A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014663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是否丢失首次事件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E4F35D-ECCB-4F16-8A80-3156B4F9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C398F5-5155-4056-A4D3-0454AC16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未返回时的状态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955D6F-109D-4D1B-9E9F-B88E5455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3724275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F378E6-8B21-42B8-B12C-0EA75E6C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771900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加载中 / 沿用旧值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8EFCAD-CC5E-487C-8869-79CCC6CE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724275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D956F1-6D67-41E1-9472-25D86BC8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771900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显示加载中，不把空当完成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76468D-A14A-4893-8A33-5EFA8C1F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3724275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332721-2A94-4FBB-B943-2F953587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771900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首次进入体验与测试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68E33B2-1790-41E4-B0BE-F943F131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81513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D2AE967-AAA0-4748-A83B-7259C266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29138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完成判定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7B1920-D1D4-4F9F-A380-FDCDD40E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4481513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B2FF4A-6897-4FE7-B969-5B63A3EB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4529138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本地更新 / 系统回读一致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12C9508-DFFF-442E-ADDA-BD1AAC13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481513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21056E0-5A00-4742-9B59-0829BF86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529138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系统事实返回并刷新当前页面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97BBE05-2F2F-4F8F-9C40-44116FAB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4481513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6368D40-DFF9-49BF-A9C4-ECCEE054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4529138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验收证据与停止条件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CB34358-17FB-4088-BFC7-FBE42C34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DB68583-C762-4FD4-BAD7-6E0ECC49B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610225"/>
            <a:ext cx="916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仍然是 OPEN 的高影响问题不能交给 AI 开发；“AI 给了一个答案”不等于“产品语义已经决定”。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2FD1F3-B736-469B-8C25-B7AE147D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299026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EDC530-AA49-4D4E-AFCF-146BBF84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DA82C1-ABDB-445D-9F6E-B0F871BC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冻结后的答案，要改写成可以直接生成测试的规格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05F91-900D-4A03-A589-F5257758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D88E6-77B3-43AE-B86C-B88B2087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8B2941-B257-40C0-8C6A-1221F7C0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1F274E-2799-49B8-A30C-CA07EA0A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3143250" cy="342900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536FB-7F1E-4AE0-A73C-BAB2AE78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04925"/>
            <a:ext cx="2838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Before：只有现象，无法验收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DA27E6-EE15-45FA-A1B5-71BE5EDA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53E646-16C8-429C-BAAC-85AF4DDB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955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第一次进入为空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第二次进入正常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616E0A-FB96-417C-882D-765FEFE1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86125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074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缺少：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触发条件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等待状态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完成标准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失败分支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36BF65-C1EE-44AA-A011-C4E7AF3D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190625"/>
            <a:ext cx="7334250" cy="34290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B3333D-2E76-4F61-9AA9-DD6135EA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304925"/>
            <a:ext cx="702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After：教学用 EARS 规格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1E7719-B1A3-408F-B92D-F52A95E9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340E8D-DFC6-4953-ACFF-B8C70033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66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D97D32-5B02-475A-B644-0BBC5673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66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首次进入权限页面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9E6E5B-8FBB-459F-99B9-BAC2C49C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240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WHILE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7D8377-7310-42C1-B222-51B4DF92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1240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系统事实尚未返回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544FEB-0FBA-44A5-A525-E52F70FF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5812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A56E56-D5D3-4C28-8305-8070D511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812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显示加载态，不得把空列表提交为完成状态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BEE470-F56F-45AA-B70A-A72D8FAC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384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C57594-6508-44FF-8D1B-D3D0B6D9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0384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0F0089-0CE8-438D-9B6F-B8135A8A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4956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2605C6-7AF1-4494-A12E-A33AEF39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956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在当前页面刷新，不要求退出后再次进入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C2490F-4266-4ABA-B3ED-C3D41659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952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IF / THEN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2F9673-52FC-4652-9E7C-F62F1D50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952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超时或读取失败 → 显示可重试错误，并保留诊断证据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A2BAFE-C0BB-4738-98AB-ED26C837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55FB73-DC5F-4060-9A22-426B1209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T01  延迟返回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当前页面自动更新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F23352-19DA-4AB2-946D-1EA3FEF3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ECC562-E8B5-4782-BB8B-1E2FF027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T02  事件先到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首次刷新不丢失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DA6851-D49A-42CA-9C25-84B29307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2E3286-9404-4929-A673-61CB7DDF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T03  读取超时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错误态 + 诊断证据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1F6846-2E68-48C4-B76C-A486896D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1080469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6A142B-0CBC-4163-9A3E-BE436F58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98EDA7-BED7-4600-87D2-62C240A7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满足四个准入条件后，才进入真实工程案例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CF100F-FC7E-441E-817E-94A20C64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3651F0-3424-47C0-894F-0CE756EC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C8F849-ADAA-4C7F-8BA7-2FD8E132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39E9D9-173D-4401-9296-EB87ECAB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前四页建立方法，第 5–7 页完成澄清。进入真实案例前，必须交付下面四项可复查产物。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FBCBF1-8B8E-4EB9-A5DB-130FA3FA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2EC7A6-ABCD-4EB6-993B-D623EF77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事实时间线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AB3EEC-151F-4089-8491-41E87E41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FF73BC-CACE-4D99-A99D-20C92D8D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首次进入、事件到达、数据返回、页面更新分别发生在什么时候？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D1BF66-E53A-49BB-AD14-5969244D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438CA0-C226-4F18-A9CD-5D8CDD22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最终事实源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55537D-12B9-435D-BAF5-CC55CBD7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B748D7-1ED3-4479-B523-42C45D35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哪个 API / getter 能证明系统状态？UI 与缓存只属于哪一层？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6AF715-13B9-4268-A300-EA25DFD8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41729C-6830-4479-AB46-263335A6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3  可执行规格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D37A3E-56A3-49D7-B3A9-CFA47AC2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43AD17-EE39-4EFD-9995-22FD751E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WHEN / WHILE / SHALL / IF / THEN 已写清；高影响 OPEN 已关闭。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E1763-9ED7-4579-803B-983CFD3A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1A02AC-5F71-4DF3-B7B8-28EF8363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4  第一张任务卡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FD49D1-8FB6-4B09-ADFB-92270BF6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AC475F-00E5-4808-8613-9234D8F2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唯一结果、允许与禁止范围、RED、验证命令和停止条件已明确。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19CDC2-27C2-4E21-9779-87A4FE9F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8637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F921B-D5A6-4419-ADFC-F93CE8C6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324475"/>
            <a:ext cx="9448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下一页进入真实案例：用真实文档、代码、测试和设备证据验证这四项。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6E07F4-B011-43CF-BBC5-6FC24894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3452495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94A5A7F-07EB-485D-B254-AB680A191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AF9BC-A7D9-4F69-A490-A5907F621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14BA7E-62E4-4F21-B14B-56DEECED9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案例：账号变化后，防火墙为什么仍可能“看起来正常、实际错误”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128741-D70B-449C-8B17-7605B5C2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真实业务：系统账号增删后，policy、规则、本地记录和跨进程 UI 必须收敛到同一账号集合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C5A76-C5CA-434C-9AD8-6E39DBDC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396CA1-9CEA-4E1C-BE2A-B7F4E94A1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239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业务链路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EC74EA-C03F-4A05-A7C4-D43BAC2A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9067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BBB9ED-33E5-4A54-A52D-38146C5B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828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55BFB4-87E4-4285-A7AB-8C7F117D9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676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系统账号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新增 / 删除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1FA094-F994-49EA-BB8B-FBF032D2C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1914525"/>
            <a:ext cx="295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7D0014-4C20-4EAB-B352-F645D073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724025"/>
            <a:ext cx="1828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E71918-30B4-48AA-AC7C-97C2F2F4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809750"/>
            <a:ext cx="1676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6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EnterpriseAdminAbility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收到事件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4A4677-795F-4782-A9A0-68337167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1914525"/>
            <a:ext cx="295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0B42AE-C895-430A-83A6-0613815E0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724025"/>
            <a:ext cx="1828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AE318C-A869-4B4C-9B21-A9E1AE82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809750"/>
            <a:ext cx="1676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Coordinator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读取稳定全量快照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036FE2-D163-4E98-BF69-AB3FCB7E6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1914525"/>
            <a:ext cx="295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E8361F-DB99-4210-B1F3-656C89E68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724025"/>
            <a:ext cx="1828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A46738-BA0A-4ECF-9739-C122CBF3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09750"/>
            <a:ext cx="1676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Firewall Handler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prune / policy / rules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619C3A-A50D-4989-8633-F068688A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1914525"/>
            <a:ext cx="295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6893C9-C07D-48A4-A548-BA9C564A8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724025"/>
            <a:ext cx="1828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694896-48A0-459F-955E-D340F7FE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809750"/>
            <a:ext cx="1676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 + UI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跨进程刷新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8F280C-F6D0-4FE4-A77E-30A2E01E9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为什么这是复杂需求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81600B-723C-463E-A39C-A89C4357C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2359D9-9A23-4BE0-A955-713B5E6A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67050"/>
            <a:ext cx="33718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98CAD2-F8DE-4EE2-87B9-6C59C04E0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3528D9-A185-4ACC-9129-B00CA6904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误判 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206CE1-A799-4739-833E-A4DF4D8A7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524250"/>
            <a:ext cx="30861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事件已到达 ≠ 完整账号列表已经更新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首次读取仍可能是旧集合，直接 dispatch 会把旧事实当成功。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6F3592-D5D7-46F6-864F-8D7F1E1DA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67050"/>
            <a:ext cx="33718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E4BE0E4-AD23-4073-AE3C-FDE16BA7E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813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1B18F75-BCE2-4AB5-979B-CB4BBADB7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1908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误判 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EB515B8-8278-49EF-9C88-A58F2930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524250"/>
            <a:ext cx="30861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1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Handler 返回 success ≠ UI 进程全部刷新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Extension 与 UI 是不同进程，进程内回调和静态变量不能跨边界。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593059D-64A5-4741-BF0F-9592B0C33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67050"/>
            <a:ext cx="33718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63679CA-1EE2-4A9C-8AFE-9A426133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813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67822ED-76F7-43CA-B578-CC7744347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1908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误判 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149C064-61B7-4DF4-83F7-856905650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3524250"/>
            <a:ext cx="30861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页面显示正确 ≠ 系统 policy / rules 已正确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截图只能证明 UI；最终验收还要读取每个账号的系统事实。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5FA72DC-B07B-407E-885B-7A3484675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81550"/>
            <a:ext cx="105346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0E4EBF3-9DFD-48CB-8B50-9F1EBD269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339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本案例真正要交付的不是一个页面，而是一条可证明的状态收敛协议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5150FC3-0E95-4FC1-B8D4-6D1126835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2800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1B1D25F-ED5B-4855-AE80-8FA8E1B02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43525"/>
            <a:ext cx="2686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1 最新账号集合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F86CA2D-7DC1-48C1-994E-13E304A7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334000"/>
            <a:ext cx="2800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14E2EB8-AC38-4244-B524-562774443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343525"/>
            <a:ext cx="2686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2 每账号 policy / rules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147E6EF-ADA6-4DA5-A03D-B04E6DAB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334000"/>
            <a:ext cx="2800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6510F59-27CF-4C4C-A54D-7BA72519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343525"/>
            <a:ext cx="2686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3 本地 intent / deployment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9243310-8909-4DB2-8754-DEDCD1A0D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95950"/>
            <a:ext cx="2800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523741-6119-4A7C-8F5B-2C432204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05475"/>
            <a:ext cx="2686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4 跨进程 UI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2D15C96-48B0-4D7C-9355-342504AB7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695950"/>
            <a:ext cx="2800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9EF9F56-2570-4446-9424-ABEA857A2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705475"/>
            <a:ext cx="2686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5 失败保持与可回滚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2837C61-01A7-4331-A5B5-C4B0F2615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证据：evidence/mdm/account-cross-process-log.md；功能入口：EnterpriseAdminAbility.onAccountAdded/Removed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717D201-27BB-4A4C-A886-F004F4F2D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922EC6F-BF9A-4EEE-BC17-7E84D77A0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0087063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21135A3-80A6-4445-A9E1-29B173EAF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058FF9-CC8D-4529-8F55-FE933C8BF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13DEBE-442C-4766-8113-2563ADD78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先生成六份文档，再允许 AI 写代码：每一阶段都有出口门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A4B7A1-4EC3-4FAB-BD06-EF8AAEB42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这些不是课件占位，而是本案例已经生成、可回读、可审查的真实 Markdown 产物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8F27A5-E938-4F0C-B727-A073909C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9556B7-FFBD-4640-8DE4-F54AE29FB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62075"/>
            <a:ext cx="34861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A1C9D8-3677-4081-BBEA-895E88C2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95425"/>
            <a:ext cx="1257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E9F2FC-94D2-4621-81AA-727BD964C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1 资产同步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47A59B-08D3-4E9F-A872-B48C786FF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01-资产同步与冲突清单.md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6E11A6-F524-4A03-AE5E-5FE31A70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生成内容：来源 / 术语 / 冲突 / 缺口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208493-6457-414B-A81D-A3C1B9BDE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314325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DA8462-620D-4AAC-A644-6A3EC5AB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6860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Gate：关键需求有 ID 和证据路径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EF9880-DC1B-46E4-86C1-064780E16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62075"/>
            <a:ext cx="34861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6E26DA-5E64-4D5B-8B71-167B31F4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495425"/>
            <a:ext cx="1257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32ED1B-1BF6-4D45-B381-35F672A46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504950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2 方案推导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81DF16-DFCC-4373-80FD-B1A7969F2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8669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02-方案推导与决策记录.md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FECC22-B630-47DD-B8F3-8BB2E4B2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288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生成内容：备选方案 / 失败模式 / ADR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121F36-B60C-4318-BD64-220F5373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67000"/>
            <a:ext cx="314325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B02A5E-2E28-4FE2-8A59-095A27B72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6860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Gate：真相源、所有权、失败语义冻结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1FD9DB-1434-4814-AF54-5E8E6E5D3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362075"/>
            <a:ext cx="34861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3BA928-30B5-47EA-9385-1A43BB3D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495425"/>
            <a:ext cx="1257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0DB369-F52A-4831-861C-609CFC8AA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504950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3 架构 RFC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FAD9E9-A825-4940-96AD-132CBD3EE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669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03-防火墙账号同步RFC.md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19939C-40BA-4791-B10D-FD691C277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288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生成内容：范围 / 状态 / 不变量 / API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988963-C16E-4F26-8571-332F9C21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67000"/>
            <a:ext cx="314325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E1300D-9295-4354-AF7C-9B97BF8A3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6860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Gate：Story 不再重新猜架构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D3AF4D-DAEF-44C1-8467-5E1ECB38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43275"/>
            <a:ext cx="34861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841775-B271-4847-A948-DD5F909CB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76625"/>
            <a:ext cx="1257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584388-0478-4E25-B166-FE7F0B80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86150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4 Story 拆分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077CA4-5C2F-4AD1-B895-EB4454B78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481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04-Feature与Story拆解.md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D4CA6A-28D7-4FAE-B987-FB09C1DD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生成内容：依赖 / Worker Packet / oracle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6AE9CA-268B-4CFD-BF71-89C94E71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48200"/>
            <a:ext cx="314325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765C2DC-4919-4DEE-A4E5-C2EE08863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672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Gate：每个 Story 可独立证明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A570DF4-0819-4B56-8367-1C5CB2AFE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43275"/>
            <a:ext cx="34861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C7DBBD5-1EFB-4349-9D2D-B4DF3C1E6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476625"/>
            <a:ext cx="1257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6198EF-AE14-4FC0-B72A-899D2C8AD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86150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5 Ralph 迭代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57A3866-05DC-4D65-BBFF-A6D7C5965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8481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05-Ralph迭代运行账.md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6D236C9-B8F3-4E23-8A3E-6149EABD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2100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生成内容：task / progress / evidence / stop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66586F6-E26D-4B02-B1EE-182330858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648200"/>
            <a:ext cx="314325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A75569A-F997-4CFA-AC90-3C0DA8B75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6672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Gate：每轮有结论、有下一步、有停止条件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06CED77-1552-4140-AAB9-20487B2ED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43275"/>
            <a:ext cx="34861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D0FC7C3-652A-4B82-8112-5EB12866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476625"/>
            <a:ext cx="1257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F8FE90B-9A45-4381-B486-904668D05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86150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6 测试验收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7F2A942-BE9E-4D65-BF8F-25D1D074C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481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06-测试验收报告.md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B9CA345-68BD-4F95-B789-F1F327BD9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100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生成内容：UT / E2E / 设备 / 系统回读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BF23623-1BF1-4E11-B1BA-9602BC30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648200"/>
            <a:ext cx="3143250" cy="2667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CAB866F-43FF-4B16-BA1D-38E77DF2E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6672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Gate：PASS / FAIL / UNKNOWN 分层判定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383277-B95E-4C4C-9ACE-F14003F9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10953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A8789C1-984A-43EA-9DB2-5B37894C8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007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7256D8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7256D8"/>
                </a:solidFill>
                <a:latin typeface="Consolas"/>
                <a:ea typeface="Consolas"/>
                <a:cs typeface="Consolas"/>
              </a:rPr>
              <a:t>case-materials/mdm/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E9DD3C5-ACC7-4108-A37B-ED1B3571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600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01…md  →  02…md  →  03…md  →  04…md  →  05…md  →  06…md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EAF4B9C-46AC-49BA-8C35-DEB38160B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95975"/>
            <a:ext cx="1038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规则：先更新文档，再改代码；下一阶段只引用已经冻结的事实。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4159930-F65A-4F51-8736-E8E4251C4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真实目录：case-materials/mdm/README.md；主稿：harmonyos-sdd-ralph-workshop.md#第9-25页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35F6F0D-86F2-4F56-838B-FAAB9C1BC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3C55A83-23AD-43B3-9E92-C8D99E1B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160617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220BC3B-67C1-4BEE-BABD-1B40B51D5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0251BF-6D41-4AFE-A365-4A341F9D5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073A57-34B2-44DE-95D2-D6D5DBC6F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资产同步不是收集文件，而是把冲突和可信边界暴露出来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C5056C-56F1-4DF1-B308-233D518D1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同一需求在原始 Excel、AI 修正版、PRD 和代码中有四种表达；必须先做证据对照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08DC9D-9F34-4E1D-8956-FF647892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CC3BE1-AB0F-42A8-802B-F62C3DBA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3143250" cy="17526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C3F83D-4292-4ED8-B0CF-9A219FEB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A5A62D-50D5-4AFE-932B-4DF4CBE5D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763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真实输入资产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AA8091-855B-4B19-BE4A-9660B28B3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809750"/>
            <a:ext cx="2857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docs/00-原始输入/信创工具需求清单.xlsx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docs/00-原始输入/…_AI修正版.xlsx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docs/01-UX设计/index.html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docs/02-总体设计/PRD.md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docs/02-总体设计/总体设计RFC.md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docs/03-模块设计/防火墙管理组件设计说明.md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F07DBE-65C0-4E6A-BB4E-53D4967C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352550"/>
            <a:ext cx="7658100" cy="17526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CD1B2A-BC3C-4DCD-9B11-31F4C8CB9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466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真实冲突：Excel 第 4 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E60D4A-A525-44A5-A4F8-9C29EEAC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7335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2E1139-187F-4927-8651-4DFFE865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847850"/>
            <a:ext cx="22479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E9AABA-C776-4111-80B0-52774D693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9621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ECC06A-EDB6-430A-AD48-318F6015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9716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原始需求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A3833D-93A4-43DF-8094-3E613DFF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2305050"/>
            <a:ext cx="196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公共 / 专用 / 自定义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三种缺省配置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4F7F32-068A-4956-8978-EE77F9C5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288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E1760B-221D-40B5-A7C3-60EEB86B6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47850"/>
            <a:ext cx="22479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04E2F1-388F-4FF9-B254-AA2918FB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9621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7BC3D7-6F1E-4B3C-8C0B-CBD153DC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716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AI 修正版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4E9CA3-FA0A-4DB2-A1C5-BC18B517C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305050"/>
            <a:ext cx="1962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把问题改写成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IP / 域名 / DNS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848371-5D10-414C-9622-1BF697215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288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06924E-2983-4618-B9A4-7877B7D4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847850"/>
            <a:ext cx="20764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3786D0-0188-4592-8F67-1D64CE07F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621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50C9D2-D8F5-4826-9483-DDCB58FFB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716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仓库事实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984F87-968E-4A90-9B56-CF63E8DB3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305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两条正交维度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不能互相替代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0DF9DB-93A6-4FEC-80E8-76EBFF19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0"/>
            <a:ext cx="1101090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2C07C7-AF0F-4650-A01E-20B709593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575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AI 需要生成的冲突矩阵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CC08BD-54E4-4CAA-B39D-BAA69D631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2427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450D81-84BF-473B-9F93-54B769DA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671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来源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2ED8D2-92FF-495C-BAEE-E8479BFC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867150"/>
            <a:ext cx="2333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表达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223ED1B-A7ED-4C71-BECE-93AE08331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8671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能证明什么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8DD43B-A596-47D4-AF4F-C90669F7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67150"/>
            <a:ext cx="3219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不能单独决定什么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C0263C9-1DEA-4EC9-B6DD-D5C37E644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29050"/>
            <a:ext cx="190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F0F2612-35D2-431D-9290-D24FC38AF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829050"/>
            <a:ext cx="23336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897B166-A550-4217-9659-440006CF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829050"/>
            <a:ext cx="2571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1880BA0-2B35-46ED-9A4C-A904AD622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29050"/>
            <a:ext cx="3219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205205B-A84A-442A-A5D8-4BDAC1E6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原始 Excel C4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948BD5D-43D1-4AF2-99AF-CEAA669D3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10050"/>
            <a:ext cx="2181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public/private/custom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55265B1-880F-43E7-8D04-9154E463A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210050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产品场景意图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54D67AF-C371-4B30-9C91-083728A48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00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平台接口与失败语义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6E3D34D-C6EF-4B5F-B665-7AC7310E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3390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修正版 C4:E4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081DC46-B44A-4552-9138-A7D1FF8CD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33900"/>
            <a:ext cx="2181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IP/DOMAIN/DNS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2FFA4C6-C7C5-4765-B31B-41EDD25E9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533900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候选平台映射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95289E1-9A71-4959-885A-05F095815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3390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产品取舍是否正确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7344B88-FA54-48E5-B6DE-1820C4504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PRD + 模块设计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122D71A-BB42-4B67-9AEA-F96E1AD16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857750"/>
            <a:ext cx="2181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两条维度并存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1AAA6AE-800B-4281-A729-8F0CBAE16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857750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当前设计决策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0BEE8B8-E4A7-4F0C-8FF4-7D1742C9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577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设备能力是否真实可用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DE2E1BE-782D-4A79-AF93-41BB0CCE1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8160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 + 测试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362C002-D858-4C6F-8268-D5126039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181600"/>
            <a:ext cx="2181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PresetMode + RuleType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E46F32D-EA6E-4098-B64F-C35F26DC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5181600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已实现事实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6278A39-72B5-4FEF-866E-7A58F8A0A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18160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最终系统状态是否正确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812FC7B-51D2-47C6-9A02-3322FB885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0"/>
            <a:ext cx="10668000" cy="4191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515B1C1-476F-4776-916C-A4A70529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91175"/>
            <a:ext cx="1038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63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决策：主模式 public/private/custom；规则类型 IP/DOMAIN/DNS。AI 的专业表述只是候选解释，不是产品决策。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161D89C-328D-450E-9BD7-93675810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生成产物：case-materials/mdm/01-资产同步与冲突清单.md；原始输入：security_tool/docs/00-原始输入/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6BD8798-7428-41A9-8559-C4C1908B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32A6A70-FB82-422C-B432-B84232BE2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4915033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2375122-7A81-4D5C-A5D8-877C30D8F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18EAB5-A159-4ACB-ADE7-2AF87681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7F978F-3CB5-4D15-A0BD-E18AA5AA0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资产阶段的交付物：一张能追到来源、代码和测试的需求卡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DDD30A-3DCE-487B-A0BC-ADB2CE90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这张卡会被 RFC、Story、测试和最终 acceptance 反复引用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C3DDFC-02F3-49C9-8A84-2B759A9DE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93CE7A-CF63-4EC9-9362-32748C515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6858000" cy="44577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EE54A3-37BB-4FE9-A84C-4934B196D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659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01-资产同步与冲突清单.md → requirement card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CD73EB-D758-42FF-89EE-18A3CA09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0561E5-D4CB-4FD3-B4DE-DCEF2C8F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65913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requirement_id: FW-MODE-001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source: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原始需求清单.xlsx!Sheet1:C4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PRD.md#7.2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term: 防火墙主模式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decision: 保留 public/private/custom 产品模式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implementation: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FirewallPage.ets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FirewallModeStrategy.ets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tests: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mode-strategy.test.ets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scripts/e2e/cases/firewall/mode_cards.json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conflict: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source: AI修正版.xlsx!Sheet1:C4:E4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resolution: 规则类型与主模式是两个维度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status: RESOLVED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11475A-18D2-469E-9D71-2E2076222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428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机器可检查的四道门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F88063-9F01-44FF-A5DE-EE6EA840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6954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CC4395-719B-452A-A45D-2C90354E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47850"/>
            <a:ext cx="3829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A1C71B-B159-4998-9551-70B02E82C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81200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20C919-4210-4277-AA99-87199E12B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990725"/>
            <a:ext cx="285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CAF86A-D9CC-43A3-A568-BF88373C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962150"/>
            <a:ext cx="2933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来源有坐标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59B877-98F9-479C-B1D7-41B9FD348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098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不是“PRD 里写过”，而是 Sheet1:C4 / PRD#7.2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67323D-0A72-4762-A4C7-97548B44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781300"/>
            <a:ext cx="3829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3D7970-F852-4B15-AA4F-E96233BD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14650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08442B-8871-448F-838F-FB70C6BF7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924175"/>
            <a:ext cx="285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D6F5E6-4F30-43D4-AEFC-F43F56BC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95600"/>
            <a:ext cx="2933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实现有锚点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A32845-7C61-44A8-BC2C-ADEF2DEE0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432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能跳到 FirewallPage / ModeStrategy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16DA60-63EA-4FC9-AAA4-FFEC8861B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714750"/>
            <a:ext cx="3829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21B50D-2C1F-4C6C-85C6-F99009CA1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48100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91D660-5A86-427A-ABC2-8E143334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57625"/>
            <a:ext cx="285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CBA4D5-4E33-49E3-A130-554BC480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29050"/>
            <a:ext cx="2933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测试有路径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101522-9B7A-461F-809F-1B610988A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767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UT 与 E2E 分别证明哪一层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4DE866B-2BCD-4113-83D5-D349B5E4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648200"/>
            <a:ext cx="3829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9865C5-D550-4D2F-86D3-7B593A7D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81550"/>
            <a:ext cx="4000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1E23ED-1012-498A-BB08-2BF6D96A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791075"/>
            <a:ext cx="285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69DF4D-575C-4BAC-85F7-9FA6B48D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762500"/>
            <a:ext cx="2933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结论不越界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E648E7-7054-4E53-8491-B02272F6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0101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RESOLVED 只表示冲突已决策，不表示设备已验收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22C1437-0FC6-4114-8030-4DE0E3F1B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619750"/>
            <a:ext cx="38290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9152EF-A805-465B-A06C-195ECFC5E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676900"/>
            <a:ext cx="3562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Gate 通过 → 才进入方案推导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5EDEAE0-EDA1-4E7F-9206-1EBC13D3A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真实产物：case-materials/mdm/01-资产同步与冲突清单.md#同步后的需求卡示例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D2CB959-9F11-423C-8E60-334140A68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4D4982A-0D6C-4863-AE89-E464F47D4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834613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9F265F3-3570-4A17-8F1E-2D8C6EBE8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B56B5F-6D08-48EA-9DDB-1B8A12D32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A313C6-7D6E-4B4C-A823-499D8885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方案推导先攻击失败模式，再用 ADR 冻结真相源与职责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50FCE6-CE37-4092-A37C-64053BE6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Feature：系统账号变化后，防火墙系统状态和本地状态收敛到最新账号集合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10EF0F-B3A3-41CA-AB40-E7D90C5F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FF5B6F-A57A-4367-8555-2059D2565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239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四个候选方案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35ED16-FE40-4249-8D9D-A8AE18658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9067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713036-85F6-4CC3-A150-A4400C08D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25908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A4D944-1F37-4600-95FA-CF476AE1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236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 Provider 直接做副作用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330348-AC1D-49AF-B0F2-B0E7FDA12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71700"/>
            <a:ext cx="2324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真相源与业务耦合；其他模块无法复用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512557-8D68-4349-A7D6-48E2F244A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5717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FE8838-C86F-44B6-BD49-70FF43D74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812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A7B28B-0D82-4734-B715-897BAF298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95450"/>
            <a:ext cx="25908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177454-0A27-45C4-86AF-8B544379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809750"/>
            <a:ext cx="236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 直接信事件 ID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91203E-20A3-43BA-85FE-644FC5EF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171700"/>
            <a:ext cx="2324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不是完整集合；删除/并发语义不完整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2002FE-2AD5-4875-BA94-A5ADE9A0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5717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422843-A6C6-48CF-B12F-E154222A7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5812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6284B9-4E85-43AD-8520-485C36DE6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95450"/>
            <a:ext cx="25908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20D5B5-C971-43BA-82EE-5B15602C5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236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 页面重进强刷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CEC6C8-61FC-4F62-8A44-211CE41D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71700"/>
            <a:ext cx="2324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UI 看似更新，后台 policy 仍可能错误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AF8DFF-6640-4471-9AFF-97ADE6B75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5717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EF6187-5157-4DA7-9C06-FB75F5924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5812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607653-D613-4193-A2C1-726F8D81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95450"/>
            <a:ext cx="25908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D9565B-B3E9-4334-A1A5-29109166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809750"/>
            <a:ext cx="2362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207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 Coordinator + Snapshot + Handler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12CBA3-8D4D-45C7-8703-80E10A7C5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171700"/>
            <a:ext cx="2324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真相源单一、可扩展、可测试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A98897-4884-455D-A4AA-CCC71F9ED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5717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501B1D-70AD-426E-8030-B78D32FDC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5812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选择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EA8ED7-A69D-471C-A5D3-80489B32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6191250" cy="280035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78E488-1896-41FC-B2A5-D1C6C461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0"/>
            <a:ext cx="5924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02-方案推导与决策记录.md → ADR-FW-ACCOUNT-001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C2206F-622B-4E6D-AF2B-7A1ACA108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052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95B4BE-9934-4BAA-938C-DA693996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5924550" cy="2247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question: 账号事件后以什么作为同步输入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selected: 稳定的完整账号快照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truth_source: SystemUserProvider.loadAvailableUserIds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trigger: EnterpriseAdminAbility account event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rejected: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直接使用事件 ID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Provider 内执行业务副作用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UI 强刷作为修复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failure_semantics: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empty_or_error: preserve local truth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added_not_visible: bounded retry, then incomplete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A89F15-E4DE-4A95-8CDE-F609D1D74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43250"/>
            <a:ext cx="4552950" cy="131445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061DA7D-4F0F-46B9-8D88-6A7060D3C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57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1C97E1-5253-41B6-BA5A-4C479E9EC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267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冻结后的职责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D28E5C-D11C-4FB6-9CA7-E6CB694A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3600450"/>
            <a:ext cx="4267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25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事件入口：只发触发信号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Provider：只读完整事实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Coordinator：防抖 / 单飞 / 计算差量 / 分发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Handler：执行业务副作用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UI：只消费稳定结果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FA2ED90-614B-4EF5-9377-AAFC4DBA6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629150"/>
            <a:ext cx="4552950" cy="131445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3DC1226-C55E-4F77-875F-86436CD7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7434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404EFA8-E73E-4907-851C-70B48640B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7529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9548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什么证据会让 ADR 重开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02C29E-44E7-49A6-A0DF-2FF8CF035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5086350"/>
            <a:ext cx="4267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同设备上账号 ID 长期不可见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Handler failure 需要自动重试/队列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新模块需要共享账号快照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设备时延不满足 400/200/5 的稳定窗口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FB1AA7-E335-49F0-AF90-04C1EE957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生成产物：case-materials/mdm/02-方案推导与决策记录.md；专项方案：docs/superpowers/plans/2026-07-02-firewall-account-reconcile.md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A2C5ACE-8320-4F7B-9057-617850FE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A72A565-E741-4AFE-A146-C160C9347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6763478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2A7BE3C-E8D9-4A72-84E6-CAD43C09F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29EAFD-B7AF-4294-AC0D-D40100DC7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1420D4-6818-496D-A54D-75306DE73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最小穿刺用同一个断言推翻假设：事件到了，完整账号集合未必已更新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481011-D1B5-481B-8C59-1188479FE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FR-ACC-001：旧账号快照不得提前进入 Handler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382E5F-FF8F-4BF1-A444-53C0A4EA8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B82EEE-3B80-429A-A9C0-0C2FAF3E6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239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旧实现为什么错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72B0DA-FDC5-4FF6-AFC5-620ED4BC5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9067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4747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0D06DB-D78C-408E-9F1B-1F0CCE28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2381250" cy="619125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77BC89-C91A-4A5E-A50F-B38489CE6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71650"/>
            <a:ext cx="2228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onAccountAdded(123)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A96E8D-3975-49EF-A9F6-0F0BD8A9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85737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E28B28-0160-4553-9220-AC90837E7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695450"/>
            <a:ext cx="2381250" cy="619125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CA0F9F-C9AB-4E1D-8086-59510D1B0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71650"/>
            <a:ext cx="2228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首次读取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[100,122]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B6AD23-5784-44E2-AF93-3F8EA533A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85737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3A543F-AC6B-4122-89E7-6897BFEFD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95450"/>
            <a:ext cx="2381250" cy="619125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729194-1C91-478D-88CF-550A6E25C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771650"/>
            <a:ext cx="2228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立即 dispatch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0FABD7-B930-4185-BE45-451474294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5737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118BEC-B209-453E-BBF1-7681DA02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695450"/>
            <a:ext cx="2381250" cy="619125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2ED337-8BE6-4C44-BF0E-9CA8E10C0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71650"/>
            <a:ext cx="2228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123 无 policy / rules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7D2FA1-43C7-4EE4-AFF3-AB6AB3BF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71750"/>
            <a:ext cx="5219700" cy="2333625"/>
          </a:xfrm>
          <a:prstGeom xmlns:a="http://schemas.openxmlformats.org/drawingml/2006/main" prst="roundRect">
            <a:avLst>
              <a:gd name="adj" fmla="val 4898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8199A2-419D-4B6A-9FC5-FBD8F5372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evidence/mdm/t01-red-green.md → RED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0BFB07-F27F-4857-BC28-752D65A17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337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4747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FDFA3F-65E4-430B-BACC-456FC48E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28950"/>
            <a:ext cx="4953000" cy="17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ERROR: Error in should wait until added account appears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before dispatching handlers,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expect 1 equals 2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at account-change-coordinator.test.ets:77:26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BUILD SUCCESSFUL in 16 s 961 ms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HVIGOR_EXIT=0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56405D-B1AE-4446-A84F-AEE4571A3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571750"/>
            <a:ext cx="5600700" cy="2333625"/>
          </a:xfrm>
          <a:prstGeom xmlns:a="http://schemas.openxmlformats.org/drawingml/2006/main" prst="roundRect">
            <a:avLst>
              <a:gd name="adj" fmla="val 4898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2DD9CA-65AF-4A4B-9A1E-D065B934A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6670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最小修复：等待业务条件，而不是固定 sleep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58695A-38F4-48B3-8FD8-0F291357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9337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06227A-C311-4B08-9761-F7BDF5271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28950"/>
            <a:ext cx="5334000" cy="17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loadStableSnapshot(request)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read [100,122]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if source=account-added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AND trigger=123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AND currentIds not contains 123: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 wait 200ms → retry (max 5)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stable=true  → dispatch once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stable=false → handler=0, publish=0, preserve previous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82CDA6-A6FA-47E6-99ED-D3B072910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33718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C7E848-80B3-4E71-89D6-036E65A8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51BB0A-152A-4A32-ACC3-7BAC49F00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48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怎么做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831986-BC94-49C1-B2DE-9875C9C4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581650"/>
            <a:ext cx="3086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最小输入：先旧后新 / 一直旧 / removed；只改 Coordinator 协议。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531E2B-D8B3-4067-88BC-F10D82BA6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124450"/>
            <a:ext cx="337185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6ACB91-D169-4F63-BE8C-A57BCA18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238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ED3B9E5-BCB1-4F58-8642-3D20230E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248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怎么判断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B479FF-55C9-43D9-A242-A22E4D11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581650"/>
            <a:ext cx="3086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看 query / handler / publish 次数，不只看 BUILD SUCCESSFUL 和退出码。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E58BEFE-7B8C-4DF5-B7E2-5EF5E801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124450"/>
            <a:ext cx="38862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31139D0-DA42-44FE-BA35-7AD1A605B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238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26BFCE-D069-4149-9B47-06A529FCE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248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不对怎么办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AD3B5F-E2BB-4F69-93F6-4586B535F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5581650"/>
            <a:ext cx="3600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 若来自编译、SDK 或 mock，不进入实现；先修验证链。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57DCE49-29B9-4DAE-A822-22436AD26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真实运行证据：evidence/mdm/t01-red-green.md；RED 4b372d0d → GREEN c0c1bc9f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7E9126C-D33F-4C66-8CBC-FA9B414C8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906DC7-93ED-4B32-98DA-F3623E581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1440959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B2800EA-7190-45A7-B2A3-BE66D6032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5E3DCE-9FCD-4574-8BBD-7A7851BC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20994C-8615-4F87-A9C4-15785F5E6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把决定写成系统契约：边界、状态、不变量和失败语义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4E1BEF-2DE5-493C-842E-6DF84EC94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下一轮 AI 只能在契约内实现，不能在代码阶段重新选择架构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BDB8E5-A4FD-45E3-9DB9-C7BBC3A8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4F9EF7-5591-4966-8109-63ED48331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572000" cy="4572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DE04F9-5D09-4C22-A922-DBAEC35C1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430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03-防火墙账号同步RFC.md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8DE696-912E-4409-9F02-E2EE34B2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BDA681-622F-4AB1-B605-EEC840EA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4305300" cy="401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范围：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+ 账号新增/删除事件接入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+ 完整集合、signature、added/removed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+ public/private 模式重放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+ custom 默认 policy（不扩历史规则）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+ 删除账号本地清理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+ 稳定事实通知 UI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不包含：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- Provider 内执行业务副作用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- UI 强刷替代同步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- 把 custom 历史 ALL 动态扩展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状态：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pendingRequest / running / previousUserIds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desiredEnabled / lastAppliedMode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lastAppliedUserIdsSignature / intents / deployments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187470-606D-460A-91D3-90B78DBB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RFC 的七条不变量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600059-A2BB-423C-8B1F-4C3EE30A4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87EA86-ED8D-4D8B-AA69-13AE41BA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771650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38E8DA-B521-448C-B502-38F3052AE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81175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C5B0CA-C1E3-4289-A09F-D5CDA6571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771650"/>
            <a:ext cx="53911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42B83A-F5DA-487D-925A-29B603AD3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800225"/>
            <a:ext cx="516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事件只触发，不充当完整真相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DA84DE-7074-4A51-9824-572F1C61B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286000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2A67E6-733D-46D5-A0EE-4DF37CF18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295525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362450-02DA-4AB0-A742-E1BC8D39B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286000"/>
            <a:ext cx="53911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BD6507-8A6B-4171-9947-F5CD53D35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14575"/>
            <a:ext cx="516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新增账号可见后才允许分发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1C9AA9-D8D2-4624-AC1E-B17A4BE65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800350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F4379F-ED68-4ED8-BF4E-7E33F010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809875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F6568D-63AB-44DC-B8DB-CBA6329EB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00350"/>
            <a:ext cx="53911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D2CCFA-EB7B-4EBD-9074-92A03C08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828925"/>
            <a:ext cx="516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空/失败集合不能 prune 或重放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FA9A32-B518-44D1-835B-159641FD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314700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8AD5C5-A1AC-449E-92B2-FC6ABE17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24225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FAD9DA-EFB8-4B1F-A14D-C99EBBE68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14700"/>
            <a:ext cx="53911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B180EE-BD5C-486F-89A0-AB2A6A72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43275"/>
            <a:ext cx="516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public/private 对最新集合生效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12FA8F-8BAE-4334-BBF3-77A2AF8CA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829050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F335A4-BE73-48BA-AAB5-AB05104F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838575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212551-7B2D-4BA3-A012-691FD90B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829050"/>
            <a:ext cx="53911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0A2CC49-A37D-4198-A64F-2194711F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57625"/>
            <a:ext cx="516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custom 不扩历史规则作用域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D04847-FA82-4E43-A911-E53B87FDB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343400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8558FFB-A9CD-4186-8A5D-C4E0721EA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352925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I6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891E73-44C5-4E83-96DA-C6AC41E99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343400"/>
            <a:ext cx="53911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2EC2D90-31BB-47E4-B4AB-5BD09C1F7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371975"/>
            <a:ext cx="516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失败不能保存新 signature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6D2F714-4185-4D92-9A38-F54131DC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857750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67BD83C-AFCE-4799-BFB4-8D5629175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867275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I7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0136D49-7EC0-4C33-9997-AE86B86FF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57750"/>
            <a:ext cx="53911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9907718-6EC2-452C-90A4-C18424FB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886325"/>
            <a:ext cx="516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UI 只消费稳定结果，不承担修复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486F0E-A105-4B8B-BDB2-723A121F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5543550"/>
            <a:ext cx="601980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0761F43-AFC7-4524-AF02-8F700E255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600700"/>
            <a:ext cx="5753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41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审阅发现：I6 在当前实现中仍有原子提交与 rollback 缺口 → 生成后续 Story，而不是假装 RFC 已实现。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25EC2A3-A1F9-4EAB-9E11-83137190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真实产物：case-materials/mdm/03-防火墙账号同步RFC.md；项目契约：security_tool/docs/03-模块设计/防火墙管理组件设计说明.md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DC0AD9B-7FB1-4B54-9E3B-6EB22F5A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35DC4A1-4A1E-41E1-9A2E-8F4CF0B4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14542302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78489E3-721F-4DA8-96A2-12E1D12E5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819860-1084-4504-95A7-BCECDBAC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8440EC-80F8-4FDF-AFC8-EA95FBD4A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 RFC 映射到真实文件：现场沿调用链走到 netFirewall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F1D78F-9CF2-4EA5-B71E-D7F362703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后台业务闭环负责状态收敛；前台跨进程闭环只负责消费稳定事实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673CAE-656C-4F49-A944-7D044DED2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20CBA8-C1E6-4C3F-B843-511A26438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239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后台业务闭环（Extension 进程）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2C54F5-D395-4BEC-A51C-E05278C11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90675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A87A67-49F5-4A0F-9705-3F02BD8DB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16573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54E9F7-43A2-4D8F-A730-CFCF2542A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771650"/>
            <a:ext cx="1524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EnterpriseAdminAbility.ets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761E74-F326-4131-9F54-73E98E99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onAccountAdded / Removed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5A93CD-2DCC-4AD2-9CC3-EB84BFAC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943100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50C189-06AE-451D-9D81-C0D29BA8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695450"/>
            <a:ext cx="16573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5010A6-2DB7-4C29-9D55-E8C05AF89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771650"/>
            <a:ext cx="1524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30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AccountChangeCoordinator.ets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2AFD2C-CE01-40D6-87D5-6B59894C0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0859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schedule → runPending → loadStableSnapshot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57533D-4F06-409E-9978-0F3189E5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943100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9374FF-838F-405F-9E98-59E456482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695450"/>
            <a:ext cx="16573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909746-1550-4662-9F3B-49D8FD5BE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1771650"/>
            <a:ext cx="1524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SystemUserProvider.ets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8915A9-5557-44D1-B3F8-6EE19A130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859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getOsAccountLocalIds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0DB7F6-F58E-4B17-A04B-2D4F4502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943100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359B68-8EBA-4B08-AAEA-5F7ACB39D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695450"/>
            <a:ext cx="16573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C2D41C-4848-4EA0-8172-D02100B3D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771650"/>
            <a:ext cx="1524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30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FirewallAccountChangeHandler.ets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742C29-05E9-426E-A4C7-7DF5FD4FA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859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prune → custom / public / private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51F2FA-570F-4348-9B49-B5FA9899F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43100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276215-F10D-4832-B411-C3510C3CF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695450"/>
            <a:ext cx="16573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06C088-5B76-41D8-9368-6C1BB3D8B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1771650"/>
            <a:ext cx="1524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30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FirewallModeSwitchService.ets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5DB0E6-3AB7-4065-BEF8-9180831E3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859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snapshot → clear → policy → rules → rollback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0E3C1D-511D-4CCB-8399-4F10E583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43100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24FBEE-3719-4345-AA89-0FE4BA63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695450"/>
            <a:ext cx="165735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09D193-2E9C-4A93-AEFC-F6A36EE6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771650"/>
            <a:ext cx="1524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30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FirewallSystemRepository.ets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40B5CA4-FAFD-4CE9-BD3F-235B4E4BB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0859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get/set policy · list/add/remove rules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5C861EA-391A-492B-9337-F7CDEDBC9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47950"/>
            <a:ext cx="10896600" cy="381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7BC44D-B737-40EC-AAFC-C140BF34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0591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248C82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248C82"/>
                </a:solidFill>
                <a:latin typeface="Consolas"/>
                <a:ea typeface="Consolas"/>
                <a:cs typeface="Consolas"/>
              </a:rPr>
              <a:t>系统 API：getNetFirewallPolicy → setNetFirewallPolicy → getNetFirewallRules → remove/addNetFirewallRule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3001008-F177-4717-99D3-B940236F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前台 UI 闭环（UI 进程）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F8A0D7-4686-4CBD-9FE7-52C742436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052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0BA82B3-6243-42CC-88DC-3F61C289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8550"/>
            <a:ext cx="19240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2EA8EF6-8463-4B6B-A9B5-B45500922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2427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AccountChangeEventBus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7AF236B-54D3-4254-8B73-5B320EB00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publishSnapshot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D623B89-5D38-4EC4-85D4-EACE907A9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81952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DB0E840-C427-4C72-912D-A34C42367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638550"/>
            <a:ext cx="19240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9C769FA-50BC-4706-AFF4-65022B3F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72427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commonEventManager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5840B3E-B3DC-4A8D-A6E9-F5819C092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000500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跨进程 publish / subscribe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7D01C07-C131-4C61-960C-C23DBA28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81952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5B13F65-E209-49EF-B56E-C009573F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638550"/>
            <a:ext cx="19240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FF49E23-502A-404D-ABA3-95E50FEB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2427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AccountRuntimeService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20D69FB-3C09-497A-AE05-2124637C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000500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收到 signature / source / trigger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8302BB3-8B01-4C57-9C49-8492AC71C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81952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935A699-655A-4958-B1F5-AC227F7E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638550"/>
            <a:ext cx="19240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661E03A-913D-4B79-86ED-7348571B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72427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769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ApplicationRuntimeManager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AA916B6-494D-4CB2-82A4-5D4722FD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00500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刷新 overview / rules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95BC914-930A-4ED1-93FE-FA23427CA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819525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90B089A-B3BC-42BA-91A1-A27DEFBD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638550"/>
            <a:ext cx="19240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D8752A4-CB4F-4D26-A535-FB4599511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724275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FirewallRulesViewModel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DD046F5-C320-4165-8B63-8767FD74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00500"/>
            <a:ext cx="1771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重读 users / policy / rules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5723B9A-3288-4C74-926D-FD05BB48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字段所有权与写入门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61E3CA6-D52D-4308-9219-EEB5143EB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95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9D87833-5B2E-4B20-AEB3-3F46F8E9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0150"/>
            <a:ext cx="2571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7BE9512-D1A8-4FFD-B4E9-856B77B42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244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AC79962-BF3B-40E3-B2AA-EBE319F7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339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Coordinator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34BBD38-8BBB-4A81-B706-2515F3AD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467350"/>
            <a:ext cx="228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previousUserIds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快照稳定后、Handler 分发前更新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58DCCE4-A2A0-4957-821F-EA42F2D65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010150"/>
            <a:ext cx="2571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8D40BF5-4D30-4FE8-95D2-EC742CFB6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244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7F693B2-7185-496C-84E2-65758DFCF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1339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LocalRepository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C2648CB-FB52-4A4D-AAAB-6833D0C03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5467350"/>
            <a:ext cx="228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desiredEnabled / lastAppliedMode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业务成功后写入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E43B1A2-CCC9-4EF2-B377-759C4189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010150"/>
            <a:ext cx="2571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2079767-75D2-4B4C-943A-29ADF44E2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1244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02FABB2-0274-4F78-A244-7F5EEA50F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1339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签名门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93FADCB-122A-43DB-A6EF-BA4915073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467350"/>
            <a:ext cx="228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lastAppliedUserIdsSignature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整体成功后才允许更新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07AEAE8-88EB-4F78-8C67-FD552A497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010150"/>
            <a:ext cx="26670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C13BF18-CF7E-4613-92E7-406A382B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1244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5AD3CF6-32D3-47B0-B7DB-0D1B348A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1339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UI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14B3B44-33C5-483E-AE4D-A20266026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467350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userOptions / display model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只消费，不修复后台状态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2F6A52A-4113-44BA-9C74-8E36D950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代码级证据：case-materials/mdm/08-代码级调用链与课堂穿刺.md；真实代码：security_tool/entry/src/main/ets/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5F7807B-BDE2-42DE-AE06-129ADFA1D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F6DCAF5-CB2A-4D68-96AA-58D3097F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496989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1FA14F9-8E91-420D-B6B4-F644273B5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F7243E-20A9-49D3-8F02-641496EAD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C1DAFA-B8F7-458E-B3D7-E75853C58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Story 按“可独立证明的能力”拆分，验收点直接写成 oracle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869A5-51EF-4A1F-811C-56EA3202E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拆分边界跟着状态和职责走，不跟着页面或文件数量走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3A57FF-1B6F-4AE7-A466-A989877D8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DE284F-773C-4BCA-A4D6-976887F8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3467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F03EE1-F59E-4604-BA75-0E15ECC2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3525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CBB3A9-DA4A-4A2A-A02E-B12AEFF8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716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S1 事实源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1DCB69-6E26-43D3-9992-C97CD4034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716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代码锚点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CAACA5-B201-4BCA-98F9-2F353ABA8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195262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loadAvailableUserIds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21049C-65ED-422C-8535-A8752827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05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独立 oracle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5D6989-6785-4E0E-B1D4-B39E609D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2266950"/>
            <a:ext cx="22860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CAEA98-2653-4388-AFFF-C80D7E3DC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32410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去重 / 排序 / 失败态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4E34A0-7E47-4C65-8DD4-8279139AC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428750"/>
            <a:ext cx="3467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515F03-0417-41DF-9C8B-E5F0CA237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562100"/>
            <a:ext cx="13525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F546C3-F305-4360-856D-9D576218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5716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S2 本地清理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3DF4CE-8BD4-4B81-87DC-EDD3F9776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716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代码锚点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BB07A4-9775-42AC-8528-17720A98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95262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pruneUnavailableUsers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9C1005-7F90-4434-8E03-F9C74A39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05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独立 oracle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24477D-C96D-4F6F-A53C-10591DFDA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266950"/>
            <a:ext cx="22860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9DE28C-62DD-4F81-88E1-707173F0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32410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23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intent / deployment / history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1B48E7-6D24-4D94-95BD-FBB57FAA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428750"/>
            <a:ext cx="3467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900F2D-0FB6-4D83-BF36-B3559AA2A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562100"/>
            <a:ext cx="13525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D6DF8B-878B-4A2A-AE9E-FB1D99F22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7162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S3 协调器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BE9C03-48D8-43FF-8904-1FA94D16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716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代码锚点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68624C-3753-4E03-B8E6-5FB82E3B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195262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schedule / dispatchHandlers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EDB284-7F12-4D29-B27A-EB029AA7D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305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独立 oracle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0EFB5B-1B95-4320-8E0B-D586F8581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266950"/>
            <a:ext cx="22860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8B639A-F10F-4E77-B158-D5E1DC5F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2410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23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防抖 / 串行 / 失败汇总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AD85AE-EB68-4382-A464-615FA72C6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3467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8F5A68-D471-45A4-83F6-1FC916A3D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13525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997EE5-F786-4511-9818-CEAC89DD2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813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S4 跨进程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B9E52D-770C-479D-9A0D-7EB576B0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814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代码锚点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F79A702-DC3F-459B-B06D-CF0854CA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376237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publishSnapshot / subscribe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3FDF4B2-BD57-466A-94AC-252EC12A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1480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独立 oracle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19A490D-5133-485D-8D63-E1F5ED7A7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" y="4076700"/>
            <a:ext cx="22860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ABE3A22-92E3-42A3-B7B4-6A2A6E51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13385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2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只消费一条稳定事实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A724DB1-1B1D-4F72-8C55-945CD9F0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238500"/>
            <a:ext cx="3467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A48E283-6673-49D5-ADD4-CCE2EC4B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71850"/>
            <a:ext cx="13525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14C1D53-E715-43C8-A2F0-AA0C5814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813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S5 稳定快照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4CED5AD-1A42-47EA-8359-BEA5B3C44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814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代码锚点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5E06CB0-4789-446F-BFA3-F263AEC60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6237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loadStableSnapshot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6C04CDB-7FE6-4D76-A4CB-E59126864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11480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独立 oracle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4EA7D56-2666-4F68-89C9-3F7C9EE3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076700"/>
            <a:ext cx="22860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BF9347D-4E06-4A93-A6FB-ECF9F2FAF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13385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23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old→new / never-visible / removed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4DB9E37-1018-4129-9D24-37DA1E51B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238500"/>
            <a:ext cx="3467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EB1969E-718A-4300-8093-9722CFCB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71850"/>
            <a:ext cx="13525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23A6231-B99D-4391-B955-48ACD082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81375"/>
            <a:ext cx="123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S6 custom 签名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ECA8135-DA7C-40F2-AEB7-630530AA9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7814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代码锚点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5826119-EF6A-4EF6-BED9-BBB9E23E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376237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applyPolicy + saveApplyState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A244E6C-9BBE-4910-A2DE-8A01BDD7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11480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独立 oracle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98BCF1C-B0B3-43A7-ABE0-7B805AF0B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4076700"/>
            <a:ext cx="22860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EFC741A-D3A9-4BB6-9E28-28050B241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13385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2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不扩旧规则 / 保存失败=false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9E62658-D0A9-40E9-8945-C6358FB6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81600"/>
            <a:ext cx="108966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BB339DD-C97B-4FD8-844E-C2F66AE34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1495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3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Reviewer 只把真实缺口拆成下一轮候选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40DD064-C0A0-4FED-B4ED-19A93D910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0"/>
            <a:ext cx="1036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S7 apply-state 原子性   ·   S8 真机 policy/rules readback   ·   S9 Handler 失败重试与 UI 可见性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F8499F8-84CF-4C28-BCB0-E3ECE245E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真实产物：case-materials/mdm/04-Feature与Story拆解.md；依赖与提交映射来自 security_tool Git 历史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26559C4-CF7E-470C-9C63-15C41E7E6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9BC56DA-D9BC-4B93-99CC-3CD6A2105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85351648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3AB8A8-1EB7-48C7-A9B3-0C55956E1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A0EA24-01E3-4B0D-A0F9-B4732213F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D4DD8D-DC1A-4B62-8E8B-6AE0E64E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Worker Packet 让新 Session 无需重读全仓：只拿本 Story 的范围、AC 与停止条件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CF956C-21EC-46B6-A0A3-2D367B2D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示例：S5 稳定快照协议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114D70-224C-41B0-87AE-618C712E6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BFC3AE-7778-4972-92BB-42EF82FB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6705600" cy="4667250"/>
          </a:xfrm>
          <a:prstGeom xmlns:a="http://schemas.openxmlformats.org/drawingml/2006/main" prst="roundRect">
            <a:avLst>
              <a:gd name="adj" fmla="val 2449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D68AE8-3E7F-45DE-ACC4-B3B91FEA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643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04-Feature与Story拆解.md → S5 Worker Packet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F498F4-BE92-4F73-823D-33E2CCE5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017E6B-5177-4925-8FBF-341E46BF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6438900" cy="411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story_id: FW-ACCOUNT-S5-STABLE-SNAPSHOT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goal: 只分发包含 triggerAccountId 的稳定快照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allowed_paths: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防火墙模块设计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AccountChangeCoordinator.ets::loadStableSnapshot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account-change-coordinator.test.ets::old→new/never-visible/removed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forbidden: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FirewallPage.ets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Provider 内业务副作用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acceptance: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old_then_new: query=2, handler=1, publish=1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never_visible: query=6, handler=0, publish=0, success=false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removed: query=1, handler=1, publish=1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stop: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repeated_failure_without_new_evidence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need_to_modify_forbidden_path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C4BCEB-0500-4509-8589-F1C23801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4287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课堂现场怎么用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88E30F-1294-4A4B-8069-3AADB4467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6954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12E67B-77F7-48CD-8B7E-0B393EB4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09750"/>
            <a:ext cx="39624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9A3D8A-E566-496B-B997-50DF9E39D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9240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8AED95-4668-4B5B-B995-27523B4AB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9335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1 Read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7C73C1-EE24-478C-8D57-44E8A87F8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266950"/>
            <a:ext cx="3676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只读 requirement / current evidence / allowed paths；先复述目标和禁止项。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86460F-F745-44D4-8BB7-2246721A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28950"/>
            <a:ext cx="39624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1DBD8B-A2F6-4FDB-90C9-56C321E9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1432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BA4C98-5243-4B32-B5AF-7F83A819D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1527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2 RED First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76C2AA-5C41-4A7F-82B5-6823ADD07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486150"/>
            <a:ext cx="3676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先让 old→new 在旧实现上失败；确认失败来自 query 次数和提前 dispatch。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7486AF-3771-4C3F-BE1C-FECE04AF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248150"/>
            <a:ext cx="39624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939412-4C51-4C46-A996-32C07D8C6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3624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C9916A-7137-4F22-B1AD-9D317E8BF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719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3 Verify + Stop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B87109-DDDA-4CF7-84D2-2AE0D0D2D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705350"/>
            <a:ext cx="3676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同一用例 GREEN；若必须改 forbidden path，返回 NEEDS_REPLAN，不扩大范围。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9DCD80-46F0-4766-B31E-027997080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467350"/>
            <a:ext cx="3962400" cy="571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394F26-227C-4D48-8C9E-05BFC874F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543550"/>
            <a:ext cx="3695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13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判断 Packet 是否合格：新 Session 能否不问上下文就开始，并知道何时停。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39B8FA-063E-4A99-8075-C8196539E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模板来源：主稿附录 D1 Task Card；真实示例：case-materials/mdm/04-Feature与Story拆解.md#Worker-Packet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FC5B3E-B8D4-4E9E-975F-838E6DFAD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DEF5F8-9FE5-4439-91E6-65E904E9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24118884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1D864B-9D00-404B-879A-5E25174A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A629B5-4600-40A8-993B-DCABEFFBE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9F755F-CDCB-4AC9-9F6D-77E8584E4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Ralph 的外部记忆不是聊天记录，而是 task / progress / evidence 三个可回读文件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5A2A57-295A-4E73-AE14-8ED20ABAF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一个 Story 一轮一轮收敛；每轮都必须写回结论和下一步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AFDC54-CDD0-425F-AE88-AFE0C2385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4BD0A3-4BD4-4166-A5E5-4D4CB5E54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81125"/>
            <a:ext cx="18097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D626E5-5EE5-4C49-AA84-E27359B1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 Task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1C8C33-155C-49C1-8506-B20DFC7F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15049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C6D863-2A06-4DA4-898F-18F94ABA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381125"/>
            <a:ext cx="18097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78ADA3-45BC-4DF2-8DC8-75DD16F1D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466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制造 RED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341222-D64D-4059-BA0E-40D39A8EC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5049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48D8E2-4DFF-4C67-BA4D-65EA85DC5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81125"/>
            <a:ext cx="18097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FC333F-81B2-4A77-8266-F112A0C02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466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0DFF4F-EFE8-44B1-97BB-35D30EC13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15049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A98F8F-32CA-4D00-B2AE-69DEC3CC4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381125"/>
            <a:ext cx="18097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42F994-012C-4A23-A20C-7F81591C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466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验证 / 审阅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A90D5E-7A07-4664-9D1D-30789AE39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5049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83704B-0B0E-48F0-8255-B406178A6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381125"/>
            <a:ext cx="18097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C301EA-7140-4059-B51B-FA40C5C4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466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写回 progress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9C7F20-5CDB-4180-90E8-FA3CC4FDA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38375"/>
            <a:ext cx="34671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1F14DA-A337-44F5-B55C-74A5BE363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52675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FFB941-6D1C-4CB2-A77C-C67852BE3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task.md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6B867D-F1A8-4D8C-AB46-69F60492B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695575"/>
            <a:ext cx="3181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目标 / allowed / forbidden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6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acceptance / stop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487F95-D5DF-42AA-BBE4-73CCF171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38375"/>
            <a:ext cx="34671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2D4015-B605-4072-A400-58657842F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52675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F13E65-5280-463D-A7E6-42D4475E1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62200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progress.md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572B03-5C3C-43D4-82F3-5AE15C124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695575"/>
            <a:ext cx="3181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本轮动作 / 命令 / 结果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6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发现 / 下一任务 / 状态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A592A5-9119-497A-9ECE-7C085FCF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238375"/>
            <a:ext cx="34671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130E88-C65A-40A5-98D1-49FD4EF22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52675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B12251-E236-42CF-97B7-9BC3DF4B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62200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evidence/*.md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365885-D050-4606-BDFD-E385CF4D0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695575"/>
            <a:ext cx="3181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RED / GREEN / 日志 / Diff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6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证据边界与可复核路径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5F9A124-BE48-40E1-93C5-4759EA427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86200"/>
            <a:ext cx="69913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DD61D19-3024-4564-BE0E-C2DBEEA7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672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05-Ralph迭代运行账.md → progress 片段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B932C5-01D2-48B1-B811-6C0EA82C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E2B0E3B-7C9C-4C7D-8BE2-57FA2AECF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43400"/>
            <a:ext cx="67246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round: R7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story: FW-ACCOUNT-S5-STABLE-SNAPSHOT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input: R6 文档契约 + RED 基线 4b372d0d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 loadStableSnapshot + bounded retry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verify: old→new / never-visible / removed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PASS (same behavior test)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evidence: evidence/mdm/t01-red-green.md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next: custom signature semantics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stop_reason: story acceptance satisfied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39ABDB-89D7-4539-83FD-0CA280A42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886200"/>
            <a:ext cx="37528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B180793-E161-4C14-8B4D-0B60A27E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005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8EC7B97-B3F5-4DC8-9672-1598EBA5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100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什么时候继续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2BF0DF4-602A-461E-A91D-2DD74C586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4343400"/>
            <a:ext cx="3467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有新证据；当前失败仍在 allowed scope；下一次动作可推翻假设。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F70DAF8-BC03-4213-A4AC-9C3DEE729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010150"/>
            <a:ext cx="37528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453F691-D320-4955-B221-BC9DCA84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1244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16BCD6C-DC34-420A-BC6D-DE2BBBB9B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1339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什么时候停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7636AB0-3AAC-49A5-B857-8BC2DC73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5467350"/>
            <a:ext cx="3467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同一失败重复且无新证据；需要越界改文件；设备事实不可见 → UNKNOWN。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F8E0AA-8566-4306-8EBD-ACD612D22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真实产物：case-materials/mdm/05-Ralph迭代运行账.md；模板：主稿附录 D Task Card / Progress Ledger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E8AB797-727E-4149-BB8C-5D29B032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CD03017-6E6D-4040-ABB8-6D2DD0DA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7380038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E96955-CFDA-4BAB-BFD9-7B9388B74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18CA00-33C0-4B0A-AF99-38BD960F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F49251-6F20-48B5-9E9D-F37CF876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一轮真实 RED → GREEN：同一个断言证明旧快照不会提前进入 Handler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469F4A-4856-40EA-9C56-8840CB17E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文档契约先落为反例测试，再做最小实现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D32FB0-C0C4-4E9A-9696-F370D275E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D86F08-8AEF-427C-8937-2E4E645D7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3333750" cy="339090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46B017-FD1F-4E83-A9DC-01628070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85900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RED @ 4b372d0d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D758B0-DB36-405B-B741-B50EBF48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4747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C10866-16EA-4864-B3C0-511AE4F12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306705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输入：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read #1 = [100,122]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read #2 = [100,122,123]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期望：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query=2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handler=1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signature=100,122,123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真实：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expect 1 equals 2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旧实现第一次读取就 dispatch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注意：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BUILD SUCCESSFUL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HVIGOR_EXIT=0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A74AA9-4CBB-43C8-A737-7CB41FBC0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390650"/>
            <a:ext cx="3333750" cy="339090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C03826-205E-4B2A-9271-85E125E68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485900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MINIMAL DIFF @ c0c1bc9f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20A2ED-258C-4922-AA5F-66544C11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7526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568627-5ABD-4E8E-8C44-E51D5A8A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847850"/>
            <a:ext cx="306705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runOnce(request)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result = loadStableSnapshot(request)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if !result.stable: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return false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loadStableSnapshot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while added ID not visible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and attempt &lt;= 5: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delay 200ms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reread full set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只改：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Coordinator + 对应 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F2722B-CE57-4F83-847F-D4A3FC6EB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390650"/>
            <a:ext cx="3886200" cy="339090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D2242F-A241-45FD-A0AC-3E0445694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4859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GREEN @ c0c1bc9f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D4A048-FB5F-4B79-A497-01A0E1ED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6CE278-10C5-4A12-86BE-2266F34F9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847850"/>
            <a:ext cx="36195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class=AccountChangeCoordinator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test=should wait until added account appears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before dispatching handlers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result=Success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同一目标断言不再失败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query=2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handler=1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publish=1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独立 GAP：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00507008 getInitCoverageData failed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不随修复消失，不属于本 Story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8E30C0-F650-499A-99DF-89613A63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0150"/>
            <a:ext cx="33718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74F977-1310-4026-B859-43DA01DD3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244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FE8EE0-30B2-4164-A323-27493C9CE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339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怎么判断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FFBA9D-D945-40B6-A01A-1202A8D13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467350"/>
            <a:ext cx="3086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 与需求同源；GREEN 检查同一用例；构建、测试、覆盖率分开判定。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C65338-D621-4AE2-88FF-4A7AA5C7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010150"/>
            <a:ext cx="33718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CB7BFC-A438-424A-8137-D47DC7410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1244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91BF88-C1A7-4CC7-9432-4A2A67E4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1339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证据输出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4C9495-7652-41D5-9F93-1B65AAFF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467350"/>
            <a:ext cx="3086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commit + test name + input sequence + 计数 oracle + 原始错误文本。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64E8CC-8641-42EC-AFF6-D48A4CD1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10150"/>
            <a:ext cx="38862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9F9BB8-2BEA-4AA1-8F1A-BFC7E34F1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244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8B1B62-D181-4745-8AD4-60222C0EF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1339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不对怎么办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AB3848D-674B-4867-A052-07D3975D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5467350"/>
            <a:ext cx="3600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274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若 RED 是 import/SDK/mock/编译错误，先修验证环境，不能推动生产代码。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C62328-6BD1-49BE-AFDF-DD88BCC5B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真实证据：evidence/mdm/t01-red-green.md；命令：hvigorw test --mode module -p product=default -p module=entry@default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4C8678-7D48-47B4-AE62-AB003F05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0C9FB0-2771-40F3-B4D3-9CC4CC61F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30049581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3F39FAE-79D2-4898-9B9B-76FED06B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2833A4-1502-4113-A7F8-F9BB532D9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DA5D8F-392B-4DA0-A03D-DAC619A2D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九轮提交不是进度清单，而是一条因果链：每轮暴露下一层未知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9B5C40-F537-410B-B1D7-CC97E61E1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 Git 历史从“能读账号”逐步收敛到“稳定快照 + 跨进程消费”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48968B-681A-4169-876E-DADC81A5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7E1D85-E0DB-4080-A656-349EC8ACC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3467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A6ADA1-5BFA-4F15-BDFE-B8919D4AB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95425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300CAE-B9D8-4A18-BD1A-1554BEC6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5C75B1-6DD2-4A9C-8A9B-5B9F460B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4954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2878D0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2878D0"/>
                </a:solidFill>
                <a:latin typeface="Consolas"/>
                <a:ea typeface="Consolas"/>
                <a:cs typeface="Consolas"/>
              </a:rPr>
              <a:t>9ea957d2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5816A7-F804-4AFF-9F81-16FBC912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账号枚举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04A002-D421-4222-8ECD-0A7C466A6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05025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暴露：缺事件同步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73854B-14AC-4E7D-B63C-664BFD290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81125"/>
            <a:ext cx="3467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0AB726-BBDC-495A-946C-0650846B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495425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069AB0-708E-4DDC-8E5B-C7E77BF36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50495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CEFE56-93A4-4875-820F-1340D3CB3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4954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2878D0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2878D0"/>
                </a:solidFill>
                <a:latin typeface="Consolas"/>
                <a:ea typeface="Consolas"/>
                <a:cs typeface="Consolas"/>
              </a:rPr>
              <a:t>09209bb9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57B3CF-8B92-4962-A920-DDCB812A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82880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本地清理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300BEC-CB54-474A-A6FB-D2244671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105025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暴露：缺协调入口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365B98-388C-4745-80DF-AA138389D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81125"/>
            <a:ext cx="3467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E7FCFF-BF44-4E7D-8184-D89725291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95425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F5BF54-D208-432E-B991-771C7F83A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0495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124F64-1F0E-4CBB-9D1C-9649AF203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4954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2878D0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2878D0"/>
                </a:solidFill>
                <a:latin typeface="Consolas"/>
                <a:ea typeface="Consolas"/>
                <a:cs typeface="Consolas"/>
              </a:rPr>
              <a:t>94ff17e7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902C74-D38D-45B1-B347-68C883090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82880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Coordinator/Handler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7091F4-9538-41D1-9284-C747A353B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05025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暴露：跨进程不完整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9A850C-CA22-4FAB-920B-A18945BB3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76525"/>
            <a:ext cx="3467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E284C2-0D10-418A-BB32-E0F70D872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90825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F3ECCE-4162-460F-8628-882198A7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27B3D4-9D49-4317-86E7-CCF4A5E4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908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2878D0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2878D0"/>
                </a:solidFill>
                <a:latin typeface="Consolas"/>
                <a:ea typeface="Consolas"/>
                <a:cs typeface="Consolas"/>
              </a:rPr>
              <a:t>53751b2e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37F799-AE8E-4AB5-A5AB-BC3B4766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2420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发布账号事实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81992D-B0E9-451F-93FF-172F9E41D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0425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暴露：规则未收敛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BBDD1B-C4ED-46F3-B544-E05EC0C09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676525"/>
            <a:ext cx="3467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E4C638-C009-4489-A22B-7EC30A982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90825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29D84DD-2EFF-4261-BDB3-39A1415A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0035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85B84E1-9B27-4B4F-BDCE-0D15BA08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908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E7644A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E7644A"/>
                </a:solidFill>
                <a:latin typeface="Consolas"/>
                <a:ea typeface="Consolas"/>
                <a:cs typeface="Consolas"/>
              </a:rPr>
              <a:t>586880a3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0AF9FD5-01A3-4023-A189-0A545C35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2420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规则 reconcile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75D444B-642F-40AB-AE46-2073B838E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00425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暴露：发现时序窗口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2A09F67-2D00-4204-9C89-A3DCBB17E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76525"/>
            <a:ext cx="3467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95EF0FD-90A2-4E36-B8CD-455753806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90825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0E996D1-75D5-4D2D-BBDF-C29F7EE3E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80035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62F6267-9362-4955-A01D-2923B13A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7908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7256D8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7256D8"/>
                </a:solidFill>
                <a:latin typeface="Consolas"/>
                <a:ea typeface="Consolas"/>
                <a:cs typeface="Consolas"/>
              </a:rPr>
              <a:t>4b372d0d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6F130A0-C0B4-43E3-9B11-FA97647B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12420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先写稳定快照契约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632639-DDAD-421E-8550-8D2EBD9D8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00425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暴露：等待实现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B56432E-67BA-40FF-ABF5-A3D8B348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71925"/>
            <a:ext cx="3467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4CD9B6C-6A3B-4004-AD02-B5280BAA7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86225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A7FC947-857F-4878-9DB1-A8F12AC3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R7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C8CFED2-B9DC-4F5E-9561-6E26F4A9E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0862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258A58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258A58"/>
                </a:solidFill>
                <a:latin typeface="Consolas"/>
                <a:ea typeface="Consolas"/>
                <a:cs typeface="Consolas"/>
              </a:rPr>
              <a:t>c0c1bc9f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E4BB062-C27B-4A29-834A-5DF298540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等待 ID 可见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545A470-E995-4C8C-8448-047F969A7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95825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暴露：custom 签名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96DE985-6C6E-4A41-8BEE-5AAEDC8E5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971925"/>
            <a:ext cx="3467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CA692FF-8FAF-4290-8A9F-33F3A1EA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86225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6E37740-9299-4B4D-8000-57CA8EAA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9575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R8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FF9F613-F58F-4191-B7B4-DDCA90D3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0862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2878D0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2878D0"/>
                </a:solidFill>
                <a:latin typeface="Consolas"/>
                <a:ea typeface="Consolas"/>
                <a:cs typeface="Consolas"/>
              </a:rPr>
              <a:t>9c7fb186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1F07EEA-A2B5-4496-801E-05C8E9E9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1960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保存 custom 签名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C07040E-EA4C-455B-AA28-0842F4356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695825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暴露：运行时职责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590BFF6-FDE9-437A-9225-CD47BEB2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971925"/>
            <a:ext cx="3467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3B2C751-E897-4415-9A4D-49505A3F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86225"/>
            <a:ext cx="514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FF99ED1-E823-46BA-A43C-F48D810B2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700CA21-CC06-490D-B3A9-B6DAAC2E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86225"/>
            <a:ext cx="104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2878D0"/>
                </a:solidFill>
                <a:latin typeface="Consolas"/>
                <a:ea typeface="Consolas"/>
                <a:cs typeface="Consolas"/>
              </a:defRPr>
            </a:pPr>
            <a:r>
              <a:rPr sz="1013" b="1">
                <a:solidFill>
                  <a:srgbClr val="2878D0"/>
                </a:solidFill>
                <a:latin typeface="Consolas"/>
                <a:ea typeface="Consolas"/>
                <a:cs typeface="Consolas"/>
              </a:rPr>
              <a:t>cecf6d17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80A067B-94AD-4570-8BFA-C9D71FC1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19600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RuntimeManager 收口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F6FD8D5-9269-48E0-A6E6-D40580688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695825"/>
            <a:ext cx="316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暴露：整体验收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6D5BA44-ED13-4E2E-8E1C-B22FA2619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089660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733EC1D-5ADA-4569-9C29-F8FEE1598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1497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关键因果链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17F89AC-0419-41AE-827A-D9D70ECC4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486400"/>
            <a:ext cx="9353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R5 发现新增账号时序窗口  →  R6 先写文档契约与 RED  →  R7 最小实现 + GREEN  →  R8/R9 继续收敛边界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05B2C54-AE86-42B2-94C5-2731859C1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 Git：security_tool commits 9ea957d2…cecf6d17；整理产物：case-materials/mdm/05-Ralph迭代运行账.md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B19228E-C390-4429-AF67-4A3294513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1BBB0E5-C893-49D0-8A78-30495F1D0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GIT FACT</a:t>
            </a:r>
          </a:p>
        </p:txBody>
      </p:sp>
    </p:spTree>
    <p:extLst>
      <p:ext uri="{BB962C8B-B14F-4D97-AF65-F5344CB8AC3E}">
        <p14:creationId xmlns:p14="http://schemas.microsoft.com/office/powerpoint/2010/main" val="196578681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0E5FA67-9DCA-41DC-BDC9-ADE3B75DC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185656-54D2-4F86-9AA4-2CCAF3B9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C346EC-9325-4C6D-AB16-BEBB788B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文档先行的价值：816/816 之后，仍能发现没有被交付的不变量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4D80D0-2044-4C83-94C5-D55D1EF04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RFC 是审阅 oracle；测试全绿只能证明现有测试覆盖的契约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AC0AB0-752B-4F04-BC7E-ABF854668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F4E6E5-1A5B-484E-BF50-59EB8E6C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31813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0DCD44-4C52-4686-8966-6084CF6DB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23B3A5-48FF-42F7-AED1-DF338DBEA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144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已验证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076775-594B-496F-A5E5-E98350E9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847850"/>
            <a:ext cx="2895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文档一致性：PASS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资产结构：PASS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 UT：816 / 816 PASS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S5 稳定快照：PASS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946D61-6825-4CB7-B8E3-42BC0BC2E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390650"/>
            <a:ext cx="31813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B58997-1153-4FEC-BD4D-EEBDFCE9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5049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109E11-1024-43A5-9E6E-501A0CB50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144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未执行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E0EE8C-E8DD-4AAB-9FFA-0D442EB21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847850"/>
            <a:ext cx="2895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HAP 构建：UNKNOWN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签名 / 安装 / 管理员：UNKNOWN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真机新增账号：UNKNOWN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system policy / rules readback：UNKNOWN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669C22-55F1-4EBC-8EA1-18A5CCF53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390650"/>
            <a:ext cx="42291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5147F4-3952-4B4E-B855-9CE0DF81B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5049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A52F56-F787-400C-805E-58D7ED77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5144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RFC 反查出的代码缺口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A7296E-727C-4F79-90E3-B232DE9C7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1847850"/>
            <a:ext cx="39433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saveModeApplyState 两次写 Preference，非原子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rollback 未恢复 last-applied signature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listRules 失败回退 []，混淆“空”与“读失败”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Handler 失败没有自动业务重试与 UI 可见性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1399F4-3749-41F1-98BC-4BB015D4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5562600" cy="26289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CAC6A6-E5D7-4C76-B4B2-8C98D061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5295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06-测试验收报告.md → 当前总判定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F5A126-9619-4BDE-AD37-E671BA8D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8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619D61-4554-4AB5-943E-EF0B9264D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52959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story_code_and_unit_contract: PASS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repository_static_contract: PASS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device_delivery: UNKNOWN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business_system_truth: UNKNOWN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overall: INCOMPLETE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local_apply_state_atomicity: INCOMPLETE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rollback_restores_last_applied_signature: FAIL_BY_INSPECTION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rule_snapshot_distinguishes_read_failure_from_empty: FAIL_BY_INSPECTION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handler_failure_retry_and_ui_visibility: INCOMPLETE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175124-F9B8-42C6-93DC-9B105DFB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76600"/>
            <a:ext cx="5181600" cy="26289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61F922-058F-4C29-8077-5BADDCFE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290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证据等级不能互相覆盖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EC9C18-469F-4D3D-9458-4C4151768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957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B65E5E-7F73-4122-A112-5B14E613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810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 / 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086DB7-B0E6-4DEF-8DA2-1F43511B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8100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能证明纯逻辑与当前测试契约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25D737-7363-4FF9-998D-AE34C3405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810000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354458-3680-442F-A2F6-5AACCF5A1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819525"/>
            <a:ext cx="990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CE810C-9E5C-4237-8037-D1977ECEB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91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构建 / 安装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355C1-47AC-45C3-9B84-AFFEAE3AA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1910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能证明包可交付到设备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F3ECC-2CD6-4356-9660-C7CB9507B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191000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4378240-6D0C-4761-92FB-0D67C2E0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200525"/>
            <a:ext cx="990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3CE6816-8A5F-4B72-9737-570F8D7F8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572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UI E2E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92C6C44-EE85-4765-9FF9-82489115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720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能证明页面流程与可见文本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18BD555-EC89-4AE8-BF2F-C909D6D96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572000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D26DC6B-B0E6-4F12-915F-944BD09D4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581525"/>
            <a:ext cx="990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8110E91-5E16-4CCF-8FB5-4F1773E4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953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9FEADC6-BC81-4BBC-A385-6762858C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9530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能证明每账号 policy / rules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2A85EAD-F6AE-4C3D-AAFE-E3FF00B4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953000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44B9C5A-5695-4930-A0CB-630DCFEE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962525"/>
            <a:ext cx="990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A398EE4-1579-480E-9C8C-7C72A0463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33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业务结果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E91BF84-B61E-4E47-A477-441ECCF4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3340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所有关键不变量都成立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16A0B68-91CE-47F3-A01A-3421FEF48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334000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CCE549C-24E8-45F2-AB60-F23D2D474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5343525"/>
            <a:ext cx="990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INCOMPLETE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4E8C77B-31A0-487D-B71F-D206CE67D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真实产物：case-materials/mdm/06-测试验收报告.md；系统回读缺口：evidence/mdm/firewall-runtime-readback.md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BC47B41-4651-44EC-A6FD-E3B0A4491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2AF7DA0-ED81-42E7-B8D5-F976B3CD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67122296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CF5370-5D52-4A1D-9D1B-547EB2157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1B5AB8-F819-4852-BF81-4AECA34AE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D4CA75-C44C-4D2F-B78C-E6A19C0A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MCP 把 AI 接到真实环境：本页保留给讲师已有材料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4098A6-9060-4D6D-A5C1-A47C5CBBF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本节只承担转场：前面定义“验什么”，后面用工具链真正执行并留下证据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1B7939-7459-47F9-BBC3-91456E0D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B93F74-3543-4BBB-9521-5F8A2C8C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09700"/>
            <a:ext cx="10858500" cy="3829050"/>
          </a:xfrm>
          <a:prstGeom xmlns:a="http://schemas.openxmlformats.org/drawingml/2006/main" prst="roundRect">
            <a:avLst>
              <a:gd name="adj" fmla="val 29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2F85C7-BD50-418C-AD34-1944B3B3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0020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E843C3-3F3C-4A89-94EB-5A111B8A9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0972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讲师材料粘贴区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0BB35B-810A-4C3B-9F6B-7B7878E3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47950"/>
            <a:ext cx="10096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【保留空白】MCP 架构 / 工具清单 / Connect → Build → Install → Operate → Observe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3F5684-A131-4F30-84E5-A789CB0D8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52800"/>
            <a:ext cx="1009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建议放：真实工具调用截图、设备连接状态、build/install 输出、UI 操作与日志采集入口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B0A545-71BD-4AFE-8519-D50517AC8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67350"/>
            <a:ext cx="32385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21757A-E227-47C7-99EF-E8B4E4EED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435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前页：验收对象与证据等级已定义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14C6DC-DC7C-4820-9B90-394D3965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467350"/>
            <a:ext cx="32385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38A705-EDBF-428E-B52D-A47BC0FB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5435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本页：工具接入真实环境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F7A1AD-5C31-45BD-BC29-918DE006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467350"/>
            <a:ext cx="32385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93E1B1-1476-43CD-836C-143E9BFF1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5435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下页：Case JSON 变成可执行证据链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132619-778A-4DA0-953E-3A89FA4B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【补充素材】替换为讲师已有 MCP 介绍页；不要用工具 action success 代替业务 assertion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1B2E71-4CA5-4765-A995-CCF8C1BEC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CD0A23-77D5-4A6F-BBFD-8A6D7E90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53962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6EDE9D5-EF44-45D7-9706-56DC7ADF1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109F57-41C8-4E01-A25C-B0834B48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C2670A-197D-48D6-A653-0091D0880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第一页：一个 Case JSON 如何走到 MCP / HDC，再生成结果与证据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375B63-7F39-4C7E-A01A-B1008E1F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课堂动作：打开真实文件，沿五个锚点完成一次静态穿刺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E0DF1A-1D0B-4A30-A1A5-BFB04B68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e0221307a94a32"/>
          <a:stretch xmlns:a="http://schemas.openxmlformats.org/drawingml/2006/main"/>
        </p:blipFill>
        <p:spPr>
          <a:xfrm xmlns:a="http://schemas.openxmlformats.org/drawingml/2006/main">
            <a:off x="1621070" y="1371600"/>
            <a:ext cx="8835560" cy="1809750"/>
          </a:xfrm>
          <a:prstGeom xmlns:a="http://schemas.openxmlformats.org/drawingml/2006/main" prst="roundRect">
            <a:avLst>
              <a:gd name="adj" fmla="val 631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2CF57C-0D38-4DD6-A619-9B60E8F7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71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真实代码路由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BF3307-67AD-4A5C-90CC-C62C6B021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385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14FD73-F4FE-4BFE-960A-7911D66F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33800"/>
            <a:ext cx="16573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750233-B40A-4A01-A93B-633C994A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01 Case 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477E23-D7C1-4174-BADD-BA54B3F5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13" b="0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713" b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cases/firewall/rule_create.json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D5F26F-53B1-4289-A879-7597EBD3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24300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01298E-F0C8-4BA8-B68D-3F1043A9E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733800"/>
            <a:ext cx="16573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B6BAAF-FAC1-4FFE-9FCA-4F8C9D924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8100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02 Normalize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2A89AD-85E6-439E-A824-B0FA4B5D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0767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13" b="0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713" b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core/normalizer.py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5E7A9F-4759-4BC9-AC82-5F86BEBB0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924300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7E748F-0368-4391-90BD-2200EFAB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733800"/>
            <a:ext cx="16573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5BF601-8444-408E-B742-126263DA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100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03 Runner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1B0BE5-AAF5-4A07-A255-1CCC6F2D6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767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13" b="0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713" b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core/runner.py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86F0C6-3677-4645-A272-78089D3AF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924300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4A56A8-2D68-4B38-A4F9-D720E3E1F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733800"/>
            <a:ext cx="16573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06A6C8-B616-47A5-AF9E-E0BD6242A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8100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04 Flow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949E0D-74CD-425C-A0F5-E387A2BE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767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13" b="0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713" b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adapters/.../flows/executor.py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6A718B-57FE-4D09-BF61-01CF3133C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924300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2BA42F-1FE9-48EE-810D-4CABEA24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33800"/>
            <a:ext cx="16573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FBC18E-AEED-486E-A20E-57E4A4528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100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05 Driver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5C37DF-37F7-49BF-AC83-0B51E44F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767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13" b="0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713" b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drivers/mcp_driver.py / hdc_driver.py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C7C9C5-7D19-420C-B10C-A94570072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924300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62891D-8D5C-4797-88C9-E5F69C537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733800"/>
            <a:ext cx="16573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7AF727-B42A-47B0-9F0D-88D711B7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8100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06 Assertion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6F7E94-B75A-436D-B279-15704597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0767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13" b="0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713" b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assertions/executor.py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56803D-89EB-456E-A14D-8CA8875D2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0"/>
            <a:ext cx="33718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BD8C8D-7D97-4AB9-A4A1-C54FAA11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768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87E27D4-8833-45E4-A5BD-D3EA991C1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863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输入文档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63F9A8-ED28-47D1-B51C-D6E242154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219700"/>
            <a:ext cx="3086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rule_create.json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operation: entity.create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entity: firewall.rule.domain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assert: text_presence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0CF62F4-A6CC-4E56-B9B7-2B4EF9039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762500"/>
            <a:ext cx="337185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BA21547-712A-4635-98AC-CEC8093DD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8768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23BAA55-9E76-44CB-9E33-806E16F7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863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执行文档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2D512EA-0A8B-4D50-9ADD-62D025CE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219700"/>
            <a:ext cx="3086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ACTION_TEMPLATES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open_firewall_rules_page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submit_firewall_rule_form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resolve_operation_binding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D5B41D3-F96C-4579-B109-2DBEAC02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762500"/>
            <a:ext cx="38862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F4A0F17-98AC-4019-B6EB-35F8AD367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8768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0F23A84-690D-464D-BC01-0B7159754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863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生成文档 / 证据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5B194E0-1DB8-4C1B-B972-C54B06FD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5219700"/>
            <a:ext cx="3600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CaseResult(status, failure_stage)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primary_evidence / secondary_evidence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JSON report + Markdown report + screenshots/logs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8FE454B-56B1-4795-9CC9-E57B885B4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真实框架：security_tool/scripts/e2e/；设计文档：docs/04-测试文档/e2e测试/端到端测试框架设计.md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24DD8EF-C89D-48AF-A351-164AF87F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45070E4-FF79-46A1-AED7-627174A19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77959374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F6C5BD0-EAB8-4A19-8217-94A4C407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6B8DA6-6106-479D-8770-B919FDF7C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A5B85B-E18E-489A-AC1B-FF8DAFA4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第二页：跑完用例后，必须说明它证明了什么、还缺什么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FEDED5-F84E-4649-AD8B-D266C9C2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示例：DOMAIN rule 创建与重复创建失败；截图只是证据的一层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8B8C31-4E56-4A16-95E7-A44ADC61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5f0e8c4e694136"/>
          <a:stretch xmlns:a="http://schemas.openxmlformats.org/drawingml/2006/main"/>
        </p:blipFill>
        <p:spPr>
          <a:xfrm xmlns:a="http://schemas.openxmlformats.org/drawingml/2006/main">
            <a:off x="566738" y="1371600"/>
            <a:ext cx="3514725" cy="2343150"/>
          </a:xfrm>
          <a:prstGeom xmlns:a="http://schemas.openxmlformats.org/drawingml/2006/main" prst="roundRect">
            <a:avLst>
              <a:gd name="adj" fmla="val 4878"/>
            </a:avLst>
          </a:prstGeom>
        </p:spPr>
      </p:pic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d16707311b4752"/>
          <a:stretch xmlns:a="http://schemas.openxmlformats.org/drawingml/2006/main"/>
        </p:blipFill>
        <p:spPr>
          <a:xfrm xmlns:a="http://schemas.openxmlformats.org/drawingml/2006/main">
            <a:off x="4338638" y="1371600"/>
            <a:ext cx="3514725" cy="2343150"/>
          </a:xfrm>
          <a:prstGeom xmlns:a="http://schemas.openxmlformats.org/drawingml/2006/main" prst="roundRect">
            <a:avLst>
              <a:gd name="adj" fmla="val 4878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EB5E54-4B13-437D-B63D-D01476CA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371600"/>
            <a:ext cx="3467100" cy="234315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B9B27C-5C87-4BFB-85DC-2D69BE213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466850"/>
            <a:ext cx="3200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CaseResult / acceptance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23ADCC-81CC-4CD3-B86C-A0248F8D5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A79374-EEB2-4511-8DA2-0F7C30D1D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28800"/>
            <a:ext cx="32004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driver_action: PASS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ui_text_presence: PASS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duplicate_failure_ui: PASS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artifact.screenshot: PRESENT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internal_getPolicy/listRules: PRESENT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acceptance_bridge.get_runtime_state: MISSING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system_policy_rules: UNKNOWN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overall: INCOMPLETE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D579B8-B206-4A5F-9BFD-3A6D4F1A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分层判定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456731-E246-4F5D-B468-70E7D9AC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100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277AD5-EFE1-474A-9E30-C0C629356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2571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6B98FD-D0E5-4E06-8547-6BF6FBA9A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1007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动作层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61885A-CD8E-4D0C-BC0A-C12A5402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3624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12609E-F8BA-4162-926D-84A18B8E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3719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4884A6-2658-4E8B-951F-B81C78C8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14875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MCP/HDC 执行表单与点击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AD0485-E33D-4C71-8C11-37D48B0F9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305300"/>
            <a:ext cx="2571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7455DB-53D4-4E6D-9CAE-D955D119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41007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UI 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42893E-803A-458F-BB17-95BA019C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3624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1AE045-7EDF-4B01-B797-365DFD06B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3719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2DB9C7-BC88-4164-810A-5E3F9016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714875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文本出现、错误提示、截图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6FC81E-2107-4054-9AC7-C01F55438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305300"/>
            <a:ext cx="2571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A3C255-5BF3-4EE0-9426-16CC96B8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41007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B95AB6-AC71-45C3-BBB1-AB64291DF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3624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5FF8C5-2AE7-423E-8772-ADD4D504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3719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531745-B4DF-4384-81BB-E25B761B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714875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每账号 policy / rules 结构化 readback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DC9C90-1994-4164-940E-7581F42B0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305300"/>
            <a:ext cx="2571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AA11C6-7A40-46DF-92A5-049F51F75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41007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业务层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E552F19-DBF9-4230-838C-4BA0D9BA6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3624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F67FF7-6A9C-4711-A3AE-FA6E77B0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3719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INCOMPLETE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0872807-F3F2-49A6-8198-5BAF8C25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714875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账号集合与防火墙状态最终收敛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EF3155C-A1C0-4FAA-9507-A3111F39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48300"/>
            <a:ext cx="108013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FDFE799-68BC-4F3B-94D7-A3C6DD1F2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验收报告要留下：case.json · result.json · report.md · screenshot/log · commit/包版本 · PASS/FAIL/UNKNOWN 解释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8D5207D-0ED1-4FD7-8C81-560618BF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真实截图：harmonyos-sdd-workshop-media/mdm/；证据边界：evidence/mdm/firewall-runtime-readback.md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3E2E619-D658-4E46-84AD-B3CDD5D52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D036306-8423-4064-90EE-3A4CA8C3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51804900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7C2DD3-F3B1-4C6C-AB45-B4EEF7A0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04 Ralph 与验收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0CC06E-2C6C-4F2C-9D82-25DF91F5C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实践：把验收写成可执行的系统契约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58C3DA-68D2-4810-A333-9E78C2D1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143CDD-3464-4938-89FB-B8627FBEB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73A887-D79B-484D-98B7-4D9D73A4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90A267-BA49-43B6-900E-0E61F66C1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6858000" cy="4953000"/>
          </a:xfrm>
          <a:prstGeom xmlns:a="http://schemas.openxmlformats.org/drawingml/2006/main" prst="roundRect">
            <a:avLst>
              <a:gd name="adj" fmla="val 2692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1EA071-1647-46E1-8432-D6F6620B1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57300"/>
            <a:ext cx="655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Acceptance Case JSON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1CA0EB-04AE-4246-8B32-5EBE40C63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7BE9A6-6A40-4FD2-982A-6F43AC528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6553200" cy="436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  "result": "PASS|FAIL|UNKNOWN",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  "accounts": [100, 112, 123],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  "mode": "public",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  "signature": "100,112,123",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  "users": [{"id": 123, "isOpen": true, "ruleCount": 4}],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  "failures": [],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  "evidence": {"device": "...", "timestamp": "..."}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EFBA14-4430-4A64-98B2-4FBA6AC6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143250" cy="619125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071E6B-6A78-4824-817D-98E4EC186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438275"/>
            <a:ext cx="29908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 Contract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A1F397-F83C-490D-AB98-7E3EBDFA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14550"/>
            <a:ext cx="3143250" cy="619125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1630C7-00D0-4A2A-B68A-0D290F9F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71700"/>
            <a:ext cx="29908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Action Binding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67D985-651A-461A-A150-70537E19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47975"/>
            <a:ext cx="3143250" cy="619125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F9D234-C416-43DB-B97F-E2E8630AA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905125"/>
            <a:ext cx="29908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MCP / HDC 操作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1EFDDB-7944-445A-8DE1-99AF6EB71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81400"/>
            <a:ext cx="3143250" cy="619125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C8F8DB-AC6C-407A-B665-27880662B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38550"/>
            <a:ext cx="29908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 / 日志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86FE77-41E4-4643-B34B-412F59B78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314825"/>
            <a:ext cx="3143250" cy="619125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11C3E0-28C1-47D5-BD45-1E8A0B628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371975"/>
            <a:ext cx="29908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Primary + Secondary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1E3946-67D8-4F65-AE45-F31F7F935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48250"/>
            <a:ext cx="3143250" cy="619125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461CD8-27ED-4E67-81C5-27779C77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105400"/>
            <a:ext cx="29908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PASS / FAIL / UNKNOWN</a:t>
            </a:r>
          </a:p>
        </p:txBody>
      </p:sp>
      <p:cxnSp>
        <p:nvCxnSpPr>
          <p:cNvPr id="127" name=""/>
          <p:cNvCxnSpPr>
            <a:stCxn xmlns:a="http://schemas.openxmlformats.org/drawingml/2006/main" id="10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9572625" y="2000250"/>
            <a:ext cx="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8" name=""/>
          <p:cNvCxnSpPr>
            <a:stCxn xmlns:a="http://schemas.openxmlformats.org/drawingml/2006/main" id="12" idx="2"/>
            <a:endCxn xmlns:a="http://schemas.openxmlformats.org/drawingml/2006/main" id="14" idx="0"/>
          </p:cNvCxnSpPr>
          <p:nvPr/>
        </p:nvCxnSpPr>
        <p:spPr>
          <a:xfrm xmlns:a="http://schemas.openxmlformats.org/drawingml/2006/main">
            <a:off x="9572625" y="2733675"/>
            <a:ext cx="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9" name=""/>
          <p:cNvCxnSpPr>
            <a:stCxn xmlns:a="http://schemas.openxmlformats.org/drawingml/2006/main" id="14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9572625" y="3467100"/>
            <a:ext cx="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30" name=""/>
          <p:cNvCxnSpPr>
            <a:stCxn xmlns:a="http://schemas.openxmlformats.org/drawingml/2006/main" id="16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9572625" y="4200525"/>
            <a:ext cx="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31" name=""/>
          <p:cNvCxnSpPr>
            <a:stCxn xmlns:a="http://schemas.openxmlformats.org/drawingml/2006/main" id="18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9572625" y="4933950"/>
            <a:ext cx="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B57A73-B8EC-4E27-98E9-F601FCD2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6931087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85C0870-467E-4EB4-AC2B-A9308E498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04 Ralph 与验收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5ADC39-A94B-4D5F-900F-6318AED2A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Checkpoint：交付一条完整证据链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B860DD-3CAA-4F2A-84B7-104EF095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2A0846-91AD-44DE-A042-4CB3B20C8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9FCA24-22DF-4F92-8EF0-87D0D7ADC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CA4134-847F-47D4-854A-7D43B8100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4762500" cy="314325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CB0947-C091-4F80-B54B-28B6B6DB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445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同伴验收：只问六件事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63F6A0-22AB-4465-870C-5C2294942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66FB1A-58A6-4612-9DAC-A32529AD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19250"/>
            <a:ext cx="43815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1. spec.md 是否冻结账号事实、失败语义与提交点？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2. design.md 是否区分 intent、local apply、system truth、UI？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3. T01 是否真的出现过可解释 RED 与 GREEN？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4. T02 故障后是否恢复 identity，而非只恢复数量？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5. 设备证据是否来自真机，UNKNOWN 是否被诚实保留？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6. diff 是否完全落在任务允许边界？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C7EB2D-739E-425C-AE91-14412BEFA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24300"/>
            <a:ext cx="4333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唯一结果：PASS / FAIL / UNKNOWN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27EBA6-6063-4660-970C-53F165B2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476750"/>
            <a:ext cx="857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90AC6B-EE7D-44D7-BF41-EE51AA7E3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524375"/>
            <a:ext cx="704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Eval 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38F45D-E095-43A3-863A-AE8E81344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476750"/>
            <a:ext cx="2047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1D1543-DD87-40AA-8419-274E8258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4524375"/>
            <a:ext cx="18954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检查什么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4393CA-8591-4382-A3BB-86C2C93C7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76750"/>
            <a:ext cx="1857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4DAF65-1189-4F4C-8B66-99DA416BA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524375"/>
            <a:ext cx="17049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10ED25-92C9-46D2-AB85-6ADD9052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876800"/>
            <a:ext cx="857250" cy="561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ACC13A-101A-451C-A7D8-BF3243E5C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924425"/>
            <a:ext cx="7048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BF3B4D-1B09-4EEA-99DF-5E8F59B68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876800"/>
            <a:ext cx="2047875" cy="561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292531-D323-46D7-BE42-B45CBA652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4924425"/>
            <a:ext cx="18954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Prompt、工具调用、diff、测试、是否越界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0150F7-F398-4A86-8AC9-B29337CC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76800"/>
            <a:ext cx="1857375" cy="561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E97DCA-0793-4E9D-B10B-334DE9D9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924425"/>
            <a:ext cx="17049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过程规范，但底层调用仍失败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63E5A3-DD51-4AFE-919D-AD51CA0C5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38775"/>
            <a:ext cx="857250" cy="561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988B5F-AC84-41B1-ADE2-F7357EE5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486400"/>
            <a:ext cx="7048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Outcome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F4B93F-B973-4EF8-86C1-4AE1404AF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438775"/>
            <a:ext cx="2047875" cy="561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FB4E48-E420-486C-ADB7-589025EF0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486400"/>
            <a:ext cx="18954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系统账号、policy、rules、signature、mapping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EF7D2C-7C6F-4564-A40E-EA2B278B4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438775"/>
            <a:ext cx="1857375" cy="561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2435B1-6A7A-4C7A-931C-1D6292B1A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486400"/>
            <a:ext cx="17049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页面偶然正确，但 AI 伪造账号事实</a:t>
            </a:r>
          </a:p>
        </p:txBody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878defdd2e4f80"/>
          <a:stretch xmlns:a="http://schemas.openxmlformats.org/drawingml/2006/main"/>
        </p:blipFill>
        <p:spPr>
          <a:xfrm xmlns:a="http://schemas.openxmlformats.org/drawingml/2006/main">
            <a:off x="5619750" y="1798364"/>
            <a:ext cx="6000750" cy="2499271"/>
          </a:xfrm>
          <a:prstGeom xmlns:a="http://schemas.openxmlformats.org/drawingml/2006/main" prst="roundRect">
            <a:avLst>
              <a:gd name="adj" fmla="val 3077"/>
            </a:avLst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83FEB0-A657-4615-A53E-A82DD228C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190625"/>
            <a:ext cx="6000750" cy="3714750"/>
          </a:xfrm>
          <a:prstGeom xmlns:a="http://schemas.openxmlformats.org/drawingml/2006/main" prst="roundRect">
            <a:avLst>
              <a:gd name="adj" fmla="val 307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5B71859-10B9-40FD-941A-45126501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38750"/>
            <a:ext cx="57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3B43EE7-CBC2-4490-9550-95CD3C85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276850"/>
            <a:ext cx="4591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最终结论由 Outcome 决定；Trace 用于解释可信度、复现过程与发现越界。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206275-0D2B-4943-A08C-33002C36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31789691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0DDFDB-5669-4E03-A0FD-9D325046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16C1B-6420-4E5D-B4B7-DD05A3F1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案例二：当前视频走 CPU/软件路径，卡顿是可复现问题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82D7A5-DB0C-4CC0-8B1B-25834996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5FBDEC-FA57-40BF-99BF-D1B2C616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057470-271E-4474-B4A2-48CA708B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9f8de4103e4449"/>
          <a:srcRect xmlns:a="http://schemas.openxmlformats.org/drawingml/2006/main" l="0" t="9426" r="0" b="94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875" y="1143000"/>
            <a:ext cx="58102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D661C2-6709-4A4A-810D-AC6C0321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5810250" cy="3143250"/>
          </a:xfrm>
          <a:prstGeom xmlns:a="http://schemas.openxmlformats.org/drawingml/2006/main" prst="roundRect">
            <a:avLst>
              <a:gd name="adj" fmla="val 363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0AE64-9A7F-4668-83DB-ED98F61A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85875"/>
            <a:ext cx="50482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1E1A26-7BEC-4296-805E-6C180BB1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1343025"/>
            <a:ext cx="4895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本地代码快照：2014 个相关源文件 · 约 559,355 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5BA509-884D-4061-BEA0-D5BEEAD48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143000"/>
            <a:ext cx="4953000" cy="4000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E05237-6234-460F-89A5-8AAC13F2C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257300"/>
            <a:ext cx="464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先冻结背景事实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7AFB1-1492-487B-A67A-CB95D5FD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1A274B-2298-495D-9ACB-293E3080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668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已知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1BA8FE-6AB4-4679-9E26-91E781A7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19250"/>
            <a:ext cx="342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当前视频走 CPU / 软件路径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没有进入 GPU 合成链路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用户现象：远端视频播放卡顿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0E7D67-3CB6-4B07-BD68-8300E055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1462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仍待采集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7F2425-1331-455A-821D-9F854445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67000"/>
            <a:ext cx="342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before 视频与同轮 CPU / FPS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硬解后的 decoder / frame / owner / present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卡顿改善幅度与长稳结果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5DCB4C-C611-4A74-B52F-A273199C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100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本页结论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258934-B256-448C-97D8-477C0DA8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762375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问题已定位到 CPU 路径；性能数据与视频仍需绑定同一 runId 后补齐。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3F029D-3F6E-4D77-8905-DE474A1A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24375"/>
            <a:ext cx="5810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C13C00-8CF4-4748-B7D0-92DCEC8A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48200"/>
            <a:ext cx="542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 VIDEO · PENDING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卡顿原因已冻结；正式视频仍需绑定 CPU / FPS / runId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A97A4A-9723-4445-88CF-12B0C0F4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369E93-4C5C-439A-9772-F5AB0DB8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问题背景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B7301D-607A-4E11-8B74-E9D23992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CD9501-4FB3-4F28-B36F-BE3F6703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CPU 路径事实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BC9809-E87A-4E9D-8925-8FA7A805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0F642A-5672-4F78-9F16-609C49C5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证据占位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77A271-9F52-4DB8-8D26-F808C9F2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FB05C7-843E-46C6-9BEF-020E1318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进入方法论</a:t>
            </a:r>
          </a:p>
        </p:txBody>
      </p:sp>
      <p:cxnSp>
        <p:nvCxnSpPr>
          <p:cNvPr id="157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332422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8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601027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9" name=""/>
          <p:cNvCxnSpPr>
            <a:stCxn xmlns:a="http://schemas.openxmlformats.org/drawingml/2006/main" id="25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869632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D30EA8-C39A-47E2-A104-4554BAE0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42410887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9E40E6D-F082-43F4-81C5-E211685E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CD34AF-B2FA-45F7-B94D-EC3F1B6A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读大仓库不是读全库，而是沿一帧回答五个问题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D35249-51AE-479A-ADF2-80F72B00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310E18-E939-4442-87AA-CC36A9C6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66B263-C962-4DF8-B7B5-90A5C0A9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84C095-9EF2-4812-909A-16E9C59E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3429000" cy="47625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5F5873-7C3E-4C1D-A25D-43CC3E99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先问五个问题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4F228D-50ED-466C-9DB5-0F8008145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E23099-E59E-453D-8758-1E0C54224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668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协议入口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C66AE5-F73E-454B-9ABD-F39EDB9D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16383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H.264 从哪里进入？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C31F04-4526-47B7-812E-7676FA98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479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2 路径选择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E57167-9A10-41D4-B469-FBD7589B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4193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command 被 GPU consumed，还是回 original GDI？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D22C48-1BC5-4114-BC10-EE00F127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289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3 输出格式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47B183-5201-4578-B45E-CDD68062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2004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format、stride、plane 是什么？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8E8575-9770-4A99-B870-45229B1F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100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4 显示所有权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54EA52-80B8-428A-9C40-F1623988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9814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谁拥有 Surface，何时 present？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8C5C15-6B11-44DD-B87C-334FF969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910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5 同轮证明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98D6C4-922D-46A2-923C-52F62DDD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7625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怎样把 decoder、frame、owner、present 绑定到同一 run？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D91235-0170-4CB7-8360-3DFAF9EE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143000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54D93F-2D16-4538-BB29-93B9C0E8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200150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gfx→SurfaceCommand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25574C-16CC-42C8-9401-EB96CA67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45456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BB3B72-D133-491C-A0CA-5321C0E5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2606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ohos_rdpgfx_surface_command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E1B0A5-D430-4446-B541-39D9718D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47913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D89288-AB2A-4F02-A440-1DBEC4FA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05063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record_avc420_gpu_candidate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8480BB-B62E-46C7-8FAB-3572DD2D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50369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5E0A95-8261-4F65-BC2F-594CCCBB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07519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OnSurfaceCommand → worker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DF2678-B33A-4F46-8A3A-2C92D32C4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52825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192C0-98B6-4675-869A-83122B69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09975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ProcessCommand → OH_AVCodec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B2F0A2-8E44-4BD1-84FA-4A4A261E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55281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1FAA62-57CD-4B06-A806-F69FCC76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212431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native buffer → CompositeFrame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5694E3-616A-42D6-A200-846AC933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57738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75B3F2-A6DF-427F-9E44-21C4FFC7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14888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pendingFrameId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2CFDCB-46DD-4237-957A-0C7DA06E1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60194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636C30-84B0-4922-8FAE-A7F9BAA9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417344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matched EndFrame → PresentComposite</a:t>
            </a:r>
          </a:p>
        </p:txBody>
      </p:sp>
      <p:cxnSp>
        <p:nvCxnSpPr>
          <p:cNvPr id="242" name=""/>
          <p:cNvCxnSpPr>
            <a:stCxn xmlns:a="http://schemas.openxmlformats.org/drawingml/2006/main" id="19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6524625" y="1688306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3" name=""/>
          <p:cNvCxnSpPr>
            <a:stCxn xmlns:a="http://schemas.openxmlformats.org/drawingml/2006/main" id="21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6524625" y="2290762"/>
            <a:ext cx="0" cy="5715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4" name=""/>
          <p:cNvCxnSpPr>
            <a:stCxn xmlns:a="http://schemas.openxmlformats.org/drawingml/2006/main" id="23" idx="2"/>
            <a:endCxn xmlns:a="http://schemas.openxmlformats.org/drawingml/2006/main" id="25" idx="0"/>
          </p:cNvCxnSpPr>
          <p:nvPr/>
        </p:nvCxnSpPr>
        <p:spPr>
          <a:xfrm xmlns:a="http://schemas.openxmlformats.org/drawingml/2006/main">
            <a:off x="6524625" y="2893219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5" name=""/>
          <p:cNvCxnSpPr>
            <a:stCxn xmlns:a="http://schemas.openxmlformats.org/drawingml/2006/main" id="25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6524625" y="3495675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6" name=""/>
          <p:cNvCxnSpPr>
            <a:stCxn xmlns:a="http://schemas.openxmlformats.org/drawingml/2006/main" id="27" idx="2"/>
            <a:endCxn xmlns:a="http://schemas.openxmlformats.org/drawingml/2006/main" id="29" idx="0"/>
          </p:cNvCxnSpPr>
          <p:nvPr/>
        </p:nvCxnSpPr>
        <p:spPr>
          <a:xfrm xmlns:a="http://schemas.openxmlformats.org/drawingml/2006/main">
            <a:off x="6524625" y="4098131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7" name=""/>
          <p:cNvCxnSpPr>
            <a:stCxn xmlns:a="http://schemas.openxmlformats.org/drawingml/2006/main" id="29" idx="2"/>
            <a:endCxn xmlns:a="http://schemas.openxmlformats.org/drawingml/2006/main" id="31" idx="0"/>
          </p:cNvCxnSpPr>
          <p:nvPr/>
        </p:nvCxnSpPr>
        <p:spPr>
          <a:xfrm xmlns:a="http://schemas.openxmlformats.org/drawingml/2006/main">
            <a:off x="6524625" y="4700587"/>
            <a:ext cx="0" cy="5715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8" name=""/>
          <p:cNvCxnSpPr>
            <a:stCxn xmlns:a="http://schemas.openxmlformats.org/drawingml/2006/main" id="31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>
            <a:off x="6524625" y="5303044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0069DE-9CB5-46BD-BFFF-D7BB4B24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143000"/>
            <a:ext cx="2571750" cy="161925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A7566ED-DB95-4644-8DD1-893909D6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2573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一轮只给 AI 这么多上下文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81BCF5F-A286-4B41-B7EF-1AEA57CD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DD1A2C8-F16A-4930-B1E5-6E02AF41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619250"/>
            <a:ext cx="180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607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个问题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条调用链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3–7 个接口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个假设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条下一步命令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8B77B25-7C21-410F-98F9-CB2BD585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43250"/>
            <a:ext cx="2190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5E2A30-6A65-40BE-81DF-F17AC30C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0040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未接管 / 不满足 ready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0BDF295-9EE4-4842-9A29-01D8CF38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05250"/>
            <a:ext cx="2190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C38515D-B08E-4D94-BF10-3070E754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962400"/>
            <a:ext cx="2038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original SurfaceCommand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→ GDI / H264 subsystem</a:t>
            </a:r>
          </a:p>
        </p:txBody>
      </p:sp>
      <p:cxnSp>
        <p:nvCxnSpPr>
          <p:cNvPr id="257" name=""/>
          <p:cNvCxnSpPr>
            <a:stCxn xmlns:a="http://schemas.openxmlformats.org/drawingml/2006/main" id="46" idx="2"/>
            <a:endCxn xmlns:a="http://schemas.openxmlformats.org/drawingml/2006/main" id="48" idx="0"/>
          </p:cNvCxnSpPr>
          <p:nvPr/>
        </p:nvCxnSpPr>
        <p:spPr>
          <a:xfrm xmlns:a="http://schemas.openxmlformats.org/drawingml/2006/main">
            <a:off x="10334625" y="36385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4B4B"/>
            </a:solidFill>
            <a:prstDash val="solid"/>
            <a:tailEnd type="arrow" w="med" len="med"/>
          </a:ln>
        </p:spPr>
      </p:cxn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6525CC9-CFC2-4C49-9B30-BF05BE9B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762500"/>
            <a:ext cx="247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这条 fallback 必须保留；否则“尝试硬解”会直接变成黑屏风险。</a:t>
            </a:r>
          </a:p>
        </p:txBody>
      </p:sp>
      <p:pic>
        <p:nvPicPr>
          <p:cNvPr id="2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724c20ed9b4ccb"/>
          <a:srcRect xmlns:a="http://schemas.openxmlformats.org/drawingml/2006/main" l="0" t="32065" r="0" b="320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39250" y="5381625"/>
            <a:ext cx="2190750" cy="523875"/>
          </a:xfrm>
          <a:prstGeom xmlns:a="http://schemas.openxmlformats.org/drawingml/2006/main" prst="roundRect">
            <a:avLst>
              <a:gd name="adj" fmla="val 21818"/>
            </a:avLst>
          </a:prstGeom>
        </p:spPr>
      </p:pic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582CCF0-09EE-4164-A93D-5DC360A6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81625"/>
            <a:ext cx="2190750" cy="523875"/>
          </a:xfrm>
          <a:prstGeom xmlns:a="http://schemas.openxmlformats.org/drawingml/2006/main" prst="roundRect">
            <a:avLst>
              <a:gd name="adj" fmla="val 2181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F1AA9F7-16BA-4510-8D4D-5029CD2A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042960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84D99AB-448D-491F-A221-85BE1AC2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DC9237-704A-4110-9FDB-E048C0BDF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跨平台调研只复制生命周期契约，不复制实现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218426-F37E-4272-A064-95917C0D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AD457E-3F5D-40D4-AEAA-73020786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B34C33-3793-4964-90B3-00EF0DB2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41F83B-AD6F-48D3-B509-4407EAD8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21C53C-DD8D-4A3F-BA8C-0C6FF940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Create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7750B-3290-42C6-B8E3-0D24C5A3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E320F7-4EB7-4E01-AF57-BDC9A215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Configure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B13CB5-980E-4ADB-BCDD-F1F20AF0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6641A3-4E99-4190-914F-C2A240EB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Start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6D88BE-72C3-459B-A5A0-B03837309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E84501-3B26-4DF9-AD47-5F5266E8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7A234F-4543-4009-822E-02DF2A0C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29F681-49CB-4FF5-85EE-64A25A0E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Output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0B57B2-AA4A-4BD2-A4F7-3E97A96BD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7AE883-05A4-4430-A2E7-2C4EB913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Validate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E7A535-7552-4224-A238-01AC2570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3D92AC-D804-4E23-B247-E5610094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Release</a:t>
            </a:r>
          </a:p>
        </p:txBody>
      </p:sp>
      <p:cxnSp>
        <p:nvCxnSpPr>
          <p:cNvPr id="159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0859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0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6671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1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2482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2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8294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3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4105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4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9917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884B5D-3685-4B5D-BD6C-154B431C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885950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所有平台都必须回答同一生命周期；真正需要重新设计的是 buffer 所有权、输出格式与 Surface 生命周期。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6FF40B-7E6A-40A4-8851-8AB65A6A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28875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B7106D-55EB-41CB-8A7E-9BA76433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76500"/>
            <a:ext cx="1657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已有后端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554EAE-A863-482F-85F5-6F8ACFA69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28875"/>
            <a:ext cx="195453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7131EA-29F7-46A0-BF36-1924AD80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476500"/>
            <a:ext cx="180213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作用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5FFB98-3B55-4C07-A0ED-A50812EC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2428875"/>
            <a:ext cx="34747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64FEE5-48E4-46FF-B1C9-1AC3DFF7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476500"/>
            <a:ext cx="3322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应该学习什么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D0C581-738A-4429-92E4-ACEB9D75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28925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FD0B75-4F94-4A2B-BC48-B41306A6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76550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FFmpeg / OpenH264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CFE1F2-2D0B-48BE-A89A-B0D2FD6A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828925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0A1BE7-3E14-4DC2-98E7-C0B625B7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876550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通用软件路径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5CCDAE-EE12-4327-84DB-9F0007E2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2828925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71CF4AD-9625-40EF-A4BF-616A11C2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876550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正确性 fallback、YUV 输出语义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CE7AF12-8448-4FAB-BCBC-4FD5ACF27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83756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138884-DF9E-4033-BBD8-353FCAA0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31381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Windows Media Foundation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CDB168-46D7-4381-97B2-33FE0235D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383756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E4793C2-5EE4-405F-AA74-A684F993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431381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Windows 硬解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AFD8D9B-21A8-42B2-9597-5BDB7A2A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3383756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56A2CE1-6C38-471F-B87D-44B3AE58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3431381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平台 decoder 生命周期与失败传播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F72987E-DCD5-47BE-ACC3-AB4F2298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938588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17C4046-B1A3-49DD-80E8-69D8DC9D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986213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Android MediaCodec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EE058F2-F9D0-4048-8D6C-CDAEA566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938588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311C881-78C9-446A-8B2A-86A6953B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986213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移动平台硬解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03F64EC-62BF-4520-8EEB-5ED0357F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3938588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7B9B633-7625-46FF-8D98-5C055EE6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3986213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buffer 输入输出、format change、释放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FEA3272-D0F7-4209-901C-F509E9BC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493419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C919343-1863-4E3E-8B1B-DDEFD89F0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541044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HarmonyOS OH_AVCodec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1F6B8E4-6BEA-47F0-8E2B-E58D3364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493419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A9A5230-CE9F-40DB-829F-D02C592C2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541044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目标平台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8BF3D63-A70C-4726-A2D1-289BF12F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4493419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2FDEE4F-0F92-4036-A863-5BF68B94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4541044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能力查询、AVBuffer/Surface、stride/plane</a:t>
            </a:r>
          </a:p>
        </p:txBody>
      </p:sp>
      <p:pic>
        <p:nvPicPr>
          <p:cNvPr id="1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bc6d1cbed14208"/>
          <a:srcRect xmlns:a="http://schemas.openxmlformats.org/drawingml/2006/main" l="4545" t="0" r="454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48625" y="2428875"/>
            <a:ext cx="3571875" cy="2619375"/>
          </a:xfrm>
          <a:prstGeom xmlns:a="http://schemas.openxmlformats.org/drawingml/2006/main" prst="roundRect">
            <a:avLst>
              <a:gd name="adj" fmla="val 4364"/>
            </a:avLst>
          </a:prstGeom>
        </p:spPr>
      </p:pic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1362721-2B33-47F4-A20E-8CD3D5A6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428875"/>
            <a:ext cx="3571875" cy="2619375"/>
          </a:xfrm>
          <a:prstGeom xmlns:a="http://schemas.openxmlformats.org/drawingml/2006/main" prst="roundRect">
            <a:avLst>
              <a:gd name="adj" fmla="val 436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6EA4C79-A6BF-40F5-A95E-9123CDC79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816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BF28C1C-9E45-40FD-84C1-93B90740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4197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学习已有后端的“契约和失败语义”，不要照抄 Windows / Android 的 API、线程模型或 buffer ownership。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ABEF880-7D98-4329-A1D5-9D82A23D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68897317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61D0220-AB18-4746-8C6C-B42C5307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DF8E30-612E-4523-937E-EDA9D89D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对接方案分三层：接管、合成、回退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ED6D0C-5124-419B-8860-DCB0194A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61B30-BB54-4E4D-8E62-9F7EEC17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B8B46F-D94A-47E4-A2B4-4CD69BF1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8D10CD-8B75-44BE-A3B0-F26F28E8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1144250" cy="1190625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540141-D92A-4C50-BB8F-A5956584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38250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Bridge：只决定“是否接管”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08BE12-706C-4D6C-AA0A-D585A2B0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240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F2AFE6-04FA-4CD1-979B-A9EC3EE0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31D9F1-5772-4E6F-A937-A43C1BB3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gfx→SurfaceCommand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2D0F4D-34B2-4006-A3FE-5776C8A5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1FC387-C985-4EE4-AAA6-CFA85C19C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OHOS RDPGFX bridge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105FA2-C4B9-441F-9626-9FF77D86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FC59CD-ADFB-41AA-9DB6-F1C5000E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顺序校验 + candidate policy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76E441-8826-4E70-801D-43037E42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CD3DE3-24DD-4F02-B67F-00ED0F74B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ready / consumed ?</a:t>
            </a:r>
          </a:p>
        </p:txBody>
      </p:sp>
      <p:cxnSp>
        <p:nvCxnSpPr>
          <p:cNvPr id="239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867275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0" name=""/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6991350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41" name=""/>
          <p:cNvCxnSpPr>
            <a:stCxn xmlns:a="http://schemas.openxmlformats.org/drawingml/2006/main" id="13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9115425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FCAF63-83D4-4A15-AE39-EF5AB59F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保存原回调；在接管前完成校验。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6622F2-69C0-4E40-A2EE-F56DE4323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524125"/>
            <a:ext cx="11144250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1AF9AC-0D1C-4D89-B4A4-8AF34C5A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638425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Compositor：接管后负责“一帧完整闭环”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1ECA37-C56A-497C-8605-9FC7E7DD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9241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83B551-7AEF-491B-82CF-AAE55570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6BDD20-0261-421D-A367-396292200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callback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CC7D6D-8077-46B3-AB03-078E9EA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925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01F094-BB4F-4247-B044-9D4A9501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worker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DE570A-502D-4FAC-9482-FC992040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387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4CA15C-1612-4520-84C3-362603E9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007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OH_AVCodec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5CD1A5-D67A-4F84-8DC3-2E915C6C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B1E931-631A-4E6E-9F4B-6B8C89D3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NativeBuffer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6FF8AB-37DF-43F2-A4E1-5D77DF18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312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8D7EED-054C-4756-B205-CC584432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CompositeFrame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+ pendingFrameId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AAB751-81FA-4348-8492-61BC1EFE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775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A7F6ACC-6B43-4285-AEA3-A110A1D3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395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matched EndFrame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→ EGL swap</a:t>
            </a:r>
          </a:p>
        </p:txBody>
      </p:sp>
      <p:cxnSp>
        <p:nvCxnSpPr>
          <p:cNvPr id="258" name=""/>
          <p:cNvCxnSpPr>
            <a:stCxn xmlns:a="http://schemas.openxmlformats.org/drawingml/2006/main" id="24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406400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59" name=""/>
          <p:cNvCxnSpPr>
            <a:stCxn xmlns:a="http://schemas.openxmlformats.org/drawingml/2006/main" id="26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5508625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60" name=""/>
          <p:cNvCxnSpPr>
            <a:stCxn xmlns:a="http://schemas.openxmlformats.org/drawingml/2006/main" id="28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695325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61" name=""/>
          <p:cNvCxnSpPr>
            <a:stCxn xmlns:a="http://schemas.openxmlformats.org/drawingml/2006/main" id="30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397875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62" name=""/>
          <p:cNvCxnSpPr>
            <a:stCxn xmlns:a="http://schemas.openxmlformats.org/drawingml/2006/main" id="32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984250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9624F7-5F38-4414-88E7-2E0856B1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90875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同一个 frameId 必须贯穿 decoder output、owner、pending 与 present。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A6645F-DEFF-4068-8270-C4173F12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72000"/>
            <a:ext cx="11144250" cy="1190625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6697A2-7585-4552-8DED-33548797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86300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3  Fallback：接管前失败必须回到原路径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6A8D342-1A69-4918-9073-C6E4F467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972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7A4345-11EC-4B80-B2A4-189FE535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6A7499C-66AA-43B0-A253-F375422C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takeover 前失败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3B5C413-6AA9-4337-BDE3-02071EB0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3BC4C6-BDD8-4DC4-A646-6B9C8A20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original SurfaceCommand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E0FC679-D788-4F1F-BFE1-5E29D441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018F287-1784-49D9-81AA-8EDF881B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gdi_SurfaceCommand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DD671E3-67D0-4A92-9432-810EE16E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8A3EA10-B54B-4606-B04A-B05F6A22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H264 subsystem / GDI</a:t>
            </a:r>
          </a:p>
        </p:txBody>
      </p:sp>
      <p:cxnSp>
        <p:nvCxnSpPr>
          <p:cNvPr id="275" name=""/>
          <p:cNvCxnSpPr>
            <a:stCxn xmlns:a="http://schemas.openxmlformats.org/drawingml/2006/main" id="45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50673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76" name=""/>
          <p:cNvCxnSpPr>
            <a:stCxn xmlns:a="http://schemas.openxmlformats.org/drawingml/2006/main" id="47" idx="3"/>
            <a:endCxn xmlns:a="http://schemas.openxmlformats.org/drawingml/2006/main" id="49" idx="1"/>
          </p:cNvCxnSpPr>
          <p:nvPr/>
        </p:nvCxnSpPr>
        <p:spPr>
          <a:xfrm xmlns:a="http://schemas.openxmlformats.org/drawingml/2006/main">
            <a:off x="71247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77" name=""/>
          <p:cNvCxnSpPr>
            <a:stCxn xmlns:a="http://schemas.openxmlformats.org/drawingml/2006/main" id="49" idx="3"/>
            <a:endCxn xmlns:a="http://schemas.openxmlformats.org/drawingml/2006/main" id="51" idx="1"/>
          </p:cNvCxnSpPr>
          <p:nvPr/>
        </p:nvCxnSpPr>
        <p:spPr>
          <a:xfrm xmlns:a="http://schemas.openxmlformats.org/drawingml/2006/main">
            <a:off x="91821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817AEB5-F73F-463F-A3CA-65DE1CEB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95312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边界原则：接管前可回退；接管后不能再让 GDI 与 GPU 同时写同一 Surface。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1F6609F-96E3-4FD1-AF29-8C81E8AA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7057767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04AD4AA-8E70-46D0-9C89-93FAABDE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668DF6-F38A-4558-8109-0CC14CF3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最小穿刺不是性能优化，只证明一帧闭环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086F2-230E-47DC-9E0B-E0C196FB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B3A88-5B93-43E2-BA0C-6C221AE74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F1854B-877E-499D-8E8A-9CC99BD3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01583-CA61-4F91-B247-70B9BDB3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AB55C1-9FF0-4E45-B1DE-6714170B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90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穿刺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C1FE10-5F94-4174-9921-667A6B84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143000"/>
            <a:ext cx="2362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4917F3-CE0E-4021-8D93-15709DC4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190625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只证明什么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4125B-8D66-4A7E-A291-3A44AF07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1430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C19986-4ABB-4F4C-9442-A625BAD8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190625"/>
            <a:ext cx="2133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必须看到的证据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018EE3-66EE-490D-8B26-1005F8DA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143000"/>
            <a:ext cx="2133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38B7E1-4E73-4434-81FE-F10F7FC5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1906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还不能证明什么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C7F3BE-4F31-4D65-A1C9-EF96ACE5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4305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76BF0E-D679-42D3-B1AC-6D085CC5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59067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6B7E51-8380-4BBF-A529-46073992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54305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ABC8D6-3AF0-4663-8C46-E4259317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59067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bridge 与 compositor 真正进入 arm64 / HAP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70F2EF-5215-42B8-82B7-851BE8DE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54305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A8829C-68B3-4EFB-BD99-44CB014C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59067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build symbol / packaged binary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4874E9-8ED0-4AD2-857B-2EF42C2F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4305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F7E252-BF50-49BE-A610-93FC1172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59067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真机一定走 GPU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CAC341-344A-4116-B1EF-7C434798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1554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E2AB38-9201-4635-AF99-BE164F82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6316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1D07BE-A9D4-489D-AA42-DA7B4085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41554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023A11-05B3-4396-9FC9-B3DB8868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46316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真机选择到 hardware decoder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8B01FF-D81D-459F-A6E5-61ABEE7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41554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A1C31F-E51C-4036-9A7F-4298C1D1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46316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 identity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B4FD54-C0BA-4241-8BA5-096CE0A3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1554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C1A6EE-E242-49D3-A4B5-8C7E70E4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46316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一帧已正确显示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DA9298-2081-4A80-ABE0-272EA338D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8803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7E478D-01FC-4ACB-8BE8-9C9FED90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33565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A02C23-B522-40D1-BEA1-3B20FA8A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28803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DC5D66-CC38-4B5D-B714-7D642644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33565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一个 AVC420 sample 有可关联输出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F9311F-B08F-4877-AEAB-120534675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28803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FA521C-E107-413B-8ED4-FD1CDAF1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33565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frameId + format + stride / planes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49EC94-1E40-4641-8FBD-19FA2954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28803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147ED3-119D-4E8F-9EB1-D16BE316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33565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owner 与 present 正确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439B53-27CD-4323-9F34-752CC571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6052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1B2D85C-2477-442A-BF5D-E6CF7DCB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0814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D6B2E9-8235-4574-99A1-658D617D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16052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C1CE40E-59A7-4EAB-A8FF-E5F3E4C6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20814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同一帧完成 composite → pending → matched present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B0D77F-3840-46D1-BB4F-24BF41DA1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16052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D95F98-856E-4F18-8167-42EEE0CD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20814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owner + matched EndFrame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B150B25-A188-43F1-B49B-8C7B1440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16052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05C9EB5-57A8-4B4D-A4F2-9B4A32BC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20814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连续播放不卡顿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5F38B0-7344-4D18-BC10-08D7ABEC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3301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7AFE48-D3A1-4541-B6AC-093FB180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08063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B43F9B8-17CB-4517-A0F3-3E3C1812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03301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64EC64-18EF-4487-898C-630DC469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508063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接管前失败能回到原路径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75BB60A-8FC3-42D7-8E13-2044450D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03301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CFCE84F-6437-41CC-AF03-AC5F8975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508063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fallback reason + original callback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F29495B-4A2D-44D8-9B5C-9874DFECB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503301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A9493CD-0F6A-4F59-8EBE-3730E73F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508063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工程化队列和生命周期完成</a:t>
            </a:r>
          </a:p>
        </p:txBody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cc5838a8fd4895"/>
          <a:srcRect xmlns:a="http://schemas.openxmlformats.org/drawingml/2006/main" l="4422" t="0" r="442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29625" y="1143000"/>
            <a:ext cx="3190875" cy="2333625"/>
          </a:xfrm>
          <a:prstGeom xmlns:a="http://schemas.openxmlformats.org/drawingml/2006/main" prst="roundRect">
            <a:avLst>
              <a:gd name="adj" fmla="val 4898"/>
            </a:avLst>
          </a:prstGeom>
        </p:spPr>
      </p:pic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CF04B02-6F6F-47E3-91AF-7FE419C03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143000"/>
            <a:ext cx="3190875" cy="2333625"/>
          </a:xfrm>
          <a:prstGeom xmlns:a="http://schemas.openxmlformats.org/drawingml/2006/main" prst="roundRect">
            <a:avLst>
              <a:gd name="adj" fmla="val 489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D7C1388-42ED-4D55-B925-AD65D462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762375"/>
            <a:ext cx="3190875" cy="2143125"/>
          </a:xfrm>
          <a:prstGeom xmlns:a="http://schemas.openxmlformats.org/drawingml/2006/main" prst="roundRect">
            <a:avLst>
              <a:gd name="adj" fmla="val 6222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C83F5A4-551A-4502-AAC7-3120CBE2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876675"/>
            <a:ext cx="2886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为什么只做一帧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475048A-1BA2-4563-BC9A-2A6EFD29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41624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8F4CA06-A203-4F1A-81B4-8FE50291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238625"/>
            <a:ext cx="2619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6354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一帧足以验证接口边界：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① decoder 输出格式是否可用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② owner 是否唯一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③ EndFrame 是否与 pending 匹配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④ 失败是否可回退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但它不等于性能优化完成。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72C14C0-BFAE-4E4E-B518-F5A113B2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52289411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1ADC611-79CF-4EB9-BB65-21256649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5EB1C7-6D05-4DE8-BF21-512C64F4D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穿刺之后再拆任务，每张任务卡只有一个结果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5D0D98-CFE0-4A9F-AAF0-7211D8EC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BE8368-D420-40DC-82F5-357C51D6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1A0823-8022-4363-8F1C-A81A32A1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8E0810-A83B-4380-8B2A-60AB08D48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095375"/>
            <a:ext cx="21240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245159-64FC-4077-8A0F-62AF8AC5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152525"/>
            <a:ext cx="19716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观察 T00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6B2964-670C-4F32-9CF5-7386199B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1095375"/>
            <a:ext cx="21240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67B972-0290-4873-9A8A-3664337C3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1152525"/>
            <a:ext cx="19716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路径 T01–T03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01E1E0-A388-416B-97B1-2AF4B01BF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095375"/>
            <a:ext cx="21240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71583A-1C09-4C7B-B329-9641354E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152525"/>
            <a:ext cx="19716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韧性 T04–T06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E52976-77CE-4D58-A414-4EFBB9872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1095375"/>
            <a:ext cx="21240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BB09EE-6236-4DA7-BA40-1C6977D4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152525"/>
            <a:ext cx="19716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验收 T07</a:t>
            </a:r>
          </a:p>
        </p:txBody>
      </p:sp>
      <p:cxnSp>
        <p:nvCxnSpPr>
          <p:cNvPr id="151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743325" y="1343025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2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6019800" y="1343025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53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8296275" y="1343025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D89378-69BC-4CBF-A380-E0A4B7EA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09750"/>
            <a:ext cx="9067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21494C-E174-4843-BED3-D25BB1A94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857375"/>
            <a:ext cx="75438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F29AB6-A96C-4C29-B53B-C6A8BE3A3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1809750"/>
            <a:ext cx="79343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616497-BF96-42FA-A747-6836FEEE4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1857375"/>
            <a:ext cx="64103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Task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1CE378-4780-4914-9320-AB9F7909F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1809750"/>
            <a:ext cx="43072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6B614E-3234-4D0D-8338-C9B6243AF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1857375"/>
            <a:ext cx="41548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主要源码边界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48D83F-4765-4D69-BF26-E0803E10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1809750"/>
            <a:ext cx="532733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8EAB3C-6BF9-4E68-B012-2CF343CE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1857375"/>
            <a:ext cx="517493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一个可观察结果 / Stop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CFC0DD-60E0-4507-AC6D-1371CB6E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209800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794FA5-82EB-42AF-9449-E1A644554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257425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578DC7-463C-4A6D-A05B-07ADDB173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2209800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8E5C17-316A-4C14-A404-B0DBB6F64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2257425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62FFF1-8004-494E-BFF9-3CB5EF43D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2209800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81608D-20CA-4688-ACC7-A0DF62219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2257425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diagnostics only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5DCA9D-EC39-4F4A-B085-7C8732363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2209800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A02632C-D654-46A2-9B8C-D29E3FF3D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2257425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保存同 runId before；路径不明则不归因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6F016C-7B39-4AB5-B2A9-1D3A8067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689622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F6C348-10CD-4B38-B6AA-54619FC0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737247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6C37680-7AE1-4BC0-9FEE-A4196950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2689622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9EEE0B0-D6BD-473C-A2EF-9BF3D82F6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2737247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1BCD904-523F-4291-BD9B-A47AAF0A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2689622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2502906-205F-4602-BDB7-DB0645A6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2737247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InstallRdpgfxDiagnosticsHooks、bridge_attach、decoder init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75C87D-48AC-4E4F-A357-C94936A5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2689622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EC6F8E-408B-4490-965D-662A49B8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2737247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bridge + hardware decoder 真机成立；只编译成功则停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89B1F6-E7C9-4E6A-90FE-CAF3E6D54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169444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BC15955-0A79-4FE9-9C0B-A4261D31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217069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9DFB2B3-D4BE-4FFE-A155-7F9E0885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3169444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0CE3C48-6EA7-480B-B97D-AB8D780D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3217069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EAA1607-DF27-442A-B3AA-7466C604C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3169444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FFB7FA3-C49A-402D-B159-E73D1624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3217069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 input/output、OH_AVBuffer_GetNativeBuffer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AEC325A-DF32-4A05-A1E3-AC4ECF4A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3169444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F08F413-40FA-41B2-AE43-1F6F766D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3217069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一帧输入输出可关联；format/native buffer 不明则停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775F63C-1E29-4149-BBD5-2E8AC351D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649266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DA2E9CA-F4B3-493F-9923-53E08995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696891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0100FE8-501A-4C46-B2D0-BAA45AE6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3649266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9809CEF-13BE-4F4E-8516-51C2C19E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3696891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T03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781CB2F-ACB0-4338-9E46-FB890FE6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3649266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E23B8D9-2C77-4D31-8B44-70E87DE36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3696891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candidate policy、OnSurfaceCommand、ProcessCommand、PresentEndFrame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5993303-6331-40E3-BF80-29C582275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3649266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B841B2F-6FC9-4A46-ABD3-C26A3112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3696891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consumed→owner→matched present 闭环；GDI/GPU 双写则 FAIL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5E35263-0CAD-4035-A0E6-7DE5CED4C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129088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F881A28-51F2-4ECA-AA67-0DEC84A0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176713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韧性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7A6A8E7-2BC3-473E-AAD0-8E66AE77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4129088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592E795-965C-4E97-9F56-B60903AA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4176713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T04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2BB3901-F3B9-49AD-8CE0-14FAC3C6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4129088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04AF1B5-E21E-4745-AAE0-7E3B649D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4176713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EnqueueSurfaceCommand、worker compaction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561D491-C095-49BD-A9F5-88BBBEF10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4129088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CC64407-0178-4F09-B40B-747D58E0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4176713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连续队列有界；depth/age 持续增长则停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6C85141-88F2-41D3-A9C9-A0102471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08909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BD79E76-4C2E-4E02-91BB-8C89A38F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656534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韧性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C07BA63-AE70-42FA-9AC5-461FD5F5D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4608909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49F2843-3BEA-4DD2-9437-B8563E6E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4656534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T05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CE5547B-EC62-4EDC-9798-B992AB49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4608909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4408933-4556-471B-B58B-AB4A39F2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4656534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target generation、pause/detach/recreate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FD6EF64-9B39-4BDC-90BE-D004F0F1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4608909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97ECDFF-A48F-43FE-90A2-AF818AAB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4656534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resize/后台/重连拒绝 stale task；旧 target 可写则 FAIL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CCEA499-1E76-4271-90D4-30E0BAA9F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088731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C5F157F-6843-4CA8-ACAF-B320C6C8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6356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韧性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ADEA29B-CF63-4AA8-B9FB-CB034953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5088731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3D39FCA-5455-4A97-AE3B-9B8778D8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5136356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06BF749-3EEB-4968-9810-CF71732D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5088731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FFF18CE-8D94-4EEA-81B1-BA6700125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5136356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AVC444 candidate/compositor、LC retained state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B606AD1-8379-4145-836F-27C2CA29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5088731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626F455-8944-4755-BAF2-B1DBD095E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5136356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单 decoder + LC + EndFrame；复用 420 假设则停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30135B1-1BE3-4AB7-B70C-A871B3D2D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68553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C851758-9284-4B7C-A79E-2565C63D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16178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验收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8B7B693-54E5-488D-A56A-A4D1C0988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5568553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8D2E765-DD7E-499D-ACC5-FD47EAC64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5616178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T07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62CB9A9-E414-4B97-9345-48D5AE0D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5568553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97FF12B-29A6-40F6-BE0F-7F8C7B6E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5616178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测试/脚本/报告，生产代码冻结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E9D7723-EB02-4CC9-A781-1033A09B7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5568553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5190E7E-1806-4BC2-9A5E-097B1E99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5616178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同场景 A/B；缺 CPU/FPS/path/soak 则 UNKNOWN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2272773-BF71-4763-8CD6-AEE94209A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2246168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7861DBE-2DD2-49F5-AE20-1B2A678D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76E62D-71E4-4CDA-B953-41A5C4B0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实际开发先走 T01–T03：每步只证明一个边界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68E0D-DC3C-42B1-89F5-138FAD5D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C41C4F-8998-4EED-9A82-0073A58BA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300D50-30A3-41BD-AB52-A918FCC4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580100-243E-4D55-8798-9B10F647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2C74C3-193C-41FA-BD9B-31AE24E0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T01 Bridge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1C8E4F-788E-48F4-AC16-35737F00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A5BFA0-8277-4DEF-A7CC-6EE7452F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065E93-023B-4BF8-A4EE-A4129DF9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T02 Decoder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BD8FE7-4959-43F6-80F6-D5EA54F8D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5929E1-B705-489E-B6DF-FA22C390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BBB311-654B-41C8-8EBC-E2FC03D0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T03 Compositor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DA9933-58DB-465C-B68F-F32457E7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0A28B6-3B1B-43B8-A5F7-24A0A38A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6DC0A2-E75E-4DB5-8090-2A6A3B2E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Tool / Device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1AF492-0722-4D13-A8F6-06150618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B04B93-A605-463E-973F-0CC289B3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3F98C1-4607-4B7F-98E2-0470CCDD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Reviewer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770247-6B7F-42F1-B5CB-B6214663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32FBD4-6AD3-4889-B0B0-37A6D296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9050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476DE9-1C62-4E6E-9E09-461D6D0C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9050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09" name=""/>
          <p:cNvCxnSpPr>
            <a:stCxn xmlns:a="http://schemas.openxmlformats.org/drawingml/2006/main" id="21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1495425" y="191452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45F996-7CB8-4E1B-B6AF-2D5F2203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14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安装 bridge + diagnostics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29B760-B420-44B9-B237-BD983B3C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333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3E42E1-4FFF-4BC2-90F2-CC9EC225F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333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13" name=""/>
          <p:cNvCxnSpPr>
            <a:stCxn xmlns:a="http://schemas.openxmlformats.org/drawingml/2006/main" id="25" idx="1"/>
            <a:endCxn xmlns:a="http://schemas.openxmlformats.org/drawingml/2006/main" id="26" idx="3"/>
          </p:cNvCxnSpPr>
          <p:nvPr/>
        </p:nvCxnSpPr>
        <p:spPr>
          <a:xfrm xmlns:a="http://schemas.openxmlformats.org/drawingml/2006/main" flipH="1">
            <a:off x="1495425" y="2343150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2D372E-CE2F-4476-8B0C-9EFC96ED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431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hardware decoder identity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D191D9-5187-4D62-9424-FB8CF78D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8098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9110C7-0533-4EA1-8988-1A441486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098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17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1495425" y="2819400"/>
            <a:ext cx="4552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BC91CB-0DC3-456A-BD40-6067C52A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19375"/>
            <a:ext cx="428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一帧 input → output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09A147-A43D-4716-9367-882DE0B53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2385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A31315-CC36-47CE-98E6-1E3CDD6A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2385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21" name=""/>
          <p:cNvCxnSpPr>
            <a:stCxn xmlns:a="http://schemas.openxmlformats.org/drawingml/2006/main" id="33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6067425" y="324802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FFA90D-38AC-4D6D-8922-E0A0B499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owner + matched EndFrame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ABD078-4180-43CE-AA1E-9783BA8C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6671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1D3825-ED2E-49FA-8CF6-8399D079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36671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25" name=""/>
          <p:cNvCxnSpPr>
            <a:stCxn xmlns:a="http://schemas.openxmlformats.org/drawingml/2006/main" id="37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8353425" y="3676650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E03907-512D-4AE8-93F6-EA1DCA40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766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fallback 注入 + 原路径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C98A404-C998-4087-98C9-69EBA918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40957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C690DF3-3304-4632-BB60-84CDADC3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0957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29" name=""/>
          <p:cNvCxnSpPr>
            <a:stCxn xmlns:a="http://schemas.openxmlformats.org/drawingml/2006/main" id="41" idx="1"/>
            <a:endCxn xmlns:a="http://schemas.openxmlformats.org/drawingml/2006/main" id="42" idx="3"/>
          </p:cNvCxnSpPr>
          <p:nvPr/>
        </p:nvCxnSpPr>
        <p:spPr>
          <a:xfrm xmlns:a="http://schemas.openxmlformats.org/drawingml/2006/main" flipH="1">
            <a:off x="1495425" y="4105275"/>
            <a:ext cx="9124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652B76-3BB5-489B-943F-D0F19584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9052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同一 runId：build → decoder → frame → present → fallback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BAF4E74-E32F-4F83-A006-CDAEAFC5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C5ACDA1-3FE4-4B7B-B047-56E7EF75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T01 Bridge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接管前校验 + fallback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7754F23-F0DA-4AE3-B2E2-3E0A89B9E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4A81010-DC7D-43AB-8535-1DDABB69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T02 Decoder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能力查询 + input/output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DD9E0CC-6677-4EF3-A38E-3B4420BF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62DE949-FF26-467F-8F01-B9633047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T03 Compositor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owner + pending + present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729AD54-AF19-494A-AA33-C0CAC70A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9E0F723-6C64-498C-B248-E4EC04A9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Tool / Device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build + runId + frame trace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7368E46-1877-425B-AE5C-23BFE770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1487309-DC51-4DF3-9A7F-DA210670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Reviewer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逐条 AC / Stop 判定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EEFE30-F1F0-4527-B27C-08615B55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953125"/>
            <a:ext cx="57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391DF79-6C97-4C57-9BCD-D7F33497C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5991225"/>
            <a:ext cx="735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上一张证据通过，才允许进入下一张任务卡；不能并行堆出一大片代码。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762508-D162-4E4F-A05B-B05FA6E3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01020220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931D2D-03F4-4C2A-8FC0-31443D67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BE97B-BE97-4B0A-9BDC-68D060E5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Ralph 循环不是反复聊天：一轮只推进一个可验收结果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F46FB-F010-4E61-A59A-4F3E74C2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B5061-AE26-4B93-A401-EB3F1C68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7D6B8-1602-4984-86C0-7A7354A6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1a90d798b04b3f"/>
          <a:srcRect xmlns:a="http://schemas.openxmlformats.org/drawingml/2006/main" l="28333" t="0" r="283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2400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004C6-E373-4F3F-A88E-6024E850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24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717208-F3E0-4619-B7E2-FE303BF3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143000"/>
            <a:ext cx="581025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3A8B8-FA24-468F-8940-DEB773E6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2573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同一任务卡：九步闭环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4F234-CE8C-445A-8C77-2DF7A73C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589599-8510-4340-8CF9-2640DA57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48424-FC32-454F-9DAE-52C08CBD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0E7AA-8599-4A80-9683-7832E686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600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读取 Task Card 与 Stop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8FE908-2AC8-4976-90DD-EDF33A61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F80AB6-D4B9-44DD-A090-CD7A57ED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FC0EEE-6F74-4404-987F-4A31C688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288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执行一个最小修改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0290B0-05B8-420E-A1D6-228C6B5E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3BDC4-A94E-4AE5-BE67-1A29B2AE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0F2E2-F189-48B7-A5EB-1747B16C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574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运行 verify command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54A20D-7721-4EB5-B99E-F3C71F28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F2CFF-36A4-4330-B479-A03C1CF6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022835-2ABF-416A-837C-58270548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8860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绑定 commit / runId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E64DBC-5542-41A6-A28A-45778BC1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E81FA8-BD8A-4836-8D65-EB5468CD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2DE0F2-701B-42B9-A052-AB2FB30E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3147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对照 AC 找首个不一致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007F5F-1E80-4565-8591-AFB2E9E3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8FD730-69AC-42A9-93D2-F1A0E3DF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3656B4-6296-4F18-97FC-140E229D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7433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记录 Symptom / Hypothesis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1AB29E-31F4-4917-AE56-A85B0E17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3C6DB6-17B3-4C55-9CCE-6A256678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F5DF3A-81F5-4725-B2AB-B2CDB23E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171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只修当前证据边界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3DFD36-42C0-4EB0-A714-8848A4F5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44121D-FCF2-4C3E-AE6A-AC5AA696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67140F-C4C8-4C21-87ED-366B827D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005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重跑同一场景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AD0B19-5553-47C7-9EDF-733A8507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9ABFDA-0510-435D-AB51-416F58AE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9FD5ED-B4FB-42C5-B920-F44D3DBB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029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更新 progress + evidence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BD3DE2-50FB-416D-865A-7D2DAB19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76875"/>
            <a:ext cx="5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90416C-AD2A-41AE-B23C-E70899F6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14975"/>
            <a:ext cx="4781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没有新证据就不进入下一轮；失败时只缩小当前边界。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754D3C-3089-440E-B9B3-CC07B442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3082661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9821D27-9C8D-46E7-AC8E-BA49CB07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09621-3167-49B8-897B-40BC24FD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遇到黑屏、色块或仍卡顿：按最早异常分叉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535647-76CF-4742-A44E-A7EF0547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689946-7564-4A7F-AAAB-99E8AAB5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81FC0A-2C04-4EE5-A606-56DC7C7B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D5091-4B60-437C-8B5E-A2EC0B67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3030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5B347-E776-431A-B223-4645C9B60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38250"/>
            <a:ext cx="11506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症状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263F5F-56B6-437C-A685-ACF8A4F2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190625"/>
            <a:ext cx="13030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441D77-427F-4110-BB94-D1AA4A0C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970" y="1238250"/>
            <a:ext cx="11506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4B84F8-61F1-41DB-88F2-A9158653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2790" y="11906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8F63D4-F971-4E11-B6B9-DED455EE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12382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58B79A-B1F8-4D19-AF5F-242278E5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190625"/>
            <a:ext cx="16287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097283-9FDA-412C-9E79-E8FBA437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238250"/>
            <a:ext cx="1476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常见根因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83C750-F321-490B-88D3-D3BE96F30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190625"/>
            <a:ext cx="14116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DCEB86-A9B8-4717-B431-F12A3C01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238250"/>
            <a:ext cx="12592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修复边界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28DD83-C3F8-4213-9F96-0D9DB378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530" y="1190625"/>
            <a:ext cx="14116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9491C4-D5F1-4361-A7DD-3AA3109E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1238250"/>
            <a:ext cx="12592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60CCF4-50F0-4ACE-9B08-EAF17965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1190625"/>
            <a:ext cx="206311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10C59A-1A33-4068-81F1-A21EEEAB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8335" y="1238250"/>
            <a:ext cx="191071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4A4DC0-4E02-4FF8-8885-AFC3930D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90675"/>
            <a:ext cx="130302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106140-31E9-4B0B-9905-AF09496D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15062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黑屏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E59607-EF62-440C-BE63-97F678B5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590675"/>
            <a:ext cx="130302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CF68BD-4F63-434A-A304-A183E0F1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970" y="1638300"/>
            <a:ext cx="115062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candidate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089278-98FC-49C9-BF26-EF4CFEC2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2790" y="1590675"/>
            <a:ext cx="173736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A33897-46E1-4B26-BDCC-7E99153F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1638300"/>
            <a:ext cx="158496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frame trace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F5ABCE-5807-4F4E-A5AE-3F95E5F9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590675"/>
            <a:ext cx="16287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021C5B-245C-4902-AB34-ABAC41B3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638300"/>
            <a:ext cx="147637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 / owner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542929-BFCA-4EF1-ADDD-004C7E16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590675"/>
            <a:ext cx="141160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FA6167-887C-4053-852A-BDC474F6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638300"/>
            <a:ext cx="125920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首个异常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A33EE8-44B4-4E9C-AB0A-35053840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530" y="1590675"/>
            <a:ext cx="141160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AB4BAB-6A7D-4D7A-90CE-BAD908C3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1638300"/>
            <a:ext cx="125920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同场景复测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A7262D-55D4-4910-B93F-92EA4EE5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1590675"/>
            <a:ext cx="206311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3866A5-57BA-43BF-B4EC-15E8AF7D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8335" y="1638300"/>
            <a:ext cx="191071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8A46A6-B1A4-4337-89A4-EEF04752F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05125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三类问题先看不同证据：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5F43C2-FAB3-4F3A-8934-B83AF0B3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D2DF87-CAD6-428A-9E9C-6E4B9C3C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黑屏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output / owner / present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67F7FD-968E-445C-8808-00F9CB2A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41E2B28-4C02-4AA7-9957-05D693B98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759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色块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format / stride / planes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02650DC-CC8F-4120-B147-3D6D3F81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A57BB7-A904-409C-AE7D-0801F30A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仍卡顿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CPU / FPS / queue depth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D2AFEF2-268B-4354-9DE4-83C8286B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65FFE44-95A9-4D41-B40A-55D2F285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双写冲突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GDI / GPU owner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FC7297E-2BEE-44AE-9BA7-A8927E43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CC4B0D2-F958-4D57-B52C-4A36352C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生命周期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resize / stale target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235C32F-DB87-40E2-959D-5321ED4A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5665C1F-5927-4C23-8A22-FBA60EC9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回退失败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original callback</a:t>
            </a:r>
          </a:p>
        </p:txBody>
      </p:sp>
      <p:cxnSp>
        <p:nvCxnSpPr>
          <p:cNvPr id="258" name=""/>
          <p:cNvCxnSpPr>
            <a:stCxn xmlns:a="http://schemas.openxmlformats.org/drawingml/2006/main" id="35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23812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59" name=""/>
          <p:cNvCxnSpPr>
            <a:stCxn xmlns:a="http://schemas.openxmlformats.org/drawingml/2006/main" id="37" idx="3"/>
            <a:endCxn xmlns:a="http://schemas.openxmlformats.org/drawingml/2006/main" id="39" idx="1"/>
          </p:cNvCxnSpPr>
          <p:nvPr/>
        </p:nvCxnSpPr>
        <p:spPr>
          <a:xfrm xmlns:a="http://schemas.openxmlformats.org/drawingml/2006/main">
            <a:off x="42100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60" name=""/>
          <p:cNvCxnSpPr>
            <a:stCxn xmlns:a="http://schemas.openxmlformats.org/drawingml/2006/main" id="39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60388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61" name=""/>
          <p:cNvCxnSpPr>
            <a:stCxn xmlns:a="http://schemas.openxmlformats.org/drawingml/2006/main" id="41" idx="3"/>
            <a:endCxn xmlns:a="http://schemas.openxmlformats.org/drawingml/2006/main" id="43" idx="1"/>
          </p:cNvCxnSpPr>
          <p:nvPr/>
        </p:nvCxnSpPr>
        <p:spPr>
          <a:xfrm xmlns:a="http://schemas.openxmlformats.org/drawingml/2006/main">
            <a:off x="78676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62" name=""/>
          <p:cNvCxnSpPr>
            <a:stCxn xmlns:a="http://schemas.openxmlformats.org/drawingml/2006/main" id="43" idx="3"/>
            <a:endCxn xmlns:a="http://schemas.openxmlformats.org/drawingml/2006/main" id="45" idx="1"/>
          </p:cNvCxnSpPr>
          <p:nvPr/>
        </p:nvCxnSpPr>
        <p:spPr>
          <a:xfrm xmlns:a="http://schemas.openxmlformats.org/drawingml/2006/main">
            <a:off x="96964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420922A-740C-4AF2-952C-B195E58E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333875"/>
            <a:ext cx="57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067B05F-0221-40A0-A1A4-96839DD0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4371975"/>
            <a:ext cx="9067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先找第一处与预期不一致；修复后用同一 runId / frameId 回归，不能拿另一轮截图补洞。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39541C3-ACF2-49C7-8ED8-E051FCBF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143500"/>
            <a:ext cx="8382000" cy="904875"/>
          </a:xfrm>
          <a:prstGeom xmlns:a="http://schemas.openxmlformats.org/drawingml/2006/main" prst="roundRect">
            <a:avLst>
              <a:gd name="adj" fmla="val 147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EB3E9F1-AF46-4283-A9EA-E97802CB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257800"/>
            <a:ext cx="807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停止猜测的两个规则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124A553-2F58-43B2-8724-07978340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543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0C2C91E-C3CA-474D-A2FD-2E572AAF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619750"/>
            <a:ext cx="790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成功 ≠ 画面正确；单帧截图 ≠ 连续播放正确。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0B007DC-A6A6-45A2-A9BE-DC18D95D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2542551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D37859A-6379-4EFF-9F5F-F16F58F9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9E3EC1-5BA2-4BD2-B1E4-336AA147E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T04–T07 把穿刺扩成可交付工程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EA694F-EE0D-4018-981B-42A4478C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0C1AC-8666-4E26-8B84-963502A3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20DA06-20E8-424B-ADC8-F035F5E1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D256E2-15C5-444E-96AE-FCBA4267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23950"/>
            <a:ext cx="571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6802B7-D8DA-4AEA-9AD4-D0E3AD87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1162050"/>
            <a:ext cx="982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T01–T03 证明一帧能走通；T04–T07 补齐队列、生命周期、AVC444 与验收包。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89404-F3C9-4A50-A679-8DBFDD61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09750"/>
            <a:ext cx="189452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8C507C-78D0-4F31-A81C-6EC4754E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857375"/>
            <a:ext cx="174212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Task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671AD-0A0E-4B09-9D72-15B2F46C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1809750"/>
            <a:ext cx="50149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4BFC49-2D12-4EEF-8AB6-6834AEC3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1857375"/>
            <a:ext cx="486251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工程目标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19A9E9-59E5-4486-AA47-21E5F08A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1809750"/>
            <a:ext cx="423481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5404A6-06BC-40AA-A74A-052DCD8A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1857375"/>
            <a:ext cx="408241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Release gate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F36E6-1AA5-4102-B165-1306F5C7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0980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80D671-A0D3-48F1-A152-41D62FD5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25742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D42BB2-7E08-4448-B790-D1298569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220980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017339-95DF-47A7-A578-89CBCBCF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225742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有界队列与背压：输入、输出、present 队列可观测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63B98C-76BD-482F-BAB3-1F02C26C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20980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93405B-477F-46DA-AFD4-4BB56347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225742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depth / age 不持续增长；长稳无堆积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B2FCAC-1F97-490C-AC33-DC5C9E0A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4162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829427-6FC1-4C46-9054-537BF0B7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8925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141F79-D368-4326-8914-91E66E72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284162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E540C4-BA8B-433A-84D7-0CD19FFA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288925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resize / 后台 / 重连：generation 拒绝 stale task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E9584D-E1B3-422C-8ECF-44251CA6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84162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A375B4-B4E7-4ED1-A8FB-E2FF538A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288925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旧 target 不可写；重建后能继续播放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8324E-9965-47BC-9B56-0DF26079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7345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15BE0E-5FC1-4746-9A00-115B036A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2107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5EC680-8C23-4154-82E1-C4CFF002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347345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9336FC-47F8-4139-9A11-0A29154B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352107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AVC444 + LC retained state，独立定义边界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2C5A66-A898-4DAD-B079-A29439A9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347345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06A454-3799-4FE3-A70E-86E5AF08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352107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单 decoder + LC + EndFrame；不复用 420 假设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E7DDD3-514D-4253-A8AF-878B1575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580BE69-1DB6-4714-812E-35AE63C0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15290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A800E1-D9B2-4C01-B544-1F44281A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410527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50C099-2A52-4435-A9E7-8E1B07DF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415290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同场景 before / after：CPU、FPS、path、soak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893BE0-066F-46E9-82C4-98762F1E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410527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264EC3-E379-489F-8731-CDA773A2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415290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缺任一项就保持 PENDING / UNKNOWN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DC91C86-1858-4C19-AF88-19035C0B2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73710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58F25F-3B9E-411E-A244-2FF5727F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78472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4749B0-9C4B-4727-B9A3-518D6115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473710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C9B214A-8F32-483B-9180-4CD5FB3C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478472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commit / runId / log / video / frame trace 可复查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F0C5168-B18C-43FE-9A60-131B301B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473710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848659F-7F51-402E-A39E-7A331038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478472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命名一致，证据可回到任务卡与 AC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9B23DD-7391-47D3-9BD1-1F30AADC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6892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DABEA65-610F-4341-9A91-DC11523C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41655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Release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93EC6E8-8284-454E-96FE-4742DABD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536892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E67A7EC-18B4-46D9-9E11-3D2DBDC1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541655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失败可回原路径；输入、resize、后台、重连通过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2FC6D38-384F-4D48-B403-DBE2A7F3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536892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8ECDF98-741F-49FB-8045-B3482C6E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541655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整体验收通过后才宣布交付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31A8108-396C-408D-8393-0D526A92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5882890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F85BADE-B62D-49AD-B0B5-68A033E5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51B0E1-5384-4BB9-87CE-DB33DF30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最后只交付可复查证据；缺项就保留 PENDING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DFDDEC-3DF4-43D4-AD64-22DA5C7F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7B144E-695E-42DF-A34E-A744C58D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2D71E9-E4A8-4FD2-B1A8-6B93F1685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F07305-D803-4474-B882-EFA8EF7D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2524125" cy="1571625"/>
          </a:xfrm>
          <a:prstGeom xmlns:a="http://schemas.openxmlformats.org/drawingml/2006/main" prst="roundRect">
            <a:avLst>
              <a:gd name="adj" fmla="val 8485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16B2AA-3295-49AA-8EF5-3AB2AF70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2219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 视频 + 基线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944090-5FB7-48BC-9B2E-A56C785A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C8B694-91BF-437C-92DF-057E8728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14500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7548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待绑定 CPU / FPS / runId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38A645-6FE1-4157-BAA0-25DE5534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00375"/>
            <a:ext cx="4095750" cy="2667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09DBA2-8679-4E0A-8A3A-876EFA7E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114675"/>
            <a:ext cx="3790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最终证据包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9FCFC4-4042-4ECE-908B-543F4A4F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004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59CC59-0B48-43E1-90B9-3F6E12B9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76625"/>
            <a:ext cx="37909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commit / runId: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before: CPU path + CPU/FPS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after: decoder identity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frameId + output format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owner + matched EndFrame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present + fallback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A/B + soak + regression</a:t>
            </a:r>
          </a:p>
        </p:txBody>
      </p:sp>
      <p:pic>
        <p:nvPicPr>
          <p:cNvPr id="3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9f15c636c34d25"/>
          <a:srcRect xmlns:a="http://schemas.openxmlformats.org/drawingml/2006/main" l="32143" t="0" r="3214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05375" y="11430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4C7B81-8234-4FA9-928E-BF67FC52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1430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9778EA-8C63-4792-B872-F1EBAFD8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381375"/>
            <a:ext cx="2618899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BDC58-C718-4616-9B6B-2E25394E9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429000"/>
            <a:ext cx="2466499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16018F-1EBE-4F23-93E4-682C84CE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381375"/>
            <a:ext cx="2484596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687AD4-47DA-4511-9495-36DACB28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3429000"/>
            <a:ext cx="2332196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当前证据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33B9A6-3085-466D-9EC4-878C7ECD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381375"/>
            <a:ext cx="1611630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263702-7992-420E-A5EA-16E82AC9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3429000"/>
            <a:ext cx="1459230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AFDD2F-8DE1-4BD6-89ED-966A4AA8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70998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7171C6-EB80-4A5F-8B05-30039A1D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75761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当前走 CPU / 软件路径，未进入 GPU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7BF9F8-4D39-4004-A5B6-A72AF74E6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70998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461404-1752-4CB7-8A1A-C60C39D0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375761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本地定位记录 / 课堂冻结口径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F48AE5-1AC7-46BD-BE19-E989D608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70998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948F5A-0C32-44AF-96CE-84CD95C3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375761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 FACT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30ABDD-0CD6-49BA-BC3F-CDF63FE8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89614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2EA722-8901-4B98-A5AF-B2EAC91B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037239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arm64 / HAP 构建与产物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CE8825-5454-48A7-9995-4F4413B8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989614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5743CE-B3DC-4743-AB53-E344A133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037239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待绑定 commit 的 build 日志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418EB8-ABCD-4BE4-9D9E-27157478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989614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191A5D-4E72-4076-923E-24B45854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037239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EC5A74-6EF3-421D-88DD-2D594587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269241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3AD772-80D9-477F-B1FF-754D6DBE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316866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真机选择 OHOS hardware decoder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F894573-F22C-4E94-A40A-5ED83741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269241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DD782D-95B9-4E86-B1C8-D8EB482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316866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待采集同 runId decoder identity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4255CB0-2F4D-42D9-BE31-B6A28150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269241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DADD637-39EE-4A1C-92AC-09032E9C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316866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8CAA6D-C7A0-42A7-8A92-9D67AF3A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54886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621843-30E8-4A4B-AE1E-8B146593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59649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after 连续播放与交互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87860A-D941-4B44-A7D1-66A430B4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54886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2609F3-51EC-4F4A-931B-A420DFF8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59649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待录 gpu-hwdecode-after.mp4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A87C81C-37C2-4290-99C0-37ACB79A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54886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1AAF621-1B4C-4A20-9221-408C04EF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59649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1B9D8D9-DA88-4575-A5DE-C00BFF40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28495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259930-307D-4D48-AE3F-672C251A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876120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失败注入与 fallback 回归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60772BB-22D7-468F-8055-C4951026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828495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13F3942-40DB-4148-8228-B8D2C9CF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876120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待绑定失败 runId + fallback reason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494D24-B4ED-43A7-AE37-C4CD3BC8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828495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EB508C6-9537-47F4-95D9-B4998F87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876120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317DD22-2BBF-4315-89BF-34AE0862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108121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4081916-D38A-48EE-B564-F822425E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155746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同场景 CPU / FPS 与卡顿改善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12E4D2A-CEA5-4C5B-A783-AA24D891F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5108121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C70C450-A606-40E4-A38E-1C49191C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5155746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待绑定 before / after 同一场景数据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4DEF24E-3667-4026-9636-C695BBAA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5108121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BFFDD4E-59C1-4CF4-85F9-1F7C3061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5155746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C043A3D-7A35-4F69-B31F-CA4922CA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38774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4603E77-5923-4C95-9AA3-49C1729B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43537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resize / 后台 / 重连长稳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74D54DD-594A-42D7-804B-028F0C8E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538774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6D77C86-7B6C-4357-A5DD-01CDB105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543537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待执行回归矩阵与 soak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BD8ED53-D7BF-4CB2-B67D-6A7F6B293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538774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8654C4E-0A8B-4953-ABB9-A92654BB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543537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2FEFC5B-AF62-4A38-BCE5-FDDE1488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143000"/>
            <a:ext cx="3048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B1D9BB2-2BDB-4A8D-A442-2FBD2705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666875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VIDEO SLOT · AFTER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gpu-hwdecode-after.mp4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F17C6E5-640B-4DA9-89C1-C5659576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7D1AA3C-0732-411C-85BF-5F02EE7D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源码可证明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FA27577-FAE9-4DC7-94BB-BE78DE08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451BD06-1677-4CD8-A174-EAE27408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VIDEO SLOT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视频位待替换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BFDC77E-D9E7-4D72-98DF-A0BEA2C83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1B6A779-7A13-4163-BFFA-22DF93FA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证据待采集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C191196-6AB0-447E-A710-3F8519B3F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65462CF-798D-49FD-8C16-A0C10131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暂时不能下结论</a:t>
            </a:r>
          </a:p>
        </p:txBody>
      </p:sp>
      <p:cxnSp>
        <p:nvCxnSpPr>
          <p:cNvPr id="382" name=""/>
          <p:cNvCxnSpPr>
            <a:stCxn xmlns:a="http://schemas.openxmlformats.org/drawingml/2006/main" id="66" idx="3"/>
            <a:endCxn xmlns:a="http://schemas.openxmlformats.org/drawingml/2006/main" id="68" idx="1"/>
          </p:cNvCxnSpPr>
          <p:nvPr/>
        </p:nvCxnSpPr>
        <p:spPr>
          <a:xfrm xmlns:a="http://schemas.openxmlformats.org/drawingml/2006/main">
            <a:off x="3533775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83" name=""/>
          <p:cNvCxnSpPr>
            <a:stCxn xmlns:a="http://schemas.openxmlformats.org/drawingml/2006/main" id="68" idx="3"/>
            <a:endCxn xmlns:a="http://schemas.openxmlformats.org/drawingml/2006/main" id="70" idx="1"/>
          </p:cNvCxnSpPr>
          <p:nvPr/>
        </p:nvCxnSpPr>
        <p:spPr>
          <a:xfrm xmlns:a="http://schemas.openxmlformats.org/drawingml/2006/main">
            <a:off x="6038850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84" name=""/>
          <p:cNvCxnSpPr>
            <a:stCxn xmlns:a="http://schemas.openxmlformats.org/drawingml/2006/main" id="70" idx="3"/>
            <a:endCxn xmlns:a="http://schemas.openxmlformats.org/drawingml/2006/main" id="72" idx="1"/>
          </p:cNvCxnSpPr>
          <p:nvPr/>
        </p:nvCxnSpPr>
        <p:spPr>
          <a:xfrm xmlns:a="http://schemas.openxmlformats.org/drawingml/2006/main">
            <a:off x="8543925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F83E15D-F112-4276-A613-66DD493D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076106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149BD3-4376-4B1E-AD98-44FADA94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24BA7-E2F3-4FB2-B872-F7250BAF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把方法带回项目，只保留七个问题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251875-7F5B-44FA-A2D4-06A1EDCB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E57918-AD78-40E3-BBCA-0C70C290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4277A7-F582-40A4-90AD-7E90C5D0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736B55-D10D-47F4-BF7B-60D38940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52F99-35AC-4C1F-A15E-F0FB1176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87FD06-CE05-4015-A66D-54E2F426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34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FD15FA-1367-4113-B948-C2F10F7B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96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DE90D0-9BD3-40E5-89EA-16965A6F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0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1EF0FF-B3B6-4DA5-876A-D31BDD5E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92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F86B29-F984-47A3-BAC6-A2DED090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26EEFE-E856-4437-86FB-6C996449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DF3FE-ADCD-4DD8-89A4-DDD542A8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22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33A221-BEBB-4DE5-B6F1-BA746CD79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4EE3CE-DA20-41DD-BCB7-FF4BBB46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B8B639-4D19-4EE5-A792-036693EE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8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cxnSp>
        <p:nvCxnSpPr>
          <p:cNvPr id="118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2701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19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1497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0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0293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1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9089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22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97885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pic>
        <p:nvPicPr>
          <p:cNvPr id="1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0ee8a37b3f4df4"/>
          <a:stretch xmlns:a="http://schemas.openxmlformats.org/drawingml/2006/main"/>
        </p:blipFill>
        <p:spPr>
          <a:xfrm xmlns:a="http://schemas.openxmlformats.org/drawingml/2006/main">
            <a:off x="588778" y="2047875"/>
            <a:ext cx="4823194" cy="2714625"/>
          </a:xfrm>
          <a:prstGeom xmlns:a="http://schemas.openxmlformats.org/drawingml/2006/main" prst="roundRect">
            <a:avLst>
              <a:gd name="adj" fmla="val 4211"/>
            </a:avLst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311B43-FF5E-4410-A70A-2681C6A8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4953000" cy="2714625"/>
          </a:xfrm>
          <a:prstGeom xmlns:a="http://schemas.openxmlformats.org/drawingml/2006/main" prst="roundRect">
            <a:avLst>
              <a:gd name="adj" fmla="val 421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A93092-0E09-4F4A-BC9A-A8DC215CE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00250"/>
            <a:ext cx="5810250" cy="3238500"/>
          </a:xfrm>
          <a:prstGeom xmlns:a="http://schemas.openxmlformats.org/drawingml/2006/main" prst="roundRect">
            <a:avLst>
              <a:gd name="adj" fmla="val 4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2443B3-F549-476A-8E64-055D9608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11455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下一次只问七个问题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87218D-2B5B-45E9-9893-3BFD592C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4A364A-C850-4E87-9FBE-5AA73EE6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24125"/>
            <a:ext cx="5238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1. 哪些词会让实现分叉？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2. 最终真相在哪一层？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3. 哪些不变量绝不能破坏？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4. 本轮只允许 AI 改哪个边界？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5. 怎样先制造一个可解释的 RED？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6. 最早异常证据在哪里？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7. 什么证据满足后，本轮必须停止？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FD6EA7-64CC-4B3C-AE92-18D84BDF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AC4648-825D-44CF-AAA6-1F51C965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102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一分钟迁移题：权限页面第一次进入为空，第二次正常。给出只读勘察、可证伪假设、禁止范围和最终事实源。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2E0B43-4A81-4189-A24F-6E0327E8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19435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2026-09-01T15:12:04.7620000Z</dcterms:created>
  <dcterms:modified xsi:type="dcterms:W3CDTF">2026-09-01T15:12:04.7620000Z</dcterms:modified>
</coreProperties>
</file>