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4.xml" ContentType="application/vnd.openxmlformats-officedocument.presentationml.slide+xml"/>
  <Override PartName="/ppt/notesSlides/notesSlide34.xml" ContentType="application/vnd.openxmlformats-officedocument.presentationml.notesSlide+xml"/>
  <Override PartName="/ppt/slides/slide35.xml" ContentType="application/vnd.openxmlformats-officedocument.presentationml.slide+xml"/>
  <Override PartName="/ppt/notesSlides/notesSlide35.xml" ContentType="application/vnd.openxmlformats-officedocument.presentationml.notesSlide+xml"/>
  <Override PartName="/ppt/slides/slide36.xml" ContentType="application/vnd.openxmlformats-officedocument.presentationml.slide+xml"/>
  <Override PartName="/ppt/notesSlides/notesSlide36.xml" ContentType="application/vnd.openxmlformats-officedocument.presentationml.notesSlide+xml"/>
  <Override PartName="/ppt/slides/slide37.xml" ContentType="application/vnd.openxmlformats-officedocument.presentationml.slide+xml"/>
  <Override PartName="/ppt/notesSlides/notesSlide37.xml" ContentType="application/vnd.openxmlformats-officedocument.presentationml.notesSlide+xml"/>
  <Override PartName="/ppt/slides/slide38.xml" ContentType="application/vnd.openxmlformats-officedocument.presentationml.slide+xml"/>
  <Override PartName="/ppt/notesSlides/notesSlide38.xml" ContentType="application/vnd.openxmlformats-officedocument.presentationml.notesSlide+xml"/>
  <Override PartName="/ppt/slides/slide39.xml" ContentType="application/vnd.openxmlformats-officedocument.presentationml.slide+xml"/>
  <Override PartName="/ppt/notesSlides/notesSlide3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3910455b6c744599" /><Relationship Type="http://schemas.openxmlformats.org/officeDocument/2006/relationships/extended-properties" Target="/docProps/app.xml" Id="R24f072c781f84b1e" /><Relationship Type="http://schemas.openxmlformats.org/officeDocument/2006/relationships/officeDocument" Target="/ppt/presentation.xml" Id="Rc2f014a89c8d45b2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e43f384df47e4fd4"/>
  </p:sldMasterIdLst>
  <p:notesMasterIdLst>
    <p:notesMasterId xmlns:r="http://schemas.openxmlformats.org/officeDocument/2006/relationships" r:id="Re019f163389e4a87"/>
  </p:notesMasterIdLst>
  <p:sldIdLst>
    <p:sldId xmlns:r="http://schemas.openxmlformats.org/officeDocument/2006/relationships" id="256" r:id="Rfebe50255db24b51"/>
    <p:sldId xmlns:r="http://schemas.openxmlformats.org/officeDocument/2006/relationships" id="257" r:id="Rae896e78eae242e5"/>
    <p:sldId xmlns:r="http://schemas.openxmlformats.org/officeDocument/2006/relationships" id="258" r:id="R640316de7d1f4b27"/>
    <p:sldId xmlns:r="http://schemas.openxmlformats.org/officeDocument/2006/relationships" id="259" r:id="R7726771792514340"/>
    <p:sldId xmlns:r="http://schemas.openxmlformats.org/officeDocument/2006/relationships" id="260" r:id="Rb3a15ad8662c4998"/>
    <p:sldId xmlns:r="http://schemas.openxmlformats.org/officeDocument/2006/relationships" id="261" r:id="Rccf9e90a6b6242b1"/>
    <p:sldId xmlns:r="http://schemas.openxmlformats.org/officeDocument/2006/relationships" id="262" r:id="R67f83212869f4fe0"/>
    <p:sldId xmlns:r="http://schemas.openxmlformats.org/officeDocument/2006/relationships" id="263" r:id="R8ef16d47084b4b98"/>
    <p:sldId xmlns:r="http://schemas.openxmlformats.org/officeDocument/2006/relationships" id="264" r:id="Rfea0037293894224"/>
    <p:sldId xmlns:r="http://schemas.openxmlformats.org/officeDocument/2006/relationships" id="265" r:id="R19b30e6426ca4a0a"/>
    <p:sldId xmlns:r="http://schemas.openxmlformats.org/officeDocument/2006/relationships" id="266" r:id="R300a7aa6471244f0"/>
    <p:sldId xmlns:r="http://schemas.openxmlformats.org/officeDocument/2006/relationships" id="267" r:id="R5c275d6ff3804978"/>
    <p:sldId xmlns:r="http://schemas.openxmlformats.org/officeDocument/2006/relationships" id="268" r:id="Re628aaad7a934ad1"/>
    <p:sldId xmlns:r="http://schemas.openxmlformats.org/officeDocument/2006/relationships" id="269" r:id="R87c572e270654ec9"/>
    <p:sldId xmlns:r="http://schemas.openxmlformats.org/officeDocument/2006/relationships" id="270" r:id="R48d432405aa34410"/>
    <p:sldId xmlns:r="http://schemas.openxmlformats.org/officeDocument/2006/relationships" id="271" r:id="Rec3690db72694212"/>
    <p:sldId xmlns:r="http://schemas.openxmlformats.org/officeDocument/2006/relationships" id="272" r:id="Red387ffc6bf74c2e"/>
    <p:sldId xmlns:r="http://schemas.openxmlformats.org/officeDocument/2006/relationships" id="273" r:id="R84a0edefcdfb4283"/>
    <p:sldId xmlns:r="http://schemas.openxmlformats.org/officeDocument/2006/relationships" id="274" r:id="R839a9c23fd5b4d3b"/>
    <p:sldId xmlns:r="http://schemas.openxmlformats.org/officeDocument/2006/relationships" id="275" r:id="Rb214e45175794547"/>
    <p:sldId xmlns:r="http://schemas.openxmlformats.org/officeDocument/2006/relationships" id="276" r:id="R7d47043030d94351"/>
    <p:sldId xmlns:r="http://schemas.openxmlformats.org/officeDocument/2006/relationships" id="277" r:id="R099a9f000f834cb0"/>
    <p:sldId xmlns:r="http://schemas.openxmlformats.org/officeDocument/2006/relationships" id="278" r:id="R60902ae0363e4896"/>
    <p:sldId xmlns:r="http://schemas.openxmlformats.org/officeDocument/2006/relationships" id="279" r:id="Rc384af8d178e4fd2"/>
    <p:sldId xmlns:r="http://schemas.openxmlformats.org/officeDocument/2006/relationships" id="280" r:id="R5adfa589a28c4fc5"/>
    <p:sldId xmlns:r="http://schemas.openxmlformats.org/officeDocument/2006/relationships" id="281" r:id="Rb15b398dd4ed481d"/>
    <p:sldId xmlns:r="http://schemas.openxmlformats.org/officeDocument/2006/relationships" id="282" r:id="R8e43a7c841ad4e10"/>
    <p:sldId xmlns:r="http://schemas.openxmlformats.org/officeDocument/2006/relationships" id="283" r:id="R783ead675fd84084"/>
    <p:sldId xmlns:r="http://schemas.openxmlformats.org/officeDocument/2006/relationships" id="284" r:id="Rae3c162b72834c15"/>
    <p:sldId xmlns:r="http://schemas.openxmlformats.org/officeDocument/2006/relationships" id="285" r:id="R47d12db65c4a4d36"/>
    <p:sldId xmlns:r="http://schemas.openxmlformats.org/officeDocument/2006/relationships" id="286" r:id="R5c83e42f15854e44"/>
    <p:sldId xmlns:r="http://schemas.openxmlformats.org/officeDocument/2006/relationships" id="287" r:id="R5cd8c791044045ac"/>
    <p:sldId xmlns:r="http://schemas.openxmlformats.org/officeDocument/2006/relationships" id="288" r:id="Rfc182e10d47b4ab8"/>
    <p:sldId xmlns:r="http://schemas.openxmlformats.org/officeDocument/2006/relationships" id="289" r:id="Rb910122e1ff4463f"/>
    <p:sldId xmlns:r="http://schemas.openxmlformats.org/officeDocument/2006/relationships" id="290" r:id="Rcdd807552134449c"/>
    <p:sldId xmlns:r="http://schemas.openxmlformats.org/officeDocument/2006/relationships" id="291" r:id="R2d24e9ea8f5f4731"/>
    <p:sldId xmlns:r="http://schemas.openxmlformats.org/officeDocument/2006/relationships" id="292" r:id="R2972aa0d49b147e4"/>
    <p:sldId xmlns:r="http://schemas.openxmlformats.org/officeDocument/2006/relationships" id="293" r:id="R96713ef1bdcf465d"/>
    <p:sldId xmlns:r="http://schemas.openxmlformats.org/officeDocument/2006/relationships" id="294" r:id="R08449af760c4467d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25a694c08d984cba" /><Relationship Type="http://schemas.openxmlformats.org/officeDocument/2006/relationships/slideMaster" Target="/ppt/slideMasters/slideMaster1.xml" Id="Re43f384df47e4fd4" /><Relationship Type="http://schemas.openxmlformats.org/officeDocument/2006/relationships/notesMaster" Target="/ppt/notesMasters/notesMaster1.xml" Id="Re019f163389e4a87" /><Relationship Type="http://schemas.openxmlformats.org/officeDocument/2006/relationships/presProps" Target="/ppt/presProps.xml" Id="Rff96a86079bf4de5" /><Relationship Type="http://schemas.openxmlformats.org/officeDocument/2006/relationships/tableStyles" Target="/ppt/tableStyles.xml" Id="R9d947978cdde49cd" /><Relationship Type="http://schemas.openxmlformats.org/officeDocument/2006/relationships/slide" Target="/ppt/slides/slide1.xml" Id="Rfebe50255db24b51" /><Relationship Type="http://schemas.openxmlformats.org/officeDocument/2006/relationships/slide" Target="/ppt/slides/slide2.xml" Id="Rae896e78eae242e5" /><Relationship Type="http://schemas.openxmlformats.org/officeDocument/2006/relationships/slide" Target="/ppt/slides/slide3.xml" Id="R640316de7d1f4b27" /><Relationship Type="http://schemas.openxmlformats.org/officeDocument/2006/relationships/slide" Target="/ppt/slides/slide4.xml" Id="R7726771792514340" /><Relationship Type="http://schemas.openxmlformats.org/officeDocument/2006/relationships/slide" Target="/ppt/slides/slide5.xml" Id="Rb3a15ad8662c4998" /><Relationship Type="http://schemas.openxmlformats.org/officeDocument/2006/relationships/slide" Target="/ppt/slides/slide6.xml" Id="Rccf9e90a6b6242b1" /><Relationship Type="http://schemas.openxmlformats.org/officeDocument/2006/relationships/slide" Target="/ppt/slides/slide7.xml" Id="R67f83212869f4fe0" /><Relationship Type="http://schemas.openxmlformats.org/officeDocument/2006/relationships/slide" Target="/ppt/slides/slide8.xml" Id="R8ef16d47084b4b98" /><Relationship Type="http://schemas.openxmlformats.org/officeDocument/2006/relationships/slide" Target="/ppt/slides/slide9.xml" Id="Rfea0037293894224" /><Relationship Type="http://schemas.openxmlformats.org/officeDocument/2006/relationships/slide" Target="/ppt/slides/slide10.xml" Id="R19b30e6426ca4a0a" /><Relationship Type="http://schemas.openxmlformats.org/officeDocument/2006/relationships/slide" Target="/ppt/slides/slide11.xml" Id="R300a7aa6471244f0" /><Relationship Type="http://schemas.openxmlformats.org/officeDocument/2006/relationships/slide" Target="/ppt/slides/slide12.xml" Id="R5c275d6ff3804978" /><Relationship Type="http://schemas.openxmlformats.org/officeDocument/2006/relationships/slide" Target="/ppt/slides/slide13.xml" Id="Re628aaad7a934ad1" /><Relationship Type="http://schemas.openxmlformats.org/officeDocument/2006/relationships/slide" Target="/ppt/slides/slide14.xml" Id="R87c572e270654ec9" /><Relationship Type="http://schemas.openxmlformats.org/officeDocument/2006/relationships/slide" Target="/ppt/slides/slide15.xml" Id="R48d432405aa34410" /><Relationship Type="http://schemas.openxmlformats.org/officeDocument/2006/relationships/slide" Target="/ppt/slides/slide16.xml" Id="Rec3690db72694212" /><Relationship Type="http://schemas.openxmlformats.org/officeDocument/2006/relationships/slide" Target="/ppt/slides/slide17.xml" Id="Red387ffc6bf74c2e" /><Relationship Type="http://schemas.openxmlformats.org/officeDocument/2006/relationships/slide" Target="/ppt/slides/slide18.xml" Id="R84a0edefcdfb4283" /><Relationship Type="http://schemas.openxmlformats.org/officeDocument/2006/relationships/slide" Target="/ppt/slides/slide19.xml" Id="R839a9c23fd5b4d3b" /><Relationship Type="http://schemas.openxmlformats.org/officeDocument/2006/relationships/slide" Target="/ppt/slides/slide20.xml" Id="Rb214e45175794547" /><Relationship Type="http://schemas.openxmlformats.org/officeDocument/2006/relationships/slide" Target="/ppt/slides/slide21.xml" Id="R7d47043030d94351" /><Relationship Type="http://schemas.openxmlformats.org/officeDocument/2006/relationships/slide" Target="/ppt/slides/slide22.xml" Id="R099a9f000f834cb0" /><Relationship Type="http://schemas.openxmlformats.org/officeDocument/2006/relationships/slide" Target="/ppt/slides/slide23.xml" Id="R60902ae0363e4896" /><Relationship Type="http://schemas.openxmlformats.org/officeDocument/2006/relationships/slide" Target="/ppt/slides/slide24.xml" Id="Rc384af8d178e4fd2" /><Relationship Type="http://schemas.openxmlformats.org/officeDocument/2006/relationships/slide" Target="/ppt/slides/slide25.xml" Id="R5adfa589a28c4fc5" /><Relationship Type="http://schemas.openxmlformats.org/officeDocument/2006/relationships/slide" Target="/ppt/slides/slide26.xml" Id="Rb15b398dd4ed481d" /><Relationship Type="http://schemas.openxmlformats.org/officeDocument/2006/relationships/slide" Target="/ppt/slides/slide27.xml" Id="R8e43a7c841ad4e10" /><Relationship Type="http://schemas.openxmlformats.org/officeDocument/2006/relationships/slide" Target="/ppt/slides/slide28.xml" Id="R783ead675fd84084" /><Relationship Type="http://schemas.openxmlformats.org/officeDocument/2006/relationships/slide" Target="/ppt/slides/slide29.xml" Id="Rae3c162b72834c15" /><Relationship Type="http://schemas.openxmlformats.org/officeDocument/2006/relationships/slide" Target="/ppt/slides/slide30.xml" Id="R47d12db65c4a4d36" /><Relationship Type="http://schemas.openxmlformats.org/officeDocument/2006/relationships/slide" Target="/ppt/slides/slide31.xml" Id="R5c83e42f15854e44" /><Relationship Type="http://schemas.openxmlformats.org/officeDocument/2006/relationships/slide" Target="/ppt/slides/slide32.xml" Id="R5cd8c791044045ac" /><Relationship Type="http://schemas.openxmlformats.org/officeDocument/2006/relationships/slide" Target="/ppt/slides/slide33.xml" Id="Rfc182e10d47b4ab8" /><Relationship Type="http://schemas.openxmlformats.org/officeDocument/2006/relationships/slide" Target="/ppt/slides/slide34.xml" Id="Rb910122e1ff4463f" /><Relationship Type="http://schemas.openxmlformats.org/officeDocument/2006/relationships/slide" Target="/ppt/slides/slide35.xml" Id="Rcdd807552134449c" /><Relationship Type="http://schemas.openxmlformats.org/officeDocument/2006/relationships/slide" Target="/ppt/slides/slide36.xml" Id="R2d24e9ea8f5f4731" /><Relationship Type="http://schemas.openxmlformats.org/officeDocument/2006/relationships/slide" Target="/ppt/slides/slide37.xml" Id="R2972aa0d49b147e4" /><Relationship Type="http://schemas.openxmlformats.org/officeDocument/2006/relationships/slide" Target="/ppt/slides/slide38.xml" Id="R96713ef1bdcf465d" /><Relationship Type="http://schemas.openxmlformats.org/officeDocument/2006/relationships/slide" Target="/ppt/slides/slide39.xml" Id="R08449af760c4467d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371f76db50b74207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371a39f6dcc748af" /><Relationship Type="http://schemas.openxmlformats.org/officeDocument/2006/relationships/notesMaster" Target="/ppt/notesMasters/notesMaster1.xml" Id="R40d6a368849a4631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290a927134364fe5" /><Relationship Type="http://schemas.openxmlformats.org/officeDocument/2006/relationships/notesMaster" Target="/ppt/notesMasters/notesMaster1.xml" Id="R09f54e6b02b642eb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ed9063683fc24b9b" /><Relationship Type="http://schemas.openxmlformats.org/officeDocument/2006/relationships/notesMaster" Target="/ppt/notesMasters/notesMaster1.xml" Id="Ra2f29623dad24643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3407f96ef61f426e" /><Relationship Type="http://schemas.openxmlformats.org/officeDocument/2006/relationships/notesMaster" Target="/ppt/notesMasters/notesMaster1.xml" Id="R7021504502cd41df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7847cec7f79c4b28" /><Relationship Type="http://schemas.openxmlformats.org/officeDocument/2006/relationships/notesMaster" Target="/ppt/notesMasters/notesMaster1.xml" Id="R7f52d26d7c85431c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b4cff0790a124942" /><Relationship Type="http://schemas.openxmlformats.org/officeDocument/2006/relationships/notesMaster" Target="/ppt/notesMasters/notesMaster1.xml" Id="R489d13aea856490d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bbe2a556a84d4a9a" /><Relationship Type="http://schemas.openxmlformats.org/officeDocument/2006/relationships/notesMaster" Target="/ppt/notesMasters/notesMaster1.xml" Id="R42f008642e1c41c3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9cbbba4bcd894151" /><Relationship Type="http://schemas.openxmlformats.org/officeDocument/2006/relationships/notesMaster" Target="/ppt/notesMasters/notesMaster1.xml" Id="R5dcecd96d80e4032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983faadf134d48c6" /><Relationship Type="http://schemas.openxmlformats.org/officeDocument/2006/relationships/notesMaster" Target="/ppt/notesMasters/notesMaster1.xml" Id="Ra03a37aae211435b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8b93a54eef814bcb" /><Relationship Type="http://schemas.openxmlformats.org/officeDocument/2006/relationships/notesMaster" Target="/ppt/notesMasters/notesMaster1.xml" Id="R5d73de2ce27b495d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3db5b88ee6034e48" /><Relationship Type="http://schemas.openxmlformats.org/officeDocument/2006/relationships/notesMaster" Target="/ppt/notesMasters/notesMaster1.xml" Id="R687e48ca10c04a1e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5a2e8adf4d694ac1" /><Relationship Type="http://schemas.openxmlformats.org/officeDocument/2006/relationships/notesMaster" Target="/ppt/notesMasters/notesMaster1.xml" Id="Rf6e44d435dde4688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db9977159e714b53" /><Relationship Type="http://schemas.openxmlformats.org/officeDocument/2006/relationships/notesMaster" Target="/ppt/notesMasters/notesMaster1.xml" Id="Rff001e614dcf4c40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1cb9cc3576f74655" /><Relationship Type="http://schemas.openxmlformats.org/officeDocument/2006/relationships/notesMaster" Target="/ppt/notesMasters/notesMaster1.xml" Id="R344ffa33ac724150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c60f7e2758dc47c1" /><Relationship Type="http://schemas.openxmlformats.org/officeDocument/2006/relationships/notesMaster" Target="/ppt/notesMasters/notesMaster1.xml" Id="Rdbca13e6d1434274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91d9da9fb69a4c31" /><Relationship Type="http://schemas.openxmlformats.org/officeDocument/2006/relationships/notesMaster" Target="/ppt/notesMasters/notesMaster1.xml" Id="R40bf68f65b204bb6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08deb43cf7e7452d" /><Relationship Type="http://schemas.openxmlformats.org/officeDocument/2006/relationships/notesMaster" Target="/ppt/notesMasters/notesMaster1.xml" Id="Rfbed90064bc14bb2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6513856bf5684573" /><Relationship Type="http://schemas.openxmlformats.org/officeDocument/2006/relationships/notesMaster" Target="/ppt/notesMasters/notesMaster1.xml" Id="R40185027146a4615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e87224cbb5e1422b" /><Relationship Type="http://schemas.openxmlformats.org/officeDocument/2006/relationships/notesMaster" Target="/ppt/notesMasters/notesMaster1.xml" Id="Ra7de6f94e65c4146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26042591ed1a4675" /><Relationship Type="http://schemas.openxmlformats.org/officeDocument/2006/relationships/notesMaster" Target="/ppt/notesMasters/notesMaster1.xml" Id="Rc9a716b05a734f35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c5c2c2646f5c43b7" /><Relationship Type="http://schemas.openxmlformats.org/officeDocument/2006/relationships/notesMaster" Target="/ppt/notesMasters/notesMaster1.xml" Id="R5e6225c98c1b4f86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aa7681f2acc24c91" /><Relationship Type="http://schemas.openxmlformats.org/officeDocument/2006/relationships/notesMaster" Target="/ppt/notesMasters/notesMaster1.xml" Id="Rea4d53e7b4da4b7f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24479daf3f0f4bc8" /><Relationship Type="http://schemas.openxmlformats.org/officeDocument/2006/relationships/notesMaster" Target="/ppt/notesMasters/notesMaster1.xml" Id="R739c8063a573491d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206f540ebb054882" /><Relationship Type="http://schemas.openxmlformats.org/officeDocument/2006/relationships/notesMaster" Target="/ppt/notesMasters/notesMaster1.xml" Id="R7b4c650e59c74b74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e362f781f91b4dc3" /><Relationship Type="http://schemas.openxmlformats.org/officeDocument/2006/relationships/notesMaster" Target="/ppt/notesMasters/notesMaster1.xml" Id="Rc8b102a74ce44968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8d8cb468dae847c2" /><Relationship Type="http://schemas.openxmlformats.org/officeDocument/2006/relationships/notesMaster" Target="/ppt/notesMasters/notesMaster1.xml" Id="Rb6e127139cea43e0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1d48bb07a9ed41a1" /><Relationship Type="http://schemas.openxmlformats.org/officeDocument/2006/relationships/notesMaster" Target="/ppt/notesMasters/notesMaster1.xml" Id="R2d05d45f155f45c2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c3e0485b9afa4e53" /><Relationship Type="http://schemas.openxmlformats.org/officeDocument/2006/relationships/notesMaster" Target="/ppt/notesMasters/notesMaster1.xml" Id="Rd71d8bcf72b549c6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7be111562b1a40e4" /><Relationship Type="http://schemas.openxmlformats.org/officeDocument/2006/relationships/notesMaster" Target="/ppt/notesMasters/notesMaster1.xml" Id="R34a398e0849d44ae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4dbae2645969402a" /><Relationship Type="http://schemas.openxmlformats.org/officeDocument/2006/relationships/notesMaster" Target="/ppt/notesMasters/notesMaster1.xml" Id="R8caf80e4b2514868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d9e5ac30e31a45ad" /><Relationship Type="http://schemas.openxmlformats.org/officeDocument/2006/relationships/notesMaster" Target="/ppt/notesMasters/notesMaster1.xml" Id="R55f3468135e94a6b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17d8d3c352604b44" /><Relationship Type="http://schemas.openxmlformats.org/officeDocument/2006/relationships/notesMaster" Target="/ppt/notesMasters/notesMaster1.xml" Id="R3d41171fb1fb41b7" /></Relationships>
</file>

<file path=ppt/notesSlides/_rels/notesSlide33.xml.rels>&#65279;<?xml version="1.0" encoding="utf-8"?><Relationships xmlns="http://schemas.openxmlformats.org/package/2006/relationships"><Relationship Type="http://schemas.openxmlformats.org/officeDocument/2006/relationships/slide" Target="/ppt/slides/slide33.xml" Id="R63ac8630f17042bb" /><Relationship Type="http://schemas.openxmlformats.org/officeDocument/2006/relationships/notesMaster" Target="/ppt/notesMasters/notesMaster1.xml" Id="R42d5a61f8a7e4aa5" /></Relationships>
</file>

<file path=ppt/notesSlides/_rels/notesSlide34.xml.rels>&#65279;<?xml version="1.0" encoding="utf-8"?><Relationships xmlns="http://schemas.openxmlformats.org/package/2006/relationships"><Relationship Type="http://schemas.openxmlformats.org/officeDocument/2006/relationships/slide" Target="/ppt/slides/slide34.xml" Id="R07f09b39885c4976" /><Relationship Type="http://schemas.openxmlformats.org/officeDocument/2006/relationships/notesMaster" Target="/ppt/notesMasters/notesMaster1.xml" Id="Recf87a9696114541" /></Relationships>
</file>

<file path=ppt/notesSlides/_rels/notesSlide35.xml.rels>&#65279;<?xml version="1.0" encoding="utf-8"?><Relationships xmlns="http://schemas.openxmlformats.org/package/2006/relationships"><Relationship Type="http://schemas.openxmlformats.org/officeDocument/2006/relationships/slide" Target="/ppt/slides/slide35.xml" Id="Ra8c466767c144538" /><Relationship Type="http://schemas.openxmlformats.org/officeDocument/2006/relationships/notesMaster" Target="/ppt/notesMasters/notesMaster1.xml" Id="Ra639a0ceb67c473a" /></Relationships>
</file>

<file path=ppt/notesSlides/_rels/notesSlide36.xml.rels>&#65279;<?xml version="1.0" encoding="utf-8"?><Relationships xmlns="http://schemas.openxmlformats.org/package/2006/relationships"><Relationship Type="http://schemas.openxmlformats.org/officeDocument/2006/relationships/slide" Target="/ppt/slides/slide36.xml" Id="R20ca28127c2f4181" /><Relationship Type="http://schemas.openxmlformats.org/officeDocument/2006/relationships/notesMaster" Target="/ppt/notesMasters/notesMaster1.xml" Id="R03400ba62371446c" /></Relationships>
</file>

<file path=ppt/notesSlides/_rels/notesSlide37.xml.rels>&#65279;<?xml version="1.0" encoding="utf-8"?><Relationships xmlns="http://schemas.openxmlformats.org/package/2006/relationships"><Relationship Type="http://schemas.openxmlformats.org/officeDocument/2006/relationships/slide" Target="/ppt/slides/slide37.xml" Id="Rd177db5627904a77" /><Relationship Type="http://schemas.openxmlformats.org/officeDocument/2006/relationships/notesMaster" Target="/ppt/notesMasters/notesMaster1.xml" Id="R1c91becacd554bee" /></Relationships>
</file>

<file path=ppt/notesSlides/_rels/notesSlide38.xml.rels>&#65279;<?xml version="1.0" encoding="utf-8"?><Relationships xmlns="http://schemas.openxmlformats.org/package/2006/relationships"><Relationship Type="http://schemas.openxmlformats.org/officeDocument/2006/relationships/slide" Target="/ppt/slides/slide38.xml" Id="R3ba564f25f3b425a" /><Relationship Type="http://schemas.openxmlformats.org/officeDocument/2006/relationships/notesMaster" Target="/ppt/notesMasters/notesMaster1.xml" Id="R2b52fd43dfbe434a" /></Relationships>
</file>

<file path=ppt/notesSlides/_rels/notesSlide39.xml.rels>&#65279;<?xml version="1.0" encoding="utf-8"?><Relationships xmlns="http://schemas.openxmlformats.org/package/2006/relationships"><Relationship Type="http://schemas.openxmlformats.org/officeDocument/2006/relationships/slide" Target="/ppt/slides/slide39.xml" Id="R84b9970f5d3a434a" /><Relationship Type="http://schemas.openxmlformats.org/officeDocument/2006/relationships/notesMaster" Target="/ppt/notesMasters/notesMaster1.xml" Id="R918ee6c57ff440cc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C:/Users/mu/Desktop/code/ppt/harmonyos-sdd-ralph-workshop/harmonyos-sdd-ralph-workshop.md</a:t>
            </a:r>
          </a:p>
          <a:p xmlns:a="http://schemas.openxmlformats.org/drawingml/2006/main">
            <a:r>
              <a:t>- C:/Users/mu/Desktop/code/ppt/harmonyos-sdd-ralph-workshop/harmonyos-sdd-workshop-media/methodology/ai-fluency-neutral.png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 使用 AI 进阶能力实现较为复杂的需求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**从需求拆解、开发、验证，到问题定位与协同闭环**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&gt; 需求 → 规格 → 任务 → 代码 → 调试 → 证据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主视觉建议：左侧是一句模糊需求，中央是紫色受控 AI 循环，右侧是绿色设备证据包；背景只保留真实设备、测试结果和日志的低透明度拼贴。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![真实 SecurityTool 防火墙域名规则页面](harmonyos-sdd-workshop-media/mdm/firewall-domain-rule-created.jpeg)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&lt;sub&gt;这张真机图只能证明规则已出现在 UI；它不能单独证明每个账号的系统 policy/rules 已正确下发。开场让学员先说“它能证明什么、不能证明什么”。&lt;/sub&gt;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C:/Users/mu/Desktop/code/ppt/harmonyos-sdd-ralph-workshop/harmonyos-sdd-ralph-workshop.md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**MDM 主闭环｜TEACHING COMPOSITE**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&gt; 设备当前处于 `public` 且防火墙已开启，已覆盖账号 `[100,112]`。系统收到 `account-added(123)` 后，先等待账号事实稳定，再把 public policy / preset rules 补到最新账号集合。若账号 123 的第 2 条规则下发失败，必须恢复旧状态，不得保存目标 signature，并留下可回读证据。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```mermaid</a:t>
            </a:r>
          </a:p>
          <a:p xmlns:a="http://schemas.openxmlformats.org/drawingml/2006/main">
            <a:r>
              <a:t>flowchart LR</a:t>
            </a:r>
          </a:p>
          <a:p xmlns:a="http://schemas.openxmlformats.org/drawingml/2006/main">
            <a:r>
              <a:t>    A[账号 123 新增] --&gt; B[稳定快照]</a:t>
            </a:r>
          </a:p>
          <a:p xmlns:a="http://schemas.openxmlformats.org/drawingml/2006/main">
            <a:r>
              <a:t>    B --&gt; C[模式重放]</a:t>
            </a:r>
          </a:p>
          <a:p xmlns:a="http://schemas.openxmlformats.org/drawingml/2006/main">
            <a:r>
              <a:t>    C --&gt; D[故障注入]</a:t>
            </a:r>
          </a:p>
          <a:p xmlns:a="http://schemas.openxmlformats.org/drawingml/2006/main">
            <a:r>
              <a:t>    D --&gt; E[补偿与回读]</a:t>
            </a:r>
          </a:p>
          <a:p xmlns:a="http://schemas.openxmlformats.org/drawingml/2006/main">
            <a:r>
              <a:t>```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C:/Users/mu/Desktop/code/ppt/harmonyos-sdd-ralph-workshop/harmonyos-sdd-ralph-workshop.md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```mermaid</a:t>
            </a:r>
          </a:p>
          <a:p xmlns:a="http://schemas.openxmlformats.org/drawingml/2006/main">
            <a:r>
              <a:t>flowchart TD</a:t>
            </a:r>
          </a:p>
          <a:p xmlns:a="http://schemas.openxmlformats.org/drawingml/2006/main">
            <a:r>
              <a:t>    A[Task：本轮唯一结果] --&gt; B[RED：制造可解释失败]</a:t>
            </a:r>
          </a:p>
          <a:p xmlns:a="http://schemas.openxmlformats.org/drawingml/2006/main">
            <a:r>
              <a:t>    B --&gt; C[AI：最小 Diff]</a:t>
            </a:r>
          </a:p>
          <a:p xmlns:a="http://schemas.openxmlformats.org/drawingml/2006/main">
            <a:r>
              <a:t>    C --&gt; D[Verify：窄测与回归]</a:t>
            </a:r>
          </a:p>
          <a:p xmlns:a="http://schemas.openxmlformats.org/drawingml/2006/main">
            <a:r>
              <a:t>    D --&gt; E[Evidence：日志与系统事实]</a:t>
            </a:r>
          </a:p>
          <a:p xmlns:a="http://schemas.openxmlformats.org/drawingml/2006/main">
            <a:r>
              <a:t>    E --&gt; F{停止条件满足？}</a:t>
            </a:r>
          </a:p>
          <a:p xmlns:a="http://schemas.openxmlformats.org/drawingml/2006/main">
            <a:r>
              <a:t>    F -- 否 --&gt; A</a:t>
            </a:r>
          </a:p>
          <a:p xmlns:a="http://schemas.openxmlformats.org/drawingml/2006/main">
            <a:r>
              <a:t>    F -- 是 --&gt; G[提交结果]</a:t>
            </a:r>
          </a:p>
          <a:p xmlns:a="http://schemas.openxmlformats.org/drawingml/2006/main">
            <a:r>
              <a:t>```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**可选对照图（PPT 制作时与上方 Mermaid 二选一）**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![Autonomous Agent：Human、LLM、Environment、Feedback 与 Stop](harmonyos-sdd-workshop-media/anthropic/autonomous-agent-loop.png)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&lt;sub&gt;讲师读图：Agent 不是“连续生成代码”，而是在环境反馈中行动，并在检查点接受人类判断或满足停止条件。图源：Anthropic《Building Effective Agents》。&lt;/sub&gt;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每轮写入 `progress.md`：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`假设 / RED 命令与输出 / 修改文件 / GREEN 输出 / 新事实 / 剩余风险 / Stop 或 Next`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C:/Users/mu/Desktop/code/ppt/harmonyos-sdd-ralph-workshop/harmonyos-sdd-ralph-workshop.md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```text</a:t>
            </a:r>
          </a:p>
          <a:p xmlns:a="http://schemas.openxmlformats.org/drawingml/2006/main">
            <a:r>
              <a:t>触发事实 → 稳定快照 → 目标状态 → 执行结果 → 系统证据</a:t>
            </a:r>
          </a:p>
          <a:p xmlns:a="http://schemas.openxmlformats.org/drawingml/2006/main">
            <a:r>
              <a:t>```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| 层 | 必须回答的问题 | 可验证对象 |</a:t>
            </a:r>
          </a:p>
          <a:p xmlns:a="http://schemas.openxmlformats.org/drawingml/2006/main">
            <a:r>
              <a:t>|---|---|---|</a:t>
            </a:r>
          </a:p>
          <a:p xmlns:a="http://schemas.openxmlformats.org/drawingml/2006/main">
            <a:r>
              <a:t>| 触发事实 | 这轮变化由什么事件或操作开始？ | 事件源、时间戳、参数 |</a:t>
            </a:r>
          </a:p>
          <a:p xmlns:a="http://schemas.openxmlformats.org/drawingml/2006/main">
            <a:r>
              <a:t>| 稳定快照 | 执行前的完整事实是什么？ | 系统 getter、列表、版本号 |</a:t>
            </a:r>
          </a:p>
          <a:p xmlns:a="http://schemas.openxmlformats.org/drawingml/2006/main">
            <a:r>
              <a:t>| 目标状态 | 需求冻结后的期望结果是什么？ | `spec.md`、ADR、不变量 |</a:t>
            </a:r>
          </a:p>
          <a:p xmlns:a="http://schemas.openxmlformats.org/drawingml/2006/main">
            <a:r>
              <a:t>| 执行结果 | 哪些写入成功、失败或需要补偿？ | 返回值、映射、事务边界 |</a:t>
            </a:r>
          </a:p>
          <a:p xmlns:a="http://schemas.openxmlformats.org/drawingml/2006/main">
            <a:r>
              <a:t>| 系统证据 | 最终事实是否与目标一致？ | 回读、日志、截图/视频、性能 |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C:/Users/mu/Desktop/code/ppt/harmonyos-sdd-ralph-workshop/harmonyos-sdd-ralph-workshop.md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&gt; “权限页面第一次进入为空，退出后第二次进入正常。”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这句话只描述了现象，没有告诉我们下面四个事实：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**数据来自哪里**：页面缓存、ViewModel 内存、业务 API，还是系统 getter？</a:t>
            </a:r>
          </a:p>
          <a:p xmlns:a="http://schemas.openxmlformats.org/drawingml/2006/main">
            <a:r>
              <a:t>2. **什么时候开始监听**：页面创建前后、首次读取前后，哪一个边界会丢事件？</a:t>
            </a:r>
          </a:p>
          <a:p xmlns:a="http://schemas.openxmlformats.org/drawingml/2006/main">
            <a:r>
              <a:t>3. **什么时候算完成**：调用返回、本地状态更新，还是系统回读与页面一致？</a:t>
            </a:r>
          </a:p>
          <a:p xmlns:a="http://schemas.openxmlformats.org/drawingml/2006/main">
            <a:r>
              <a:t>4. **失败时展示什么**：空列表、旧状态、加载态，还是可重试错误？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&gt; **四个答案会改变监听顺序、状态模型、回归测试和最终证据。所以下一步不是设计，而是把分叉变成选择题。**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C:/Users/mu/Desktop/code/ppt/harmonyos-sdd-ralph-workshop/harmonyos-sdd-ralph-workshop.md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AI 的职责是列出互斥答案、工程影响和危险假设；人的职责是关闭高影响 `OPEN`，冻结业务语义。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| 待决策项 | AI 列出的互斥答案 | 本轮冻结答案 | 直接影响 |</a:t>
            </a:r>
          </a:p>
          <a:p xmlns:a="http://schemas.openxmlformats.org/drawingml/2006/main">
            <a:r>
              <a:t>|---|---|---|---|</a:t>
            </a:r>
          </a:p>
          <a:p xmlns:a="http://schemas.openxmlformats.org/drawingml/2006/main">
            <a:r>
              <a:t>| 最终事实源 | 缓存 / ViewModel / API / 系统 getter | 系统 getter；ViewModel 只缓存 | 状态所有权 |</a:t>
            </a:r>
          </a:p>
          <a:p xmlns:a="http://schemas.openxmlformats.org/drawingml/2006/main">
            <a:r>
              <a:t>| 监听与首读顺序 | 先读后监听 / 先监听后读取 | 先建立监听，再发起首读 | 是否丢失首次事件 |</a:t>
            </a:r>
          </a:p>
          <a:p xmlns:a="http://schemas.openxmlformats.org/drawingml/2006/main">
            <a:r>
              <a:t>| 未返回时的状态 | 空列表 / 加载中 / 沿用旧值 | 显示加载中，不把空当完成 | 首次进入体验与测试 |</a:t>
            </a:r>
          </a:p>
          <a:p xmlns:a="http://schemas.openxmlformats.org/drawingml/2006/main">
            <a:r>
              <a:t>| 完成判定 | 调用返回 / 本地更新 / 系统回读一致 | 系统事实返回并刷新当前页面 | 验收证据与停止条件 |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&gt; **仍然是 OPEN 的高影响问题不能交给 AI 开发。**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C:/Users/mu/Desktop/code/ppt/harmonyos-sdd-ralph-workshop/harmonyos-sdd-ralph-workshop.md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**Before：只有现象，无法验收**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&gt; 第一次进入为空，第二次进入正常。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**After：教学用 EARS 规格**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```text</a:t>
            </a:r>
          </a:p>
          <a:p xmlns:a="http://schemas.openxmlformats.org/drawingml/2006/main">
            <a:r>
              <a:t>WHEN 首次进入权限页面，</a:t>
            </a:r>
          </a:p>
          <a:p xmlns:a="http://schemas.openxmlformats.org/drawingml/2006/main">
            <a:r>
              <a:t>WHILE 系统事实尚未返回，</a:t>
            </a:r>
          </a:p>
          <a:p xmlns:a="http://schemas.openxmlformats.org/drawingml/2006/main">
            <a:r>
              <a:t>THE SYSTEM SHALL 显示加载态，不得把空列表提交为完成状态；</a:t>
            </a:r>
          </a:p>
          <a:p xmlns:a="http://schemas.openxmlformats.org/drawingml/2006/main">
            <a:r>
              <a:t>WHEN 系统事实返回，</a:t>
            </a:r>
          </a:p>
          <a:p xmlns:a="http://schemas.openxmlformats.org/drawingml/2006/main">
            <a:r>
              <a:t>THE SYSTEM SHALL 在当前页面刷新，不要求退出后再次进入；</a:t>
            </a:r>
          </a:p>
          <a:p xmlns:a="http://schemas.openxmlformats.org/drawingml/2006/main">
            <a:r>
              <a:t>IF 超时或读取失败，</a:t>
            </a:r>
          </a:p>
          <a:p xmlns:a="http://schemas.openxmlformats.org/drawingml/2006/main">
            <a:r>
              <a:t>THEN SHALL 显示可重试错误，并保留诊断证据。</a:t>
            </a:r>
          </a:p>
          <a:p xmlns:a="http://schemas.openxmlformats.org/drawingml/2006/main">
            <a:r>
              <a:t>```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由规格直接导出三条测试：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| 测试 | 条件 | 可观察结果 |</a:t>
            </a:r>
          </a:p>
          <a:p xmlns:a="http://schemas.openxmlformats.org/drawingml/2006/main">
            <a:r>
              <a:t>|---|---|---|</a:t>
            </a:r>
          </a:p>
          <a:p xmlns:a="http://schemas.openxmlformats.org/drawingml/2006/main">
            <a:r>
              <a:t>| T01 | 数据延迟返回 | 当前页面自动更新 |</a:t>
            </a:r>
          </a:p>
          <a:p xmlns:a="http://schemas.openxmlformats.org/drawingml/2006/main">
            <a:r>
              <a:t>| T02 | 事件早于首读完成 | 首次刷新不丢失 |</a:t>
            </a:r>
          </a:p>
          <a:p xmlns:a="http://schemas.openxmlformats.org/drawingml/2006/main">
            <a:r>
              <a:t>| T03 | 读取超时 | 错误态 + 诊断证据，不显示“空成功” |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C:/Users/mu/Desktop/code/ppt/harmonyos-sdd-ralph-workshop/harmonyos-sdd-ralph-workshop.md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进入真实工程案例前，必须交付下面四项可复查产物：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| 准入条件 | 必须回答 | 产物 |</a:t>
            </a:r>
          </a:p>
          <a:p xmlns:a="http://schemas.openxmlformats.org/drawingml/2006/main">
            <a:r>
              <a:t>|---|---|---|</a:t>
            </a:r>
          </a:p>
          <a:p xmlns:a="http://schemas.openxmlformats.org/drawingml/2006/main">
            <a:r>
              <a:t>| 事实时间线 | 首次进入、事件到达、数据返回、页面更新分别发生在什么时候？ | 只读勘察记录 |</a:t>
            </a:r>
          </a:p>
          <a:p xmlns:a="http://schemas.openxmlformats.org/drawingml/2006/main">
            <a:r>
              <a:t>| 最终事实源 | 哪个 API / getter 能证明系统状态？UI 与缓存只属于哪一层？ | truth-source 表 |</a:t>
            </a:r>
          </a:p>
          <a:p xmlns:a="http://schemas.openxmlformats.org/drawingml/2006/main">
            <a:r>
              <a:t>| 可执行规格 | `WHEN / WHILE / SHALL / IF / THEN` 是否完整？高影响 `OPEN` 是否关闭？ | `spec.md` |</a:t>
            </a:r>
          </a:p>
          <a:p xmlns:a="http://schemas.openxmlformats.org/drawingml/2006/main">
            <a:r>
              <a:t>| 第一张任务卡 | 唯一结果、Allowed / Forbidden、RED、Verify 与 Stop 是否明确？ | Task Card |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&gt; **下一页进入真实案例：用真实文档、代码、测试和设备证据验证这四项。**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先让学员判断：USB 全局启用后，一台显式 deny 的键盘应该是什么状态？</a:t>
            </a:r>
          </a:p>
          <a:p xmlns:a="http://schemas.openxmlformats.org/drawingml/2006/main">
            <a:r>
              <a:t>答案：全局启用只是打开 L1；L2 仍然可以拒绝该设备。默认黑白名单只处理没有显式规则的新设备。</a:t>
            </a:r>
          </a:p>
          <a:p xmlns:a="http://schemas.openxmlformats.org/drawingml/2006/main">
            <a:r>
              <a:t>USB 存储模式不是第四层名单，而是一条并行类型策略。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case-materials/mdm/README.md</a:t>
            </a:r>
          </a:p>
          <a:p xmlns:a="http://schemas.openxmlformats.org/drawingml/2006/main">
            <a:r>
              <a:t>- case-materials/mdm/11-附录B外设课堂冻结规格.md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这页必须真的打开目录，不只念六个阶段。</a:t>
            </a:r>
          </a:p>
          <a:p xmlns:a="http://schemas.openxmlformats.org/drawingml/2006/main">
            <a:r>
              <a:t>强调每个阶段都有输入、生成文件和出口门；文档是下一次 AI Session 的外部记忆。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case-materials/mdm/README.md</a:t>
            </a:r>
          </a:p>
          <a:p xmlns:a="http://schemas.openxmlformats.org/drawingml/2006/main">
            <a:r>
              <a:t>- case-materials/mdm/00-外设管理证据状态总表.md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现场用 rg 从 PeripheralPage 追到 UsbGlobalPolicyService，再追到 DispatchService。</a:t>
            </a:r>
          </a:p>
          <a:p xmlns:a="http://schemas.openxmlformats.org/drawingml/2006/main">
            <a:r>
              <a:t>每轮扫描都要写下输出，不允许靠聊天记忆继续。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case-materials/mdm/01-资产同步与冲突清单.md</a:t>
            </a:r>
          </a:p>
          <a:p xmlns:a="http://schemas.openxmlformats.org/drawingml/2006/main">
            <a:r>
              <a:t>- case-materials/mdm/08-代码级调用链与课堂穿刺.md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让学员任选一项冲突，说明如果不冻结会导致哪种代码误实现。</a:t>
            </a:r>
          </a:p>
          <a:p xmlns:a="http://schemas.openxmlformats.org/drawingml/2006/main">
            <a:r>
              <a:t>需求卡冻结的是可验证语义，不是接口名。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case-materials/mdm/01-资产同步与冲突清单.md</a:t>
            </a:r>
          </a:p>
          <a:p xmlns:a="http://schemas.openxmlformats.org/drawingml/2006/main">
            <a:r>
              <a:t>- case-materials/mdm/11-附录B外设课堂冻结规格.md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先比较失败模式，再落类和接口。</a:t>
            </a:r>
          </a:p>
          <a:p xmlns:a="http://schemas.openxmlformats.org/drawingml/2006/main">
            <a:r>
              <a:t>强调 desiredPolicy 与 activePolicy 分离：意图长期保留，执行态可能因全局禁用而暂时为 none。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case-materials/mdm/02-方案推导与决策记录.md</a:t>
            </a:r>
          </a:p>
          <a:p xmlns:a="http://schemas.openxmlformats.org/drawingml/2006/main">
            <a:r>
              <a:t>- security_tool/.../UsbGlobalPolicyService.ets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现场打开 dispatchUsbPolicy 和 buildUsbDeviceType，确认系统参数里没有 serial number。</a:t>
            </a:r>
          </a:p>
          <a:p xmlns:a="http://schemas.openxmlformats.org/drawingml/2006/main">
            <a:r>
              <a:t>判断 AI 对不对：看它是否主动要求同类型第二台设备作为反例。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security_tool/.../PeripheralDevicePolicyDispatchService.ets</a:t>
            </a:r>
          </a:p>
          <a:p xmlns:a="http://schemas.openxmlformats.org/drawingml/2006/main">
            <a:r>
              <a:t>- case-materials/mdm/08-代码级调用链与课堂穿刺.md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OPEN 表示 RFC 已经识别风险，但还没有设备级闭环证据。</a:t>
            </a:r>
          </a:p>
          <a:p xmlns:a="http://schemas.openxmlformats.org/drawingml/2006/main">
            <a:r>
              <a:t>Story 开始前必须引用这些不变量和已知风险。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case-materials/mdm/03-外设管理MVVM与策略RFC.md</a:t>
            </a:r>
          </a:p>
          <a:p xmlns:a="http://schemas.openxmlformats.org/drawingml/2006/main">
            <a:r>
              <a:t>- security_tool/docs/03-模块设计/外设管理组件设计说明.md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这页先纠正旧版路径：PeripheralPage 位于 views/peripheral/overview，三个可见区域位于 components/peripheral。</a:t>
            </a:r>
          </a:p>
          <a:p xmlns:a="http://schemas.openxmlformats.org/drawingml/2006/main">
            <a:r>
              <a:t>代码组织的目标不是迁就 AI，而是让人和 AI 都能从业务能力快速定位责任边界。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security_tool/entry/src/main/ets</a:t>
            </a:r>
          </a:p>
          <a:p xmlns:a="http://schemas.openxmlformats.org/drawingml/2006/main">
            <a:r>
              <a:t>- case-materials/mdm/14-文档先行与模块提交协议.md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现场从 handleConnect 开始逐跳打开代码。</a:t>
            </a:r>
          </a:p>
          <a:p xmlns:a="http://schemas.openxmlformats.org/drawingml/2006/main">
            <a:r>
              <a:t>页面不刷新时，先检查最早缺失的证据：RDB 是否写入、notify 是否触发、ViewModel 是否 reload。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security_tool/.../UsbDevicePolicyStateService.ets</a:t>
            </a:r>
          </a:p>
          <a:p xmlns:a="http://schemas.openxmlformats.org/drawingml/2006/main">
            <a:r>
              <a:t>- security_tool/.../PeripheralTraceMaintenanceService.ets</a:t>
            </a:r>
          </a:p>
          <a:p xmlns:a="http://schemas.openxmlformats.org/drawingml/2006/main">
            <a:r>
              <a:t>- case-materials/mdm/08-代码级调用链与课堂穿刺.md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让学员画出 suspend 第二条失败时的补偿方向。</a:t>
            </a:r>
          </a:p>
          <a:p xmlns:a="http://schemas.openxmlformats.org/drawingml/2006/main">
            <a:r>
              <a:t>全局恢复成功但部分设备 deny 重放失败，结果应是 PARTIAL，而不是伪造全部成功。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security_tool/.../UsbGlobalPolicyService.ets</a:t>
            </a:r>
          </a:p>
          <a:p xmlns:a="http://schemas.openxmlformats.org/drawingml/2006/main">
            <a:r>
              <a:t>- security_tool/entry/src/test/peripheral/usb-global-policy-service.test.ets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本页修复旧版编号错位：S2 是默认策略，S3 是首次连接，S6 是存储冲突，S7 才是还原。</a:t>
            </a:r>
          </a:p>
          <a:p xmlns:a="http://schemas.openxmlformats.org/drawingml/2006/main">
            <a:r>
              <a:t>现场随机抽一个 Story，要求学员说出 RED、主要修改面和独立验收点。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case-materials/mdm/04-Feature与Story拆解.md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伪代码评审看三个点：失败时什么不提交、成功写到哪个真源、系统结果用什么 Oracle 判断。</a:t>
            </a:r>
          </a:p>
          <a:p xmlns:a="http://schemas.openxmlformats.org/drawingml/2006/main">
            <a:r>
              <a:t>如果 Worker Session 需要改 View 或默认名单语义，应停止并重开 Story，而不是扩大 Diff。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case-materials/mdm/04-Feature与Story拆解.md</a:t>
            </a:r>
          </a:p>
          <a:p xmlns:a="http://schemas.openxmlformats.org/drawingml/2006/main">
            <a:r>
              <a:t>- security_tool/entry/src/main/ets/services/peripheral/interface-control/UsbGlobalPolicyService.ets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让学员判断一次改动属于继续、停止还是升级。</a:t>
            </a:r>
          </a:p>
          <a:p xmlns:a="http://schemas.openxmlformats.org/drawingml/2006/main">
            <a:r>
              <a:t>没有可证伪假设和独立 oracle 的循环，只是让 AI 反复改代码。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case-materials/mdm/05-Ralph迭代运行账.md</a:t>
            </a:r>
          </a:p>
          <a:p xmlns:a="http://schemas.openxmlformats.org/drawingml/2006/main">
            <a:r>
              <a:t>- case-materials/mdm/13-本地Session真实问题证据卡.md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这页要求现场展示一次 docs commit 在 code commit 之前，并在 Ledger 中填入两个 hash。</a:t>
            </a:r>
          </a:p>
          <a:p xmlns:a="http://schemas.openxmlformats.org/drawingml/2006/main">
            <a:r>
              <a:t>模块记录不是提交列表：它必须包含设计来源、allowed paths、测试、系统/实物证据和未关闭风险。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case-materials/mdm/14-文档先行与模块提交协议.md</a:t>
            </a:r>
          </a:p>
          <a:p xmlns:a="http://schemas.openxmlformats.org/drawingml/2006/main">
            <a:r>
              <a:t>- case-materials/mdm/04-Feature与Story拆解.md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这页训练证据分层：每向下一层，能推翻上一层看起来合理的结论。</a:t>
            </a:r>
          </a:p>
          <a:p xmlns:a="http://schemas.openxmlformats.org/drawingml/2006/main">
            <a:r>
              <a:t>还原按钮必须读取系统残留，不能只看本地 deny。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case-materials/mdm/13-本地Session真实问题证据卡.md</a:t>
            </a:r>
          </a:p>
          <a:p xmlns:a="http://schemas.openxmlformats.org/drawingml/2006/main">
            <a:r>
              <a:t>- case-materials/mdm/05-Ralph迭代运行账.md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让学员先给二态判断，再展示 getter 和挂载证据，迫使其改成三态。</a:t>
            </a:r>
          </a:p>
          <a:p xmlns:a="http://schemas.openxmlformats.org/drawingml/2006/main">
            <a:r>
              <a:t>PARTIAL_APPLIED 必须给出用户下一步，而不是吞掉异常。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case-materials/mdm/13-本地Session真实问题证据卡.md</a:t>
            </a:r>
          </a:p>
          <a:p xmlns:a="http://schemas.openxmlformats.org/drawingml/2006/main">
            <a:r>
              <a:t>- case-materials/mdm/06-测试验收报告.md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现场依次打开 usb_policy.json、runner.py、Flow Executor、Driver 和 Assertion。</a:t>
            </a:r>
          </a:p>
          <a:p xmlns:a="http://schemas.openxmlformats.org/drawingml/2006/main">
            <a:r>
              <a:t>要求学员说出每一层能证明什么、不能证明什么。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security_tool/scripts/e2e/cases/peripheral/</a:t>
            </a:r>
          </a:p>
          <a:p xmlns:a="http://schemas.openxmlformats.org/drawingml/2006/main">
            <a:r>
              <a:t>- security_tool/docs/04-测试文档/e2e测试/端到端测试框架设计.md</a:t>
            </a:r>
          </a:p>
          <a:p xmlns:a="http://schemas.openxmlformats.org/drawingml/2006/main">
            <a:r>
              <a:t>- User-provided image: codex-clipboard-6778939b-3ce1-44ae-baf5-06a00b13fb43.jpg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截图证明页面可见，不证明设备已经被系统拒绝。</a:t>
            </a:r>
          </a:p>
          <a:p xmlns:a="http://schemas.openxmlformats.org/drawingml/2006/main">
            <a:r>
              <a:t>若 system/physical oracle 不可得，Case 只能标 UNKNOWN/PENDING，不能因脚本执行成功给 PASS。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harmonyos-sdd-workshop-media/e2e/peripheral-policy-current.png</a:t>
            </a:r>
          </a:p>
          <a:p xmlns:a="http://schemas.openxmlformats.org/drawingml/2006/main">
            <a:r>
              <a:t>- case-materials/mdm/12-附录E外设验收手册.md</a:t>
            </a:r>
          </a:p>
          <a:p xmlns:a="http://schemas.openxmlformats.org/drawingml/2006/main">
            <a:r>
              <a:t>- security_tool/scripts/e2e/cases/peripheral/usb_blacklist.json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收口时让学员任选一行做反向追踪。</a:t>
            </a:r>
          </a:p>
          <a:p xmlns:a="http://schemas.openxmlformats.org/drawingml/2006/main">
            <a:r>
              <a:t>设备证据未补齐时，overall 不能给 PASS；这正是“AI 完成不等于交付”的最终落点。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case-materials/mdm/00-外设管理证据状态总表.md</a:t>
            </a:r>
          </a:p>
          <a:p xmlns:a="http://schemas.openxmlformats.org/drawingml/2006/main">
            <a:r>
              <a:t>- case-materials/mdm/06-测试验收报告.md</a:t>
            </a:r>
          </a:p>
          <a:p xmlns:a="http://schemas.openxmlformats.org/drawingml/2006/main">
            <a:r>
              <a:t>- case-materials/mdm/12-附录E外设验收手册.md</a:t>
            </a:r>
          </a:p>
          <a:p xmlns:a="http://schemas.openxmlformats.org/drawingml/2006/main">
            <a:r>
              <a:t>
素材责任说明：U01–U08 由用户提供真机/实物原始材料；E01–E03 是工程开放项；L01–L05 由本地仓库生成。
[Sources]
- case-materials/mdm/16-用户补充素材清单.md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先介绍产品背景：基于 FreeRDP 和 xrdp 打通 HarmonyOS/Windows 双向远控。用户冻结的问题背景是主控视频仍走 CPU/软件路径，体验卡顿。这里不填未绑定的 FPS/CPU 数字。然后抛出课堂问题：面对 30W+ 三方项目，AI 怎么找到真正的适配点？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这一页讲上下文控制。不要让 AI 总结全部仓库。把问题冻结为一帧，从网络命令到 present；再启动两个有输入、输出、Verdict 和 Stop 的探针。完整探针记录见 17 文档第 11 节。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从左到右讲一帧，不讲全部协议。重点停在 context-&gt;SurfaceCommand：这是三方项目交给平台显示后端的稳定回调。EndFrame 决定最终提交时机。源码锚点都来自 demo@aa31146。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这页是整章判断核心。Linux 探针没有告诉我们照抄 X11，而是告诉我们平台适配缝隙在回调表。HarmonyOS Bridge 必须保存 original 回调，候选路径没消费就立即回退。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讲清三类边界：XComponent surface 生命周期、AVCodec output 与 NativeBuffer 所有权、pending 到 matched EndFrame 的提交边界。探针目标是一帧闭环，不是性能优化。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方案冻结之前要逐道过 Gate。强调 REPO FACT、RUN FACT、MEDIA FACT 的区别：源码能够证明存在能力和边界，不能直接证明最终性能。完整 Gate 输入、停止条件和日志结构见 17 文档第 14–15 节。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方案的核心是可逆接管。candidate gate 同时检查 codec、surface、target 和状态；TryConsume 返回 consumed 才能 suppress original。owner 只能在首帧验证后切换，surface destroy 或任一步失败都回 GDI。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这一页要直接展示 17 文档，不只念十步。左侧是输入、源码锚点和不变量，右侧才是三阶段十步路径。让听众看到步骤为何成立，以及它怎样生成下一份实施任务包。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不要把九张 Story 同时发给 AI。每轮只开放对应文件与唯一目标。课堂重点展示 G3 Bridge 可逆、G4 硬解输出、G6 EndFrame/owner/fallback；任何 AC 或证据位不闭合，后续 Story 保持 BLOCKED。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AI 错了时不换一套方法。保留现场，把日志放回同一帧时序，寻找第一处 expected 和 actual 不一致；一次只增加一个可证伪探针。真实 Session 中 immediate present 构建成功但仍黑屏，因此回退，而不是继续叠补丁。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最后用大图或视频收束，但不要把示意图讲成性能证据。课程真正带走的是方法：限定问题、追参考实现、最小穿刺、冻结可逆方案、Ralph 逐轮验收、沿同一帧链排障。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C:/Users/mu/Desktop/code/ppt/harmonyos-sdd-ralph-workshop/harmonyos-sdd-ralph-workshop.md</a:t>
            </a:r>
          </a:p>
          <a:p xmlns:a="http://schemas.openxmlformats.org/drawingml/2006/main">
            <a:r>
              <a:t>- C:\Users\mu\Desktop\code\ppt\harmonyos-sdd-ralph-workshop\harmonyos-sdd-workshop-media\anthropic\eval-quality-layers.png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```mermaid</a:t>
            </a:r>
          </a:p>
          <a:p xmlns:a="http://schemas.openxmlformats.org/drawingml/2006/main">
            <a:r>
              <a:t>flowchart TD</a:t>
            </a:r>
          </a:p>
          <a:p xmlns:a="http://schemas.openxmlformats.org/drawingml/2006/main">
            <a:r>
              <a:t>    A[事实] --&gt; B[规格]</a:t>
            </a:r>
          </a:p>
          <a:p xmlns:a="http://schemas.openxmlformats.org/drawingml/2006/main">
            <a:r>
              <a:t>    B --&gt; C[任务]</a:t>
            </a:r>
          </a:p>
          <a:p xmlns:a="http://schemas.openxmlformats.org/drawingml/2006/main">
            <a:r>
              <a:t>    C --&gt; D[RED]</a:t>
            </a:r>
          </a:p>
          <a:p xmlns:a="http://schemas.openxmlformats.org/drawingml/2006/main">
            <a:r>
              <a:t>    D --&gt; E[最小 Diff]</a:t>
            </a:r>
          </a:p>
          <a:p xmlns:a="http://schemas.openxmlformats.org/drawingml/2006/main">
            <a:r>
              <a:t>    E --&gt; F[系统证据]</a:t>
            </a:r>
          </a:p>
          <a:p xmlns:a="http://schemas.openxmlformats.org/drawingml/2006/main">
            <a:r>
              <a:t>```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**可选收束主视觉（PPT 制作时与上方 Mermaid 二选一）**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![质量的瑞士奶酪模型：自动评估、人工审阅和真实运行共同拦截缺陷](harmonyos-sdd-workshop-media/anthropic/eval-quality-layers.png)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&lt;sub&gt;讲师读图：任何单层检查都有孔洞。映射到本课就是测试、构建、日志、getter、截图/视频与同伴 Reviewer 叠加；只有多层证据对齐，才允许 PASS。图源：Anthropic《Demystifying Evals for AI Agents》。&lt;/sub&gt;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下一次拿到复杂需求，只问七个问题：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哪些词会让实现分叉？</a:t>
            </a:r>
          </a:p>
          <a:p xmlns:a="http://schemas.openxmlformats.org/drawingml/2006/main">
            <a:r>
              <a:t>2. 最终真相在哪一层？</a:t>
            </a:r>
          </a:p>
          <a:p xmlns:a="http://schemas.openxmlformats.org/drawingml/2006/main">
            <a:r>
              <a:t>3. 哪些不变量绝不能破坏？</a:t>
            </a:r>
          </a:p>
          <a:p xmlns:a="http://schemas.openxmlformats.org/drawingml/2006/main">
            <a:r>
              <a:t>4. 本轮只允许 AI 改哪个边界？</a:t>
            </a:r>
          </a:p>
          <a:p xmlns:a="http://schemas.openxmlformats.org/drawingml/2006/main">
            <a:r>
              <a:t>5. 怎样先制造一个可解释的 RED？</a:t>
            </a:r>
          </a:p>
          <a:p xmlns:a="http://schemas.openxmlformats.org/drawingml/2006/main">
            <a:r>
              <a:t>6. 最早异常证据在哪里？</a:t>
            </a:r>
          </a:p>
          <a:p xmlns:a="http://schemas.openxmlformats.org/drawingml/2006/main">
            <a:r>
              <a:t>7. 什么证据满足后，本轮必须停止？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**一分钟迁移题**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&gt; 权限页面第一次进入数据为空，第二次进入正常。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每组必须用七问给出：一个最小只读勘察任务、一条可证伪假设、一项禁止修改范围和一个最终事实来源。不得直接回答“加延迟”或“页面初始化问题”。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56aa70c47d34532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a346e20a83c84388" /><Relationship Type="http://schemas.openxmlformats.org/officeDocument/2006/relationships/slideLayout" Target="/ppt/slideLayouts/slideLayout1.xml" Id="Rfd621999765847ee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fd621999765847ee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617cc67a6a94c03" /><Relationship Type="http://schemas.openxmlformats.org/officeDocument/2006/relationships/image" Target="/ppt/media/image.png" Id="Ra8f9340036f543fe" /><Relationship Type="http://schemas.openxmlformats.org/officeDocument/2006/relationships/notesSlide" Target="/ppt/notesSlides/notesSlide1.xml" Id="Rde055e61e0a94f43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617a6c550524979" /><Relationship Type="http://schemas.openxmlformats.org/officeDocument/2006/relationships/notesSlide" Target="/ppt/notesSlides/notesSlide2.xml" Id="R914c2d77d79e4e6e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e5deaf4aba44d17" /><Relationship Type="http://schemas.openxmlformats.org/officeDocument/2006/relationships/image" Target="/ppt/media/image2.png" Id="Rcb93fcf8cf374b82" /><Relationship Type="http://schemas.openxmlformats.org/officeDocument/2006/relationships/notesSlide" Target="/ppt/notesSlides/notesSlide3.xml" Id="R9d79a602cd064615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c97e0ff714f4776" /><Relationship Type="http://schemas.openxmlformats.org/officeDocument/2006/relationships/notesSlide" Target="/ppt/notesSlides/notesSlide4.xml" Id="R8696c659b3ab4ae0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562e445fda04679" /><Relationship Type="http://schemas.openxmlformats.org/officeDocument/2006/relationships/notesSlide" Target="/ppt/notesSlides/notesSlide5.xml" Id="Rc33a241ceaca4dee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59035a68f4d48ce" /><Relationship Type="http://schemas.openxmlformats.org/officeDocument/2006/relationships/notesSlide" Target="/ppt/notesSlides/notesSlide6.xml" Id="R2c80cda94cab49ce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00da56428fd4211" /><Relationship Type="http://schemas.openxmlformats.org/officeDocument/2006/relationships/notesSlide" Target="/ppt/notesSlides/notesSlide7.xml" Id="R4ceaa9fa3628490a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0540dd2747a4b77" /><Relationship Type="http://schemas.openxmlformats.org/officeDocument/2006/relationships/notesSlide" Target="/ppt/notesSlides/notesSlide8.xml" Id="R290fe2de57854995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330a9da26284d8f" /><Relationship Type="http://schemas.openxmlformats.org/officeDocument/2006/relationships/notesSlide" Target="/ppt/notesSlides/notesSlide9.xml" Id="Rea2ae0fbe56142b6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caea05609a54ac6" /><Relationship Type="http://schemas.openxmlformats.org/officeDocument/2006/relationships/notesSlide" Target="/ppt/notesSlides/notesSlide10.xml" Id="R71c7807c26e4420f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f697fa491ee4d21" /><Relationship Type="http://schemas.openxmlformats.org/officeDocument/2006/relationships/notesSlide" Target="/ppt/notesSlides/notesSlide11.xml" Id="Rc122135443bb4151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1297932ca344e3d" /><Relationship Type="http://schemas.openxmlformats.org/officeDocument/2006/relationships/notesSlide" Target="/ppt/notesSlides/notesSlide12.xml" Id="R5e01b908679a42f6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29d76a0533d4578" /><Relationship Type="http://schemas.openxmlformats.org/officeDocument/2006/relationships/notesSlide" Target="/ppt/notesSlides/notesSlide13.xml" Id="R296623f44df64dfc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80248e9d6d34579" /><Relationship Type="http://schemas.openxmlformats.org/officeDocument/2006/relationships/notesSlide" Target="/ppt/notesSlides/notesSlide14.xml" Id="Rea4a1871b8064d48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064f1a55c9a4a51" /><Relationship Type="http://schemas.openxmlformats.org/officeDocument/2006/relationships/notesSlide" Target="/ppt/notesSlides/notesSlide15.xml" Id="Rfaa744fe3fcb4903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eb13f6a3c944b10" /><Relationship Type="http://schemas.openxmlformats.org/officeDocument/2006/relationships/notesSlide" Target="/ppt/notesSlides/notesSlide16.xml" Id="R72d8858dd16644e1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83a8a49c710415b" /><Relationship Type="http://schemas.openxmlformats.org/officeDocument/2006/relationships/notesSlide" Target="/ppt/notesSlides/notesSlide17.xml" Id="R52ca3b1027e3446e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226813ca96742b1" /><Relationship Type="http://schemas.openxmlformats.org/officeDocument/2006/relationships/notesSlide" Target="/ppt/notesSlides/notesSlide18.xml" Id="Ra00060458d824a8d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82c209959c34fde" /><Relationship Type="http://schemas.openxmlformats.org/officeDocument/2006/relationships/notesSlide" Target="/ppt/notesSlides/notesSlide19.xml" Id="R38f1c9b1290e40cc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2410e9ae066485d" /><Relationship Type="http://schemas.openxmlformats.org/officeDocument/2006/relationships/notesSlide" Target="/ppt/notesSlides/notesSlide20.xml" Id="R6693b2a6e8b84119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f175f05681548da" /><Relationship Type="http://schemas.openxmlformats.org/officeDocument/2006/relationships/notesSlide" Target="/ppt/notesSlides/notesSlide21.xml" Id="Re4af842813944b2d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49d9b767d2245e7" /><Relationship Type="http://schemas.openxmlformats.org/officeDocument/2006/relationships/notesSlide" Target="/ppt/notesSlides/notesSlide22.xml" Id="Rfd165cb109184e0d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875e6c331674bbb" /><Relationship Type="http://schemas.openxmlformats.org/officeDocument/2006/relationships/notesSlide" Target="/ppt/notesSlides/notesSlide23.xml" Id="R88c3fdea8e814b55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93c82554f0b4ed6" /><Relationship Type="http://schemas.openxmlformats.org/officeDocument/2006/relationships/notesSlide" Target="/ppt/notesSlides/notesSlide24.xml" Id="R181f7951d8654296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e9cb5b0e0b14ab2" /><Relationship Type="http://schemas.openxmlformats.org/officeDocument/2006/relationships/image" Target="/ppt/media/image.jpeg" Id="R4afa278228774fc5" /><Relationship Type="http://schemas.openxmlformats.org/officeDocument/2006/relationships/notesSlide" Target="/ppt/notesSlides/notesSlide25.xml" Id="R61f7253708b84868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9ff521c531d4616" /><Relationship Type="http://schemas.openxmlformats.org/officeDocument/2006/relationships/image" Target="/ppt/media/image2.jpeg" Id="Rabe3e8174cb64e49" /><Relationship Type="http://schemas.openxmlformats.org/officeDocument/2006/relationships/notesSlide" Target="/ppt/notesSlides/notesSlide26.xml" Id="Rc9c6cbb9eddf4074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6cc7a59fa0a4940" /><Relationship Type="http://schemas.openxmlformats.org/officeDocument/2006/relationships/notesSlide" Target="/ppt/notesSlides/notesSlide27.xml" Id="R3f479fdabece4732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7e1befb1d004a80" /><Relationship Type="http://schemas.openxmlformats.org/officeDocument/2006/relationships/image" Target="/ppt/media/image3.png" Id="R400629f6c6b44a37" /><Relationship Type="http://schemas.openxmlformats.org/officeDocument/2006/relationships/notesSlide" Target="/ppt/notesSlides/notesSlide28.xml" Id="R2d93e899e3ee4802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405f447a3d9403c" /><Relationship Type="http://schemas.openxmlformats.org/officeDocument/2006/relationships/notesSlide" Target="/ppt/notesSlides/notesSlide29.xml" Id="R2f3bdb1f4a304c6c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c455f78b3cb4e9d" /><Relationship Type="http://schemas.openxmlformats.org/officeDocument/2006/relationships/notesSlide" Target="/ppt/notesSlides/notesSlide30.xml" Id="R0be7a21f0a594c34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8d386e9490e41bb" /><Relationship Type="http://schemas.openxmlformats.org/officeDocument/2006/relationships/notesSlide" Target="/ppt/notesSlides/notesSlide31.xml" Id="R676b34b3171b4ee4" /></Relationships>
</file>

<file path=ppt/slides/_rels/slide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7c30613f14343e0" /><Relationship Type="http://schemas.openxmlformats.org/officeDocument/2006/relationships/notesSlide" Target="/ppt/notesSlides/notesSlide32.xml" Id="Rb6032329a172454d" /></Relationships>
</file>

<file path=ppt/slides/_rels/slide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f2c051705e44d71" /><Relationship Type="http://schemas.openxmlformats.org/officeDocument/2006/relationships/notesSlide" Target="/ppt/notesSlides/notesSlide33.xml" Id="R12eeed71b5354c75" /></Relationships>
</file>

<file path=ppt/slides/_rels/slide3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6f232aab52e4adc" /><Relationship Type="http://schemas.openxmlformats.org/officeDocument/2006/relationships/notesSlide" Target="/ppt/notesSlides/notesSlide34.xml" Id="R83dab8a844f543eb" /></Relationships>
</file>

<file path=ppt/slides/_rels/slide3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b44bd05352a4d36" /><Relationship Type="http://schemas.openxmlformats.org/officeDocument/2006/relationships/notesSlide" Target="/ppt/notesSlides/notesSlide35.xml" Id="R40315f4ac17d4b4f" /></Relationships>
</file>

<file path=ppt/slides/_rels/slide3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0bc0b2d099d401e" /><Relationship Type="http://schemas.openxmlformats.org/officeDocument/2006/relationships/notesSlide" Target="/ppt/notesSlides/notesSlide36.xml" Id="R828d7b1164b24024" /></Relationships>
</file>

<file path=ppt/slides/_rels/slide3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13d4372350b4694" /><Relationship Type="http://schemas.openxmlformats.org/officeDocument/2006/relationships/notesSlide" Target="/ppt/notesSlides/notesSlide37.xml" Id="R0a7ff884a9c74fb8" /></Relationships>
</file>

<file path=ppt/slides/_rels/slide3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9643d1116774e43" /><Relationship Type="http://schemas.openxmlformats.org/officeDocument/2006/relationships/image" Target="/ppt/media/image4.png" Id="R313a39f03b784ac9" /><Relationship Type="http://schemas.openxmlformats.org/officeDocument/2006/relationships/notesSlide" Target="/ppt/notesSlides/notesSlide38.xml" Id="Rfd59fe4721b5466b" /></Relationships>
</file>

<file path=ppt/slides/_rels/slide3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02f1621bf1543c7" /><Relationship Type="http://schemas.openxmlformats.org/officeDocument/2006/relationships/image" Target="/ppt/media/image5.png" Id="R6897b4553ba5497e" /><Relationship Type="http://schemas.openxmlformats.org/officeDocument/2006/relationships/notesSlide" Target="/ppt/notesSlides/notesSlide39.xml" Id="R820a0d8f38f04c5c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54E06D2-31D6-475F-9B0B-C539891074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00125"/>
            <a:ext cx="5143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97222"/>
          </a:bodyPr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HarmonyOS 复杂需求工程化实践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D2DA694-E65E-46F5-A828-A9EA8B6B6A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00250"/>
            <a:ext cx="4953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让 AI 不只是“写出代码”，而是完成可解释、可验证、可停止的一轮工程闭环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3934442-F286-4625-B2E3-0CF7B40A3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143250"/>
            <a:ext cx="571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685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23133A9-F69F-4EBD-9347-F3D0694699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181350"/>
            <a:ext cx="47815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课程从一个人人都见过的现象开始：页面第一次进入为空，第二次却正常。先学会找事实，再进入两个真实工程案例。</a:t>
            </a:r>
          </a:p>
        </p:txBody>
      </p:sp>
      <p:pic>
        <p:nvPicPr>
          <p:cNvPr id="58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8f9340036f543fe"/>
          <a:srcRect xmlns:a="http://schemas.openxmlformats.org/drawingml/2006/main" l="10625" t="0" r="1062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953125" y="952500"/>
            <a:ext cx="5667375" cy="4048125"/>
          </a:xfrm>
          <a:prstGeom xmlns:a="http://schemas.openxmlformats.org/drawingml/2006/main" prst="roundRect">
            <a:avLst>
              <a:gd name="adj" fmla="val 2824"/>
            </a:avLst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0358F46-EEFE-4F90-9B29-FDC192E67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3125" y="952500"/>
            <a:ext cx="5667375" cy="4048125"/>
          </a:xfrm>
          <a:prstGeom xmlns:a="http://schemas.openxmlformats.org/drawingml/2006/main" prst="roundRect">
            <a:avLst>
              <a:gd name="adj" fmla="val 2824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AB99B91-2F40-4BB7-B4E9-3E32681314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067300"/>
            <a:ext cx="51911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核心不是一次 Prompt，而是持续澄清目标、约束边界，并让每一步都能被证据推翻。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29A8C34-9593-4D16-ABDD-5D57C075C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15000"/>
            <a:ext cx="1714500" cy="523875"/>
          </a:xfrm>
          <a:prstGeom xmlns:a="http://schemas.openxmlformats.org/drawingml/2006/main" prst="roundRect">
            <a:avLst>
              <a:gd name="adj" fmla="val 21818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89813BA-70E2-453C-8B51-99EEBD2A6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772150"/>
            <a:ext cx="15621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现象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8915CFC-64A1-4548-90C8-2D189C4E6A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5715000"/>
            <a:ext cx="1714500" cy="523875"/>
          </a:xfrm>
          <a:prstGeom xmlns:a="http://schemas.openxmlformats.org/drawingml/2006/main" prst="roundRect">
            <a:avLst>
              <a:gd name="adj" fmla="val 21818"/>
            </a:avLst>
          </a:prstGeom>
          <a:solidFill xmlns:a="http://schemas.openxmlformats.org/drawingml/2006/main">
            <a:srgbClr val="EAF8F5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A93EB35-6820-4A3B-9BC5-8FD65D8B2B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5772150"/>
            <a:ext cx="15621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事实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E85F055-8435-4C99-B28F-7CB1A3383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5715000"/>
            <a:ext cx="1714500" cy="523875"/>
          </a:xfrm>
          <a:prstGeom xmlns:a="http://schemas.openxmlformats.org/drawingml/2006/main" prst="roundRect">
            <a:avLst>
              <a:gd name="adj" fmla="val 21818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8EB34C4-AEF8-4B4F-A918-9AC24BADB7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5772150"/>
            <a:ext cx="15621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规格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D3E3743-2FD4-481B-A58F-A92505CF20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5715000"/>
            <a:ext cx="1714500" cy="523875"/>
          </a:xfrm>
          <a:prstGeom xmlns:a="http://schemas.openxmlformats.org/drawingml/2006/main" prst="roundRect">
            <a:avLst>
              <a:gd name="adj" fmla="val 21818"/>
            </a:avLst>
          </a:prstGeom>
          <a:solidFill xmlns:a="http://schemas.openxmlformats.org/drawingml/2006/main">
            <a:srgbClr val="EAF8F5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F21E7EE-5F52-4899-979C-994CE0A6E8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5772150"/>
            <a:ext cx="15621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任务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75C9516-BC3F-4009-87CA-DE8FEE972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5715000"/>
            <a:ext cx="1714500" cy="523875"/>
          </a:xfrm>
          <a:prstGeom xmlns:a="http://schemas.openxmlformats.org/drawingml/2006/main" prst="roundRect">
            <a:avLst>
              <a:gd name="adj" fmla="val 21818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9D8D213-9AE7-42D0-B3FF-FEAAFDE30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5772150"/>
            <a:ext cx="15621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改动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F8684D2-720E-406B-8A63-E8549711B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5715000"/>
            <a:ext cx="1714500" cy="523875"/>
          </a:xfrm>
          <a:prstGeom xmlns:a="http://schemas.openxmlformats.org/drawingml/2006/main" prst="roundRect">
            <a:avLst>
              <a:gd name="adj" fmla="val 21818"/>
            </a:avLst>
          </a:prstGeom>
          <a:solidFill xmlns:a="http://schemas.openxmlformats.org/drawingml/2006/main">
            <a:srgbClr val="EAF8F5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034A8F4-86B0-419E-A8EB-5945EF6EA6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82200" y="5772150"/>
            <a:ext cx="15621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证据</a:t>
            </a:r>
          </a:p>
        </p:txBody>
      </p:sp>
      <p:cxnSp>
        <p:nvCxnSpPr>
          <p:cNvPr id="595" name=""/>
          <p:cNvCxnSpPr>
            <a:stCxn xmlns:a="http://schemas.openxmlformats.org/drawingml/2006/main" id="8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>
            <a:off x="2286000" y="5976938"/>
            <a:ext cx="1524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596" name=""/>
          <p:cNvCxnSpPr>
            <a:stCxn xmlns:a="http://schemas.openxmlformats.org/drawingml/2006/main" id="10" idx="3"/>
            <a:endCxn xmlns:a="http://schemas.openxmlformats.org/drawingml/2006/main" id="12" idx="1"/>
          </p:cNvCxnSpPr>
          <p:nvPr/>
        </p:nvCxnSpPr>
        <p:spPr>
          <a:xfrm xmlns:a="http://schemas.openxmlformats.org/drawingml/2006/main">
            <a:off x="4152900" y="5976938"/>
            <a:ext cx="1524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597" name=""/>
          <p:cNvCxnSpPr>
            <a:stCxn xmlns:a="http://schemas.openxmlformats.org/drawingml/2006/main" id="12" idx="3"/>
            <a:endCxn xmlns:a="http://schemas.openxmlformats.org/drawingml/2006/main" id="14" idx="1"/>
          </p:cNvCxnSpPr>
          <p:nvPr/>
        </p:nvCxnSpPr>
        <p:spPr>
          <a:xfrm xmlns:a="http://schemas.openxmlformats.org/drawingml/2006/main">
            <a:off x="6019800" y="5976938"/>
            <a:ext cx="1524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598" name=""/>
          <p:cNvCxnSpPr>
            <a:stCxn xmlns:a="http://schemas.openxmlformats.org/drawingml/2006/main" id="14" idx="3"/>
            <a:endCxn xmlns:a="http://schemas.openxmlformats.org/drawingml/2006/main" id="16" idx="1"/>
          </p:cNvCxnSpPr>
          <p:nvPr/>
        </p:nvCxnSpPr>
        <p:spPr>
          <a:xfrm xmlns:a="http://schemas.openxmlformats.org/drawingml/2006/main">
            <a:off x="7886700" y="5976938"/>
            <a:ext cx="1524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599" name=""/>
          <p:cNvCxnSpPr>
            <a:stCxn xmlns:a="http://schemas.openxmlformats.org/drawingml/2006/main" id="16" idx="3"/>
            <a:endCxn xmlns:a="http://schemas.openxmlformats.org/drawingml/2006/main" id="18" idx="1"/>
          </p:cNvCxnSpPr>
          <p:nvPr/>
        </p:nvCxnSpPr>
        <p:spPr>
          <a:xfrm xmlns:a="http://schemas.openxmlformats.org/drawingml/2006/main">
            <a:off x="9753600" y="5976938"/>
            <a:ext cx="1524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BDFAD5A-1D55-4875-B0CF-74BCDE0C7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72250"/>
            <a:ext cx="7429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rPr>
              <a:t>HarmonyOS · Spec-Driven Development · Ralph Workshop</a:t>
            </a:r>
          </a:p>
        </p:txBody>
      </p:sp>
    </p:spTree>
    <p:extLst>
      <p:ext uri="{BB962C8B-B14F-4D97-AF65-F5344CB8AC3E}">
        <p14:creationId xmlns:p14="http://schemas.microsoft.com/office/powerpoint/2010/main" val="486160557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D8561A2A-E6D6-45A6-A5EF-D7B77BE24E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0500"/>
            <a:ext cx="228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01 课程地图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4106498-66E5-41F1-AC3A-DE23BD139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28625"/>
            <a:ext cx="10334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别急着改代码：先解释“第一次为空，第二次正常”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B243E87-55F1-41AC-8AEE-309F84F14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171450"/>
            <a:ext cx="6286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F561238-AB06-4C49-B582-E39DEE933F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257175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1BB994A-D801-4C4B-952C-C324C33C00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334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515C2BA-A7F2-4D41-A6A4-266117DAB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190625"/>
            <a:ext cx="571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685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A6737F0-C1ED-4FE6-81DD-29E7590D7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228725"/>
            <a:ext cx="106870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“权限页面第一次进入数据为空，退出后第二次进入却正常。”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95AA486-0133-4F84-8A84-58B5C0BDB9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95500"/>
            <a:ext cx="590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这句话只描述了现象，至少存在四种完全不同的实现原因：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F58C9F9-8B4F-4B25-9EAA-404E535EA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619375"/>
            <a:ext cx="4953000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A86D694-48CC-465B-8E85-C6918A90D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676525"/>
            <a:ext cx="48006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1  数据尚未返回</a:t>
            </a:r>
          </a:p>
          <a:p xmlns:a="http://schemas.openxmlformats.org/drawingml/2006/main">
            <a:pPr algn="l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页面先渲染，异步结果稍后到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ECDAA71-FCE1-49A0-9A8B-A4CE8E2939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2619375"/>
            <a:ext cx="4953000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EAF8F5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724AC4A-4032-4235-BA16-598B5EAFFF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4575" y="2676525"/>
            <a:ext cx="48006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2  监听注册太晚</a:t>
            </a:r>
          </a:p>
          <a:p xmlns:a="http://schemas.openxmlformats.org/drawingml/2006/main">
            <a:pPr algn="l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第一次事件已错过，第二次复用状态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23A62DD-271B-4750-9DDA-DD073711D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714750"/>
            <a:ext cx="4953000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0F5ACCE-987E-4FF7-8A5F-7ECB3CE054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771900"/>
            <a:ext cx="48006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3  缓存或单例残留</a:t>
            </a:r>
          </a:p>
          <a:p xmlns:a="http://schemas.openxmlformats.org/drawingml/2006/main">
            <a:pPr algn="l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第二次读取的是上一轮结果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A6A54F0-8330-4783-AC13-7B52A077CE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3714750"/>
            <a:ext cx="4953000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EAF8F5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3A3880D-21DD-4754-AD93-2E591AF34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4575" y="3771900"/>
            <a:ext cx="48006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4  刷新链没有触发</a:t>
            </a:r>
          </a:p>
          <a:p xmlns:a="http://schemas.openxmlformats.org/drawingml/2006/main">
            <a:pPr algn="l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事实已存在，但 ViewModel 没收到通知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37724CB-639F-4A99-9E4D-AFAAA698DE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5095875"/>
            <a:ext cx="1977390" cy="64770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B7DABC7-A4E9-4D2B-B625-90F9394A1C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" y="5153025"/>
            <a:ext cx="182499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稳定复现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06B933D-4767-43E9-94FD-61E400DF5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8465" y="5095875"/>
            <a:ext cx="1977390" cy="64770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EAF8F5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5DFEFBA-FD0F-41B2-8E0F-FB84C37EC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4665" y="5153025"/>
            <a:ext cx="182499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画时间线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71D2033-FDA8-4FFA-A2EA-82156B345F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7305" y="5095875"/>
            <a:ext cx="1977390" cy="64770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F2EEFF"/>
          </a:solidFill>
          <a:ln xmlns:a="http://schemas.openxmlformats.org/drawingml/2006/main" w="9525">
            <a:solidFill>
              <a:srgbClr val="7157B8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049341C-29CC-45E1-83B9-E762D4B651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3505" y="5153025"/>
            <a:ext cx="182499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确认事实源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7CDCF51-35AE-4778-AB0E-01B1699853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6145" y="5095875"/>
            <a:ext cx="1977390" cy="64770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FFF7E3"/>
          </a:solidFill>
          <a:ln xmlns:a="http://schemas.openxmlformats.org/drawingml/2006/main" w="9525">
            <a:solidFill>
              <a:srgbClr val="D89518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CD91A28-A147-4237-B62F-1431B81A7E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2345" y="5153025"/>
            <a:ext cx="182499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定位最早异常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B88269E-B61D-4148-A4F3-7763140005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04985" y="5095875"/>
            <a:ext cx="1977390" cy="64770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EBF8F1"/>
          </a:solidFill>
          <a:ln xmlns:a="http://schemas.openxmlformats.org/drawingml/2006/main" w="9525">
            <a:solidFill>
              <a:srgbClr val="2F8F5B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7A6771A-28D9-4155-AF72-9B14446C9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81185" y="5153025"/>
            <a:ext cx="182499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只改一个边界</a:t>
            </a:r>
          </a:p>
        </p:txBody>
      </p:sp>
      <p:cxnSp>
        <p:nvCxnSpPr>
          <p:cNvPr id="720" name=""/>
          <p:cNvCxnSpPr>
            <a:stCxn xmlns:a="http://schemas.openxmlformats.org/drawingml/2006/main" id="17" idx="3"/>
            <a:endCxn xmlns:a="http://schemas.openxmlformats.org/drawingml/2006/main" id="19" idx="1"/>
          </p:cNvCxnSpPr>
          <p:nvPr/>
        </p:nvCxnSpPr>
        <p:spPr>
          <a:xfrm xmlns:a="http://schemas.openxmlformats.org/drawingml/2006/main">
            <a:off x="2787015" y="5419725"/>
            <a:ext cx="1714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721" name=""/>
          <p:cNvCxnSpPr>
            <a:stCxn xmlns:a="http://schemas.openxmlformats.org/drawingml/2006/main" id="19" idx="3"/>
            <a:endCxn xmlns:a="http://schemas.openxmlformats.org/drawingml/2006/main" id="21" idx="1"/>
          </p:cNvCxnSpPr>
          <p:nvPr/>
        </p:nvCxnSpPr>
        <p:spPr>
          <a:xfrm xmlns:a="http://schemas.openxmlformats.org/drawingml/2006/main">
            <a:off x="4935855" y="5419725"/>
            <a:ext cx="1714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722" name=""/>
          <p:cNvCxnSpPr>
            <a:stCxn xmlns:a="http://schemas.openxmlformats.org/drawingml/2006/main" id="21" idx="3"/>
            <a:endCxn xmlns:a="http://schemas.openxmlformats.org/drawingml/2006/main" id="23" idx="1"/>
          </p:cNvCxnSpPr>
          <p:nvPr/>
        </p:nvCxnSpPr>
        <p:spPr>
          <a:xfrm xmlns:a="http://schemas.openxmlformats.org/drawingml/2006/main">
            <a:off x="7084695" y="5419725"/>
            <a:ext cx="1714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723" name=""/>
          <p:cNvCxnSpPr>
            <a:stCxn xmlns:a="http://schemas.openxmlformats.org/drawingml/2006/main" id="23" idx="3"/>
            <a:endCxn xmlns:a="http://schemas.openxmlformats.org/drawingml/2006/main" id="25" idx="1"/>
          </p:cNvCxnSpPr>
          <p:nvPr/>
        </p:nvCxnSpPr>
        <p:spPr>
          <a:xfrm xmlns:a="http://schemas.openxmlformats.org/drawingml/2006/main">
            <a:off x="9233535" y="5419725"/>
            <a:ext cx="1714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5265AA0-3F79-456D-81A2-36E1E772F0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62125" y="5953125"/>
            <a:ext cx="571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4B4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F5712A6-EF8B-41B6-B1A3-273CCE033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33575" y="5991225"/>
            <a:ext cx="8496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不能直接回答“加延迟”。先证明第一次和第二次究竟差在哪一个事实。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A227A1F-86F2-46E8-BD3A-6D00561B2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72250"/>
            <a:ext cx="7429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rPr>
              <a:t>HarmonyOS · Spec-Driven Development · Ralph Workshop</a:t>
            </a:r>
          </a:p>
        </p:txBody>
      </p:sp>
    </p:spTree>
    <p:extLst>
      <p:ext uri="{BB962C8B-B14F-4D97-AF65-F5344CB8AC3E}">
        <p14:creationId xmlns:p14="http://schemas.microsoft.com/office/powerpoint/2010/main" val="1946920300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8BF84DA-50B3-444D-89FA-4055FE21F7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0500"/>
            <a:ext cx="228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01 课程地图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2B643AC-D5A4-4D1B-B797-0123C11760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28625"/>
            <a:ext cx="10334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AI 每轮只做一个可证伪闭环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F0CC041-F2EC-4D8E-8E26-FDE7EDDEEC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171450"/>
            <a:ext cx="6286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21550C7-117C-472D-9F74-3CFDA77F9B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257175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40B94F2-10B4-4F49-A6F0-92ACC860F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334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D864820-116F-4382-B33D-78816E615E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62125"/>
            <a:ext cx="1619250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7BCA8E9-3853-4F93-B209-B039AF222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819275"/>
            <a:ext cx="14668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Task</a:t>
            </a:r>
          </a:p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本轮唯一结果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49D1E9B-DA90-4F8F-B069-4C03E9154E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1762125"/>
            <a:ext cx="1619250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CEEEE"/>
          </a:solidFill>
          <a:ln xmlns:a="http://schemas.openxmlformats.org/drawingml/2006/main" w="9525">
            <a:solidFill>
              <a:srgbClr val="C84B4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B29A154-690D-43DC-8258-A38D0F928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1819275"/>
            <a:ext cx="14668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RED</a:t>
            </a:r>
          </a:p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可解释失败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5202881-9D41-4F8C-BC60-99E4FF626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1762125"/>
            <a:ext cx="1619250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2EEFF"/>
          </a:solidFill>
          <a:ln xmlns:a="http://schemas.openxmlformats.org/drawingml/2006/main" w="9525">
            <a:solidFill>
              <a:srgbClr val="7157B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D11A94E-A727-4811-ADBF-926D577F5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1819275"/>
            <a:ext cx="14668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AI</a:t>
            </a:r>
          </a:p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最小 Diff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8F3EA45-1705-4F92-BA13-4890EF4DF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1762125"/>
            <a:ext cx="1619250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7E3"/>
          </a:solidFill>
          <a:ln xmlns:a="http://schemas.openxmlformats.org/drawingml/2006/main" w="9525">
            <a:solidFill>
              <a:srgbClr val="D8951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4E9D33F-6BBD-4E76-89FA-062EAE30A9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1819275"/>
            <a:ext cx="14668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Verify</a:t>
            </a:r>
          </a:p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窄测与回归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70CD992-6D2C-4284-98A3-F0561B429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762125"/>
            <a:ext cx="1809750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BF8F1"/>
          </a:solidFill>
          <a:ln xmlns:a="http://schemas.openxmlformats.org/drawingml/2006/main" w="9525">
            <a:solidFill>
              <a:srgbClr val="2F8F5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9138554-FC45-4B75-A830-F56DCF84B3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1819275"/>
            <a:ext cx="16573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Evidence</a:t>
            </a:r>
          </a:p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日志与系统事实</a:t>
            </a:r>
          </a:p>
        </p:txBody>
      </p:sp>
      <p:cxnSp>
        <p:nvCxnSpPr>
          <p:cNvPr id="576" name=""/>
          <p:cNvCxnSpPr>
            <a:stCxn xmlns:a="http://schemas.openxmlformats.org/drawingml/2006/main" id="6" idx="3"/>
            <a:endCxn xmlns:a="http://schemas.openxmlformats.org/drawingml/2006/main" id="8" idx="1"/>
          </p:cNvCxnSpPr>
          <p:nvPr/>
        </p:nvCxnSpPr>
        <p:spPr>
          <a:xfrm xmlns:a="http://schemas.openxmlformats.org/drawingml/2006/main">
            <a:off x="2381250" y="2105025"/>
            <a:ext cx="4762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577" name=""/>
          <p:cNvCxnSpPr>
            <a:stCxn xmlns:a="http://schemas.openxmlformats.org/drawingml/2006/main" id="8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>
            <a:off x="4476750" y="2105025"/>
            <a:ext cx="4762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578" name=""/>
          <p:cNvCxnSpPr>
            <a:stCxn xmlns:a="http://schemas.openxmlformats.org/drawingml/2006/main" id="10" idx="3"/>
            <a:endCxn xmlns:a="http://schemas.openxmlformats.org/drawingml/2006/main" id="12" idx="1"/>
          </p:cNvCxnSpPr>
          <p:nvPr/>
        </p:nvCxnSpPr>
        <p:spPr>
          <a:xfrm xmlns:a="http://schemas.openxmlformats.org/drawingml/2006/main">
            <a:off x="6572250" y="2105025"/>
            <a:ext cx="4762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579" name=""/>
          <p:cNvCxnSpPr>
            <a:stCxn xmlns:a="http://schemas.openxmlformats.org/drawingml/2006/main" id="12" idx="3"/>
            <a:endCxn xmlns:a="http://schemas.openxmlformats.org/drawingml/2006/main" id="14" idx="1"/>
          </p:cNvCxnSpPr>
          <p:nvPr/>
        </p:nvCxnSpPr>
        <p:spPr>
          <a:xfrm xmlns:a="http://schemas.openxmlformats.org/drawingml/2006/main">
            <a:off x="8667750" y="2105025"/>
            <a:ext cx="4762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F7C66FD-B62E-4C48-AA99-D60F0DD871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143250"/>
            <a:ext cx="2000250" cy="723900"/>
          </a:xfrm>
          <a:prstGeom xmlns:a="http://schemas.openxmlformats.org/drawingml/2006/main" prst="roundRect">
            <a:avLst>
              <a:gd name="adj" fmla="val 1578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26852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806104D-2C5E-4164-BE80-C8106DA51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3200400"/>
            <a:ext cx="18478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停止条件满足？</a:t>
            </a:r>
          </a:p>
        </p:txBody>
      </p:sp>
      <p:cxnSp>
        <p:nvCxnSpPr>
          <p:cNvPr id="582" name=""/>
          <p:cNvCxnSpPr>
            <a:stCxn xmlns:a="http://schemas.openxmlformats.org/drawingml/2006/main" id="14" idx="2"/>
            <a:endCxn xmlns:a="http://schemas.openxmlformats.org/drawingml/2006/main" id="20" idx="3"/>
          </p:cNvCxnSpPr>
          <p:nvPr/>
        </p:nvCxnSpPr>
        <p:spPr>
          <a:xfrm xmlns:a="http://schemas.openxmlformats.org/drawingml/2006/main" flipH="1">
            <a:off x="9239250" y="2447925"/>
            <a:ext cx="809625" cy="1057275"/>
          </a:xfrm>
          <a:prstGeom xmlns:a="http://schemas.openxmlformats.org/drawingml/2006/main" prst="bentConnector5">
            <a:avLst>
              <a:gd name="adj1" fmla="val 0"/>
              <a:gd name="adj2" fmla="val 21622"/>
              <a:gd name="adj3" fmla="val 71765"/>
            </a:avLst>
          </a:prstGeom>
          <a:ln xmlns:a="http://schemas.openxmlformats.org/drawingml/2006/main" w="19050">
            <a:solidFill>
              <a:srgbClr val="E26852"/>
            </a:solidFill>
            <a:prstDash val="solid"/>
            <a:tailEnd type="arrow" w="med" len="med"/>
          </a:ln>
        </p:spPr>
      </p:cxnSp>
      <p:cxnSp>
        <p:nvCxnSpPr>
          <p:cNvPr id="583" name=""/>
          <p:cNvCxnSpPr>
            <a:stCxn xmlns:a="http://schemas.openxmlformats.org/drawingml/2006/main" id="20" idx="1"/>
            <a:endCxn xmlns:a="http://schemas.openxmlformats.org/drawingml/2006/main" id="6" idx="2"/>
          </p:cNvCxnSpPr>
          <p:nvPr/>
        </p:nvCxnSpPr>
        <p:spPr>
          <a:xfrm xmlns:a="http://schemas.openxmlformats.org/drawingml/2006/main" flipH="1" flipV="1">
            <a:off x="1571625" y="2447925"/>
            <a:ext cx="5667375" cy="1057275"/>
          </a:xfrm>
          <a:prstGeom xmlns:a="http://schemas.openxmlformats.org/drawingml/2006/main" prst="bentConnector4">
            <a:avLst>
              <a:gd name="adj1" fmla="val 4034"/>
              <a:gd name="adj2" fmla="val 78378"/>
            </a:avLst>
          </a:prstGeom>
          <a:ln xmlns:a="http://schemas.openxmlformats.org/drawingml/2006/main" w="19050">
            <a:solidFill>
              <a:srgbClr val="E26852"/>
            </a:solidFill>
            <a:prstDash val="dash"/>
            <a:tailEnd type="arrow" w="med" len="med"/>
          </a:ln>
        </p:spPr>
      </p:cxn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E2D75AD-99A5-4708-9FF0-F38474D91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32385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否：回到 Task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410C046-6EA2-409A-B701-7CD819085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33528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2F8F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2F8F5B"/>
                </a:solidFill>
                <a:latin typeface="Microsoft YaHei"/>
                <a:ea typeface="Microsoft YaHei"/>
                <a:cs typeface="Microsoft YaHei"/>
              </a:rPr>
              <a:t>是：提交结果</a:t>
            </a:r>
          </a:p>
        </p:txBody>
      </p:sp>
      <p:pic>
        <p:nvPicPr>
          <p:cNvPr id="58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b93fcf8cf374b82"/>
          <a:stretch xmlns:a="http://schemas.openxmlformats.org/drawingml/2006/main"/>
        </p:blipFill>
        <p:spPr>
          <a:xfrm xmlns:a="http://schemas.openxmlformats.org/drawingml/2006/main">
            <a:off x="666750" y="4429472"/>
            <a:ext cx="4000500" cy="1666181"/>
          </a:xfrm>
          <a:prstGeom xmlns:a="http://schemas.openxmlformats.org/drawingml/2006/main" prst="roundRect">
            <a:avLst>
              <a:gd name="adj" fmla="val 6486"/>
            </a:avLst>
          </a:prstGeom>
        </p:spPr>
      </p:pic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2189DC4-9B18-420E-9226-CEE36D7618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381500"/>
            <a:ext cx="4000500" cy="1762125"/>
          </a:xfrm>
          <a:prstGeom xmlns:a="http://schemas.openxmlformats.org/drawingml/2006/main" prst="roundRect">
            <a:avLst>
              <a:gd name="adj" fmla="val 6486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6D88417-9AA6-46A0-BDE6-9A7E25FB21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4381500"/>
            <a:ext cx="6286500" cy="1762125"/>
          </a:xfrm>
          <a:prstGeom xmlns:a="http://schemas.openxmlformats.org/drawingml/2006/main" prst="roundRect">
            <a:avLst>
              <a:gd name="adj" fmla="val 7568"/>
            </a:avLst>
          </a:prstGeom>
          <a:solidFill xmlns:a="http://schemas.openxmlformats.org/drawingml/2006/main">
            <a:srgbClr val="F4F6F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79237E1-5EE3-4BF6-82E3-18F159D0C0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4495800"/>
            <a:ext cx="5981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7157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7157B8"/>
                </a:solidFill>
                <a:latin typeface="Microsoft YaHei"/>
                <a:ea typeface="Microsoft YaHei"/>
                <a:cs typeface="Microsoft YaHei"/>
              </a:rPr>
              <a:t>progress.md（外部记忆）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3A4D76A-DA34-4C5E-8CFC-C8CC15DAF9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4781550"/>
            <a:ext cx="609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157B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54ED46E-B2FD-4355-8E5B-70C0227AFE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4857750"/>
            <a:ext cx="5981700" cy="1171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0">
                <a:solidFill>
                  <a:srgbClr val="293247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293247"/>
                </a:solidFill>
                <a:latin typeface="Consolas"/>
                <a:ea typeface="Consolas"/>
                <a:cs typeface="Consolas"/>
              </a:rPr>
              <a:t>task_id / red_reason / diff_scope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425" b="0">
                <a:solidFill>
                  <a:srgbClr val="293247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293247"/>
                </a:solidFill>
                <a:latin typeface="Consolas"/>
                <a:ea typeface="Consolas"/>
                <a:cs typeface="Consolas"/>
              </a:rPr>
              <a:t>verify_commands / evidence / verdict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425" b="0">
                <a:solidFill>
                  <a:srgbClr val="293247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293247"/>
                </a:solidFill>
                <a:latin typeface="Consolas"/>
                <a:ea typeface="Consolas"/>
                <a:cs typeface="Consolas"/>
              </a:rPr>
              <a:t>next_task / stop_reason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26676FD-9E02-4CC3-A422-12F513097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72250"/>
            <a:ext cx="7429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rPr>
              <a:t>HarmonyOS · Spec-Driven Development · Ralph Workshop</a:t>
            </a:r>
          </a:p>
        </p:txBody>
      </p:sp>
    </p:spTree>
    <p:extLst>
      <p:ext uri="{BB962C8B-B14F-4D97-AF65-F5344CB8AC3E}">
        <p14:creationId xmlns:p14="http://schemas.microsoft.com/office/powerpoint/2010/main" val="906272189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AEBCB931-0CA6-4BAD-848D-2C9A73EDDB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0500"/>
            <a:ext cx="228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01 课程地图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4208FF9-C1B8-45E2-841F-D2E9039CE9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28625"/>
            <a:ext cx="10334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复杂问题先拆成五层，两个案例都沿这条链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EDC01C8-7D18-4FAE-9BF2-8360F652B8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171450"/>
            <a:ext cx="6286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D6390E6-ECAC-40FF-B527-755CE0B77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257175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DC6F825-41F8-40EA-B1F4-B687140D2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334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E37AF33-D430-44A0-9CF2-380ACE91A6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238250"/>
            <a:ext cx="2068830" cy="838200"/>
          </a:xfrm>
          <a:prstGeom xmlns:a="http://schemas.openxmlformats.org/drawingml/2006/main" prst="roundRect">
            <a:avLst>
              <a:gd name="adj" fmla="val 13636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DC8532D-6C99-4131-8B76-B803F8CCD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1295400"/>
            <a:ext cx="191643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触发事实</a:t>
            </a:r>
          </a:p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发生了什么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F251D4B-0783-44CD-8540-2369C2A79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40355" y="1238250"/>
            <a:ext cx="2068830" cy="838200"/>
          </a:xfrm>
          <a:prstGeom xmlns:a="http://schemas.openxmlformats.org/drawingml/2006/main" prst="roundRect">
            <a:avLst>
              <a:gd name="adj" fmla="val 13636"/>
            </a:avLst>
          </a:prstGeom>
          <a:solidFill xmlns:a="http://schemas.openxmlformats.org/drawingml/2006/main">
            <a:srgbClr val="EAF8F5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12EAEA2-ACAB-4A90-BEC3-09BCC36B4C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6555" y="1295400"/>
            <a:ext cx="191643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稳定快照</a:t>
            </a:r>
          </a:p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此刻真实状态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D265DC6-13B7-47E7-842D-896927594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1585" y="1238250"/>
            <a:ext cx="2068830" cy="838200"/>
          </a:xfrm>
          <a:prstGeom xmlns:a="http://schemas.openxmlformats.org/drawingml/2006/main" prst="roundRect">
            <a:avLst>
              <a:gd name="adj" fmla="val 13636"/>
            </a:avLst>
          </a:prstGeom>
          <a:solidFill xmlns:a="http://schemas.openxmlformats.org/drawingml/2006/main">
            <a:srgbClr val="F2EEFF"/>
          </a:solidFill>
          <a:ln xmlns:a="http://schemas.openxmlformats.org/drawingml/2006/main" w="9525">
            <a:solidFill>
              <a:srgbClr val="7157B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3EE331C-BA51-4CAF-8237-E728BAF8D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37785" y="1295400"/>
            <a:ext cx="191643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目标状态</a:t>
            </a:r>
          </a:p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应该变成什么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6C1BB40-3D12-490D-AE71-CA29FE42C6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2815" y="1238250"/>
            <a:ext cx="2068830" cy="838200"/>
          </a:xfrm>
          <a:prstGeom xmlns:a="http://schemas.openxmlformats.org/drawingml/2006/main" prst="roundRect">
            <a:avLst>
              <a:gd name="adj" fmla="val 13636"/>
            </a:avLst>
          </a:prstGeom>
          <a:solidFill xmlns:a="http://schemas.openxmlformats.org/drawingml/2006/main">
            <a:srgbClr val="FFF7E3"/>
          </a:solidFill>
          <a:ln xmlns:a="http://schemas.openxmlformats.org/drawingml/2006/main" w="9525">
            <a:solidFill>
              <a:srgbClr val="D8951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92DF1DF-6D1F-40ED-B0F4-D6943743D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9015" y="1295400"/>
            <a:ext cx="191643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执行结果</a:t>
            </a:r>
          </a:p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系统实际做了什么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7193147-5A71-41A7-BFE3-DA544B3E8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4045" y="1238250"/>
            <a:ext cx="2068830" cy="838200"/>
          </a:xfrm>
          <a:prstGeom xmlns:a="http://schemas.openxmlformats.org/drawingml/2006/main" prst="roundRect">
            <a:avLst>
              <a:gd name="adj" fmla="val 13636"/>
            </a:avLst>
          </a:prstGeom>
          <a:solidFill xmlns:a="http://schemas.openxmlformats.org/drawingml/2006/main">
            <a:srgbClr val="EBF8F1"/>
          </a:solidFill>
          <a:ln xmlns:a="http://schemas.openxmlformats.org/drawingml/2006/main" w="9525">
            <a:solidFill>
              <a:srgbClr val="2F8F5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DB5CCDD-7101-4DF2-8D5C-AFF94AF53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0245" y="1295400"/>
            <a:ext cx="191643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系统证据</a:t>
            </a:r>
          </a:p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最终是否一致</a:t>
            </a:r>
          </a:p>
        </p:txBody>
      </p:sp>
      <p:cxnSp>
        <p:nvCxnSpPr>
          <p:cNvPr id="494" name=""/>
          <p:cNvCxnSpPr>
            <a:stCxn xmlns:a="http://schemas.openxmlformats.org/drawingml/2006/main" id="6" idx="3"/>
            <a:endCxn xmlns:a="http://schemas.openxmlformats.org/drawingml/2006/main" id="8" idx="1"/>
          </p:cNvCxnSpPr>
          <p:nvPr/>
        </p:nvCxnSpPr>
        <p:spPr>
          <a:xfrm xmlns:a="http://schemas.openxmlformats.org/drawingml/2006/main">
            <a:off x="2687955" y="1657350"/>
            <a:ext cx="1524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495" name=""/>
          <p:cNvCxnSpPr>
            <a:stCxn xmlns:a="http://schemas.openxmlformats.org/drawingml/2006/main" id="8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>
            <a:off x="4909185" y="1657350"/>
            <a:ext cx="1524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496" name=""/>
          <p:cNvCxnSpPr>
            <a:stCxn xmlns:a="http://schemas.openxmlformats.org/drawingml/2006/main" id="10" idx="3"/>
            <a:endCxn xmlns:a="http://schemas.openxmlformats.org/drawingml/2006/main" id="12" idx="1"/>
          </p:cNvCxnSpPr>
          <p:nvPr/>
        </p:nvCxnSpPr>
        <p:spPr>
          <a:xfrm xmlns:a="http://schemas.openxmlformats.org/drawingml/2006/main">
            <a:off x="7130415" y="1657350"/>
            <a:ext cx="1524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497" name=""/>
          <p:cNvCxnSpPr>
            <a:stCxn xmlns:a="http://schemas.openxmlformats.org/drawingml/2006/main" id="12" idx="3"/>
            <a:endCxn xmlns:a="http://schemas.openxmlformats.org/drawingml/2006/main" id="14" idx="1"/>
          </p:cNvCxnSpPr>
          <p:nvPr/>
        </p:nvCxnSpPr>
        <p:spPr>
          <a:xfrm xmlns:a="http://schemas.openxmlformats.org/drawingml/2006/main">
            <a:off x="9351645" y="1657350"/>
            <a:ext cx="1524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64345E3-DDB2-4DA9-B13F-B97DCA1B2B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524125"/>
            <a:ext cx="173736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86806AF-07D1-498E-8493-F59D3E3EEE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571750"/>
            <a:ext cx="158496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层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76A6E0D-B5C0-48BA-84D5-243D1A32B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4110" y="2524125"/>
            <a:ext cx="521208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5A46992-FE90-4680-B72B-55AAFBDF5D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80310" y="2571750"/>
            <a:ext cx="505968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必须回答的问题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E9CF611-5F15-4430-A765-24ADC66483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16190" y="2524125"/>
            <a:ext cx="390906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353A0F9-3B13-453A-B3ED-9C67B90B1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2390" y="2571750"/>
            <a:ext cx="375666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可验证对象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1578A26-3AAD-41C4-B1D6-733FE0793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924175"/>
            <a:ext cx="1737360" cy="46291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BD8D1D8-4E8B-4A84-8BC3-B96F6C031D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971800"/>
            <a:ext cx="1584960" cy="36766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触发事实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D239371-E442-45D1-96FA-BB5A9B3D2E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4110" y="2924175"/>
            <a:ext cx="5212080" cy="46291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ECDA364-76F7-42A7-B0AC-99AFA7A5AB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80310" y="2971800"/>
            <a:ext cx="5059680" cy="36766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这轮变化由什么事件或操作开始？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FBD21B1-F2DD-463F-BCF7-4A00693B5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16190" y="2924175"/>
            <a:ext cx="3909060" cy="46291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073612A-DEFE-4273-85B2-2989D2F67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2390" y="2971800"/>
            <a:ext cx="3756660" cy="36766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事件源、时间戳、参数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AC46E3B-C7EC-419E-B5EB-A7A57AFC1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87090"/>
            <a:ext cx="1737360" cy="46291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0985496-BAF2-459A-8D45-542EF2E5FD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434715"/>
            <a:ext cx="1584960" cy="36766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稳定快照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5A773EF-BE05-4C16-8854-D524A55B7E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4110" y="3387090"/>
            <a:ext cx="5212080" cy="46291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48A4F79-5B8A-4205-A399-B7FDF8040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80310" y="3434715"/>
            <a:ext cx="5059680" cy="36766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执行前的完整事实是什么？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325B5CEE-B0EB-4704-878D-ED32EEF0F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16190" y="3387090"/>
            <a:ext cx="3909060" cy="46291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C86B07A3-9583-4F83-87F1-50B1179411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2390" y="3434715"/>
            <a:ext cx="3756660" cy="36766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系统 getter、列表、版本号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E9373122-EF52-43CC-8931-31F285EED4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850005"/>
            <a:ext cx="1737360" cy="46291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2D47F5B5-AAFA-4C29-BF14-6531723EE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897630"/>
            <a:ext cx="1584960" cy="36766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目标状态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BE5FC1F8-2FED-43BD-9210-153303254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4110" y="3850005"/>
            <a:ext cx="5212080" cy="46291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5199E804-4EEA-40CD-8253-854B1A8DE1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80310" y="3897630"/>
            <a:ext cx="5059680" cy="36766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需求冻结后的期望结果是什么？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01CCAE79-B7C2-48E4-A0A7-3871EC436C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16190" y="3850005"/>
            <a:ext cx="3909060" cy="46291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81BACCD0-E77D-4123-A814-814F001C6A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2390" y="3897630"/>
            <a:ext cx="3756660" cy="36766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spec / ADR / 不变量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DED93AA6-C537-4AFC-9D79-3E3C864C4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312920"/>
            <a:ext cx="1737360" cy="46291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75D83AAC-3684-4023-B169-123E68B67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360545"/>
            <a:ext cx="1584960" cy="36766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执行结果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7AC97E05-DBC8-4443-B158-5411461E7E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4110" y="4312920"/>
            <a:ext cx="5212080" cy="46291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963AD665-69E5-4931-8760-DF286820F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80310" y="4360545"/>
            <a:ext cx="5059680" cy="36766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哪些写入成功、失败或需要补偿？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6E5B53E6-FF68-4CE3-83CE-064A1C3303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16190" y="4312920"/>
            <a:ext cx="3909060" cy="46291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3A948757-FDFB-4C14-A988-BB85EE47F8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2390" y="4360545"/>
            <a:ext cx="3756660" cy="36766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返回值、映射、事务边界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C4F74CC1-A897-4816-A0BF-19E195921A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775835"/>
            <a:ext cx="1737360" cy="46291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C63588D6-CF5E-480C-B824-EE3856BDF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823460"/>
            <a:ext cx="1584960" cy="36766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系统证据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337692E5-5969-4E62-8AF1-60E55CF421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4110" y="4775835"/>
            <a:ext cx="5212080" cy="46291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34A0CA4D-29ED-47CF-A360-532D321E4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80310" y="4823460"/>
            <a:ext cx="5059680" cy="36766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最终事实是否与目标一致？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99B4969D-4A5E-445F-927C-7906D628C2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16190" y="4775835"/>
            <a:ext cx="3909060" cy="46291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14DF82D6-DC62-4E82-80C3-DE3DC2E09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2390" y="4823460"/>
            <a:ext cx="3756660" cy="36766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回读、日志、截图/视频、性能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6CEBB1C0-B3BC-41E1-83AC-B398379212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476875"/>
            <a:ext cx="5143500" cy="609600"/>
          </a:xfrm>
          <a:prstGeom xmlns:a="http://schemas.openxmlformats.org/drawingml/2006/main" prst="roundRect">
            <a:avLst>
              <a:gd name="adj" fmla="val 21875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9E0CD891-0FD5-4CC4-894A-7CB9B2328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638800"/>
            <a:ext cx="476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案例一：多账号状态同步、失败补偿与 UI 事实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F30E8A51-6CD2-4910-9ED8-835B67D8B3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5476875"/>
            <a:ext cx="5143500" cy="609600"/>
          </a:xfrm>
          <a:prstGeom xmlns:a="http://schemas.openxmlformats.org/drawingml/2006/main" prst="roundRect">
            <a:avLst>
              <a:gd name="adj" fmla="val 21875"/>
            </a:avLst>
          </a:prstGeom>
          <a:solidFill xmlns:a="http://schemas.openxmlformats.org/drawingml/2006/main">
            <a:srgbClr val="EAF8F5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BFFA6DA5-9740-4C73-BFAA-1818315A24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5638800"/>
            <a:ext cx="476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案例二：FreeRDP 卡顿路径、硬解穿刺与同帧证据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A6FEC072-E581-4BCA-9D6C-A210605E14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72250"/>
            <a:ext cx="7429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rPr>
              <a:t>HarmonyOS · Spec-Driven Development · Ralph Workshop</a:t>
            </a:r>
          </a:p>
        </p:txBody>
      </p:sp>
    </p:spTree>
    <p:extLst>
      <p:ext uri="{BB962C8B-B14F-4D97-AF65-F5344CB8AC3E}">
        <p14:creationId xmlns:p14="http://schemas.microsoft.com/office/powerpoint/2010/main" val="1195440138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9A3B6FB-C64B-4EC3-8A70-F0C1096B0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0500"/>
            <a:ext cx="228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02 需求与规格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0D786B4-BE94-481C-BF0A-527ABED385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28625"/>
            <a:ext cx="10334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同一个现象，至少有四个事实边界不能靠猜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80EB80C-2F9C-4138-99AA-69695661A0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171450"/>
            <a:ext cx="6286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C70E28F-1DB5-4BBA-B57F-ECA4C4906F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257175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05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3AD3A18-22B1-4A69-848F-1A1C6CA58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334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4574941-2D52-4128-B715-7449E120DA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190625"/>
            <a:ext cx="571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685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9E3116A-AF84-4C14-BA1B-8D7805E54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228725"/>
            <a:ext cx="10687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“权限页面第一次进入为空，退出后第二次进入正常。”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1FE6CC3-DA82-41EB-BD9D-839BE989A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00250"/>
            <a:ext cx="108204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这句话只描述了现象，没有告诉我们下面四个事实。任何一项靠猜，都会走向不同实现。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BB173A6-0FD4-454D-A68C-51A00DC137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667000"/>
            <a:ext cx="2476500" cy="2238375"/>
          </a:xfrm>
          <a:prstGeom xmlns:a="http://schemas.openxmlformats.org/drawingml/2006/main" prst="roundRect">
            <a:avLst>
              <a:gd name="adj" fmla="val 5957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32A9A21-8679-4150-B730-72A7D61023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81300"/>
            <a:ext cx="2171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1  数据来自哪里？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66126D9-0AD3-4CAB-9EA2-DF162A3664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67050"/>
            <a:ext cx="609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95AD247-07EA-4629-BF38-CF38405019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333750"/>
            <a:ext cx="2095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页面缓存 / ViewModel 内存</a:t>
            </a:r>
          </a:p>
          <a:p xmlns:a="http://schemas.openxmlformats.org/drawingml/2006/main">
            <a:pPr algn="ctr">
              <a:buNone/>
              <a:def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业务 API / 系统 getter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1FFCE9A-573D-422A-89CA-66CC9C47A9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2667000"/>
            <a:ext cx="2476500" cy="2238375"/>
          </a:xfrm>
          <a:prstGeom xmlns:a="http://schemas.openxmlformats.org/drawingml/2006/main" prst="roundRect">
            <a:avLst>
              <a:gd name="adj" fmla="val 5957"/>
            </a:avLst>
          </a:prstGeom>
          <a:solidFill xmlns:a="http://schemas.openxmlformats.org/drawingml/2006/main">
            <a:srgbClr val="EAF8F5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76FA476-1807-4FD5-A73C-818F8D36E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2781300"/>
            <a:ext cx="2171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6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68C82"/>
                </a:solidFill>
                <a:latin typeface="Microsoft YaHei"/>
                <a:ea typeface="Microsoft YaHei"/>
                <a:cs typeface="Microsoft YaHei"/>
              </a:rPr>
              <a:t>2  什么时候开始监听？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7321C14-B161-4090-8932-B8E397259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3067050"/>
            <a:ext cx="609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C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DB8DC5B-BB1F-410A-B0CD-E79CAA1DB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3333750"/>
            <a:ext cx="2095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页面创建前 / 页面创建后</a:t>
            </a:r>
          </a:p>
          <a:p xmlns:a="http://schemas.openxmlformats.org/drawingml/2006/main">
            <a:pPr algn="ctr">
              <a:buNone/>
              <a:def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首次读取前 / 首次读取后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139F24B-CE43-4478-9585-7457E4800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667000"/>
            <a:ext cx="2476500" cy="2238375"/>
          </a:xfrm>
          <a:prstGeom xmlns:a="http://schemas.openxmlformats.org/drawingml/2006/main" prst="roundRect">
            <a:avLst>
              <a:gd name="adj" fmla="val 5957"/>
            </a:avLst>
          </a:prstGeom>
          <a:solidFill xmlns:a="http://schemas.openxmlformats.org/drawingml/2006/main">
            <a:srgbClr val="FFF7E3"/>
          </a:solidFill>
          <a:ln xmlns:a="http://schemas.openxmlformats.org/drawingml/2006/main" w="9525">
            <a:solidFill>
              <a:srgbClr val="D89518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5272142-52EF-4978-9C73-EC481D8FAD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2781300"/>
            <a:ext cx="2171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D895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D89518"/>
                </a:solidFill>
                <a:latin typeface="Microsoft YaHei"/>
                <a:ea typeface="Microsoft YaHei"/>
                <a:cs typeface="Microsoft YaHei"/>
              </a:rPr>
              <a:t>3  什么时候算完成？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DEB18D0-92EB-4BBE-BEA1-6D44C3BA0C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3067050"/>
            <a:ext cx="609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951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3371828-F219-44BE-AF2D-E9CD8C86F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333750"/>
            <a:ext cx="2095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调用返回 / 本地状态更新</a:t>
            </a:r>
          </a:p>
          <a:p xmlns:a="http://schemas.openxmlformats.org/drawingml/2006/main">
            <a:pPr algn="ctr">
              <a:buNone/>
              <a:def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系统回读与页面一致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3EE088A-A6C4-48B9-B066-91033FD99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2667000"/>
            <a:ext cx="2476500" cy="2238375"/>
          </a:xfrm>
          <a:prstGeom xmlns:a="http://schemas.openxmlformats.org/drawingml/2006/main" prst="roundRect">
            <a:avLst>
              <a:gd name="adj" fmla="val 5957"/>
            </a:avLst>
          </a:prstGeom>
          <a:solidFill xmlns:a="http://schemas.openxmlformats.org/drawingml/2006/main">
            <a:srgbClr val="F2EEFF"/>
          </a:solidFill>
          <a:ln xmlns:a="http://schemas.openxmlformats.org/drawingml/2006/main" w="9525">
            <a:solidFill>
              <a:srgbClr val="7157B8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8ED73E9-C516-4D59-B8DF-03F6C18D29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2781300"/>
            <a:ext cx="2171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7157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7157B8"/>
                </a:solidFill>
                <a:latin typeface="Microsoft YaHei"/>
                <a:ea typeface="Microsoft YaHei"/>
                <a:cs typeface="Microsoft YaHei"/>
              </a:rPr>
              <a:t>4  失败时页面展示什么？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F7A1A16-6892-4B8E-9426-DC16E9F2CB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3067050"/>
            <a:ext cx="609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157B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6195B93-E8D0-45F3-82F1-C3F66EF8F4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3333750"/>
            <a:ext cx="2095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空列表 / 旧状态</a:t>
            </a:r>
          </a:p>
          <a:p xmlns:a="http://schemas.openxmlformats.org/drawingml/2006/main">
            <a:pPr algn="ctr">
              <a:buNone/>
              <a:def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加载态 / 可重试错误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08ADC7F-CE1A-4DB6-B110-DA8429026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5381625"/>
            <a:ext cx="571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B095B50-4291-41A1-A263-4A5EED15B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2075" y="5419725"/>
            <a:ext cx="96393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四个答案会改变监听顺序、状态模型、回归测试和最终证据。所以下一步不是设计，而是把分叉变成选择题。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7ABD2FE-ED1E-40A0-9633-D49B8E801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72250"/>
            <a:ext cx="7429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rPr>
              <a:t>HarmonyOS · Spec-Driven Development · Ralph Workshop</a:t>
            </a:r>
          </a:p>
        </p:txBody>
      </p:sp>
    </p:spTree>
    <p:extLst>
      <p:ext uri="{BB962C8B-B14F-4D97-AF65-F5344CB8AC3E}">
        <p14:creationId xmlns:p14="http://schemas.microsoft.com/office/powerpoint/2010/main" val="113039087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A5ACA117-30D5-4E95-A16A-BEF3EE4556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0500"/>
            <a:ext cx="228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02 需求与规格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2A6B595-9C38-43A1-A842-3D8F49F59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28625"/>
            <a:ext cx="10334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AI 先把分叉列完整，人再冻结本轮语义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7F6DCB9-1E75-412D-99D3-60E94FCC7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171450"/>
            <a:ext cx="6286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931C2CE-39C0-43B5-A50D-74F77C8992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257175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06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7FBAD85-D2B1-49A4-8F53-95F7F4B2D9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334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4E6327A-5D2D-4C87-97AA-8A0F7781A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162050"/>
            <a:ext cx="10858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16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68C82"/>
                </a:solidFill>
                <a:latin typeface="Microsoft YaHei"/>
                <a:ea typeface="Microsoft YaHei"/>
                <a:cs typeface="Microsoft YaHei"/>
              </a:rPr>
              <a:t>AI 的职责：列出互斥答案、工程影响和危险假设。人的职责：关闭高影响 OPEN，冻结业务语义。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16A3CE5-2633-4797-A2AB-45922B885B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809750"/>
            <a:ext cx="176784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98351D6-F5CD-43FB-8034-E5BBEBF6A1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857375"/>
            <a:ext cx="161544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待决策项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06AEF01-0661-48BB-8864-C4A8216B2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9340" y="1809750"/>
            <a:ext cx="320421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8C069E0-9D31-4BC7-A7C4-E1AD5A67E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5540" y="1857375"/>
            <a:ext cx="305181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AI 列出的互斥答案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5713705-8CB6-42AB-8FC5-23E985E969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1809750"/>
            <a:ext cx="342519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C0C998B-B3FD-4946-A79B-82E7D9E35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1857375"/>
            <a:ext cx="327279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本轮冻结答案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BDA870F-ED1E-4F2C-87CE-39B116789C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8740" y="1809750"/>
            <a:ext cx="265176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C11C54F-5A22-45D5-A3AE-F72E1AAA34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4940" y="1857375"/>
            <a:ext cx="249936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直接影响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4F4509A-7495-40C8-8E5F-D0E6A1D7DC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09800"/>
            <a:ext cx="1767840" cy="7572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7AE0D02-E75C-4BB7-886B-B6EC36208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257425"/>
            <a:ext cx="1615440" cy="6619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最终事实源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C9DB1D4-4B93-47B3-A7F3-B17554BEDC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9340" y="2209800"/>
            <a:ext cx="3204210" cy="7572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B7A1476-573C-4702-A7E1-E7EFDED6B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5540" y="2257425"/>
            <a:ext cx="3051810" cy="6619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缓存 / ViewModel / API / 系统 getter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67EFD39-A3F1-43ED-B0DA-B07BC4CC0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2209800"/>
            <a:ext cx="3425190" cy="7572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809C49F-C324-4C15-80A2-C6419D829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2257425"/>
            <a:ext cx="3272790" cy="6619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系统 getter；ViewModel 只缓存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BEA4C81-7F9F-45F2-A360-8195FF26F1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8740" y="2209800"/>
            <a:ext cx="2651760" cy="7572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277B450-ECF1-4CCC-A988-8CE2418293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4940" y="2257425"/>
            <a:ext cx="2499360" cy="6619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状态所有权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5BC1F9A-BA13-474D-89F3-843FD26E3D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67038"/>
            <a:ext cx="1767840" cy="7572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49381CE-693A-4BF5-9731-40F16BB263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014663"/>
            <a:ext cx="1615440" cy="6619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监听与首读顺序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3F4225F-E8C7-4A2F-9C20-98B23CD932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9340" y="2967038"/>
            <a:ext cx="3204210" cy="7572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74D7A40-AE16-42DE-8AA1-F09AA77F3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5540" y="3014663"/>
            <a:ext cx="3051810" cy="6619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先读后监听 / 先监听后读取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CC45B82-18FC-495A-A51E-8FA99C8C06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2967038"/>
            <a:ext cx="3425190" cy="7572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E66527D-0C8F-49A7-994A-0342BA89A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3014663"/>
            <a:ext cx="3272790" cy="6619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先建立监听，再发起首读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32C7E1A-E312-46B9-862A-57A1737BB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8740" y="2967038"/>
            <a:ext cx="2651760" cy="7572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CA2CD95-5E40-44DE-BCAE-A402BAD6A1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4940" y="3014663"/>
            <a:ext cx="2499360" cy="6619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是否丢失首次事件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4E4F35D-ECCB-4F16-8A80-3156B4F9CF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24275"/>
            <a:ext cx="1767840" cy="7572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CC398F5-5155-4056-A4D3-0454AC16F5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771900"/>
            <a:ext cx="1615440" cy="6619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未返回时的状态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9955D6F-109D-4D1B-9E9F-B88E54559A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9340" y="3724275"/>
            <a:ext cx="3204210" cy="7572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AF378E6-8B21-42B8-B12C-0EA75E6CFC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5540" y="3771900"/>
            <a:ext cx="3051810" cy="6619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空列表 / 加载中 / 沿用旧值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6D8EFCAD-CC5E-487C-8869-79CCC6CE4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3724275"/>
            <a:ext cx="3425190" cy="7572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55D956F1-6D67-41E1-9472-25D86BC888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3771900"/>
            <a:ext cx="3272790" cy="6619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显示加载中，不把空当完成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8D76468D-A14A-4893-8A33-5EFA8C1F6F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8740" y="3724275"/>
            <a:ext cx="2651760" cy="7572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9A332721-2A94-4FBB-B943-2F95358770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4940" y="3771900"/>
            <a:ext cx="2499360" cy="6619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首次进入体验与测试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068E33B2-1790-41E4-B0BE-F943F1310B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481513"/>
            <a:ext cx="1767840" cy="7572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0D2AE967-AAA0-4748-A83B-7259C2662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529138"/>
            <a:ext cx="1615440" cy="6619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完成判定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E67B1920-D1D4-4F9F-A380-FDCDD40EE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9340" y="4481513"/>
            <a:ext cx="3204210" cy="7572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3AB2FF4A-6897-4FE7-B969-5B63A3EB8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5540" y="4529138"/>
            <a:ext cx="3051810" cy="6619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调用返回 / 本地更新 / 系统回读一致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B12C9508-DFFF-442E-ADDA-BD1AAC137F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4481513"/>
            <a:ext cx="3425190" cy="7572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821056E0-5A00-4742-9B59-0829BF86C0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4529138"/>
            <a:ext cx="3272790" cy="6619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系统事实返回并刷新当前页面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F97BBE05-2F2F-4F8F-9C40-44116FAB4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8740" y="4481513"/>
            <a:ext cx="2651760" cy="7572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66368D40-DFF9-49BF-A9C4-ECCEE0547C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4940" y="4529138"/>
            <a:ext cx="2499360" cy="6619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验收证据与停止条件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5CB34358-17FB-4088-BFC7-FBE42C34FB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572125"/>
            <a:ext cx="571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685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3DB68583-C762-4FD4-BAD7-6E0ECC49B6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5610225"/>
            <a:ext cx="91630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仍然是 OPEN 的高影响问题不能交给 AI 开发；“AI 给了一个答案”不等于“产品语义已经决定”。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9C2FD1F3-B736-469B-8C25-B7AE147D77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72250"/>
            <a:ext cx="7429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rPr>
              <a:t>HarmonyOS · Spec-Driven Development · Ralph Workshop</a:t>
            </a:r>
          </a:p>
        </p:txBody>
      </p:sp>
    </p:spTree>
    <p:extLst>
      <p:ext uri="{BB962C8B-B14F-4D97-AF65-F5344CB8AC3E}">
        <p14:creationId xmlns:p14="http://schemas.microsoft.com/office/powerpoint/2010/main" val="1729902668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AEDC530-AA49-4D4E-AFCF-146BBF841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0500"/>
            <a:ext cx="228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02 需求与规格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2DA82C1-ABDB-445D-9F6E-B0F871BC4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28625"/>
            <a:ext cx="10334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冻结后的答案，要改写成可以直接生成测试的规格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4805F91-900D-4A03-A589-F52577585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171450"/>
            <a:ext cx="6286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F3D88E6-77B3-43AE-B86C-B88B20878F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257175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07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38B2941-B257-40C0-8C6A-1221F7C084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334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C1F274E-2799-49B8-A30C-CA07EA0A0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190625"/>
            <a:ext cx="3143250" cy="3429000"/>
          </a:xfrm>
          <a:prstGeom xmlns:a="http://schemas.openxmlformats.org/drawingml/2006/main" prst="roundRect">
            <a:avLst>
              <a:gd name="adj" fmla="val 4242"/>
            </a:avLst>
          </a:prstGeom>
          <a:solidFill xmlns:a="http://schemas.openxmlformats.org/drawingml/2006/main">
            <a:srgbClr val="FCEEEE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50536FB-7F1E-4AE0-A73C-BAB2AE7853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304925"/>
            <a:ext cx="2838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C84B4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C84B4B"/>
                </a:solidFill>
                <a:latin typeface="Microsoft YaHei"/>
                <a:ea typeface="Microsoft YaHei"/>
                <a:cs typeface="Microsoft YaHei"/>
              </a:rPr>
              <a:t>Before：只有现象，无法验收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2DA27E6-EE15-45FA-A1B5-71BE5EDA4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590675"/>
            <a:ext cx="609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4B4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753E646-16C8-429C-BAAC-85AF4DDB34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095500"/>
            <a:ext cx="2476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20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第一次进入为空</a:t>
            </a:r>
          </a:p>
          <a:p xmlns:a="http://schemas.openxmlformats.org/drawingml/2006/main">
            <a:pPr algn="ctr">
              <a:buNone/>
              <a:defRPr sz="20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第二次进入正常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5616E0A-FB96-417C-882D-765FEFE10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286125"/>
            <a:ext cx="2000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90741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缺少：</a:t>
            </a:r>
          </a:p>
          <a:p xmlns:a="http://schemas.openxmlformats.org/drawingml/2006/main">
            <a:pPr algn="ctr">
              <a:buNone/>
              <a:defRPr sz="1350" b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触发条件</a:t>
            </a:r>
          </a:p>
          <a:p xmlns:a="http://schemas.openxmlformats.org/drawingml/2006/main">
            <a:pPr algn="ctr">
              <a:buNone/>
              <a:defRPr sz="1350" b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等待状态</a:t>
            </a:r>
          </a:p>
          <a:p xmlns:a="http://schemas.openxmlformats.org/drawingml/2006/main">
            <a:pPr algn="ctr">
              <a:buNone/>
              <a:defRPr sz="1350" b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完成标准</a:t>
            </a:r>
          </a:p>
          <a:p xmlns:a="http://schemas.openxmlformats.org/drawingml/2006/main">
            <a:pPr algn="ctr">
              <a:buNone/>
              <a:defRPr sz="1350" b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失败分支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A36BF65-C1EE-44AA-A011-C4E7AF3D71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1190625"/>
            <a:ext cx="7334250" cy="3429000"/>
          </a:xfrm>
          <a:prstGeom xmlns:a="http://schemas.openxmlformats.org/drawingml/2006/main" prst="roundRect">
            <a:avLst>
              <a:gd name="adj" fmla="val 3889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8B3333D-2E76-4F61-9AA9-DD6135EA12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1304925"/>
            <a:ext cx="7029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After：教学用 EARS 规格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51E7719-B1A3-408F-B92D-F52A95E949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1590675"/>
            <a:ext cx="609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3340E8D-DFC6-4953-ACFF-B8C70033E4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1666875"/>
            <a:ext cx="1143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WHEN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AD97D32-5B02-475A-B644-0BBC56736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1666875"/>
            <a:ext cx="542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首次进入权限页面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E9E6E5B-8FBB-459F-99B9-BAC2C49C75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2124075"/>
            <a:ext cx="1143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WHILE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77D8377-7310-42C1-B222-51B4DF929C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2124075"/>
            <a:ext cx="542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系统事实尚未返回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B544FEB-0FBA-44A5-A525-E52F70FF4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2581275"/>
            <a:ext cx="1143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SHALL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7A56E56-D5D3-4C28-8305-8070D511E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2581275"/>
            <a:ext cx="542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显示加载态，不得把空列表提交为完成状态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EBEE470-F56F-45AA-B70A-A72D8FAC7B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3038475"/>
            <a:ext cx="1143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WHEN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4C57594-6508-44FF-8D1B-D3D0B6D9EB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3038475"/>
            <a:ext cx="542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系统事实返回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A0F0089-0CE8-438D-9B6F-B8135A8A98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3495675"/>
            <a:ext cx="1143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SHALL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72605C6-7AF1-4494-A12E-A33AEF397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3495675"/>
            <a:ext cx="542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在当前页面刷新，不要求退出后再次进入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3C2490F-4266-4ABA-B3ED-C3D41659A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3952875"/>
            <a:ext cx="1143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C84B4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C84B4B"/>
                </a:solidFill>
                <a:latin typeface="Microsoft YaHei"/>
                <a:ea typeface="Microsoft YaHei"/>
                <a:cs typeface="Microsoft YaHei"/>
              </a:rPr>
              <a:t>IF / THEN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32F9673-52FC-4652-9E7C-F62F1D508B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3952875"/>
            <a:ext cx="542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C84B4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C84B4B"/>
                </a:solidFill>
                <a:latin typeface="Microsoft YaHei"/>
                <a:ea typeface="Microsoft YaHei"/>
                <a:cs typeface="Microsoft YaHei"/>
              </a:rPr>
              <a:t>超时或读取失败 → 显示可重试错误，并保留诊断证据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EA2BAFE-C0BB-4738-98AB-ED26C83790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191125"/>
            <a:ext cx="3143250" cy="74295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EBF8F1"/>
          </a:solidFill>
          <a:ln xmlns:a="http://schemas.openxmlformats.org/drawingml/2006/main" w="9525">
            <a:solidFill>
              <a:srgbClr val="2F8F5B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455FB73-DC5F-4060-9A22-426B1209C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248275"/>
            <a:ext cx="29908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T01  延迟返回</a:t>
            </a:r>
          </a:p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当前页面自动更新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1F23352-19DA-4AB2-946D-1EA3FEF35C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5191125"/>
            <a:ext cx="3143250" cy="74295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FF7E3"/>
          </a:solidFill>
          <a:ln xmlns:a="http://schemas.openxmlformats.org/drawingml/2006/main" w="9525">
            <a:solidFill>
              <a:srgbClr val="D89518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8ECC562-E8B5-4782-BB8B-1E2FF027D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5248275"/>
            <a:ext cx="29908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T02  事件先到</a:t>
            </a:r>
          </a:p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首次刷新不丢失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3DA6851-D49A-42CA-9C25-84B293078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5191125"/>
            <a:ext cx="3143250" cy="74295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CEEEE"/>
          </a:solidFill>
          <a:ln xmlns:a="http://schemas.openxmlformats.org/drawingml/2006/main" w="9525">
            <a:solidFill>
              <a:srgbClr val="C84B4B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C2E3286-9404-4929-A673-61CB7DDF31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5248275"/>
            <a:ext cx="29908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T03  读取超时</a:t>
            </a:r>
          </a:p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错误态 + 诊断证据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E1F6846-2E68-48C4-B76C-A486896DC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72250"/>
            <a:ext cx="7429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rPr>
              <a:t>HarmonyOS · Spec-Driven Development · Ralph Workshop</a:t>
            </a:r>
          </a:p>
        </p:txBody>
      </p:sp>
    </p:spTree>
    <p:extLst>
      <p:ext uri="{BB962C8B-B14F-4D97-AF65-F5344CB8AC3E}">
        <p14:creationId xmlns:p14="http://schemas.microsoft.com/office/powerpoint/2010/main" val="2108046903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A6A142B-0CBC-4163-9A3E-BE436F58DD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0500"/>
            <a:ext cx="228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02 需求与规格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498EDA7-BED7-4600-87D2-62C240A75C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28625"/>
            <a:ext cx="10334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满足四个准入条件后，才进入真实工程案例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5CF100F-FC7E-441E-817E-94A20C641D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171450"/>
            <a:ext cx="6286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D3651F0-3424-47C0-894F-0CE756EC69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257175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08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9C8F849-ADAA-4C7F-8BA7-2FD8E13261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334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D39E9D9-173D-4401-9296-EB87ECAB1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162050"/>
            <a:ext cx="10858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前四页建立方法，第 5–7 页完成澄清。进入真实案例前，必须交付下面四项可复查产物。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8FBCBF1-8B8E-4EB9-A5DB-130FA3FA82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00250"/>
            <a:ext cx="2476500" cy="2619375"/>
          </a:xfrm>
          <a:prstGeom xmlns:a="http://schemas.openxmlformats.org/drawingml/2006/main" prst="roundRect">
            <a:avLst>
              <a:gd name="adj" fmla="val 5385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22EC7A6-ABCD-4EB6-993B-D623EF77A2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114550"/>
            <a:ext cx="2171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1  事实时间线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9AB3EEC-151F-4089-8491-41E87E41B5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400300"/>
            <a:ext cx="609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9FF73BC-CACE-4D99-A99D-20C92D8D9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809875"/>
            <a:ext cx="2057400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首次进入、事件到达、数据返回、页面更新分别发生在什么时候？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2D1BF66-E53A-49BB-AD14-5969244D80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2000250"/>
            <a:ext cx="2476500" cy="2619375"/>
          </a:xfrm>
          <a:prstGeom xmlns:a="http://schemas.openxmlformats.org/drawingml/2006/main" prst="roundRect">
            <a:avLst>
              <a:gd name="adj" fmla="val 5385"/>
            </a:avLst>
          </a:prstGeom>
          <a:solidFill xmlns:a="http://schemas.openxmlformats.org/drawingml/2006/main">
            <a:srgbClr val="EAF8F5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A438CA0-C226-4F18-A9CD-5D8CDD2226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2114550"/>
            <a:ext cx="2171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6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68C82"/>
                </a:solidFill>
                <a:latin typeface="Microsoft YaHei"/>
                <a:ea typeface="Microsoft YaHei"/>
                <a:cs typeface="Microsoft YaHei"/>
              </a:rPr>
              <a:t>2  最终事实源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655537D-12B9-435D-BAF5-CC55CBD743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2400300"/>
            <a:ext cx="609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C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DB748D7-1ED3-4479-B523-42C45D355A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809875"/>
            <a:ext cx="2057400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哪个 API / getter 能证明系统状态？UI 与缓存只属于哪一层？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C6AF715-13B9-4268-A300-EA25DFD8A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000250"/>
            <a:ext cx="2476500" cy="2619375"/>
          </a:xfrm>
          <a:prstGeom xmlns:a="http://schemas.openxmlformats.org/drawingml/2006/main" prst="roundRect">
            <a:avLst>
              <a:gd name="adj" fmla="val 5385"/>
            </a:avLst>
          </a:prstGeom>
          <a:solidFill xmlns:a="http://schemas.openxmlformats.org/drawingml/2006/main">
            <a:srgbClr val="F2EEFF"/>
          </a:solidFill>
          <a:ln xmlns:a="http://schemas.openxmlformats.org/drawingml/2006/main" w="9525">
            <a:solidFill>
              <a:srgbClr val="7157B8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D41729C-6830-4479-AB46-263335A699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114550"/>
            <a:ext cx="2171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7157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7157B8"/>
                </a:solidFill>
                <a:latin typeface="Microsoft YaHei"/>
                <a:ea typeface="Microsoft YaHei"/>
                <a:cs typeface="Microsoft YaHei"/>
              </a:rPr>
              <a:t>3  可执行规格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8D37A3E-56A3-49D7-B3A9-CFA47AC2CF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400300"/>
            <a:ext cx="609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157B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B43AD17-EE39-4EFD-9995-22FD751E72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809875"/>
            <a:ext cx="2057400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WHEN / WHILE / SHALL / IF / THEN 已写清；高影响 OPEN 已关闭。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49E1763-9ED7-4579-803B-983CFD3A2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2000250"/>
            <a:ext cx="2476500" cy="2619375"/>
          </a:xfrm>
          <a:prstGeom xmlns:a="http://schemas.openxmlformats.org/drawingml/2006/main" prst="roundRect">
            <a:avLst>
              <a:gd name="adj" fmla="val 5385"/>
            </a:avLst>
          </a:prstGeom>
          <a:solidFill xmlns:a="http://schemas.openxmlformats.org/drawingml/2006/main">
            <a:srgbClr val="FFF7E3"/>
          </a:solidFill>
          <a:ln xmlns:a="http://schemas.openxmlformats.org/drawingml/2006/main" w="9525">
            <a:solidFill>
              <a:srgbClr val="D89518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61A02AC-5F71-4DF3-B7B8-28EF83633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2114550"/>
            <a:ext cx="2171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D895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D89518"/>
                </a:solidFill>
                <a:latin typeface="Microsoft YaHei"/>
                <a:ea typeface="Microsoft YaHei"/>
                <a:cs typeface="Microsoft YaHei"/>
              </a:rPr>
              <a:t>4  第一张任务卡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9FD49D1-8FB6-4B09-ADFB-92270BF650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2400300"/>
            <a:ext cx="609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951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CAC475F-00E5-4808-8613-9234D8F23E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2809875"/>
            <a:ext cx="2057400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唯一结果、允许与禁止范围、RED、验证命令和停止条件已明确。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719CDC2-27C2-4E21-9779-87A4FE9F8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5286375"/>
            <a:ext cx="571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C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B0F921B-D5A6-4419-ADFC-F93CE8C6B7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7325" y="5324475"/>
            <a:ext cx="9448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下一页进入真实案例：用真实文档、代码、测试和设备证据验证这四项。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86E07F4-B011-43CF-BBC5-6FC24894D7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72250"/>
            <a:ext cx="7429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rPr>
              <a:t>HarmonyOS · Spec-Driven Development · Ralph Workshop</a:t>
            </a:r>
          </a:p>
        </p:txBody>
      </p:sp>
    </p:spTree>
    <p:extLst>
      <p:ext uri="{BB962C8B-B14F-4D97-AF65-F5344CB8AC3E}">
        <p14:creationId xmlns:p14="http://schemas.microsoft.com/office/powerpoint/2010/main" val="345249564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9ECE0BD3-2319-4077-BAB2-AB22A53C7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14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03 MDM 案例｜真实交付链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CBB51B3-91D4-4CE8-8E72-A2CBE51D91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1714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09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CE26465-7450-41B0-973E-2836FD9652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MDM 外设管控：真正复杂的是规则叠加，不是做几个开关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5B202B9-A61C-442A-995A-6EE00C5CB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66775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接口总控、设备规则、默认规则和存储模式来自不同作用域，必须先冻结优先级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782F8A4-84E4-4731-9465-AD31257E96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52525"/>
            <a:ext cx="111633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A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659DD74-46AC-4C3C-B1A1-67751A990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144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真实业务场景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291FC61-FBC7-4DBF-B0CC-3384EDC05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81150"/>
            <a:ext cx="5905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78D0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0D5AD43-F792-4264-861D-D1BABE01B6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95450"/>
            <a:ext cx="3333750" cy="1638300"/>
          </a:xfrm>
          <a:prstGeom xmlns:a="http://schemas.openxmlformats.org/drawingml/2006/main" prst="roundRect">
            <a:avLst>
              <a:gd name="adj" fmla="val 69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2343B72-CB56-4C24-AAF8-20B196AC1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09750"/>
            <a:ext cx="1428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042E1C1-819A-4F72-A775-F28BB25FE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819275"/>
            <a:ext cx="1314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设备不断变化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7749059-36FD-4DD9-9EBF-95FF234A9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152650"/>
            <a:ext cx="3048000" cy="1085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8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键盘、鼠标、U 盘、网卡随时插拔；应用需要识别设备、记录在场状态，并保留下一次接入的策略意图。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7D053BA-14DD-4FDC-8994-D7A00303D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524250"/>
            <a:ext cx="3333750" cy="1638300"/>
          </a:xfrm>
          <a:prstGeom xmlns:a="http://schemas.openxmlformats.org/drawingml/2006/main" prst="roundRect">
            <a:avLst>
              <a:gd name="adj" fmla="val 69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D9F9F90-FBA7-48CF-8064-2FD8E16CC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1428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72EDE25-91CC-420D-A0DE-FD1EBE20E9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648075"/>
            <a:ext cx="1314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系统能力有边界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22EAB94-221D-48BF-BD7F-DAC804795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981450"/>
            <a:ext cx="3048000" cy="1085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8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应用按 SN / fingerprint 管理；HarmonyOS MDM 实际下发可能只有 baseClass。拒绝一台 HID，可能影响同类设备。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3DB3331-572F-4847-95E4-5699D68374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13144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冻结后的判定顺序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B6500C2-C705-421C-B634-846986D0A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1581150"/>
            <a:ext cx="5905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256D8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A53EEF4-D977-44E8-AFED-3BD0F5BEBD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1695450"/>
            <a:ext cx="3714750" cy="723900"/>
          </a:xfrm>
          <a:prstGeom xmlns:a="http://schemas.openxmlformats.org/drawingml/2006/main" prst="roundRect">
            <a:avLst>
              <a:gd name="adj" fmla="val 15789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46DB611-AEED-462C-91FC-D64AABF82F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1781175"/>
            <a:ext cx="3524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L1 接口管控（最高）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59633F0-CCC2-4ECB-AF6D-B3387BF864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038350"/>
            <a:ext cx="3524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全局允许 / 禁止所有 USB 设备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1425E70-765C-4BD3-B05F-CAF93FFA82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2447925"/>
            <a:ext cx="133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↓ 允许继续判断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8C3D205-07A8-4D5B-B0C1-82D892BD26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2724150"/>
            <a:ext cx="3714750" cy="723900"/>
          </a:xfrm>
          <a:prstGeom xmlns:a="http://schemas.openxmlformats.org/drawingml/2006/main" prst="roundRect">
            <a:avLst>
              <a:gd name="adj" fmla="val 15789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A5413DE-1E2B-4950-897A-233139A6D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809875"/>
            <a:ext cx="3524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L2 单设备显式规则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7D5A404-5D2B-4C1D-8EF2-620A95BC97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067050"/>
            <a:ext cx="3524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该 fingerprint 已配置 allow / deny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B4CFDB1-D2EC-4168-A821-13236E524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3476625"/>
            <a:ext cx="133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↓ 没有显式规则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E555F52-5AE9-4EB8-AFFD-5B8FF815D3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3752850"/>
            <a:ext cx="3714750" cy="723900"/>
          </a:xfrm>
          <a:prstGeom xmlns:a="http://schemas.openxmlformats.org/drawingml/2006/main" prst="roundRect">
            <a:avLst>
              <a:gd name="adj" fmla="val 15789"/>
            </a:avLst>
          </a:prstGeom>
          <a:solidFill xmlns:a="http://schemas.openxmlformats.org/drawingml/2006/main">
            <a:srgbClr val="E8F6F3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198483D-94A0-4996-8476-AABBA81D5F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838575"/>
            <a:ext cx="3524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L3 默认黑 / 白名单（最低）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D5A026B-ADA3-4420-914E-2EBEE25600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4095750"/>
            <a:ext cx="3524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只兜底第一次接入的未配置设备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21F54D0-1385-45DD-A15C-FBD0551B83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4743450"/>
            <a:ext cx="3714750" cy="838200"/>
          </a:xfrm>
          <a:prstGeom xmlns:a="http://schemas.openxmlformats.org/drawingml/2006/main" prst="roundRect">
            <a:avLst>
              <a:gd name="adj" fmla="val 13636"/>
            </a:avLst>
          </a:prstGeom>
          <a:solidFill xmlns:a="http://schemas.openxmlformats.org/drawingml/2006/main">
            <a:srgbClr val="FFF6DE"/>
          </a:solidFill>
          <a:ln xmlns:a="http://schemas.openxmlformats.org/drawingml/2006/main" w="11430">
            <a:solidFill>
              <a:srgbClr val="D99018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619341B-CF10-455D-A5A0-6EE9D0112D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4857750"/>
            <a:ext cx="3409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rPr>
              <a:t>并行策略：USB 存储模式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5E1E35E-55DE-456F-9FF6-85BA3558EA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5143500"/>
            <a:ext cx="34099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6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6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读写 / 只读 / 禁止访问，会覆盖存储设备最终可用性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97EE248-CA64-406E-ACAB-F5B073F11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13144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三种最容易误判的“完成”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28C5542-F398-498E-8FA9-E0C9A6AD7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1581150"/>
            <a:ext cx="5905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644A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ABF96B2-427B-4C9C-A4A0-38D7CF5C91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1695450"/>
            <a:ext cx="3257550" cy="1123950"/>
          </a:xfrm>
          <a:prstGeom xmlns:a="http://schemas.openxmlformats.org/drawingml/2006/main" prst="roundRect">
            <a:avLst>
              <a:gd name="adj" fmla="val 1016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7B3DEE0E-B3A7-45AE-8C8D-0F1F74DC8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1809750"/>
            <a:ext cx="1428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AD12F701-B58C-4E69-86EF-EA9D45607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1819275"/>
            <a:ext cx="1314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误判 1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8B0F3921-86DE-44C3-8FF8-BAC1239E28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2152650"/>
            <a:ext cx="29718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6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6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全局启用 ≠ 所有设备最终允许；显式 deny 必须重放。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1FA5AE86-A488-4957-8EB6-AE93B36CF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990850"/>
            <a:ext cx="3257550" cy="1123950"/>
          </a:xfrm>
          <a:prstGeom xmlns:a="http://schemas.openxmlformats.org/drawingml/2006/main" prst="roundRect">
            <a:avLst>
              <a:gd name="adj" fmla="val 1016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9FD781E4-7580-4E6D-AA5A-A0C3B9666A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3105150"/>
            <a:ext cx="1428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7030B542-5422-42ED-B3CD-19DAF147F4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3114675"/>
            <a:ext cx="1314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误判 2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7B54944E-1525-431A-99F2-CC456C53A3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3448050"/>
            <a:ext cx="29718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6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6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页面 allow ≠ EDM 没有历史类型级 deny 残留。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12DC9D52-BBA1-42A8-9594-E6A85A860A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4286250"/>
            <a:ext cx="3257550" cy="1123950"/>
          </a:xfrm>
          <a:prstGeom xmlns:a="http://schemas.openxmlformats.org/drawingml/2006/main" prst="roundRect">
            <a:avLst>
              <a:gd name="adj" fmla="val 1016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968585AF-1E08-47FE-9167-DC3C5DA27C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4400550"/>
            <a:ext cx="1428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6DE"/>
          </a:solidFill>
          <a:ln xmlns:a="http://schemas.openxmlformats.org/drawingml/2006/main" w="11430">
            <a:solidFill>
              <a:srgbClr val="D99018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D3D9F6CF-450B-411F-BC75-2BC499EED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4410075"/>
            <a:ext cx="1314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rPr>
              <a:t>误判 3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EA16E21F-392B-420C-86CD-043D95063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4743450"/>
            <a:ext cx="29718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6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6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API 返回失败 ≠ 策略完全未写入；还要回读与观察运行态。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E7BA4FCD-FA6B-48A7-93E5-67F2FA1FFB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848350"/>
            <a:ext cx="10953750" cy="40005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75072CF4-90D1-4FF3-956E-142EC849BF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905500"/>
            <a:ext cx="10648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63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63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课堂主线：先定义规则和证据，再让 AI 逐层实现；否则“能点”很容易被误判为“已交付”。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97D5A068-AA97-49C4-ABD4-F289B5151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620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真实规格：case-materials/mdm/README.md；11-附录B外设课堂冻结规格.md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B40402D4-D75D-4EDC-98C7-8E2F45DCC0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477000"/>
            <a:ext cx="12954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B7F891B2-41E1-4FAD-B7AA-A7F3DE22D7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6486525"/>
            <a:ext cx="1181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REPO FACT</a:t>
            </a:r>
          </a:p>
        </p:txBody>
      </p:sp>
    </p:spTree>
    <p:extLst>
      <p:ext uri="{BB962C8B-B14F-4D97-AF65-F5344CB8AC3E}">
        <p14:creationId xmlns:p14="http://schemas.microsoft.com/office/powerpoint/2010/main" val="2008706364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26081FF5-27D4-4200-A567-A8D5CB8799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14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03 MDM 案例｜真实交付链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A92F277-114C-47C6-BD15-296D6A063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1714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10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F9D6309-7711-44C7-8338-4B124F8A4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这不是一段 Prompt：六个阶段各生成一份可复查文档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402389D-DE08-4499-958E-D84E1D1D7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66775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下一阶段只能引用已经冻结的事实；没有文档出口门，就不允许继续写代码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B688245-926F-49F4-BBE9-A0C75CA13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52525"/>
            <a:ext cx="111633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A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C414EE2-50C8-4696-B598-3C662920E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52550"/>
            <a:ext cx="3486150" cy="182880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9527C7C-6B5C-453A-B210-D8F55BC151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485900"/>
            <a:ext cx="13144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E394B64-19B5-4D67-BA95-78C6586413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495425"/>
            <a:ext cx="12001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1 资产同步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912A528-C648-40E8-AEB3-487ECE42B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866900"/>
            <a:ext cx="3181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95" b="1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95" b="1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01-资产同步与冲突清单.md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8FC97B9-860E-46C8-83A1-2E945CB320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266950"/>
            <a:ext cx="31813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6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6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生成：来源坐标 / 术语 / 冲突 / 未知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B08FEE1-3071-454A-A9B2-0CA8732B4D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714625"/>
            <a:ext cx="3181350" cy="304800"/>
          </a:xfrm>
          <a:prstGeom xmlns:a="http://schemas.openxmlformats.org/drawingml/2006/main" prst="roundRect">
            <a:avLst>
              <a:gd name="adj" fmla="val 18750"/>
            </a:avLst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2A67879-955E-4E91-B70E-00E43988D3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52725"/>
            <a:ext cx="3067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07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7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Gate：关键需求可追到原图、设计、代码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0AB1CCA-B332-40EB-8564-F6590CD27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1352550"/>
            <a:ext cx="3486150" cy="182880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25ADCDA-84A7-4916-9723-BAF351F9B2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1485900"/>
            <a:ext cx="13144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8F6F3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5C9A576-41B2-4CBA-8950-22A9EC67B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1495425"/>
            <a:ext cx="12001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2 方案推导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AB4A76A-B8C1-4794-BC5C-E6D4DE849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1866900"/>
            <a:ext cx="3181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95" b="1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95" b="1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02-方案推导与决策记录.md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BB1FE60-F7BD-40FD-B9F1-03A55F0A56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2266950"/>
            <a:ext cx="31813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6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6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生成：备选方案 / 失败模式 / ADR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7E95A7F-491B-467D-BF8E-301FE1128D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2714625"/>
            <a:ext cx="3181350" cy="304800"/>
          </a:xfrm>
          <a:prstGeom xmlns:a="http://schemas.openxmlformats.org/drawingml/2006/main" prst="roundRect">
            <a:avLst>
              <a:gd name="adj" fmla="val 18750"/>
            </a:avLst>
          </a:prstGeom>
          <a:solidFill xmlns:a="http://schemas.openxmlformats.org/drawingml/2006/main">
            <a:srgbClr val="E8F6F3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BF4E38C-7892-44A8-92C8-B3F6C4D58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2752725"/>
            <a:ext cx="3067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07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7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Gate：优先级、真相源、失败语义冻结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617E786-5B32-40E9-9E15-A20A3A6A5A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1352550"/>
            <a:ext cx="3486150" cy="182880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EFF8E7A-68F2-464B-A73D-502F5B135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1485900"/>
            <a:ext cx="13144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FBCE033-10F8-4651-8208-E89C1F62CB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1495425"/>
            <a:ext cx="12001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3 架构 RFC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915631C-F2C1-4183-80E4-D4A162293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1866900"/>
            <a:ext cx="3181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95" b="1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95" b="1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03-外设管理MVVM与策略RFC.md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67877B6-CD9C-4B2D-9EEB-3B9415AB2F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266950"/>
            <a:ext cx="31813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6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6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生成：状态模型 / 服务边界 / 时序 / 风险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1ED1A1C-980A-412E-B4CE-8187E0B93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714625"/>
            <a:ext cx="3181350" cy="304800"/>
          </a:xfrm>
          <a:prstGeom xmlns:a="http://schemas.openxmlformats.org/drawingml/2006/main" prst="roundRect">
            <a:avLst>
              <a:gd name="adj" fmla="val 18750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42C24CD-41B9-48F0-8898-609A6D4C33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752725"/>
            <a:ext cx="3067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07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7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Gate：Story 不再重新猜系统结构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F8DEAB0-824A-4479-ADAD-B6E3883CE5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429000"/>
            <a:ext cx="3486150" cy="182880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9018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97EA07D-44E5-4045-9094-F9C5F9C15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562350"/>
            <a:ext cx="13144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6DE"/>
          </a:solidFill>
          <a:ln xmlns:a="http://schemas.openxmlformats.org/drawingml/2006/main" w="11430">
            <a:solidFill>
              <a:srgbClr val="D99018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D0E9802-B6B1-4929-B275-5420D97F8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571875"/>
            <a:ext cx="12001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rPr>
              <a:t>4 Story 拆分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593D4BB-0099-4523-96FF-1279EDE08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943350"/>
            <a:ext cx="3181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95" b="1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95" b="1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04-Feature与Story拆解.md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D0D519A-3C0A-48AE-8140-807B2029E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343400"/>
            <a:ext cx="31813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6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6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生成：8 个 Story / Worker Packet / AC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50C6334-F923-4E3C-942F-9E353D4806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791075"/>
            <a:ext cx="3181350" cy="304800"/>
          </a:xfrm>
          <a:prstGeom xmlns:a="http://schemas.openxmlformats.org/drawingml/2006/main" prst="roundRect">
            <a:avLst>
              <a:gd name="adj" fmla="val 18750"/>
            </a:avLst>
          </a:prstGeom>
          <a:solidFill xmlns:a="http://schemas.openxmlformats.org/drawingml/2006/main">
            <a:srgbClr val="FFF6DE"/>
          </a:solidFill>
          <a:ln xmlns:a="http://schemas.openxmlformats.org/drawingml/2006/main" w="11430">
            <a:solidFill>
              <a:srgbClr val="D99018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66D9FF69-DA1E-446A-8F6C-AC7D5D2756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829175"/>
            <a:ext cx="3067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07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7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rPr>
              <a:t>Gate：每个任务可单独制造 RED 和验收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F4E9130-20EA-4FC7-BFD4-E8110A3C36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429000"/>
            <a:ext cx="3486150" cy="182880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6E59CEDE-9F38-46FF-9541-C766192B5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3562350"/>
            <a:ext cx="13144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770C46D2-FF94-47C2-87B0-05630DCD9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3571875"/>
            <a:ext cx="12001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5 Ralph 迭代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D2AB5A3E-5D59-4EA5-BEB4-0D25F99DA3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3943350"/>
            <a:ext cx="3181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95" b="1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95" b="1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05-Ralph迭代运行账.md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45E78674-CB58-42E6-92A5-142A4252BE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4343400"/>
            <a:ext cx="31813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6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6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生成：15 轮问题 / 假设 / 修正 / oracle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39420BEE-A1C6-4CAA-8475-5390B4CB60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4791075"/>
            <a:ext cx="3181350" cy="304800"/>
          </a:xfrm>
          <a:prstGeom xmlns:a="http://schemas.openxmlformats.org/drawingml/2006/main" prst="roundRect">
            <a:avLst>
              <a:gd name="adj" fmla="val 18750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1F644760-E39C-4523-A573-228C92CC1A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4829175"/>
            <a:ext cx="3067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07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7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Gate：每个反例固化为新不变量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AEA16266-06D8-4AAE-83F0-DFA9AE74C9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429000"/>
            <a:ext cx="3486150" cy="182880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19B5C585-68B6-4F5B-9166-49E6BF852F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3562350"/>
            <a:ext cx="13144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76C32987-232A-476C-89F2-86CD149B1B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571875"/>
            <a:ext cx="12001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6 测试验收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AC9C662F-B44B-44DE-A775-EC0D44310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3943350"/>
            <a:ext cx="3181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95" b="1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95" b="1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06-测试验收报告.md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8AB46A6D-E6DA-4011-A991-C38E79659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4343400"/>
            <a:ext cx="31813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6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6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生成：UT / E2E / 系统回读 / 实物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17BA059B-F9AA-4BD5-AAC1-0A2CAE90BA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4791075"/>
            <a:ext cx="3181350" cy="304800"/>
          </a:xfrm>
          <a:prstGeom xmlns:a="http://schemas.openxmlformats.org/drawingml/2006/main" prst="roundRect">
            <a:avLst>
              <a:gd name="adj" fmla="val 18750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2AA9EBF0-CC61-4A73-9EEF-6AEA0B083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4829175"/>
            <a:ext cx="3067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07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7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Gate：PASS / PARTIAL / FAIL / UNKNOWN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EBF9C088-F65A-406B-AC3E-CD981921B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600700"/>
            <a:ext cx="1093470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F1F4F8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E58C8647-D9F3-4313-BC0B-E41B3C2EFA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724525"/>
            <a:ext cx="19526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88" b="1">
                <a:solidFill>
                  <a:srgbClr val="7256D8"/>
                </a:solidFill>
                <a:latin typeface="Consolas"/>
                <a:ea typeface="Consolas"/>
                <a:cs typeface="Consolas"/>
              </a:defRPr>
            </a:pPr>
            <a:r>
              <a:rPr sz="1088" b="1">
                <a:solidFill>
                  <a:srgbClr val="7256D8"/>
                </a:solidFill>
                <a:latin typeface="Consolas"/>
                <a:ea typeface="Consolas"/>
                <a:cs typeface="Consolas"/>
              </a:rPr>
              <a:t>case-materials/mdm/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4F171442-A114-434D-889F-037570567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5724525"/>
            <a:ext cx="857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13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13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01 → 02 → 03 → 04 → 05 → 06；所有问题证据汇总到 00，Session 反例汇总到 13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01F0ADFA-CCE9-4EB0-BEA2-CF3EA6CA2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620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真实目录：case-materials/mdm/README.md；证据总表：00-外设管理证据状态总表.md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FDA47E72-2FED-4A66-A64E-2738B03A9F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477000"/>
            <a:ext cx="12954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04DEF042-B797-4FE8-BF7D-C685F9527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6486525"/>
            <a:ext cx="1181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REPO FACT</a:t>
            </a:r>
          </a:p>
        </p:txBody>
      </p:sp>
    </p:spTree>
    <p:extLst>
      <p:ext uri="{BB962C8B-B14F-4D97-AF65-F5344CB8AC3E}">
        <p14:creationId xmlns:p14="http://schemas.microsoft.com/office/powerpoint/2010/main" val="1116061762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952C7254-362B-4A20-ACED-1C5614E82A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14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03 MDM 案例｜真实交付链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83790CC-23E2-40B0-950A-32F084258D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1714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11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F446627-5C8C-4A72-BDE7-67A0A77ECA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资产同步要少读但读到真源：五轮扫描把需求追到系统调用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D5D947D-35B0-4587-9B6D-4E6F3C6715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66775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不是把整个工程塞进上下文，而是每轮只回答一个问题并生成索引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A46C06D-7784-4F2C-8675-0EA69C5484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52525"/>
            <a:ext cx="111633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A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67E6322-273A-4659-BA1B-3D04AD4EEE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09700"/>
            <a:ext cx="200025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985E3FC-B4AC-4526-96E3-47EDE3062F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495425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R1 入口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A1F09A7-1689-4DD2-B4FA-25B3073627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752600"/>
            <a:ext cx="1809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PeripheralPage.ets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页面有哪些 Tab、按钮和可见状态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2D355AA-7B97-4932-BEA3-CC545F0B4C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1724025"/>
            <a:ext cx="19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129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58E8E19-DCF2-4FF0-8465-F3A890897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1409700"/>
            <a:ext cx="200025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E8F6F3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D0A936B-06B0-4227-B6C9-E61B79AD4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1495425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R2 状态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479D9BF-FA54-417B-9F8A-9824900E0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1752600"/>
            <a:ext cx="1809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PeripheralViewModel.ets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谁协调接口、记录、名单刷新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85B8F9F-FD05-4146-9401-34EB0461B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1724025"/>
            <a:ext cx="19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129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474BB8C-958B-41C3-B966-1571689B02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4900" y="1409700"/>
            <a:ext cx="200025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9BC1543-2D2E-46B8-972F-E45E9D9AD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50" y="1495425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R3 规则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8001BFC-27D8-41B2-898E-87D035597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50" y="1752600"/>
            <a:ext cx="1809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UsbGlobalPolicyService.ets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全局禁用/恢复如何补偿与重放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A98CE3F-27A4-47C0-AA7B-81E9FC15C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1724025"/>
            <a:ext cx="19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129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64BE744-E64E-4E19-ADC0-5EE67A1B61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1409700"/>
            <a:ext cx="200025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B52E499-5ADB-49D1-A88C-382F3AE6C9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1495425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R4 系统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BF3AEEE-D4D2-41D8-8D3B-46F55312FD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1752600"/>
            <a:ext cx="1809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DispatchService.ets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MDM 实际按 baseClass 下发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AA31E67-C41A-4707-AAD0-155173CF0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1724025"/>
            <a:ext cx="19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129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FC683CA-EBC2-45EB-88E3-3E4A1AE39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1409700"/>
            <a:ext cx="200025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2E05507-14B8-4A8B-B72A-1DB880684A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1495425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R5 证据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C0206BE-C5DB-478C-BA63-8652D20EE3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1752600"/>
            <a:ext cx="1809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test/peripheral + e2e/cases/peripheral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现有 oracle 与仍缺真机证据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8CE2DF6-9DF8-475E-89B5-8EC8256041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7241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四条真实数据链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5B537CB-116D-4655-BD95-3CCB28AD4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990850"/>
            <a:ext cx="5905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644A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1F81E4F-59B8-4BDD-BC51-2345C81E57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24200"/>
            <a:ext cx="12001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52275EF-AFF9-4F68-BCBA-7DBC4D912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133725"/>
            <a:ext cx="10858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接口总控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BE5E4DA-CD41-4F71-89E2-A8ACF8E14B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3133725"/>
            <a:ext cx="7086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82" b="1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82" b="1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UI → Interface VM → UsbGlobalPolicyService → restrictions usb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0D31E24-94F5-445F-8BE4-E6861FEAE8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3124200"/>
            <a:ext cx="16954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EFE9AE0-EC76-48C3-AD85-DF027104F1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3133725"/>
            <a:ext cx="15811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全局门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564A55A-3126-450A-AAFC-6166A8294B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76650"/>
            <a:ext cx="12001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8F6F3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0A4C0CB-1067-4763-8B45-9704C89FE0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86175"/>
            <a:ext cx="10858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默认规则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6D4AD90D-6381-4CB4-BBC1-4CDEE1A0C4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3686175"/>
            <a:ext cx="7086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82" b="1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82" b="1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Preferences → handleConnect → allow/deny intent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EF60D3A-3373-41FD-A9C1-57D7FD3D6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3676650"/>
            <a:ext cx="16954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8863677C-DAE8-4740-8B37-64869430C3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3686175"/>
            <a:ext cx="15811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首次兜底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14F6BD51-AF45-4FB0-8A6D-06E7D3889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29100"/>
            <a:ext cx="12001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D303E947-B2EA-45BE-B6F1-5E6592BF8C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238625"/>
            <a:ext cx="10858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单设备规则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C26EAA38-8285-45DA-9EF6-39922232BD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4238625"/>
            <a:ext cx="7086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82" b="1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82" b="1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fingerprint → Policy State → Dispatch → baseClass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D6914EAB-135D-4EBA-AC4E-5385AC826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4229100"/>
            <a:ext cx="16954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6760559F-823E-4A28-82BC-CB9FE6B67F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4238625"/>
            <a:ext cx="15811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显式意图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F818CC88-8111-45A7-A7FE-F47F555B0E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81550"/>
            <a:ext cx="12001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8F6F3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5B11A727-7A10-4BD5-8104-0FCDED760C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791075"/>
            <a:ext cx="10858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连接记录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91979341-D2E4-4F57-A891-F1B04C5CF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4791075"/>
            <a:ext cx="7086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82" b="1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82" b="1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ATTACHED/DETACHED → Pipeline → Trace RDB → notify → UI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E69649C3-0025-4018-B21B-5B93677D3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4781550"/>
            <a:ext cx="16954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00A62203-9F6F-4B38-A885-5A475DF0F5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4791075"/>
            <a:ext cx="15811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事实时间线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70253DEF-F5A4-4BB4-8ABB-819091465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467350"/>
            <a:ext cx="10934700" cy="666750"/>
          </a:xfrm>
          <a:prstGeom xmlns:a="http://schemas.openxmlformats.org/drawingml/2006/main" prst="roundRect">
            <a:avLst>
              <a:gd name="adj" fmla="val 17143"/>
            </a:avLst>
          </a:prstGeom>
          <a:solidFill xmlns:a="http://schemas.openxmlformats.org/drawingml/2006/main">
            <a:srgbClr val="FFF6DE"/>
          </a:solidFill>
          <a:ln xmlns:a="http://schemas.openxmlformats.org/drawingml/2006/main" w="11430">
            <a:solidFill>
              <a:srgbClr val="D99018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1F4FA895-1B89-40D8-995C-DB7C45F89F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72125"/>
            <a:ext cx="228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645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rPr>
              <a:t>本阶段生成 5 个文件对象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C9AE98FD-3F28-4F9C-AF4A-9CF0841E7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5543550"/>
            <a:ext cx="81724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275" b="1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scope-map · requirement-card · conflicts · evidence-index · unknowns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2A0E02DF-0A64-4653-BD44-C670C5C75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67400"/>
            <a:ext cx="10477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352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9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9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Exit：关键链路都有代码锚点；系统能力不确定项进入最小穿刺，不让 AI 靠猜。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A9911E29-8863-4CA5-B1B2-8E8848CB0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620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生成产物：case-materials/mdm/01-资产同步与冲突清单.md；代码证据：08-代码级调用链与课堂穿刺.md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659A2363-46D8-4276-99C8-3B41612B9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477000"/>
            <a:ext cx="12954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425B8559-8473-448D-880B-CA0DDBCE8E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6486525"/>
            <a:ext cx="1181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REPO FACT</a:t>
            </a:r>
          </a:p>
        </p:txBody>
      </p:sp>
    </p:spTree>
    <p:extLst>
      <p:ext uri="{BB962C8B-B14F-4D97-AF65-F5344CB8AC3E}">
        <p14:creationId xmlns:p14="http://schemas.microsoft.com/office/powerpoint/2010/main" val="1491503323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D7B13CDA-F3B7-4FBF-8EE2-29F633D74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14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03 MDM 案例｜真实交付链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7915C28-4903-45A8-98A2-7601B65503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1714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12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EDAED9E-F39D-493E-A4DC-03BA81A231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冲突不是噪声：它决定需求卡里必须冻结哪些语义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1BBF96A-2527-4F6C-897D-5B3F1F3A6C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66775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先把“看起来都对”的表述并排，再让证据决定口径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F3E125F-0EFF-411C-A9CB-57E80EC059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52525"/>
            <a:ext cx="111633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A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468209C-FDC6-4929-BD4C-2783D41CD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90650"/>
            <a:ext cx="3486150" cy="914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D832C52-460E-4207-AA6B-526B149BA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504950"/>
            <a:ext cx="4953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370D994-F056-4D4C-9589-2371EFA66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514475"/>
            <a:ext cx="381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C1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E6E17BC-840B-4837-A034-C03FE0FD33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1504950"/>
            <a:ext cx="1123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88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USB 接口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DA9F6A0-D084-4F42-A5AD-80814FD0B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1771650"/>
            <a:ext cx="2571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871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38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全局 restrictions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D0D63BB-2E53-42E1-90AE-0072785BC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000250"/>
            <a:ext cx="2571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≠ 不是默认名单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5C5EE58-302D-4529-B5D4-3FCE721A3D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1390650"/>
            <a:ext cx="3486150" cy="914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E8F6F3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07C0B80-05E7-41A3-9210-3C23C29F0E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1504950"/>
            <a:ext cx="4953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F54E17C-FA35-49B0-A257-22133C841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1514475"/>
            <a:ext cx="381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C2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DBA8D18-9E37-48C5-8EDC-517CDBD0A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1504950"/>
            <a:ext cx="1123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88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默认白名单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05728E0-5847-4906-B6C1-6D475788C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1771650"/>
            <a:ext cx="2571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871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38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只兜底新设备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0E9B1F4-C445-489D-B2D0-DE4AF81850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2000250"/>
            <a:ext cx="2571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≠ 不批量写 allow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0815BC3-F4CD-447A-92AC-7A3D0B2B45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1390650"/>
            <a:ext cx="3486150" cy="914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A5AABE0-06E9-4ED7-B4C1-33299CF71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1504950"/>
            <a:ext cx="4953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063F81F-8745-42B6-B6DC-333757909B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1514475"/>
            <a:ext cx="381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C3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E0B5747-B7F5-4070-A7FA-D33CAB6006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1504950"/>
            <a:ext cx="1123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88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设备身份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495EBF5-46A0-4DED-8376-7B6BDC1063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1771650"/>
            <a:ext cx="2571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871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38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SN / fingerprint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3034F1E-0340-4D26-8B70-C2FE3C5D3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2000250"/>
            <a:ext cx="2571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≠ 系统执行却是 baseClass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3E99306-D354-4AF4-9C1B-DE2EF0913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514600"/>
            <a:ext cx="3486150" cy="914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E8F6F3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33FC039-60DE-4B4C-B3F3-680810D6EA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28900"/>
            <a:ext cx="4953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303CCFA-7D1F-4802-9E65-26B6C1DBB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638425"/>
            <a:ext cx="381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C4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5EC7A31-70B0-4557-B44D-AA6D411B0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628900"/>
            <a:ext cx="1123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88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还原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0A672AB-31ED-40B2-89DD-0916D71B9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895600"/>
            <a:ext cx="2571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871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38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清 EDM + 保留卡片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F341B7A-F423-4B04-A269-5E9C601D7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124200"/>
            <a:ext cx="2571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≠ 不是删除记录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3B03D48-E830-4E9C-85E8-904774460B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2514600"/>
            <a:ext cx="3486150" cy="914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F3788A1-5456-4BF7-A9F1-1CEC35ED2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2628900"/>
            <a:ext cx="4953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BFF9D22-975A-4474-A533-DB067EFAB3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2638425"/>
            <a:ext cx="381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C5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3BB7536-4D47-40EA-A1DA-1E24CFEF1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2628900"/>
            <a:ext cx="1123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88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API error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831365C-7377-4BC4-AE85-C377083C2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2895600"/>
            <a:ext cx="2571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871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38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可能部分生效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1DA11BB8-6DDC-4891-A2FC-DA837F5B1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3124200"/>
            <a:ext cx="2571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≠ 不能直接回滚 UI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77607A56-29AE-4CDA-A477-1034587515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2514600"/>
            <a:ext cx="3486150" cy="914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E8F6F3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A847086D-C6A2-4763-892D-C0B7F0FAA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2628900"/>
            <a:ext cx="4953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7B9C19A0-3811-4D36-9B98-EA9A8347DC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2638425"/>
            <a:ext cx="381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C6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7905D2AA-A94E-4740-9D15-91EDD524A1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2628900"/>
            <a:ext cx="1123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88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present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EB62AF32-610B-434A-98AD-D2D5F801B6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2895600"/>
            <a:ext cx="2571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871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38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运行态事实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D3F581E7-0D07-4781-ABF4-55440EFFD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3124200"/>
            <a:ext cx="2571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≠ 不能只依赖历史事件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1907FF50-1084-4EFF-88B7-49AE4CEA69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790950"/>
            <a:ext cx="6858000" cy="2247900"/>
          </a:xfrm>
          <a:prstGeom xmlns:a="http://schemas.openxmlformats.org/drawingml/2006/main" prst="roundRect">
            <a:avLst>
              <a:gd name="adj" fmla="val 5085"/>
            </a:avLst>
          </a:prstGeom>
          <a:solidFill xmlns:a="http://schemas.openxmlformats.org/drawingml/2006/main">
            <a:srgbClr val="F1F4F8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50C3CB77-DA90-4DB7-9391-4165EC9317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886200"/>
            <a:ext cx="6591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01-资产同步与冲突清单.md → Requirement Card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4DD54C92-B28D-49A1-AB3A-EF9B3748A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152900"/>
            <a:ext cx="5143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256D8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B397319C-3B13-4563-BBB7-54972C0115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248150"/>
            <a:ext cx="6591300" cy="1695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t">
            <a:normAutofit fontScale="84479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13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requirement_id: PER-USB-PRIORITY-001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13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13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source: 外设需求 + 模块设计 + 当前代码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13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13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rule: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13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13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L1: global interface gate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13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13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L2: explicit fingerprint allow/deny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13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13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L3: default allow/deny for unknown device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13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13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parallel: usb_storage read_write/read_only/disabled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13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13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oracles: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13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13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- UI state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13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13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- local policy state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13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13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- EDM readback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13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13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- physical behavior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13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13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status: FROZEN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6CE0EA3D-025F-40BF-BDD6-BE3B300F3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3790950"/>
            <a:ext cx="3886200" cy="1047750"/>
          </a:xfrm>
          <a:prstGeom xmlns:a="http://schemas.openxmlformats.org/drawingml/2006/main" prst="roundRect">
            <a:avLst>
              <a:gd name="adj" fmla="val 1090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48D843FA-F1CA-48F0-8F57-670E2E6247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3905250"/>
            <a:ext cx="1428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8F6F3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22920B3F-944B-4816-A568-743CF350E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3914775"/>
            <a:ext cx="1314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进入方案前必须回答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BBD71ADC-6A32-4260-8369-71CBCBF55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4248150"/>
            <a:ext cx="36004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1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1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谁是真相源？哪层优先？错误时保持什么？系统调用粒度是什么？需要什么独立 oracle？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59534537-C890-43CD-A55B-46BD234F1D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4991100"/>
            <a:ext cx="3886200" cy="1047750"/>
          </a:xfrm>
          <a:prstGeom xmlns:a="http://schemas.openxmlformats.org/drawingml/2006/main" prst="roundRect">
            <a:avLst>
              <a:gd name="adj" fmla="val 1090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21F5764C-89C2-45E5-9284-2C89CAF759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5105400"/>
            <a:ext cx="1428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5174E910-05B0-4371-AD75-DC0E07EA7B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5114925"/>
            <a:ext cx="1314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Exit Gate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CEBE7E27-740C-4CCC-8F60-95F72C678B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5448300"/>
            <a:ext cx="36004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1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1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冲突有决策；未知有负责人和穿刺；需求卡能追到代码与测试。否则停在资产阶段。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9DECD452-573D-46D2-B061-107CF2D1D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620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真实产物：case-materials/mdm/01-资产同步与冲突清单.md#冲突清单；11-附录B外设课堂冻结规格.md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D627DEC0-A647-48D2-B5FA-AA7C441D25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477000"/>
            <a:ext cx="12954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382785D5-7146-4D6A-96B1-12C136BDAF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6486525"/>
            <a:ext cx="1181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REPO FACT</a:t>
            </a:r>
          </a:p>
        </p:txBody>
      </p:sp>
    </p:spTree>
    <p:extLst>
      <p:ext uri="{BB962C8B-B14F-4D97-AF65-F5344CB8AC3E}">
        <p14:creationId xmlns:p14="http://schemas.microsoft.com/office/powerpoint/2010/main" val="1183461305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CE568969-3BC3-4280-AE28-F32EC122C1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14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03 MDM 案例｜真实交付链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675998A-5544-4382-8045-A3A4FD087E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1714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13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4FF4824-7E84-4AA2-B336-624195FB52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方案推导先比较失败模式：为什么不能把所有规则塞进一个 ViewModel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848F532-8944-44B8-A6A6-EEE9DDBA7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66775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最终选择分层状态 + 编排服务，因为它能表达优先级、补偿和可验证边界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DC5FCB2-A4D4-4E73-9C53-EB63E34741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52525"/>
            <a:ext cx="111633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A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A22533C-83DC-46A7-A946-63C941B77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90650"/>
            <a:ext cx="2590800" cy="1162050"/>
          </a:xfrm>
          <a:prstGeom xmlns:a="http://schemas.openxmlformats.org/drawingml/2006/main" prst="roundRect">
            <a:avLst>
              <a:gd name="adj" fmla="val 9836"/>
            </a:avLst>
          </a:prstGeom>
          <a:solidFill xmlns:a="http://schemas.openxmlformats.org/drawingml/2006/main">
            <a:srgbClr val="FDEEEE"/>
          </a:solidFill>
          <a:ln xmlns:a="http://schemas.openxmlformats.org/drawingml/2006/main" w="11430">
            <a:solidFill>
              <a:srgbClr val="C9474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ACD0384-45BC-498F-9D75-47A023C87E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504950"/>
            <a:ext cx="2362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A 页面直接调 MDM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8DE34B1-2E15-45E6-AFF5-4F1FCCA82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838325"/>
            <a:ext cx="23241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3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状态和副作用耦合；切页后难回放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6C2E08F-CEDD-45F2-9D58-A02A07EDD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209800"/>
            <a:ext cx="9525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C9474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0B004E1-3CBA-434B-95B4-2410FDB778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2219325"/>
            <a:ext cx="8382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C9474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C94747"/>
                </a:solidFill>
                <a:latin typeface="Microsoft YaHei"/>
                <a:ea typeface="Microsoft YaHei"/>
                <a:cs typeface="Microsoft YaHei"/>
              </a:rPr>
              <a:t>拒绝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73252D3-EC49-48D0-8A22-5443572C20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1390650"/>
            <a:ext cx="2590800" cy="1162050"/>
          </a:xfrm>
          <a:prstGeom xmlns:a="http://schemas.openxmlformats.org/drawingml/2006/main" prst="roundRect">
            <a:avLst>
              <a:gd name="adj" fmla="val 9836"/>
            </a:avLst>
          </a:prstGeom>
          <a:solidFill xmlns:a="http://schemas.openxmlformats.org/drawingml/2006/main">
            <a:srgbClr val="FDEEEE"/>
          </a:solidFill>
          <a:ln xmlns:a="http://schemas.openxmlformats.org/drawingml/2006/main" w="11430">
            <a:solidFill>
              <a:srgbClr val="C94747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3613554-99BF-45DB-B4C1-63BC3F39E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1504950"/>
            <a:ext cx="2362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B 只存最终 allow/deny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3504391-D7D7-48B7-9BDF-187C12E2F6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1838325"/>
            <a:ext cx="23241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3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丢失 desired/active/present，无法恢复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816396C-5E67-402A-9D1B-11F901D49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2209800"/>
            <a:ext cx="9525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C94747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04491A0-9D15-4A87-9F21-F51E056D9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2219325"/>
            <a:ext cx="8382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C9474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C94747"/>
                </a:solidFill>
                <a:latin typeface="Microsoft YaHei"/>
                <a:ea typeface="Microsoft YaHei"/>
                <a:cs typeface="Microsoft YaHei"/>
              </a:rPr>
              <a:t>拒绝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69BED71-CFFD-41ED-8169-94AA0B31A5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390650"/>
            <a:ext cx="2590800" cy="1162050"/>
          </a:xfrm>
          <a:prstGeom xmlns:a="http://schemas.openxmlformats.org/drawingml/2006/main" prst="roundRect">
            <a:avLst>
              <a:gd name="adj" fmla="val 9836"/>
            </a:avLst>
          </a:prstGeom>
          <a:solidFill xmlns:a="http://schemas.openxmlformats.org/drawingml/2006/main">
            <a:srgbClr val="FDEEEE"/>
          </a:solidFill>
          <a:ln xmlns:a="http://schemas.openxmlformats.org/drawingml/2006/main" w="11430">
            <a:solidFill>
              <a:srgbClr val="C94747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0B6AD18-31A5-49F9-9B9B-6E0435BD61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1504950"/>
            <a:ext cx="2362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C 默认策略覆盖一切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6BFF533-4132-42BA-B6C6-36704B3B2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1838325"/>
            <a:ext cx="23241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3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显式设备规则失效；历史配置漂移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1359A88-2538-4AED-ABDB-B7F402E516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2209800"/>
            <a:ext cx="9525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C94747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49C451C-F5DE-4D44-BF94-D75C361D9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2219325"/>
            <a:ext cx="8382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C9474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C94747"/>
                </a:solidFill>
                <a:latin typeface="Microsoft YaHei"/>
                <a:ea typeface="Microsoft YaHei"/>
                <a:cs typeface="Microsoft YaHei"/>
              </a:rPr>
              <a:t>拒绝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CF0CD96-055B-405F-9797-74E95A9C78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1390650"/>
            <a:ext cx="2590800" cy="1162050"/>
          </a:xfrm>
          <a:prstGeom xmlns:a="http://schemas.openxmlformats.org/drawingml/2006/main" prst="roundRect">
            <a:avLst>
              <a:gd name="adj" fmla="val 9836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4AE7354-061C-481D-85FC-49FA2B25E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1504950"/>
            <a:ext cx="2362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D 状态服务 + 全局编排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8277E9A-02C8-48C9-B18B-98BF68C949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1838325"/>
            <a:ext cx="23241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3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可分层、可补偿、可独立测试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6755C28-6195-437A-A855-AAD933664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2209800"/>
            <a:ext cx="9525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21AAAE9-049D-4569-906C-3F1B0859F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600" y="2219325"/>
            <a:ext cx="8382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选择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A44D520-FC44-465A-AAC6-AC835B7BB4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85750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决策后的判定函数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86D5F47-4303-4C72-B138-3A21EFFAF3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124200"/>
            <a:ext cx="5905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256D8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F832020-0F05-4FFD-9723-E0DF2A763F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0"/>
            <a:ext cx="5600700" cy="2590800"/>
          </a:xfrm>
          <a:prstGeom xmlns:a="http://schemas.openxmlformats.org/drawingml/2006/main" prst="roundRect">
            <a:avLst>
              <a:gd name="adj" fmla="val 4412"/>
            </a:avLst>
          </a:prstGeom>
          <a:solidFill xmlns:a="http://schemas.openxmlformats.org/drawingml/2006/main">
            <a:srgbClr val="F1F4F8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2F98A8F-B42C-4676-9607-1584AAD5CC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33750"/>
            <a:ext cx="533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ADR-PER-USB-001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66AF342-6A64-4038-BBA1-46E386EA6F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00450"/>
            <a:ext cx="5143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256D8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1CBE470-D4DD-4A83-86B2-8D2C33417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95700"/>
            <a:ext cx="5334000" cy="2038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t">
            <a:normAutofit fontScale="9660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6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6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if (globalUsbDisabled) return DENY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6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6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const explicit = policyState.find(fingerprint)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6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6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if (explicit) return explicit.desiredPolicy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6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6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return defaultUsbPolicy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6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6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// parallel override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6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6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if (device.isStorage &amp;&amp; storagePolicy === DISABLED)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6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6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return DENY_STORAGE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6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6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// activePolicy is execution fact,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6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6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// desiredPolicy is long-lived intent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6400FB1-2151-432D-B07F-C4AA69647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238500"/>
            <a:ext cx="5124450" cy="2590800"/>
          </a:xfrm>
          <a:prstGeom xmlns:a="http://schemas.openxmlformats.org/drawingml/2006/main" prst="roundRect">
            <a:avLst>
              <a:gd name="adj" fmla="val 441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23CF799F-16F3-4A0A-8111-232030F4DA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3718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四个设计决策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572A328-E06D-4BE7-90D5-C7F5C94B2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3638550"/>
            <a:ext cx="5905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8C82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1E9309D0-0BAB-4B2F-BE0A-E922534861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790950"/>
            <a:ext cx="9525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8F6F3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BA43111A-4C38-491A-B78D-26E65C12DE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3800475"/>
            <a:ext cx="8382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真相源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48F12D1D-015B-482D-A61A-303A37684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3810000"/>
            <a:ext cx="361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5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5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intent 在 Policy State；执行结果看 EDM/readback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D1B035A7-E709-420E-A791-CF03C27392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248150"/>
            <a:ext cx="9525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78A87BC5-3FB2-4532-8F79-964FEC812E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4257675"/>
            <a:ext cx="8382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所有权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12E192BF-45C4-48C6-A713-78078A053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4267200"/>
            <a:ext cx="361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5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5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Global Service 编排总控；State Service 管设备意图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49CF2DC4-1D08-4845-B047-0C9A55285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705350"/>
            <a:ext cx="9525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8F6F3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3A03FEB1-1314-46CB-A2B3-635E38A9E0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4714875"/>
            <a:ext cx="8382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失败语义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3D4435F6-9BDE-4B64-A5BE-03057312C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4724400"/>
            <a:ext cx="361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5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5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成功 / 部分生效 / 失败 / UNKNOWN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40BAE095-FC86-4F23-B035-9A3C37C79A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5162550"/>
            <a:ext cx="9525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A05C728D-1566-4D4B-A6C5-3F7DE988DB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5172075"/>
            <a:ext cx="8382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停止条件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DDC6C242-CC5C-4EE8-B897-DAFC1ABF52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5181600"/>
            <a:ext cx="361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5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5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系统粒度不足时升级产品口径，不继续猜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3945AD1F-70B0-45D4-949A-344F8A3186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620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真实决策：case-materials/mdm/02-方案推导与决策记录.md；代码入口：UsbGlobalPolicyService.setDisabled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91E9D186-304A-4DCB-8295-3A23E9F746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477000"/>
            <a:ext cx="12954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7FD1CA95-63F5-4273-83D4-E8BB9F18A6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6486525"/>
            <a:ext cx="1181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REPO FACT</a:t>
            </a:r>
          </a:p>
        </p:txBody>
      </p:sp>
    </p:spTree>
    <p:extLst>
      <p:ext uri="{BB962C8B-B14F-4D97-AF65-F5344CB8AC3E}">
        <p14:creationId xmlns:p14="http://schemas.microsoft.com/office/powerpoint/2010/main" val="1676347898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3B9F2FAB-C02E-413E-991B-2B54AD3406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14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03 MDM 案例｜真实交付链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4ACDC24-2572-4F59-B309-9F294DC42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1714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14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0A47F3E-6906-4736-98D6-5370B1F14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最小能力穿刺改变了架构：应用管理“设备”，系统却可能只执行“类型”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0CD7C63-F906-47D6-9585-208D2A5687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66775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先验证 MDM API 的真实粒度，再决定能不能承诺单设备隔离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ED95E3D-7F71-4C37-8EA1-C4814D535C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52525"/>
            <a:ext cx="111633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A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4FEF76E-2EDC-46CE-A68A-805CFB1215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7160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应用侧身份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6B23B45-C569-4C89-A72D-FB39438B58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38300"/>
            <a:ext cx="5905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78D0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C2BCBED-3140-4E1F-82E7-545F33396D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752600"/>
            <a:ext cx="318135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1C899F2-5796-41F2-B958-107071D6A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838325"/>
            <a:ext cx="2990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fingerprintKey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EDF835E-DFAB-4AF7-AED3-1A4D622B72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095500"/>
            <a:ext cx="29908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serialNumber 优先；缺失时使用 vendor/product/class 等弱指纹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97656F9-F573-47BC-BD36-BB065A9AD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2038350"/>
            <a:ext cx="342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89031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9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722B60B-677D-43D3-9A86-0376FC6FAD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137160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Dispatch 转换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DF5974E-7999-47EE-82BB-42004E66F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1638300"/>
            <a:ext cx="5905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256D8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862CA2A-0649-49AA-8252-B81D2B9AB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1752600"/>
            <a:ext cx="318135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E0E033E-0CEC-40E4-8C05-BC4E16FA13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1838325"/>
            <a:ext cx="2990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resolveDeviceType(baseClass)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7F7682D-4361-487F-9C8B-9F89E2A3D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2095500"/>
            <a:ext cx="29908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把业务设备映射成 MDM UsbDeviceType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1BE15C8-5738-4C7D-8A3C-32F875488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2038350"/>
            <a:ext cx="342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89031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9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25CDAE5-9865-41EB-AB41-4941EACA1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137160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系统侧执行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8D6A648-7712-4CC9-8D2E-1F2B7FC1D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1638300"/>
            <a:ext cx="5905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644A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3D57A23-713A-47C4-B6DA-DB45CB00BC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1752600"/>
            <a:ext cx="354330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D4B34DA-93AB-4BDB-BE20-F06D4563FC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1838325"/>
            <a:ext cx="335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addDisallowedUsbDevices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EAD868F-04E0-4F82-8FBE-2A62063BCA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095500"/>
            <a:ext cx="33528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baseClass / subClass / protocol；没有 SN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8491342-501B-449C-9311-90C94CC73C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086100"/>
            <a:ext cx="5334000" cy="2781300"/>
          </a:xfrm>
          <a:prstGeom xmlns:a="http://schemas.openxmlformats.org/drawingml/2006/main" prst="roundRect">
            <a:avLst>
              <a:gd name="adj" fmla="val 4110"/>
            </a:avLst>
          </a:prstGeom>
          <a:solidFill xmlns:a="http://schemas.openxmlformats.org/drawingml/2006/main">
            <a:srgbClr val="F1F4F8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B0E980D-9913-47F6-A77F-F5E685DF8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181350"/>
            <a:ext cx="5067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PeripheralDevicePolicyDispatchService.ets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A914371-CC8E-45DC-94CB-D92B99CD1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448050"/>
            <a:ext cx="5143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644A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5431448-0A0B-4929-B6E3-91CFA44C82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543300"/>
            <a:ext cx="5067300" cy="2228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3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3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dispatch(request)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3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3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→ dispatchUsbPolicy(request)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3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3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→ buildUsbDeviceType(deviceType)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3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3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→ { baseClass, subClass: 0, protocol: 0 }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3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3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→ add/removeDisallowedUsbDevices()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3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3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// business records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3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3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fingerprint=A, desired=deny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3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3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fingerprint=B, desired=allow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3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3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// system execution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3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3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baseClass=3 deny  // may affect A and B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9F4DE8B-2091-4028-9CE4-5F966FC1F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3086100"/>
            <a:ext cx="5353050" cy="2781300"/>
          </a:xfrm>
          <a:prstGeom xmlns:a="http://schemas.openxmlformats.org/drawingml/2006/main" prst="roundRect">
            <a:avLst>
              <a:gd name="adj" fmla="val 411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7A2A635-7F12-4155-8577-69753A277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323850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穿刺后新增的验收条件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22E9D4A-A077-4F9F-BD9F-E85E912E7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3505200"/>
            <a:ext cx="5905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8A58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A7D3D5D-E867-4D33-AEE3-7D103EF276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3638550"/>
            <a:ext cx="4972050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D648029-24CB-4C03-B78C-8991CB2D1A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752850"/>
            <a:ext cx="1428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BD88CAE-81CB-4974-8033-DDB582CFA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3762375"/>
            <a:ext cx="1314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反例设备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10B771C-6FF4-435C-B074-FB5B432C8D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86525" y="4095750"/>
            <a:ext cx="4686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0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0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必须准备两台相同 baseClass 的设备；单台测试不能证明单设备隔离。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6AA2C54-A5D6-4E3D-94A4-1BF0EA215A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4572000"/>
            <a:ext cx="4972050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61136540-78A7-4E2B-A3EB-49AF789F8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686300"/>
            <a:ext cx="1428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6DE"/>
          </a:solidFill>
          <a:ln xmlns:a="http://schemas.openxmlformats.org/drawingml/2006/main" w="11430">
            <a:solidFill>
              <a:srgbClr val="D99018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88600F09-1ED4-43F2-B2FB-67E7F2EE0C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4695825"/>
            <a:ext cx="1314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rPr>
              <a:t>产品边界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4F123808-7FEF-4AA1-A2C6-0B6F67200E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86525" y="5029200"/>
            <a:ext cx="4686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0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0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若平台无更细 API，规格必须写成“类型级阻断”，不能让 AI 伪造精确能力。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D443B188-1D22-4DE4-9EDD-FFAEB92EE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5505450"/>
            <a:ext cx="4972050" cy="361950"/>
          </a:xfrm>
          <a:prstGeom xmlns:a="http://schemas.openxmlformats.org/drawingml/2006/main" prst="roundRect">
            <a:avLst>
              <a:gd name="adj" fmla="val 15789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37B6C94A-F080-4979-B4AF-0CB9452C6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5562600"/>
            <a:ext cx="4743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50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这一步的价值：一条 API 事实推翻一整套错误架构。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88E498A7-55EF-4A41-800A-C5B865345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620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源码：PeripheralDevicePolicyDispatchService.ets:61/157；验收：PER-USB-SAME-CLASS-001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CBC53816-A06D-4431-B0CF-AD1BE22085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477000"/>
            <a:ext cx="12954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03A32F60-6459-426C-8464-17668D7DF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6486525"/>
            <a:ext cx="1181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REPO FACT</a:t>
            </a:r>
          </a:p>
        </p:txBody>
      </p:sp>
    </p:spTree>
    <p:extLst>
      <p:ext uri="{BB962C8B-B14F-4D97-AF65-F5344CB8AC3E}">
        <p14:creationId xmlns:p14="http://schemas.microsoft.com/office/powerpoint/2010/main" val="1144095938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F8DFEBD2-D76F-4FF1-8B9A-6CB49E6E59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14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03 MDM 案例｜真实交付链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0FD4F76-C32F-4466-AB03-BC67E42BE7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1714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15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E7E81AB-86E5-4C0F-8990-9E416BD71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RFC 要冻结状态、职责和失败语义，避免每个 Story 重新发明规则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C5B4008-C2F8-4402-9B32-16430C75C9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66775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核心不是类图，而是 desired / active / present 三个状态如何变化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9B9AFA0-3DF3-4207-9003-FD484CEEC2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52525"/>
            <a:ext cx="111633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A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0D8AB25-5624-4A71-8965-3A22C63BC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71600"/>
            <a:ext cx="4210050" cy="4476750"/>
          </a:xfrm>
          <a:prstGeom xmlns:a="http://schemas.openxmlformats.org/drawingml/2006/main" prst="roundRect">
            <a:avLst>
              <a:gd name="adj" fmla="val 2715"/>
            </a:avLst>
          </a:prstGeom>
          <a:solidFill xmlns:a="http://schemas.openxmlformats.org/drawingml/2006/main">
            <a:srgbClr val="F1F4F8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B2E64D8-259D-4E86-89F8-84233F4D1C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466850"/>
            <a:ext cx="3943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03-外设管理MVVM与策略RFC.md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BD0EA8B-6093-4B0B-821C-F91961BA5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733550"/>
            <a:ext cx="5143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256D8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A5948E2-82D5-4859-9B0D-B7E06FF158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828800"/>
            <a:ext cx="3943350" cy="392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2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2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UsbDevicePolicyStateRecord {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2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2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fingerprintKey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2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2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baseClass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2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2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desiredPolicy: allow | deny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2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2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activePolicy: none | deny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2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2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present: boolean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2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2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updatedAt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2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2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}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2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2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invariants: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2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2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globalDisabled =&gt; activePolicy = none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2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2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explicitPolicy &gt; defaultPolicy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2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2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detach keeps desiredPolicy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2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2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restore clears EDM before local allow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2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2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trace != policy truth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2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2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result: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2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2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success | partial_applied |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2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2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failure | unknown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EC751D2-3D6B-458F-85D6-CD3B2808F7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13906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状态为什么要拆成三列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F5E511C-C513-480C-8698-956FAF150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1657350"/>
            <a:ext cx="5905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8C82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7E5CB55-2F1F-4842-B8D6-EC06BFF00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1790700"/>
            <a:ext cx="1981200" cy="13716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93E820E-012F-44B7-A6CA-CCC3C35FA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1905000"/>
            <a:ext cx="1428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86894A1-A1D1-4841-922B-2FBA9ECFB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1914525"/>
            <a:ext cx="1314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desired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069FC6F-093B-4101-BA69-65B8BE8A8C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72075" y="2247900"/>
            <a:ext cx="16954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6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6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长期意图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96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6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拔出后仍保留；全局禁用不改写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15D8C63-A533-4418-9A8C-006FDA5D0B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1790700"/>
            <a:ext cx="1981200" cy="13716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A0017BE-0855-4A76-8D61-12E3D85FA3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1905000"/>
            <a:ext cx="1428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4342D6A-D7A0-4438-9106-0B5AF5204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1914525"/>
            <a:ext cx="1314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active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2C70BF6-9C10-4E3D-AC67-3C9BACA336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4725" y="2247900"/>
            <a:ext cx="16954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6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6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系统执行态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96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6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全局禁用时可暂挂；恢复后重放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516FCA3-F5C1-44B7-80BB-E558633EF1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1790700"/>
            <a:ext cx="1981200" cy="13716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295A774-5A3F-41D8-ABEE-2AFE8E149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1905000"/>
            <a:ext cx="1428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8F6F3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44745F9-1437-4F29-8728-FFA5071455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1914525"/>
            <a:ext cx="1314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present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1F129DF-6492-47CD-97A1-192A13F046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77375" y="2247900"/>
            <a:ext cx="16954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6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6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当前在场态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96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6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决定能否立即操作；需要启动对账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9E72F9F-8D46-42E4-8A3F-EAAD7A220E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34861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RFC 主动暴露的 OPEN 风险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A3C3A08-5608-4A02-AEE2-47683F1F8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3752850"/>
            <a:ext cx="5905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644A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B655F2D-3A86-4C42-B881-9C25730A63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3905250"/>
            <a:ext cx="8763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3730C62-9423-44E1-9390-6CCA57B58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3914775"/>
            <a:ext cx="762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OPEN 1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B224D26-4E50-4A43-9393-997C62B22F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3905250"/>
            <a:ext cx="1524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Trace notify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2E3588A-85B5-43E0-AB96-708BD69AC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3905250"/>
            <a:ext cx="361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3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写入成功但维护失败时，当前 Tab 可能不刷新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14E66D2-8743-497A-B87B-E702F1D31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4362450"/>
            <a:ext cx="8763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F4C6EB1-ED00-4B98-ABAD-3F94EA51F6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4371975"/>
            <a:ext cx="762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OPEN 2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FBA094E-EA53-483F-8384-07695948E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4362450"/>
            <a:ext cx="1524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present 对账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D7596C3-EBB3-44CE-BED4-3A67565E90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4362450"/>
            <a:ext cx="361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3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应用不在场时错过 detach，RDB 可能残留 true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F9CB15A-AD7A-462C-A84E-7EFB98B93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4819650"/>
            <a:ext cx="8763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C4EC0EBA-C010-4FA4-B5AC-414E376BA9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4829175"/>
            <a:ext cx="762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OPEN 3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1B003745-D833-4E0B-807E-FD149020BB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4819650"/>
            <a:ext cx="1524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clear-all 不一致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B74F6795-3F53-4857-8E5B-B11449418C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4819650"/>
            <a:ext cx="361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3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系统清理成功、本地 upsertAll 失败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0B85CF58-82BC-443B-8BB5-173511D890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5276850"/>
            <a:ext cx="8763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2569D096-7348-446F-913E-156A90DBFB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5286375"/>
            <a:ext cx="762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OPEN 4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38A15431-7FAE-4371-A565-F6E7708E7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5276850"/>
            <a:ext cx="1524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baseClass 扩大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E49268D8-8AE2-446A-A6F2-0AF364E0F6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5276850"/>
            <a:ext cx="361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3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显式设备意图与系统执行粒度不一致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BEBFA6EB-5298-4E96-AD1A-207EBF3435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620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真实 RFC：case-materials/mdm/03-外设管理MVVM与策略RFC.md；模块设计：docs/03-模块设计/外设管理组件设计说明.md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458C4BBE-C5D5-4B46-8461-B2BD61098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477000"/>
            <a:ext cx="12954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9C46C79D-ADB3-4531-A039-889C67FFD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6486525"/>
            <a:ext cx="1181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REPO FACT</a:t>
            </a:r>
          </a:p>
        </p:txBody>
      </p:sp>
    </p:spTree>
    <p:extLst>
      <p:ext uri="{BB962C8B-B14F-4D97-AF65-F5344CB8AC3E}">
        <p14:creationId xmlns:p14="http://schemas.microsoft.com/office/powerpoint/2010/main" val="2145423023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372B50E3-6373-406B-9A82-D3AB2B0F60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14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03 MDM 案例｜真实交付链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EE0A9C5-BC8D-4794-8495-11C172331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1714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16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AC3EDD4-2A05-4DC7-8587-2808BF50E1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1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代码组织要让 Story、目录、类名和测试说同一种语言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7F1EF1A-88B2-4A4A-A879-7F347FE4F0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66775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下面是 security_tool 当前真实路径；AI 先读责任骨架，再进入局部实现，避免把整个模块塞进上下文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A0E3B7A-ADD9-4F08-AD58-0CD41B92D3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52525"/>
            <a:ext cx="111633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A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AB41942-7A68-4772-9D51-CF5E57713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52550"/>
            <a:ext cx="304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真实代码树（已核对）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D1ADC2E-82D8-4D08-A20E-D3A889FEF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619250"/>
            <a:ext cx="5905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78D0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3286046-5ED8-49F4-A624-F017D156A3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33550"/>
            <a:ext cx="5810250" cy="428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8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CFB83BF-084B-44F0-BE69-CDFA13B326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828800"/>
            <a:ext cx="55435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security_tool/entry/src/main/ets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5A99B1A-4BF1-47C3-8274-1FEB582F2B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095500"/>
            <a:ext cx="5143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78D0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376197F-AFC7-435C-A463-6404DD7769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190750"/>
            <a:ext cx="5543550" cy="3733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68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68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views/peripheral/overview/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968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68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PeripheralPage.ets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968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68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components/peripheral/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968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68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interface-control/InterfaceControlTab.ets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968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68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device-policy/PolicyList.ets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968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68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connection-record/DeviceRecordList.ets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968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68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viewmodels/peripheral/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968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68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overview/PeripheralViewModel.ets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968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68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interface-control/InterfaceControlViewModel.ets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968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68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device-policy/PeripheralPolicyViewModel.ets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968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68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connection-record/PeripheralRecordViewModel.ets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968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68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services/peripheral/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968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68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interface-control/UsbGlobalPolicyService.ets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968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68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device-policy/UsbDevicePolicyStateService.ets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968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68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device-policy/PeripheralDevicePolicyDispatchService.ets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968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68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device-policy/UsbDevicePolicyStateRepository.ets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968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68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connection-record/PeripheralConnectionRecordPipeline.ets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968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68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connection-record/PeripheralTraceMaintenanceService.ets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968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68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connection-record/PeripheralTraceEntryRepository.ets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8AE8E6F-BCD7-481B-ACC3-6FD3A8897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1352550"/>
            <a:ext cx="304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AI 的阅读与修改顺序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177D0D5-F009-4B6A-A015-4ABE158DA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1619250"/>
            <a:ext cx="5905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256D8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2CF0726-370C-4772-9DCF-96B6952EA9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2286000"/>
            <a:ext cx="190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748B"/>
          </a:solidFill>
          <a:ln xmlns:a="http://schemas.openxmlformats.org/drawingml/2006/main" w="11430">
            <a:solidFill>
              <a:srgbClr val="64748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4E52F75-F33F-4128-B384-23133BCB54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2324100"/>
            <a:ext cx="2095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82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▼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EBE601E-6491-41A1-806C-17624D8CF1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1733550"/>
            <a:ext cx="48958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0EC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331AD1D-2116-454E-879B-16A16D1A4B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1733550"/>
            <a:ext cx="8001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644A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ECF0DEA-ABE9-4056-B755-AD8C6038EE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885950"/>
            <a:ext cx="685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99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9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1 规则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57914C5-CAD7-4375-84EC-21F050460B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1800225"/>
            <a:ext cx="3810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30" b="1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30" b="1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模块设计 + RFC + Story 伪代码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1DD3D6A-6DBD-4763-8E43-F25A668D99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028825"/>
            <a:ext cx="3810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7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7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先知道不可改变的语义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1CC4ECB-2194-4EB7-8CC2-452C0E0F2E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3067050"/>
            <a:ext cx="190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748B"/>
          </a:solidFill>
          <a:ln xmlns:a="http://schemas.openxmlformats.org/drawingml/2006/main" w="11430">
            <a:solidFill>
              <a:srgbClr val="64748B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BD2ACBF-EB9C-472C-93D2-97783A636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3105150"/>
            <a:ext cx="2095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82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▼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82D0820-9A81-4785-9082-C53E4C652B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2514600"/>
            <a:ext cx="48958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6ED45FD-A7AC-4D24-AB9B-0C0FEF984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2514600"/>
            <a:ext cx="8001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78D0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B7C3F48-6311-4C34-A9CC-2B3F185BD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667000"/>
            <a:ext cx="685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99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9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2 入口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EBB574D-7F22-4E80-8ACA-BE31D1704C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581275"/>
            <a:ext cx="3810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30" b="1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30" b="1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View → Parent VM → Child VM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CAE7FAD-2832-472E-826A-DD546DB2CC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809875"/>
            <a:ext cx="3810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7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7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只找公开用例，不先钻工具类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1F24E20-7817-4F4B-9FFF-71B570894C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3848100"/>
            <a:ext cx="190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748B"/>
          </a:solidFill>
          <a:ln xmlns:a="http://schemas.openxmlformats.org/drawingml/2006/main" w="11430">
            <a:solidFill>
              <a:srgbClr val="64748B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0E5F797-BFE9-40D9-84F6-8435D547F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3886200"/>
            <a:ext cx="2095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82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▼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C079909-1655-4D0B-9070-FA23DE2FF7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3295650"/>
            <a:ext cx="48958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6F3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E7CDF0E-972C-42AE-9B97-536EEB33A1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3295650"/>
            <a:ext cx="8001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8C82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AC2B896A-08F3-48D8-8E44-7102631CC1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448050"/>
            <a:ext cx="685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99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9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3 能力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B2ED67A3-5DAB-47D8-9BB5-EE50BDF2F9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3362325"/>
            <a:ext cx="3810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30" b="1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30" b="1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interface-control / device-policy / connection-record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073F52BD-8005-448A-BD0F-86D08E8166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3590925"/>
            <a:ext cx="3810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7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7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一次只进入一个能力目录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FD22E4EE-BA1F-42D5-91D3-C825B52CC7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4629150"/>
            <a:ext cx="190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748B"/>
          </a:solidFill>
          <a:ln xmlns:a="http://schemas.openxmlformats.org/drawingml/2006/main" w="11430">
            <a:solidFill>
              <a:srgbClr val="64748B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392CC878-E12F-47D9-88A2-186FC641EA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4667250"/>
            <a:ext cx="2095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82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▼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13AF40F7-334B-4682-8B44-31DCA86415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4076700"/>
            <a:ext cx="48958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1837D42B-5826-4113-9E7C-76E284D1E9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4076700"/>
            <a:ext cx="8001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256D8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3BBBD19A-D269-465C-B4D4-525190C9E8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229100"/>
            <a:ext cx="685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99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9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4 副作用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FF2403F5-7FFB-4856-99AA-4C84B7943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4143375"/>
            <a:ext cx="3810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30" b="1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30" b="1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Service → Dispatch → Repository / MDM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CC20AE05-E164-448E-90A9-A958BEF159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4371975"/>
            <a:ext cx="3810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7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7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事务、系统适配、持久化分责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D7250972-976C-4BE2-A2F7-E5481D2BE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4857750"/>
            <a:ext cx="48958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F9F104E4-A9A8-4062-A0FF-E6A973DBA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4857750"/>
            <a:ext cx="8001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8A58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55565D29-DCA1-4ED6-8FDB-A8D49A2764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5010150"/>
            <a:ext cx="685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99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9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5 证据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C204C000-FB52-442A-8A34-C3CCC3E50E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4924425"/>
            <a:ext cx="3810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30" b="1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30" b="1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同名 test + E2E + readback / device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4CEDC59B-74FD-4A73-811A-658A582C5C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5153025"/>
            <a:ext cx="3810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7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7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改动必须回到独立 Oracle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54B551EC-6509-4DD5-A7F8-42659AB4F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5753100"/>
            <a:ext cx="48958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B21BFD85-0118-40F4-87CF-697FC015E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5781675"/>
            <a:ext cx="4629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94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4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检查：Story 术语 = 目录名 = 类职责 = 测试入口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E0114BCB-08AA-4024-B7DC-882774799C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620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路径核对：security_tool/entry/src/main/ets；协议：case-materials/mdm/14-文档先行与模块提交协议.md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BA43B266-CA41-4846-9954-700BA64616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477000"/>
            <a:ext cx="12954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C666490B-0644-4CA0-A575-A9CB21195A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6496050"/>
            <a:ext cx="11811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900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REPO FACT</a:t>
            </a:r>
          </a:p>
        </p:txBody>
      </p:sp>
    </p:spTree>
    <p:extLst>
      <p:ext uri="{BB962C8B-B14F-4D97-AF65-F5344CB8AC3E}">
        <p14:creationId xmlns:p14="http://schemas.microsoft.com/office/powerpoint/2010/main" val="1349698919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AD53D893-3DFA-424F-994C-19F5DC8EC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14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03 MDM 案例｜真实交付链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2712620-B9F5-480E-A6EC-111ED96CED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1714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17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2082737-CD1B-48F4-9788-8008D10EA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设备接入调用链：先识别和判定，再下发、持久化、发布事实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FA9E9A6-1386-4104-9AC2-AAA08BCEE7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66775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每一跳都有输入、输出和失败语义，才能判断 AI 改对了哪一层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2331467-D9F7-4025-A84B-11DFC40EF2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52525"/>
            <a:ext cx="111633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A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3EDD1D0-C069-4E7B-A8A7-206FAA60ED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52550"/>
            <a:ext cx="16192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A4F3844-AB57-49EA-9591-75E76D2078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62075"/>
            <a:ext cx="1504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USB Event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ECDB31D-9818-43B3-89C2-F712AA257B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1676400"/>
            <a:ext cx="19050" cy="3695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A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9B7D0CA-0B80-4919-B127-585BDDAC4F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1352550"/>
            <a:ext cx="16192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8F6F3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6FE3E2E-3201-4135-A850-E0E33F3631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1362075"/>
            <a:ext cx="1504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Pipeline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FCE458B-6DB3-48A5-8BBF-A827F787AD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1676400"/>
            <a:ext cx="19050" cy="3695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A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DEFDF18-9736-41A7-980B-E06AA41462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1352550"/>
            <a:ext cx="16192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F907F2A-C65F-4DC0-B32D-4C12D6A4B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1362075"/>
            <a:ext cx="1504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Identity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9C03450-8285-45D0-90DE-4EFA4AED09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1676400"/>
            <a:ext cx="19050" cy="3695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A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5692F97-0E71-435C-9529-EA73B5DBB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1352550"/>
            <a:ext cx="16192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8F6F3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8D322D8-8592-49A3-80F7-9C057DC10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1362075"/>
            <a:ext cx="1504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State Service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BB239C3-3DA7-443A-847D-C3A8C8335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1676400"/>
            <a:ext cx="19050" cy="3695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A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D66BF56-F526-4F6D-96B7-10175AA37B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1352550"/>
            <a:ext cx="16192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2BA0FCE-3087-44EC-9CBC-3960F3482A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1362075"/>
            <a:ext cx="1504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Dispatch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2D5A6E3-AEB9-4D2C-B97F-21BF4BB86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1676400"/>
            <a:ext cx="19050" cy="3695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A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EBCC591-3925-4F6A-94ED-AD2F8F2C4D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1352550"/>
            <a:ext cx="16192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8F6F3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652599B-6DDA-43B8-9709-31D3464BB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1362075"/>
            <a:ext cx="1504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RDB / UI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917F6B4-FDBF-473F-A9BD-334C7D2400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48950" y="1676400"/>
            <a:ext cx="19050" cy="3695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A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B05D477-6943-4C64-81F2-1970D8E48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1866900"/>
            <a:ext cx="1866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748B"/>
          </a:solidFill>
          <a:ln xmlns:a="http://schemas.openxmlformats.org/drawingml/2006/main" w="11430">
            <a:solidFill>
              <a:srgbClr val="64748B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0BE6A7F-6E6E-40F0-A930-D6CFD7C304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43225" y="1714500"/>
            <a:ext cx="238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4914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2D96AEC-0295-47BC-995D-7795E214F8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1647825"/>
            <a:ext cx="1714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4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4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ATTACHED payload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DC93FCA-25A0-4D5F-97F1-284D4F4090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2343150"/>
            <a:ext cx="1866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748B"/>
          </a:solidFill>
          <a:ln xmlns:a="http://schemas.openxmlformats.org/drawingml/2006/main" w="11430">
            <a:solidFill>
              <a:srgbClr val="64748B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92A39DB-10D5-402D-9FA1-AF47BCFE3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2190750"/>
            <a:ext cx="238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4914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6098517-8012-4E66-82E1-4F7C12F2B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2124075"/>
            <a:ext cx="1714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78433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4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4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resolve(serial / fingerprint / baseClass)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4AA9134-7688-400D-B73D-01046E833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2819400"/>
            <a:ext cx="1866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748B"/>
          </a:solidFill>
          <a:ln xmlns:a="http://schemas.openxmlformats.org/drawingml/2006/main" w="11430">
            <a:solidFill>
              <a:srgbClr val="64748B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EC08C03-A8FA-4A84-93CC-B2DF3C97A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7025" y="2667000"/>
            <a:ext cx="238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4914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A393501-69D1-47AD-8B5C-E53AC9547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2600325"/>
            <a:ext cx="1714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79245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4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4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handleConnect(identity, defaultPolicy)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DAC1E12-3E15-4FFA-A606-DB3D501CD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3295650"/>
            <a:ext cx="1866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748B"/>
          </a:solidFill>
          <a:ln xmlns:a="http://schemas.openxmlformats.org/drawingml/2006/main" w="11430">
            <a:solidFill>
              <a:srgbClr val="64748B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05FBADDC-2C6F-4299-919D-F52110484D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3925" y="3143250"/>
            <a:ext cx="238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4914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CF71B16E-2AA3-4B52-B40B-B2D3CFF1BE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3076575"/>
            <a:ext cx="1714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8046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4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4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explicit? else default; deny → dispatch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E8E9E94B-D9B2-43F1-A009-FBE86C41F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3771900"/>
            <a:ext cx="1866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644A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EF9C78F1-D408-4987-98DF-32C3631A82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3619500"/>
            <a:ext cx="238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4914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←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F00E44A2-31A3-4BD7-8CA3-89B24535F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3552825"/>
            <a:ext cx="1714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40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40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success / conflict / error code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8CAE6D88-7280-4F8E-A5F6-7D9F59114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4248150"/>
            <a:ext cx="3733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748B"/>
          </a:solidFill>
          <a:ln xmlns:a="http://schemas.openxmlformats.org/drawingml/2006/main" w="11430">
            <a:solidFill>
              <a:srgbClr val="64748B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409A5FD8-0CC0-464A-8B86-F2048B4763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0825" y="4095750"/>
            <a:ext cx="238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4914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60334150-B775-4263-B9FE-60079706F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4029075"/>
            <a:ext cx="3581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4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4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save desired/active/present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4725CE88-7CC1-4BF4-90DC-5343BAE8A1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4724400"/>
            <a:ext cx="746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748B"/>
          </a:solidFill>
          <a:ln xmlns:a="http://schemas.openxmlformats.org/drawingml/2006/main" w="11430">
            <a:solidFill>
              <a:srgbClr val="64748B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4B82A8C5-A365-4E13-A601-DBDC92B3C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0825" y="4572000"/>
            <a:ext cx="238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4914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587921BA-6CEB-4576-AED9-039AA76C2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4505325"/>
            <a:ext cx="7315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4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4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append Trace → notify → reload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3C5EA03D-4A20-4F43-B5AE-EF1098B084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543550"/>
            <a:ext cx="1099185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9161784C-6495-4A54-A936-5E5572D9D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5785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三条独立 oracle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8F0E31E4-C6D5-4293-95CD-7A38441CDA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5629275"/>
            <a:ext cx="914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Policy State：desired/active/present  ·  EDM：disallowed type 回读  ·  Trace/UI：同一时间线可见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D8711F46-0452-4927-8CF9-011A39B70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620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源码：UsbDevicePolicyStateService.handleConnect；TraceMaintenance.appendEntries；PeripheralViewModel.refreshTraceDrivenData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6FDC8CFF-2F31-4A1C-A88B-635EAAA209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477000"/>
            <a:ext cx="12954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804A59AD-DFE8-4CA1-8214-7E5271C255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6486525"/>
            <a:ext cx="1181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REPO FACT</a:t>
            </a:r>
          </a:p>
        </p:txBody>
      </p:sp>
    </p:spTree>
    <p:extLst>
      <p:ext uri="{BB962C8B-B14F-4D97-AF65-F5344CB8AC3E}">
        <p14:creationId xmlns:p14="http://schemas.microsoft.com/office/powerpoint/2010/main" val="1853516480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C30F1713-3707-4951-A1D7-FD8D32D928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14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03 MDM 案例｜真实交付链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4064AAE-16D4-4944-A763-DB4E10FBE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1714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18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0140A56-24B8-4470-B4B7-0A5446AA9B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全局禁用/恢复是一笔事务：先挂起设备规则，失败时补偿，恢复后重放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F6CDA28-5329-44D7-B981-B0017D0823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66775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只调用一次 restrictions.setDisallowedPolicy，会破坏已有显式 deny 的真实执行态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E7248B4-66D7-4997-BF38-7ABC373BD8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52525"/>
            <a:ext cx="111633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A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E5F131B-720A-4B40-A4A6-6665361B44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525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禁用 USB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6E291A6-A41A-47F4-8CCB-49029D539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19250"/>
            <a:ext cx="5905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644A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1776CC8-18D2-426A-827B-DE8CA6973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733550"/>
            <a:ext cx="2400300" cy="8001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A87363F-E012-4BB0-AE04-F8B1DF2A12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819275"/>
            <a:ext cx="2209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1 Snapshot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2E41EF3-3689-4C9A-9467-4A0402E87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076450"/>
            <a:ext cx="2209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读取 present + active deny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DC50CC1-5E42-478E-9B73-9C8D186A7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1971675"/>
            <a:ext cx="28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D3140CF-A270-44C6-891B-16025B5D6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1733550"/>
            <a:ext cx="2400300" cy="8001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5FFBD3E-18B5-4259-9838-E26FE6FB2F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1819275"/>
            <a:ext cx="2209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2 Suspend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D2EBE42-B334-412E-8684-E15E77BCE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2076450"/>
            <a:ext cx="2209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逐条 remove 类型级 deny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4C2E4EB-F329-4224-A277-E241F1CF3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1971675"/>
            <a:ext cx="28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D77A2DF-9890-429C-9A08-E3C0719AF3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1733550"/>
            <a:ext cx="2400300" cy="8001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388A11A-3178-4441-8AA3-F1E3AEE82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1819275"/>
            <a:ext cx="2209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3 Global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2726884-9590-4E8C-AB75-2731FC651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2076450"/>
            <a:ext cx="2209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restrictions usb = disabled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5D744C4-FA42-4C33-A7D1-1510D1D4F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1971675"/>
            <a:ext cx="28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004E3B1-D15D-4D4F-989F-37B5E0CEDB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1733550"/>
            <a:ext cx="2400300" cy="8001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C2DB78E-979B-4B6F-BD7E-A4FA36732F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1819275"/>
            <a:ext cx="2209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4 Commit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C3EB5AC-2F73-439E-A5A0-14206F41A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2076450"/>
            <a:ext cx="2209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desired 保留，active → none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0E28191-4650-4C7E-873E-EFC3622C90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724150"/>
            <a:ext cx="10572750" cy="495300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FDEEEE"/>
          </a:solidFill>
          <a:ln xmlns:a="http://schemas.openxmlformats.org/drawingml/2006/main" w="11430">
            <a:solidFill>
              <a:srgbClr val="C94747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49DE87D-62FB-4CE5-A9C9-6F43279E4E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19400"/>
            <a:ext cx="10267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65" b="1">
                <a:solidFill>
                  <a:srgbClr val="C9474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65" b="1">
                <a:solidFill>
                  <a:srgbClr val="C94747"/>
                </a:solidFill>
                <a:latin typeface="Microsoft YaHei"/>
                <a:ea typeface="Microsoft YaHei"/>
                <a:cs typeface="Microsoft YaHei"/>
              </a:rPr>
              <a:t>任一步失败：compensateSuspendedPolicies() 把已移除的 deny 重新下发；不能留下半禁用状态。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1618B9E-9819-434B-B863-7355BC2C2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4861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恢复 USB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F17BB45-A775-4BA5-B7DF-8C1D49A3E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752850"/>
            <a:ext cx="5905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8A58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C7C854B-0747-4DB5-A9D3-707E3F3DB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867150"/>
            <a:ext cx="2400300" cy="8001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068754E-232D-4A97-BE22-3F7541F63F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952875"/>
            <a:ext cx="2209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1 Global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5404FD3-E1C3-43BD-8E83-24DD4996A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210050"/>
            <a:ext cx="2209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restrictions usb = enabled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8733069-6772-485C-860D-0F21B5E3F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4105275"/>
            <a:ext cx="28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1E7BB90-3F33-4C1A-8CB2-566C360E4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3867150"/>
            <a:ext cx="2400300" cy="8001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2A3773E-B228-4142-86D6-FD429005F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3952875"/>
            <a:ext cx="2209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2 Re-enumerate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2F959C5-1808-428E-B4C8-DF794D0DDE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4210050"/>
            <a:ext cx="2209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有界重试读取在线 USB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139F095C-FFC0-46F8-B318-540F75554A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4105275"/>
            <a:ext cx="28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80A448E4-9729-462E-BB0A-80EB5BF10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3867150"/>
            <a:ext cx="2400300" cy="8001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42E8DFCD-13B0-47F5-BF68-390712C16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3952875"/>
            <a:ext cx="2209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3 Replay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208BEF76-CAB7-43F1-AB4B-3FC81BE14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4210050"/>
            <a:ext cx="2209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present &amp;&amp; desired=deny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E2B6EAEA-35FA-4455-8D63-98BA68B54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4105275"/>
            <a:ext cx="28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2DE17AA0-1907-477F-A48F-62D89F9857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3867150"/>
            <a:ext cx="2400300" cy="8001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573ECC40-FE7E-429B-A3CA-82866F333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3952875"/>
            <a:ext cx="2209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4 Report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49BBFF8F-261A-4E97-A8F5-2C9B9556C1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4210050"/>
            <a:ext cx="2209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成功 + 部分重放告警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A972C9AB-A645-40AA-ABAE-E5CB0C618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933950"/>
            <a:ext cx="5905500" cy="1162050"/>
          </a:xfrm>
          <a:prstGeom xmlns:a="http://schemas.openxmlformats.org/drawingml/2006/main" prst="roundRect">
            <a:avLst>
              <a:gd name="adj" fmla="val 9836"/>
            </a:avLst>
          </a:prstGeom>
          <a:solidFill xmlns:a="http://schemas.openxmlformats.org/drawingml/2006/main">
            <a:srgbClr val="F1F4F8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915E0F66-953E-449F-A4BF-CA23905C4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029200"/>
            <a:ext cx="5638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UsbGlobalPolicyService.setDisabled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00144AB1-8E6B-4F26-B2FC-17A0A9373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295900"/>
            <a:ext cx="5143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256D8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7FBAB170-D4DF-4932-B612-8C293838B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391150"/>
            <a:ext cx="5638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9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9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disable: suspend → global set → compensate on failure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99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9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enable: global set → restorePresentDeniedPolicies()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99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9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partial restore: warn + keep retry evidence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2045FB9E-B0EF-437A-A220-080B35B68A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933950"/>
            <a:ext cx="4438650" cy="1162050"/>
          </a:xfrm>
          <a:prstGeom xmlns:a="http://schemas.openxmlformats.org/drawingml/2006/main" prst="roundRect">
            <a:avLst>
              <a:gd name="adj" fmla="val 983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528E250D-14A0-440A-A0DC-C1525F535D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5048250"/>
            <a:ext cx="1428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8F6F3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F1C419E9-D66F-4385-9279-8E25B62046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5057775"/>
            <a:ext cx="1314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怎么判断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F977BC0D-9BE1-4FFF-969A-26F72AF0AA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0375" y="5391150"/>
            <a:ext cx="41529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9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9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UT 验证调用顺序和补偿；真机还要看 restrictions 回读、EDM 类型规则、同类设备和实际可用性。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2DD44F17-0F3A-45B7-A401-07D6DB255D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620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源码：UsbGlobalPolicyService.ets:18–49；UT：usb-global-policy-service.test.ets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0D723848-D5D7-4205-AEEB-83A389030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477000"/>
            <a:ext cx="12954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2144FACE-05E6-4B26-94EF-F1DA502614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6486525"/>
            <a:ext cx="1181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REPO FACT</a:t>
            </a:r>
          </a:p>
        </p:txBody>
      </p:sp>
    </p:spTree>
    <p:extLst>
      <p:ext uri="{BB962C8B-B14F-4D97-AF65-F5344CB8AC3E}">
        <p14:creationId xmlns:p14="http://schemas.microsoft.com/office/powerpoint/2010/main" val="1241188847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3" name="">
            <a:extLst xmlns:a="http://schemas.openxmlformats.org/drawingml/2006/main">
              <a:ext uri="{FF2B5EF4-FFF2-40B4-BE49-F238E27FC236}">
                <a16:creationId xmlns:a16="http://schemas.microsoft.com/office/drawing/2014/main" id="{296D2624-6F52-4EED-B19B-2065FC7E97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14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03 MDM 案例｜真实交付链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8338218-13FC-4E82-B60C-8B85F22D9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1714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19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85EE044-2901-4DEB-A78C-4FA66E12B7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9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Story 编号必须和文档一致：八个能力各自有 RED、伪代码和 Done 证据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95DDDFE-0EED-436E-9B83-E52D55943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66775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本页按 04-Feature与Story拆解.md 重新核对；不再用近义词替换导致 S2/S3/S6/S7 错位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9686B6D-DC70-4E14-AA6F-2C5FF1B0A2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52525"/>
            <a:ext cx="111633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A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F668132-3863-4966-BF78-8EC2D0B71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52550"/>
            <a:ext cx="304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权威 Story 表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82E0EA2-7726-4816-AA96-19CD4BED92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619250"/>
            <a:ext cx="5905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78D0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3AB65C6-CB61-403C-84DD-0B5AAECBA9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33550"/>
            <a:ext cx="5905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78D0"/>
          </a:solidFill>
          <a:ln xmlns:a="http://schemas.openxmlformats.org/drawingml/2006/main" w="11430">
            <a:solidFill>
              <a:srgbClr val="FFFFF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A7C79D0-F228-433D-886D-EA793746D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790700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93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ID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01310AE-8951-4806-8D00-2D97E9F8EE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1733550"/>
            <a:ext cx="21336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78D0"/>
          </a:solidFill>
          <a:ln xmlns:a="http://schemas.openxmlformats.org/drawingml/2006/main" w="11430">
            <a:solidFill>
              <a:srgbClr val="FFFFFF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5077543-5D57-4662-BA94-A17A8E571E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790700"/>
            <a:ext cx="2057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93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能力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89A9049-C7A6-486B-8D96-957B15E7FE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1733550"/>
            <a:ext cx="2286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78D0"/>
          </a:solidFill>
          <a:ln xmlns:a="http://schemas.openxmlformats.org/drawingml/2006/main" w="11430">
            <a:solidFill>
              <a:srgbClr val="FFFFFF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BE84AA2-93CA-42D4-B569-538C1D6E6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1790700"/>
            <a:ext cx="2209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93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主要修改面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1F0DB88-6877-43A7-8995-294744A71E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1733550"/>
            <a:ext cx="17907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78D0"/>
          </a:solidFill>
          <a:ln xmlns:a="http://schemas.openxmlformats.org/drawingml/2006/main" w="11430">
            <a:solidFill>
              <a:srgbClr val="FFFFFF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EEB2F29-D773-45BD-AAF8-4BE037675D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2600" y="1790700"/>
            <a:ext cx="1714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93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独立验收点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82D673F-B80C-4569-8BB0-9796B37FFD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057400"/>
            <a:ext cx="59055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8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55A3CC0-A12F-4AC6-966C-60FD5296F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114550"/>
            <a:ext cx="4762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938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S1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58D819B-4AE0-4DD7-B433-A2E526ADF4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057400"/>
            <a:ext cx="213360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8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41DD44E-F29A-4945-88D4-BEEE248852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114550"/>
            <a:ext cx="2019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63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USB 身份与状态真源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786A6CA-BE6F-40D8-B64D-B016EF621C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2057400"/>
            <a:ext cx="228600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8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C2A29B3-3439-402B-BB19-D552CCD75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2114550"/>
            <a:ext cx="21717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Resolver + State Repo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2EC9E74-AD61-4F31-AA50-B0F4393FA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2057400"/>
            <a:ext cx="179070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8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3B6CA96-56AC-45C6-ADED-9833502CD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2114550"/>
            <a:ext cx="16764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指纹/在线态/意图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D3A19B1-F3B6-4ED1-9DF8-90EF782F0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505075"/>
            <a:ext cx="59055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B11F710-5F9C-4EDD-81BE-6EB87A1C6D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62225"/>
            <a:ext cx="4762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938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S2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A211A78-4967-4CDB-AB36-783E5F4F9F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505075"/>
            <a:ext cx="213360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4FBD804-4C49-4A08-9A68-033EE75D8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562225"/>
            <a:ext cx="2019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63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默认 allow / deny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CA7F0E6-08A3-45DE-9516-D2A750247A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2505075"/>
            <a:ext cx="228600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6383792-F72D-4C2F-9169-E04206C5B3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2562225"/>
            <a:ext cx="21717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Preferences + Policy VM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EA14DF7-3D71-440E-B51B-4794598F6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2505075"/>
            <a:ext cx="179070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A3E0BF2-AB8B-422C-81EF-26053B2E72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2562225"/>
            <a:ext cx="16764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只影响未配置新设备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1788C1A-7C8E-4CF6-BEDC-275822B72F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952750"/>
            <a:ext cx="59055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8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E5F3AB7-69D4-4C3F-B6AC-8A4E49F72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009900"/>
            <a:ext cx="4762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938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S3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0E14182-B75D-4375-B961-A946E5831A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952750"/>
            <a:ext cx="213360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8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EAFEF69E-BF81-46FC-A1A6-898C84E4B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009900"/>
            <a:ext cx="2019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63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首次连接策略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3E3855A1-817B-4CD8-A621-2ABB0F6DC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2952750"/>
            <a:ext cx="228600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8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87C95523-E4C9-41F9-B703-E125ECD2C4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3009900"/>
            <a:ext cx="21717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USB Consumer + State Service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37F1C1B8-0AE8-4C45-8383-6CB28BA174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2952750"/>
            <a:ext cx="179070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8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3A5A6D9D-1362-4CC0-8256-D3D8767338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3009900"/>
            <a:ext cx="16764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成功后才建黑名单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147B08DD-5FA4-40D2-98D1-5940A99F7D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400425"/>
            <a:ext cx="59055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2D358DDD-FDD5-43BD-8707-4F6F6E5A82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457575"/>
            <a:ext cx="4762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938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S4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D3B738D8-825B-4E8B-A4A0-0B355CF37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400425"/>
            <a:ext cx="213360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6B09DC1F-4AAA-4DB9-9BD2-93C53FE73A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457575"/>
            <a:ext cx="2019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63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在线动态黑白名单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BD9FCB35-8580-4397-BFE5-F71862641E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3400425"/>
            <a:ext cx="228600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8D3A674B-A817-495C-B8A9-B7146236D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3457575"/>
            <a:ext cx="21717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PolicyList + VM + Dispatch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7ADC47B8-2FE9-4B40-B20B-BEE262DEF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3400425"/>
            <a:ext cx="179070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40E1A370-289F-42D5-B4F2-82AD3E15E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3457575"/>
            <a:ext cx="16764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失败保持旧状态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5E5C39C4-F9D0-49EA-B1C5-F8ACE9ABE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48100"/>
            <a:ext cx="59055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8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293F1C1A-3B2F-4B47-A957-6DCFA55FC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905250"/>
            <a:ext cx="4762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938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S5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29CCF5A6-AABE-4CB8-B36C-63A42EA40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848100"/>
            <a:ext cx="213360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8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E2569156-A964-4701-8F05-2B95DC1A3D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905250"/>
            <a:ext cx="2019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63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USB 全局禁用 / 恢复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4C81D5D6-0336-400F-BDBB-776D86873A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3848100"/>
            <a:ext cx="228600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8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BD9F49A1-72CE-4ABA-B361-B800C10BB3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3905250"/>
            <a:ext cx="21717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Global Service + Interface VM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7FDFB933-3DAC-40DF-97BB-8E67E4296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3848100"/>
            <a:ext cx="179070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8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E194FE03-5CDE-4A65-ABCF-48C77C961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3905250"/>
            <a:ext cx="16764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挂起/补偿/重放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186A3F23-E5EF-450C-9AD0-175A2484A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295775"/>
            <a:ext cx="59055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B4E52770-E9ED-410D-8038-3A4F56394C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52925"/>
            <a:ext cx="4762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938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S6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5D6C7686-844F-4BF9-8AD5-4F2F7815ED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295775"/>
            <a:ext cx="213360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67874EEA-7767-4267-9873-130B7BEAE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352925"/>
            <a:ext cx="2019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63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存储策略冲突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270210BD-F816-47C2-A578-3AADC89D2A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4295775"/>
            <a:ext cx="228600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4F56394F-8E33-4D13-9281-3C28CF3C0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4352925"/>
            <a:ext cx="21717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Interface/Policy VM + Dispatch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54FB4E0A-97C6-437C-85D6-505A9ABB9E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4295775"/>
            <a:ext cx="179070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595F52DC-A8DD-4EA0-B3AC-19349A99BC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4352925"/>
            <a:ext cx="16764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9200010 / PARTIAL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EB7EDAEC-CD28-441D-996C-2928D6625E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743450"/>
            <a:ext cx="59055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8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1A12305D-563E-4ACE-BC1D-AEA08D4B0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800600"/>
            <a:ext cx="4762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938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S7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F69A3ED7-DAD9-4E28-8C6C-230836519C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743450"/>
            <a:ext cx="213360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8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A63DEB88-7F53-4BF9-AFCA-29C19AAC16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800600"/>
            <a:ext cx="2019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63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还原与系统残留清理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4443FA27-13C1-4A1A-AD38-1AF46973C0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4743450"/>
            <a:ext cx="228600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8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A0B63443-A385-41CC-A314-E9B01C5C2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4800600"/>
            <a:ext cx="21717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State Service + Dispatch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799923F3-3595-4D4A-ACCA-E3D5EBEFBA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4743450"/>
            <a:ext cx="179070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8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6D4A4214-A0DA-4BF2-A597-483044303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4800600"/>
            <a:ext cx="16764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先清 EDM 后改本地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4DE8CA20-3ED1-41F7-B58B-E267BC53C8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191125"/>
            <a:ext cx="59055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0800ECE6-816B-47F0-974D-B9E5AA339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48275"/>
            <a:ext cx="4762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938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S8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8615C707-5246-41B8-A488-6E04CF4E4F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5191125"/>
            <a:ext cx="213360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9DAAAF8B-16BB-4AE4-86E9-782FE3DCFF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5248275"/>
            <a:ext cx="2019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63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证据闭环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43A3FF38-748E-4B78-A1E9-1E2E323280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5191125"/>
            <a:ext cx="228600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A3CCB2A9-BFAF-475D-99F5-A859CA590B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5248275"/>
            <a:ext cx="21717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UT / E2E / Device</a:t>
            </a:r>
          </a:p>
        </p:txBody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310D7ED0-C4E8-45EC-A254-CCAC2FD502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5191125"/>
            <a:ext cx="179070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957F7330-AFE6-47E1-BF95-8133BB20BC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5248275"/>
            <a:ext cx="16764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D1–D7 分层判定</a:t>
            </a: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B970B70D-6515-4F76-9E92-4BC500560C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1352550"/>
            <a:ext cx="304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依赖关系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72DEFDCE-72D7-42ED-9CAB-FBD1098389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1619250"/>
            <a:ext cx="5905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256D8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E58FB98D-9BA1-40DA-8977-F92AA6333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247900"/>
            <a:ext cx="190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748B"/>
          </a:solidFill>
          <a:ln xmlns:a="http://schemas.openxmlformats.org/drawingml/2006/main" w="11430">
            <a:solidFill>
              <a:srgbClr val="64748B"/>
            </a:solidFill>
            <a:prstDash val="solid"/>
          </a:ln>
        </p:spPr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691EF497-5DD2-4456-92ED-89B674D402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476500"/>
            <a:ext cx="1123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748B"/>
          </a:solidFill>
          <a:ln xmlns:a="http://schemas.openxmlformats.org/drawingml/2006/main" w="11430">
            <a:solidFill>
              <a:srgbClr val="64748B"/>
            </a:solidFill>
            <a:prstDash val="solid"/>
          </a:ln>
        </p:spPr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296E1282-7559-4FEF-9407-49C1461938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2476500"/>
            <a:ext cx="190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748B"/>
          </a:solidFill>
          <a:ln xmlns:a="http://schemas.openxmlformats.org/drawingml/2006/main" w="11430">
            <a:solidFill>
              <a:srgbClr val="64748B"/>
            </a:solidFill>
            <a:prstDash val="solid"/>
          </a:ln>
        </p:spPr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16EFB379-4193-4D5B-BA88-C1D82F6ABD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2590800"/>
            <a:ext cx="2095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82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▼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21D2F1F2-A1A8-4D68-84E3-8667FB222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53700" y="2247900"/>
            <a:ext cx="190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748B"/>
          </a:solidFill>
          <a:ln xmlns:a="http://schemas.openxmlformats.org/drawingml/2006/main" w="11430">
            <a:solidFill>
              <a:srgbClr val="64748B"/>
            </a:solidFill>
            <a:prstDash val="solid"/>
          </a:ln>
        </p:spPr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A5E84B15-A5A2-498E-9D3B-31C4540C53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2476500"/>
            <a:ext cx="1123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748B"/>
          </a:solidFill>
          <a:ln xmlns:a="http://schemas.openxmlformats.org/drawingml/2006/main" w="11430">
            <a:solidFill>
              <a:srgbClr val="64748B"/>
            </a:solidFill>
            <a:prstDash val="solid"/>
          </a:ln>
        </p:spPr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BB693F9C-763A-46D8-B8B4-4B095F89C7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2476500"/>
            <a:ext cx="190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748B"/>
          </a:solidFill>
          <a:ln xmlns:a="http://schemas.openxmlformats.org/drawingml/2006/main" w="11430">
            <a:solidFill>
              <a:srgbClr val="64748B"/>
            </a:solidFill>
            <a:prstDash val="solid"/>
          </a:ln>
        </p:spPr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A28DFEA8-6ABF-4F5C-8697-F69575F47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2590800"/>
            <a:ext cx="2095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82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▼</a:t>
            </a:r>
          </a:p>
        </p:txBody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9E048ECC-2714-45E5-A8B3-3DE6E456D1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3200400"/>
            <a:ext cx="19050" cy="219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748B"/>
          </a:solidFill>
          <a:ln xmlns:a="http://schemas.openxmlformats.org/drawingml/2006/main" w="11430">
            <a:solidFill>
              <a:srgbClr val="64748B"/>
            </a:solidFill>
            <a:prstDash val="solid"/>
          </a:ln>
        </p:spPr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D05CDB47-577C-4E8C-AFA3-E95AEA4829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341947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748B"/>
          </a:solidFill>
          <a:ln xmlns:a="http://schemas.openxmlformats.org/drawingml/2006/main" w="11430">
            <a:solidFill>
              <a:srgbClr val="64748B"/>
            </a:solidFill>
            <a:prstDash val="solid"/>
          </a:ln>
        </p:spPr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5ADDFAB5-E2D3-4913-B79C-199102BD50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3419475"/>
            <a:ext cx="19050" cy="219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748B"/>
          </a:solidFill>
          <a:ln xmlns:a="http://schemas.openxmlformats.org/drawingml/2006/main" w="11430">
            <a:solidFill>
              <a:srgbClr val="64748B"/>
            </a:solidFill>
            <a:prstDash val="solid"/>
          </a:ln>
        </p:spPr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3B14B65D-85D9-4862-8090-720681DE1E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3524250"/>
            <a:ext cx="2095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82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▼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F5370FA8-666A-4F78-B5EC-5BB8554206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4133850"/>
            <a:ext cx="1905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748B"/>
          </a:solidFill>
          <a:ln xmlns:a="http://schemas.openxmlformats.org/drawingml/2006/main" w="11430">
            <a:solidFill>
              <a:srgbClr val="64748B"/>
            </a:solidFill>
            <a:prstDash val="solid"/>
          </a:ln>
        </p:spPr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2BD9D608-5D3B-454C-AB43-F1DF4C90E4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4371975"/>
            <a:ext cx="1123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748B"/>
          </a:solidFill>
          <a:ln xmlns:a="http://schemas.openxmlformats.org/drawingml/2006/main" w="11430">
            <a:solidFill>
              <a:srgbClr val="64748B"/>
            </a:solidFill>
            <a:prstDash val="solid"/>
          </a:ln>
        </p:spPr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53358F55-CDB7-4974-AB49-BCE6505C61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4371975"/>
            <a:ext cx="1905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748B"/>
          </a:solidFill>
          <a:ln xmlns:a="http://schemas.openxmlformats.org/drawingml/2006/main" w="11430">
            <a:solidFill>
              <a:srgbClr val="64748B"/>
            </a:solidFill>
            <a:prstDash val="solid"/>
          </a:ln>
        </p:spPr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7F235B3D-2EC0-49FD-9563-3037B88CE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4495800"/>
            <a:ext cx="2095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82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▼</a:t>
            </a:r>
          </a:p>
        </p:txBody>
      </p:sp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6F44760D-5628-4577-821F-CE733F70DE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4133850"/>
            <a:ext cx="1905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748B"/>
          </a:solidFill>
          <a:ln xmlns:a="http://schemas.openxmlformats.org/drawingml/2006/main" w="11430">
            <a:solidFill>
              <a:srgbClr val="64748B"/>
            </a:solidFill>
            <a:prstDash val="solid"/>
          </a:ln>
        </p:spPr>
      </p:sp>
      <p:sp>
        <p:nvSpPr>
          <p:cNvPr id="99" name="">
            <a:extLst xmlns:a="http://schemas.openxmlformats.org/drawingml/2006/main">
              <a:ext uri="{FF2B5EF4-FFF2-40B4-BE49-F238E27FC236}">
                <a16:creationId xmlns:a16="http://schemas.microsoft.com/office/drawing/2014/main" id="{8A6FF9B6-FAFC-424D-821D-BC3E6D72A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4371975"/>
            <a:ext cx="1123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748B"/>
          </a:solidFill>
          <a:ln xmlns:a="http://schemas.openxmlformats.org/drawingml/2006/main" w="11430">
            <a:solidFill>
              <a:srgbClr val="64748B"/>
            </a:solidFill>
            <a:prstDash val="solid"/>
          </a:ln>
        </p:spPr>
      </p:sp>
      <p:sp>
        <p:nvSpPr>
          <p:cNvPr id="100" name="">
            <a:extLst xmlns:a="http://schemas.openxmlformats.org/drawingml/2006/main">
              <a:ext uri="{FF2B5EF4-FFF2-40B4-BE49-F238E27FC236}">
                <a16:creationId xmlns:a16="http://schemas.microsoft.com/office/drawing/2014/main" id="{4B569CDD-8ACA-46F6-9160-6E14EE081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53700" y="4371975"/>
            <a:ext cx="1905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748B"/>
          </a:solidFill>
          <a:ln xmlns:a="http://schemas.openxmlformats.org/drawingml/2006/main" w="11430">
            <a:solidFill>
              <a:srgbClr val="64748B"/>
            </a:solidFill>
            <a:prstDash val="solid"/>
          </a:ln>
        </p:spPr>
      </p:sp>
      <p:sp>
        <p:nvSpPr>
          <p:cNvPr id="101" name="">
            <a:extLst xmlns:a="http://schemas.openxmlformats.org/drawingml/2006/main">
              <a:ext uri="{FF2B5EF4-FFF2-40B4-BE49-F238E27FC236}">
                <a16:creationId xmlns:a16="http://schemas.microsoft.com/office/drawing/2014/main" id="{32B3B7AF-BB92-408C-8A32-74D6ADC3A9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4495800"/>
            <a:ext cx="2095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82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▼</a:t>
            </a:r>
          </a:p>
        </p:txBody>
      </p:sp>
      <p:sp>
        <p:nvSpPr>
          <p:cNvPr id="102" name="">
            <a:extLst xmlns:a="http://schemas.openxmlformats.org/drawingml/2006/main">
              <a:ext uri="{FF2B5EF4-FFF2-40B4-BE49-F238E27FC236}">
                <a16:creationId xmlns:a16="http://schemas.microsoft.com/office/drawing/2014/main" id="{E5AD0133-DEC3-4E64-9114-223862F6C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53700" y="5105400"/>
            <a:ext cx="190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748B"/>
          </a:solidFill>
          <a:ln xmlns:a="http://schemas.openxmlformats.org/drawingml/2006/main" w="11430">
            <a:solidFill>
              <a:srgbClr val="64748B"/>
            </a:solidFill>
            <a:prstDash val="solid"/>
          </a:ln>
        </p:spPr>
      </p:sp>
      <p:sp>
        <p:nvSpPr>
          <p:cNvPr id="103" name="">
            <a:extLst xmlns:a="http://schemas.openxmlformats.org/drawingml/2006/main">
              <a:ext uri="{FF2B5EF4-FFF2-40B4-BE49-F238E27FC236}">
                <a16:creationId xmlns:a16="http://schemas.microsoft.com/office/drawing/2014/main" id="{ECD79A09-83C8-458A-A77C-90B6768007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53700" y="5295900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748B"/>
          </a:solidFill>
          <a:ln xmlns:a="http://schemas.openxmlformats.org/drawingml/2006/main" w="11430">
            <a:solidFill>
              <a:srgbClr val="64748B"/>
            </a:solidFill>
            <a:prstDash val="solid"/>
          </a:ln>
        </p:spPr>
      </p:sp>
      <p:sp>
        <p:nvSpPr>
          <p:cNvPr id="104" name="">
            <a:extLst xmlns:a="http://schemas.openxmlformats.org/drawingml/2006/main">
              <a:ext uri="{FF2B5EF4-FFF2-40B4-BE49-F238E27FC236}">
                <a16:creationId xmlns:a16="http://schemas.microsoft.com/office/drawing/2014/main" id="{FDAECB31-6AAF-406D-AB7E-67B1841671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53700" y="5295900"/>
            <a:ext cx="190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748B"/>
          </a:solidFill>
          <a:ln xmlns:a="http://schemas.openxmlformats.org/drawingml/2006/main" w="11430">
            <a:solidFill>
              <a:srgbClr val="64748B"/>
            </a:solidFill>
            <a:prstDash val="solid"/>
          </a:ln>
        </p:spPr>
      </p:sp>
      <p:sp>
        <p:nvSpPr>
          <p:cNvPr id="105" name="">
            <a:extLst xmlns:a="http://schemas.openxmlformats.org/drawingml/2006/main">
              <a:ext uri="{FF2B5EF4-FFF2-40B4-BE49-F238E27FC236}">
                <a16:creationId xmlns:a16="http://schemas.microsoft.com/office/drawing/2014/main" id="{5EC49F36-6099-4F0E-B449-9913FFD15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5372100"/>
            <a:ext cx="2095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82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▼</a:t>
            </a:r>
          </a:p>
        </p:txBody>
      </p:sp>
      <p:sp>
        <p:nvSpPr>
          <p:cNvPr id="106" name="">
            <a:extLst xmlns:a="http://schemas.openxmlformats.org/drawingml/2006/main">
              <a:ext uri="{FF2B5EF4-FFF2-40B4-BE49-F238E27FC236}">
                <a16:creationId xmlns:a16="http://schemas.microsoft.com/office/drawing/2014/main" id="{F1716CF8-0818-440B-A95B-D5A2C3DA3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5105400"/>
            <a:ext cx="190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748B"/>
          </a:solidFill>
          <a:ln xmlns:a="http://schemas.openxmlformats.org/drawingml/2006/main" w="11430">
            <a:solidFill>
              <a:srgbClr val="64748B"/>
            </a:solidFill>
            <a:prstDash val="solid"/>
          </a:ln>
        </p:spPr>
      </p:sp>
      <p:sp>
        <p:nvSpPr>
          <p:cNvPr id="107" name="">
            <a:extLst xmlns:a="http://schemas.openxmlformats.org/drawingml/2006/main">
              <a:ext uri="{FF2B5EF4-FFF2-40B4-BE49-F238E27FC236}">
                <a16:creationId xmlns:a16="http://schemas.microsoft.com/office/drawing/2014/main" id="{5816F82C-4091-4F82-A724-1168C888F6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5295900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748B"/>
          </a:solidFill>
          <a:ln xmlns:a="http://schemas.openxmlformats.org/drawingml/2006/main" w="11430">
            <a:solidFill>
              <a:srgbClr val="64748B"/>
            </a:solidFill>
            <a:prstDash val="solid"/>
          </a:ln>
        </p:spPr>
      </p:sp>
      <p:sp>
        <p:nvSpPr>
          <p:cNvPr id="108" name="">
            <a:extLst xmlns:a="http://schemas.openxmlformats.org/drawingml/2006/main">
              <a:ext uri="{FF2B5EF4-FFF2-40B4-BE49-F238E27FC236}">
                <a16:creationId xmlns:a16="http://schemas.microsoft.com/office/drawing/2014/main" id="{04285808-BDBB-46B9-B275-C60CE693B9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5295900"/>
            <a:ext cx="190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748B"/>
          </a:solidFill>
          <a:ln xmlns:a="http://schemas.openxmlformats.org/drawingml/2006/main" w="11430">
            <a:solidFill>
              <a:srgbClr val="64748B"/>
            </a:solidFill>
            <a:prstDash val="solid"/>
          </a:ln>
        </p:spPr>
      </p:sp>
      <p:sp>
        <p:nvSpPr>
          <p:cNvPr id="109" name="">
            <a:extLst xmlns:a="http://schemas.openxmlformats.org/drawingml/2006/main">
              <a:ext uri="{FF2B5EF4-FFF2-40B4-BE49-F238E27FC236}">
                <a16:creationId xmlns:a16="http://schemas.microsoft.com/office/drawing/2014/main" id="{9A193C57-6843-4837-BAD8-CA3EC011FD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5372100"/>
            <a:ext cx="2095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82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▼</a:t>
            </a:r>
          </a:p>
        </p:txBody>
      </p:sp>
      <p:sp>
        <p:nvSpPr>
          <p:cNvPr id="110" name="">
            <a:extLst xmlns:a="http://schemas.openxmlformats.org/drawingml/2006/main">
              <a:ext uri="{FF2B5EF4-FFF2-40B4-BE49-F238E27FC236}">
                <a16:creationId xmlns:a16="http://schemas.microsoft.com/office/drawing/2014/main" id="{CBD31EB0-DFD0-4DA0-9B3A-C606CF0CAD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5734050"/>
            <a:ext cx="685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748B"/>
          </a:solidFill>
          <a:ln xmlns:a="http://schemas.openxmlformats.org/drawingml/2006/main" w="11430">
            <a:solidFill>
              <a:srgbClr val="64748B"/>
            </a:solidFill>
            <a:prstDash val="solid"/>
          </a:ln>
        </p:spPr>
      </p:sp>
      <p:sp>
        <p:nvSpPr>
          <p:cNvPr id="111" name="">
            <a:extLst xmlns:a="http://schemas.openxmlformats.org/drawingml/2006/main">
              <a:ext uri="{FF2B5EF4-FFF2-40B4-BE49-F238E27FC236}">
                <a16:creationId xmlns:a16="http://schemas.microsoft.com/office/drawing/2014/main" id="{BFEA7EA6-5BC2-4AD0-BCE3-18817C825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5638800"/>
            <a:ext cx="152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7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◀</a:t>
            </a:r>
          </a:p>
        </p:txBody>
      </p:sp>
      <p:sp>
        <p:nvSpPr>
          <p:cNvPr id="112" name="">
            <a:extLst xmlns:a="http://schemas.openxmlformats.org/drawingml/2006/main">
              <a:ext uri="{FF2B5EF4-FFF2-40B4-BE49-F238E27FC236}">
                <a16:creationId xmlns:a16="http://schemas.microsoft.com/office/drawing/2014/main" id="{9E8AC72A-35C8-429F-8097-3A7F606B7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1752600"/>
            <a:ext cx="1562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113" name="">
            <a:extLst xmlns:a="http://schemas.openxmlformats.org/drawingml/2006/main">
              <a:ext uri="{FF2B5EF4-FFF2-40B4-BE49-F238E27FC236}">
                <a16:creationId xmlns:a16="http://schemas.microsoft.com/office/drawing/2014/main" id="{A8A2BBA7-DA69-460B-9CA2-A3496A8029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1876425"/>
            <a:ext cx="1409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923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23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S1 身份/状态</a:t>
            </a:r>
          </a:p>
        </p:txBody>
      </p:sp>
      <p:sp>
        <p:nvSpPr>
          <p:cNvPr id="114" name="">
            <a:extLst xmlns:a="http://schemas.openxmlformats.org/drawingml/2006/main">
              <a:ext uri="{FF2B5EF4-FFF2-40B4-BE49-F238E27FC236}">
                <a16:creationId xmlns:a16="http://schemas.microsoft.com/office/drawing/2014/main" id="{94FB185A-64BF-4090-9F6F-65E089AF61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1752600"/>
            <a:ext cx="1562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6F3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115" name="">
            <a:extLst xmlns:a="http://schemas.openxmlformats.org/drawingml/2006/main">
              <a:ext uri="{FF2B5EF4-FFF2-40B4-BE49-F238E27FC236}">
                <a16:creationId xmlns:a16="http://schemas.microsoft.com/office/drawing/2014/main" id="{BFB80A3D-E41B-4AD3-8A85-8964F1F7B2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1876425"/>
            <a:ext cx="1409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923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23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S2 默认</a:t>
            </a:r>
          </a:p>
        </p:txBody>
      </p:sp>
      <p:sp>
        <p:nvSpPr>
          <p:cNvPr id="116" name="">
            <a:extLst xmlns:a="http://schemas.openxmlformats.org/drawingml/2006/main">
              <a:ext uri="{FF2B5EF4-FFF2-40B4-BE49-F238E27FC236}">
                <a16:creationId xmlns:a16="http://schemas.microsoft.com/office/drawing/2014/main" id="{1D4048FD-42FC-41A0-939A-F252484A2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2705100"/>
            <a:ext cx="1562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117" name="">
            <a:extLst xmlns:a="http://schemas.openxmlformats.org/drawingml/2006/main">
              <a:ext uri="{FF2B5EF4-FFF2-40B4-BE49-F238E27FC236}">
                <a16:creationId xmlns:a16="http://schemas.microsoft.com/office/drawing/2014/main" id="{381D2E45-8E3D-4C4B-B580-47D97FF2FB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2828925"/>
            <a:ext cx="1409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923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23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S3 首次连接</a:t>
            </a:r>
          </a:p>
        </p:txBody>
      </p:sp>
      <p:sp>
        <p:nvSpPr>
          <p:cNvPr id="118" name="">
            <a:extLst xmlns:a="http://schemas.openxmlformats.org/drawingml/2006/main">
              <a:ext uri="{FF2B5EF4-FFF2-40B4-BE49-F238E27FC236}">
                <a16:creationId xmlns:a16="http://schemas.microsoft.com/office/drawing/2014/main" id="{5C575C15-D33A-4132-B936-A3447E0DDB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3638550"/>
            <a:ext cx="1562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0EC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119" name="">
            <a:extLst xmlns:a="http://schemas.openxmlformats.org/drawingml/2006/main">
              <a:ext uri="{FF2B5EF4-FFF2-40B4-BE49-F238E27FC236}">
                <a16:creationId xmlns:a16="http://schemas.microsoft.com/office/drawing/2014/main" id="{295C7201-3E1D-4E49-B8F8-355F0007E8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3762375"/>
            <a:ext cx="1409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923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23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S4 动态规则</a:t>
            </a:r>
          </a:p>
        </p:txBody>
      </p:sp>
      <p:sp>
        <p:nvSpPr>
          <p:cNvPr id="120" name="">
            <a:extLst xmlns:a="http://schemas.openxmlformats.org/drawingml/2006/main">
              <a:ext uri="{FF2B5EF4-FFF2-40B4-BE49-F238E27FC236}">
                <a16:creationId xmlns:a16="http://schemas.microsoft.com/office/drawing/2014/main" id="{3E2B46DE-A1C9-4739-805A-DBC56A36AA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4610100"/>
            <a:ext cx="1562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6DE"/>
          </a:solidFill>
          <a:ln xmlns:a="http://schemas.openxmlformats.org/drawingml/2006/main" w="11430">
            <a:solidFill>
              <a:srgbClr val="D99018"/>
            </a:solidFill>
            <a:prstDash val="solid"/>
          </a:ln>
        </p:spPr>
      </p:sp>
      <p:sp>
        <p:nvSpPr>
          <p:cNvPr id="121" name="">
            <a:extLst xmlns:a="http://schemas.openxmlformats.org/drawingml/2006/main">
              <a:ext uri="{FF2B5EF4-FFF2-40B4-BE49-F238E27FC236}">
                <a16:creationId xmlns:a16="http://schemas.microsoft.com/office/drawing/2014/main" id="{EAE18A38-42D6-47DD-8645-9C892F89E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4733925"/>
            <a:ext cx="1409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923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23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rPr>
              <a:t>S5 全局事务</a:t>
            </a:r>
          </a:p>
        </p:txBody>
      </p:sp>
      <p:sp>
        <p:nvSpPr>
          <p:cNvPr id="122" name="">
            <a:extLst xmlns:a="http://schemas.openxmlformats.org/drawingml/2006/main">
              <a:ext uri="{FF2B5EF4-FFF2-40B4-BE49-F238E27FC236}">
                <a16:creationId xmlns:a16="http://schemas.microsoft.com/office/drawing/2014/main" id="{F6627D99-7495-471E-B5C1-DF01848016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4610100"/>
            <a:ext cx="1562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DEEEE"/>
          </a:solidFill>
          <a:ln xmlns:a="http://schemas.openxmlformats.org/drawingml/2006/main" w="11430">
            <a:solidFill>
              <a:srgbClr val="C94747"/>
            </a:solidFill>
            <a:prstDash val="solid"/>
          </a:ln>
        </p:spPr>
      </p:sp>
      <p:sp>
        <p:nvSpPr>
          <p:cNvPr id="123" name="">
            <a:extLst xmlns:a="http://schemas.openxmlformats.org/drawingml/2006/main">
              <a:ext uri="{FF2B5EF4-FFF2-40B4-BE49-F238E27FC236}">
                <a16:creationId xmlns:a16="http://schemas.microsoft.com/office/drawing/2014/main" id="{902EAA50-CBE7-456C-9BE6-F28EB7DEA4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4733925"/>
            <a:ext cx="1409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923" b="1">
                <a:solidFill>
                  <a:srgbClr val="C9474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23" b="1">
                <a:solidFill>
                  <a:srgbClr val="C94747"/>
                </a:solidFill>
                <a:latin typeface="Microsoft YaHei"/>
                <a:ea typeface="Microsoft YaHei"/>
                <a:cs typeface="Microsoft YaHei"/>
              </a:rPr>
              <a:t>S6 存储冲突</a:t>
            </a:r>
          </a:p>
        </p:txBody>
      </p:sp>
      <p:sp>
        <p:nvSpPr>
          <p:cNvPr id="124" name="">
            <a:extLst xmlns:a="http://schemas.openxmlformats.org/drawingml/2006/main">
              <a:ext uri="{FF2B5EF4-FFF2-40B4-BE49-F238E27FC236}">
                <a16:creationId xmlns:a16="http://schemas.microsoft.com/office/drawing/2014/main" id="{D2266B9A-5C31-4F9B-AC8B-5172FE9303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5486400"/>
            <a:ext cx="1562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125" name="">
            <a:extLst xmlns:a="http://schemas.openxmlformats.org/drawingml/2006/main">
              <a:ext uri="{FF2B5EF4-FFF2-40B4-BE49-F238E27FC236}">
                <a16:creationId xmlns:a16="http://schemas.microsoft.com/office/drawing/2014/main" id="{BD162E87-7C66-4B22-9C07-0732FEE22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5610225"/>
            <a:ext cx="1409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923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23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S7 还原</a:t>
            </a:r>
          </a:p>
        </p:txBody>
      </p:sp>
      <p:sp>
        <p:nvSpPr>
          <p:cNvPr id="126" name="">
            <a:extLst xmlns:a="http://schemas.openxmlformats.org/drawingml/2006/main">
              <a:ext uri="{FF2B5EF4-FFF2-40B4-BE49-F238E27FC236}">
                <a16:creationId xmlns:a16="http://schemas.microsoft.com/office/drawing/2014/main" id="{CA87D8FB-AF8C-427A-96C6-228228D4E9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5486400"/>
            <a:ext cx="1562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127" name="">
            <a:extLst xmlns:a="http://schemas.openxmlformats.org/drawingml/2006/main">
              <a:ext uri="{FF2B5EF4-FFF2-40B4-BE49-F238E27FC236}">
                <a16:creationId xmlns:a16="http://schemas.microsoft.com/office/drawing/2014/main" id="{CB925302-DD33-4666-A936-53A1E58FA6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5610225"/>
            <a:ext cx="1409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923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23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S8 证据</a:t>
            </a:r>
          </a:p>
        </p:txBody>
      </p:sp>
      <p:sp>
        <p:nvSpPr>
          <p:cNvPr id="128" name="">
            <a:extLst xmlns:a="http://schemas.openxmlformats.org/drawingml/2006/main">
              <a:ext uri="{FF2B5EF4-FFF2-40B4-BE49-F238E27FC236}">
                <a16:creationId xmlns:a16="http://schemas.microsoft.com/office/drawing/2014/main" id="{FC328ED4-5D75-48BE-B1DB-F410DC8FA2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6057900"/>
            <a:ext cx="3714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129" name="">
            <a:extLst xmlns:a="http://schemas.openxmlformats.org/drawingml/2006/main">
              <a:ext uri="{FF2B5EF4-FFF2-40B4-BE49-F238E27FC236}">
                <a16:creationId xmlns:a16="http://schemas.microsoft.com/office/drawing/2014/main" id="{13ED418C-8A08-4F94-AAD1-05A2D9DA94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6076950"/>
            <a:ext cx="3486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88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8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每个 Story 的伪代码见 04 §4.9</a:t>
            </a:r>
          </a:p>
        </p:txBody>
      </p:sp>
      <p:sp>
        <p:nvSpPr>
          <p:cNvPr id="130" name="">
            <a:extLst xmlns:a="http://schemas.openxmlformats.org/drawingml/2006/main">
              <a:ext uri="{FF2B5EF4-FFF2-40B4-BE49-F238E27FC236}">
                <a16:creationId xmlns:a16="http://schemas.microsoft.com/office/drawing/2014/main" id="{5358ECB6-1A23-48EE-A8B5-91EC52547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620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权威来源：case-materials/mdm/04-Feature与Story拆解.md §3、§4.9</a:t>
            </a:r>
          </a:p>
        </p:txBody>
      </p:sp>
      <p:sp>
        <p:nvSpPr>
          <p:cNvPr id="131" name="">
            <a:extLst xmlns:a="http://schemas.openxmlformats.org/drawingml/2006/main">
              <a:ext uri="{FF2B5EF4-FFF2-40B4-BE49-F238E27FC236}">
                <a16:creationId xmlns:a16="http://schemas.microsoft.com/office/drawing/2014/main" id="{EC90F26B-DAF7-4A60-998C-1C9EB92A66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477000"/>
            <a:ext cx="12954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132" name="">
            <a:extLst xmlns:a="http://schemas.openxmlformats.org/drawingml/2006/main">
              <a:ext uri="{FF2B5EF4-FFF2-40B4-BE49-F238E27FC236}">
                <a16:creationId xmlns:a16="http://schemas.microsoft.com/office/drawing/2014/main" id="{A94610B3-D668-44CD-9046-1B5D668474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6496050"/>
            <a:ext cx="11811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900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REPO FACT</a:t>
            </a:r>
          </a:p>
        </p:txBody>
      </p:sp>
    </p:spTree>
    <p:extLst>
      <p:ext uri="{BB962C8B-B14F-4D97-AF65-F5344CB8AC3E}">
        <p14:creationId xmlns:p14="http://schemas.microsoft.com/office/powerpoint/2010/main" val="1738003839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F87257C3-8959-4351-9EBF-A2DF3CD176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14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03 MDM 案例｜真实交付链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E2E3D13-FE56-4B47-83E1-2081CD911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1714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20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07E59D0-6CB0-48AC-B5C4-4F97285D1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9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Story 必须写到伪代码：先冻结提交顺序和失败分支，再映射到 ArkTS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8A90E16-2ABC-4482-8AF0-CBB31DBE7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66775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示例 S5：伪代码与 Worker Packet 使用同一组真实类、RED、allowed paths 和停止条件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46D8CF6-FA65-4D43-87D4-093743F54A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52525"/>
            <a:ext cx="111633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A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EF8DF99-A2FB-46E1-8D08-BB827CDD1E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52550"/>
            <a:ext cx="6819900" cy="476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8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5836B77-0358-4541-A27F-54DBB7AA72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447800"/>
            <a:ext cx="6553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04-Feature与Story拆解.md §4.9 → S5 伪代码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FA606F0-1342-4AE1-8435-1B879E880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714500"/>
            <a:ext cx="5143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644A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B42C1AD-C971-4280-B6C1-AE28DCB21D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809750"/>
            <a:ext cx="6553200" cy="421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setGlobalUsbDisabled(disallow):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if disallow: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  snapshot = states where present &amp;&amp; active == deny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  suspended = suspend(snapshot)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  if suspended failed: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    compensate(suspended)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    return FAIL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  result = restrictions.set("usb", disabled)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  if result failed: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    compensate(suspended)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    return FAIL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  commit active = none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  keep desired unchanged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  return SUCCESS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result = restrictions.set("usb", enabled)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if result failed: return FAIL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online = boundedReEnumerate(500ms, then 1000ms if empty)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replay deny for online where desired == deny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return SUCCESS or PARTIAL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9098734-9919-4944-B8C4-BD692A62D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1390650"/>
            <a:ext cx="304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Worker Packet 约束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B01C237-311A-460B-A971-082B3BD210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1657350"/>
            <a:ext cx="5905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78D0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4BC9B70-4B0A-4AEC-84DC-D6C62E26A2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1771650"/>
            <a:ext cx="38290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1CC2AFE-6CB3-46F0-BCBD-95DB5C982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1771650"/>
            <a:ext cx="6858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78D0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840D977-6AB4-4798-A0BA-79E625343F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1924050"/>
            <a:ext cx="609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863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READ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ED42CE8-E51B-408E-BEEC-2CB0C0BC3F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1847850"/>
            <a:ext cx="28956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5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5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RFC §7 + Story S5 + progress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D0D3D49-2BCA-4E87-A8B0-F0A849866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2457450"/>
            <a:ext cx="38290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0EC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D80C906-5C56-4936-82F5-E4E4644245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2457450"/>
            <a:ext cx="6858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644A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D232ADB-CDDB-4AFC-95DA-108831ACE1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2609850"/>
            <a:ext cx="609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863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RED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246CB54-81F0-4711-9E5B-8AEA314E02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2533650"/>
            <a:ext cx="28956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5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5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第 2 条 suspend 失败 → 第 1 条必须补偿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F3FDAEE-C9BC-44F8-AF26-116CF47F4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3143250"/>
            <a:ext cx="38290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6F3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EBAE3A7-D140-41A6-9089-292831017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3143250"/>
            <a:ext cx="6858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8C82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A5990D5-7FD9-47F4-A47A-29422F69C3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3295650"/>
            <a:ext cx="609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863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ALLOW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950B8FD-46A2-4CFF-928E-3950CBFF4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3219450"/>
            <a:ext cx="28956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5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5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UsbGlobalPolicyService / StateService / 对应 UT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39110D5-EF79-4FE3-A849-CBEE3E8281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3829050"/>
            <a:ext cx="38290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5AED1C2-883B-4336-B25D-0D0CE50E86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3829050"/>
            <a:ext cx="6858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256D8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D08AFD0-DB30-40A0-B7C1-1D5D18B52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3981450"/>
            <a:ext cx="609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863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FORBID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81D0E91-C65C-46F5-BF72-9982A92C8F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3905250"/>
            <a:ext cx="28956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5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5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不改 View；不改默认名单；不新增 global 镜像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FC6AA00-78EE-4D09-B1FD-9D4111666E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4514850"/>
            <a:ext cx="38290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E8266DD-6CC0-43DA-A657-28494534B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4514850"/>
            <a:ext cx="6858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8A58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E2EA350-C8D0-4A69-88C5-00B5BD3E48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4667250"/>
            <a:ext cx="609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863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DONE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DE045E5-1629-4160-BD01-E56E05E67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4591050"/>
            <a:ext cx="28956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5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5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顺序 UT + restrictions 回读 + 实物；缺失标 PENDING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AA59492A-AAE8-4F91-8F3B-242F35CB4E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5200650"/>
            <a:ext cx="38290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6DE"/>
          </a:solidFill>
          <a:ln xmlns:a="http://schemas.openxmlformats.org/drawingml/2006/main" w="11430">
            <a:solidFill>
              <a:srgbClr val="D99018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BB5CA6D-37DB-4CA5-8009-870929EB15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5200650"/>
            <a:ext cx="6858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9018"/>
          </a:solidFill>
          <a:ln xmlns:a="http://schemas.openxmlformats.org/drawingml/2006/main" w="11430">
            <a:solidFill>
              <a:srgbClr val="D99018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1CFF1810-AD18-451B-8687-B9CE97226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5353050"/>
            <a:ext cx="609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863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STOP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9CB7C03A-715C-47D5-BB01-4150245EB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5276850"/>
            <a:ext cx="28956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5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5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需要越界或平台粒度需产品决策 → NEEDS_REPLAN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65AA70EE-00B4-4F80-A734-383C3F618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5943600"/>
            <a:ext cx="38290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8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83E1672B-B654-487D-85CD-F4BB8B266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5972175"/>
            <a:ext cx="3562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91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1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代码提交只实现伪代码，不重新发明规则。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64D07D21-3F7D-4E3A-AFE8-81AFCEBFA9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620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伪代码与 Packet：case-materials/mdm/04-Feature与Story拆解.md；实现：UsbGlobalPolicyService.ets:18–49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CF01F2EB-10F1-4F44-AD25-229B5915F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477000"/>
            <a:ext cx="12954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A387FBAB-328B-478E-90CE-DCB8ACC5D8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6496050"/>
            <a:ext cx="11811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900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REPO FACT</a:t>
            </a:r>
          </a:p>
        </p:txBody>
      </p:sp>
    </p:spTree>
    <p:extLst>
      <p:ext uri="{BB962C8B-B14F-4D97-AF65-F5344CB8AC3E}">
        <p14:creationId xmlns:p14="http://schemas.microsoft.com/office/powerpoint/2010/main" val="1300495815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0D2C2C06-6E14-4AF7-8962-7BAFB73DF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14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03 MDM 案例｜真实交付链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2F2AEC8-45C4-4CFD-AD2E-9E7DB22A9A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1714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21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CDFBE1F-99D8-4DFB-9EA1-85A74521E9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Ralph 一轮只收敛一个未知：失败必须变成证据、规则和下一轮入口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7140EBE-B707-46CE-8404-03E46CDD6C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66775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循环不是“继续改”，而是 READ → RED → 最小修改 → 独立验证 → 写回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DBE52A6-4121-4099-B6F9-474174C91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52525"/>
            <a:ext cx="111633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A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8BAD7A6-25EE-4ADB-80EE-9734283948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9550" y="1028700"/>
            <a:ext cx="1981200" cy="762000"/>
          </a:xfrm>
          <a:prstGeom xmlns:a="http://schemas.openxmlformats.org/drawingml/2006/main" prst="roundRect">
            <a:avLst>
              <a:gd name="adj" fmla="val 15000"/>
            </a:avLst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3B45D3C-2AB4-4F9A-B4F1-9CAC82ECD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1114425"/>
            <a:ext cx="17907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READ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49B24A6-C2E6-4CA7-B1A0-65191373F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1371600"/>
            <a:ext cx="1790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RFC + Story + progress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8294F79-02EF-4E8C-80E8-58DC2EFBA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4218" y="1933575"/>
            <a:ext cx="1981200" cy="762000"/>
          </a:xfrm>
          <a:prstGeom xmlns:a="http://schemas.openxmlformats.org/drawingml/2006/main" prst="roundRect">
            <a:avLst>
              <a:gd name="adj" fmla="val 15000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4CD9C3E-B930-40F0-84B6-C75CDD25FA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9468" y="2019300"/>
            <a:ext cx="17907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HYPOTHESIS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A9053A5-70A4-4DA0-ABC0-788D8EBE85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9468" y="2276475"/>
            <a:ext cx="1790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写一个可证伪假设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043A403-B9AC-4604-863C-9A172DA23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4218" y="3743325"/>
            <a:ext cx="1981200" cy="762000"/>
          </a:xfrm>
          <a:prstGeom xmlns:a="http://schemas.openxmlformats.org/drawingml/2006/main" prst="roundRect">
            <a:avLst>
              <a:gd name="adj" fmla="val 15000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5BD8C8F-CA8A-4A32-BBFA-F56A295E4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9468" y="3829050"/>
            <a:ext cx="17907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RED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3E83E7D-F139-430D-88EF-66DF657D60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9468" y="4086225"/>
            <a:ext cx="1790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用独立 oracle 制造失败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6CE4A7B-0D11-4354-A5BB-E290F7E87B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9550" y="4648200"/>
            <a:ext cx="1981200" cy="762000"/>
          </a:xfrm>
          <a:prstGeom xmlns:a="http://schemas.openxmlformats.org/drawingml/2006/main" prst="roundRect">
            <a:avLst>
              <a:gd name="adj" fmla="val 15000"/>
            </a:avLst>
          </a:prstGeom>
          <a:solidFill xmlns:a="http://schemas.openxmlformats.org/drawingml/2006/main">
            <a:srgbClr val="FFF6DE"/>
          </a:solidFill>
          <a:ln xmlns:a="http://schemas.openxmlformats.org/drawingml/2006/main" w="11430">
            <a:solidFill>
              <a:srgbClr val="D99018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E02FCEE-5B98-4BA5-9A5E-638843686B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4733925"/>
            <a:ext cx="17907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rPr>
              <a:t>MIN DIFF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630A833-3FE6-49C9-BE02-D494A6D26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4991100"/>
            <a:ext cx="1790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只改 allowed scope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1683A55-9D5A-43E6-84CC-0B549CE549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4882" y="3743325"/>
            <a:ext cx="1981200" cy="762000"/>
          </a:xfrm>
          <a:prstGeom xmlns:a="http://schemas.openxmlformats.org/drawingml/2006/main" prst="roundRect">
            <a:avLst>
              <a:gd name="adj" fmla="val 15000"/>
            </a:avLst>
          </a:prstGeom>
          <a:solidFill xmlns:a="http://schemas.openxmlformats.org/drawingml/2006/main">
            <a:srgbClr val="E8F6F3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A89D4CC-CC0F-401F-94C0-E04E67FDD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0132" y="3829050"/>
            <a:ext cx="17907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VERIFY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17E3AA8-AF10-45D1-8E57-5D46554D51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0132" y="4086225"/>
            <a:ext cx="1790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UT → E2E → readback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1EC327D-8F02-4A48-A1A2-E6188D805B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4882" y="1933575"/>
            <a:ext cx="1981200" cy="762000"/>
          </a:xfrm>
          <a:prstGeom xmlns:a="http://schemas.openxmlformats.org/drawingml/2006/main" prst="roundRect">
            <a:avLst>
              <a:gd name="adj" fmla="val 15000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89ABF97-B7C8-407A-A594-E190687B6D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0132" y="2019300"/>
            <a:ext cx="17907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RECORD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0613C50-0069-496A-8F0A-4D772E48B3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0132" y="2276475"/>
            <a:ext cx="1790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结论 / 证据 / 下一轮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9F06F01-B8BF-41A5-B7FC-B45DC70E91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2781300"/>
            <a:ext cx="2247900" cy="11049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F4AC8DD-E028-4526-8084-577AFBBC61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2952750"/>
            <a:ext cx="18288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一个未知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一个 Oracle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一个 Stop 决策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6F68DF6-422D-4DC0-B4D9-99145FDE04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1676400"/>
            <a:ext cx="2857500" cy="1181100"/>
          </a:xfrm>
          <a:prstGeom xmlns:a="http://schemas.openxmlformats.org/drawingml/2006/main" prst="roundRect">
            <a:avLst>
              <a:gd name="adj" fmla="val 96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5E31148-1C20-4BFE-98EC-37DC189133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1790700"/>
            <a:ext cx="1428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65DEBDB-3F4C-4595-BCFE-362DD62BBD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1800225"/>
            <a:ext cx="1314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继续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A4FB41F-C4BC-4279-8E53-5D0A98BCA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2525" y="2133600"/>
            <a:ext cx="2571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98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98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出现新反例；当前失败仍在范围；下一步能推翻假设。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3861CEB-E036-4F95-9095-52651B7FE5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3086100"/>
            <a:ext cx="2857500" cy="1181100"/>
          </a:xfrm>
          <a:prstGeom xmlns:a="http://schemas.openxmlformats.org/drawingml/2006/main" prst="roundRect">
            <a:avLst>
              <a:gd name="adj" fmla="val 96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B2EDD17-42FE-4DC9-84C0-D04B35E59B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3200400"/>
            <a:ext cx="1428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6DA32022-8BE5-40F7-A57E-DA93253C89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3209925"/>
            <a:ext cx="1314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停止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9E82A30-7AE4-4164-BF7D-3D598E88D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2525" y="3543300"/>
            <a:ext cx="2571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98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98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AC 已满足；同一失败无新证据；需要越界。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69C2A94-DA77-4889-8887-4AD965803F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4495800"/>
            <a:ext cx="2857500" cy="1181100"/>
          </a:xfrm>
          <a:prstGeom xmlns:a="http://schemas.openxmlformats.org/drawingml/2006/main" prst="roundRect">
            <a:avLst>
              <a:gd name="adj" fmla="val 96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F2066D89-AF5C-4314-894F-60B0947CD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4610100"/>
            <a:ext cx="1428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6DE"/>
          </a:solidFill>
          <a:ln xmlns:a="http://schemas.openxmlformats.org/drawingml/2006/main" w="11430">
            <a:solidFill>
              <a:srgbClr val="D99018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0776D231-960B-4596-A846-FE1512A298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4619625"/>
            <a:ext cx="1314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rPr>
              <a:t>升级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92540DCF-0C60-435E-A847-10584F4E3A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2525" y="4953000"/>
            <a:ext cx="2571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98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98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需要真机、系统 readback 或产品口径；标 UNKNOWN/PENDING。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D04FB058-46F9-43C2-8FAE-F884618B1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753100"/>
            <a:ext cx="742950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1F4F8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5905CAD0-840A-4788-9E0F-B375208CCC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819775"/>
            <a:ext cx="716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53" b="1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53" b="1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progress.md：round · hypothesis · action · command · result · evidence · gaps · next · stop_reason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AE34E5A9-6671-482E-B779-405D45A697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620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真实运行账：case-materials/mdm/05-Ralph迭代运行账.md；Session 证据：13-本地Session真实问题证据卡.md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7EA4F435-621B-4594-AC16-152514F284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477000"/>
            <a:ext cx="12954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A848EC33-BA76-4433-B345-8DDEBA9425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6486525"/>
            <a:ext cx="1181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REPO FACT</a:t>
            </a:r>
          </a:p>
        </p:txBody>
      </p:sp>
    </p:spTree>
    <p:extLst>
      <p:ext uri="{BB962C8B-B14F-4D97-AF65-F5344CB8AC3E}">
        <p14:creationId xmlns:p14="http://schemas.microsoft.com/office/powerpoint/2010/main" val="1965786813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E0DF2E23-2623-4961-AC88-FC06110C66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14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03 MDM 案例｜真实交付链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BF4F45A-F7FD-41C7-BD59-79F45FA37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1714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22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D655856-AE9D-479A-943B-0D9D04416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9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先改文档再提交：每个模块必须留下一张可反向追踪的 Change Ledger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2DFC26A-1C86-491C-92B3-7E9588CACE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66775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文档提交冻结契约，代码提交实现契约；新反例出现时先回写文档，再开启下一轮代码修改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507FCB5-A5E7-4EC7-924C-66E09E6FF0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52525"/>
            <a:ext cx="111633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A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E2EBD0F-5EA9-4478-BD11-AE134FEC5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52550"/>
            <a:ext cx="304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模块修改时序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D2D0F7E-0E0D-4A8F-9030-974BEC204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619250"/>
            <a:ext cx="5905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256D8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CD7E284-3256-49E6-A187-F9313F2FA8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924050"/>
            <a:ext cx="19050" cy="2647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A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1FE410D-3513-47DC-9F3B-4E253081E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1924050"/>
            <a:ext cx="19050" cy="2647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A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C0689C6-B350-4FBC-83A5-D2C3E8D06F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1924050"/>
            <a:ext cx="19050" cy="2647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A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3963EC5-7506-40FE-B2E1-0674C7B848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1924050"/>
            <a:ext cx="19050" cy="2647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A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B5AB29E-4287-4C2B-ACDB-85ED92C75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1924050"/>
            <a:ext cx="19050" cy="2647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A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C4AA01A-AEE7-4F32-9180-88A23C40A2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77550" y="1924050"/>
            <a:ext cx="19050" cy="2647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A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2C97F25-59A1-44C4-A5D2-9233302680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190750"/>
            <a:ext cx="19621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644A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460238E-B7EF-432F-8567-D1733B834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2095500"/>
            <a:ext cx="152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750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▶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2077935-5B0A-45F9-87BC-AF909069C5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1971675"/>
            <a:ext cx="184785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81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1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1 更新规则/状态/验收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7574001-9FBC-4060-BC71-462C1A5FF1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2590800"/>
            <a:ext cx="19621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256D8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4685254-D5A2-4800-88D6-128F0FA077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2495550"/>
            <a:ext cx="152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750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▶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11AFC42-1BB0-450E-A68E-F96481E88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2371725"/>
            <a:ext cx="184785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81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1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2 写伪代码、RED、AC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3576D42-8A35-4C15-9E80-3BACF26ED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990850"/>
            <a:ext cx="9810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9018"/>
          </a:solidFill>
          <a:ln xmlns:a="http://schemas.openxmlformats.org/drawingml/2006/main" w="11430">
            <a:solidFill>
              <a:srgbClr val="D99018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C31D537-BB2B-4521-954B-03A7923C33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25150" y="2895600"/>
            <a:ext cx="152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750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rPr>
              <a:t>▶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0036519-5780-496F-B282-727410B104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771775"/>
            <a:ext cx="969645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81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1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3 docs(module): freeze contract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B59A098-A1E8-4823-B407-F2EF0A92F1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3390900"/>
            <a:ext cx="19621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8C82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9266CB6-937E-459A-AA9D-8EF0E0E473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3295650"/>
            <a:ext cx="152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750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▶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9B06F97-DF2B-46B7-82D4-674C6C558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3171825"/>
            <a:ext cx="184785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81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1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4 冻结 Packet → 最小 Diff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C4EBD24-7455-44E1-A368-73BDA0C097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3790950"/>
            <a:ext cx="19621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8A58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B183AD2-CC48-4D6A-A37C-348ED8EDE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3695700"/>
            <a:ext cx="152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750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▶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CFEEC08-2BAA-4666-B677-F51A8E13C8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3571875"/>
            <a:ext cx="184785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81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1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5 RED → GREEN → readback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8C135F0-17B2-4EE0-AD7D-2DC7AADAFB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4191000"/>
            <a:ext cx="19621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9018"/>
          </a:solidFill>
          <a:ln xmlns:a="http://schemas.openxmlformats.org/drawingml/2006/main" w="11430">
            <a:solidFill>
              <a:srgbClr val="D99018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1268209-15AF-4B8F-9F13-EF7C9DBA93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25150" y="4095750"/>
            <a:ext cx="152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750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rPr>
              <a:t>▶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330BD07-C2C8-4A86-A0F5-7164C0C763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3971925"/>
            <a:ext cx="184785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81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1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6 code commit + evidence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2D7510B-CC12-4CD3-BEA4-BF56F6E7A4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581150"/>
            <a:ext cx="14859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FEA0173-AE15-437F-AD07-DF7AC7B81D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657350"/>
            <a:ext cx="1371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900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人 / Reviewer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B30BD46-62B5-45FA-B4D1-60F44BDBCB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1581150"/>
            <a:ext cx="14859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0EC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6C9B6ABD-41CB-4295-8CE9-05E9C7DD55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1657350"/>
            <a:ext cx="1371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900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模块设计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6CA39472-637F-423D-946A-1E628DA0D4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1581150"/>
            <a:ext cx="14859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5B69DE96-A63D-4797-B6E2-5E4073ED1E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1657350"/>
            <a:ext cx="1371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900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Story / 伪代码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8566A3D1-EBF6-41C9-A8ED-36393DE25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1581150"/>
            <a:ext cx="14859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6F3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DC2D088D-D6E7-47B2-B576-A89CDABA0A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1657350"/>
            <a:ext cx="1371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900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AI Session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C3F3D583-1498-436A-946F-E19232CD9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1581150"/>
            <a:ext cx="14859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0E3304E6-B152-4032-947C-865891126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1657350"/>
            <a:ext cx="1371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900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Test / Device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F216CF67-E7BB-400A-9B77-CED2DD6C74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34600" y="1581150"/>
            <a:ext cx="14859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6DE"/>
          </a:solidFill>
          <a:ln xmlns:a="http://schemas.openxmlformats.org/drawingml/2006/main" w="11430">
            <a:solidFill>
              <a:srgbClr val="D99018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5950222A-2FB0-4C9E-88BE-430C59434F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1657350"/>
            <a:ext cx="1371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900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rPr>
              <a:t>Git / Ledger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3FE85B04-5F33-4656-A7EE-C90404343C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4514850"/>
            <a:ext cx="77343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0EC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98284E89-6957-41D0-BD10-C7001AA51C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4543425"/>
            <a:ext cx="7467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88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8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新反例推翻规则：先更新模块设计 / Story，再产生下一次 docs commit；禁止只在 Session 里口头修正。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C763E00A-E6E8-4202-96BF-EE59ADC00C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953000"/>
            <a:ext cx="304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每模块记录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E5360080-2479-4293-A7AD-C6C9422773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219700"/>
            <a:ext cx="5905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78D0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9BC87590-8B9F-4A95-ADF2-6A5478DD0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314950"/>
            <a:ext cx="720090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8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700BE3AD-EE55-47D2-9C46-E65EFA14B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410200"/>
            <a:ext cx="6934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Module Change Ledger（示例）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31A866DF-7B29-4FFC-96F7-AB29FE0925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676900"/>
            <a:ext cx="5143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78D0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3262FB2B-D326-490B-A72D-570565DF92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772150"/>
            <a:ext cx="69342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t">
            <a:normAutofit fontScale="88277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8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88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module: peripheral/interface-control  story: S5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88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88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doc_commit: &lt;hash&gt;  implementation_commit: &lt;hash&gt;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88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88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tests: usb-global-policy-service.test.ets = PASS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88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88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evidence: restrictions=PENDING  physical=PENDING  verdict=PARTIAL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82B9127D-512C-4DD9-BF02-BC319A5FAE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5314950"/>
            <a:ext cx="350520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98388EDC-494B-4420-9F41-D285239B5D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541020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013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13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rPr>
              <a:t>提交顺序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41450219-F59A-4660-964D-3EFB9DD44C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5657850"/>
            <a:ext cx="31813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23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23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① docs(module) 冻结契约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923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23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② feat/fix(module) 最小实现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923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23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③ test(module) 回写设备证据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21B3A788-D6AC-435D-8CAA-9C3DF82E7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620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完整协议：case-materials/mdm/14-文档先行与模块提交协议.md；Story 伪代码：04-Feature与Story拆解.md §4.9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1E1586CD-D55F-4ED0-97E8-8E42097998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477000"/>
            <a:ext cx="12954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EEE16CA7-D356-4C5A-9A7A-FA2DEB2872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6496050"/>
            <a:ext cx="11811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900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REPO FACT</a:t>
            </a:r>
          </a:p>
        </p:txBody>
      </p:sp>
    </p:spTree>
    <p:extLst>
      <p:ext uri="{BB962C8B-B14F-4D97-AF65-F5344CB8AC3E}">
        <p14:creationId xmlns:p14="http://schemas.microsoft.com/office/powerpoint/2010/main" val="1671222965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E8997A78-1447-4717-9DF6-A3C57CD73C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14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03 MDM 案例｜真实交付链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6309171-5B64-4F68-92A1-9B17DC38DC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1714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23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528BD92-69C4-45D3-97CB-7EE5684AB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真实问题 1：页面已启用 USB，为什么改存储模式仍报 9200010？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8AE41CE-FFFC-4457-A779-FA0D06335F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66775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从 UI 结论继续向下穿刺，最终发现 EDM 里残留了 baseClass=3 的类型级 deny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3141017-C936-4649-9298-1BC73B9B5A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52525"/>
            <a:ext cx="111633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A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B1FC76F-33A9-43AB-99A7-F49DD6876A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71600"/>
            <a:ext cx="4648200" cy="2286000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2D565A8-E7EF-4A24-802D-CD1DDF1E4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4668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设备 Session / EDM 证据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7031E8A-CAF5-4C84-909C-8CE0EC1DFD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733550"/>
            <a:ext cx="5143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644A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27CF910-1DF3-420A-B1C3-52AB8296D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828800"/>
            <a:ext cx="4381500" cy="1733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3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3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UI: USB 总接口 = 启用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3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3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Action: USB 存储 禁止访问 → 读写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3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3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Result: error 9200010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3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3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EDM policy: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3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3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policy_name = disallowed_usb_devices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3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3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baseClass = 3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3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3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subClass = 0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3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3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protocol = 0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3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3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descriptor = INTERFACE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4751985-B19F-41C6-AE6B-E66CBA2E3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13906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错误假设 → 真实根因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4DDB46E-9107-44DA-BD70-09FB54995F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1657350"/>
            <a:ext cx="5905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256D8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8D4DB04-9CFD-4303-9F1B-940E794EE1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1809750"/>
            <a:ext cx="135255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7F7EDF0-6E7D-46B4-9956-C4987BC15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1895475"/>
            <a:ext cx="1162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页面 allow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CC9F6ED-B0FA-4FCB-B38D-84BD8CF407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2152650"/>
            <a:ext cx="11620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只证明本地 intent / UI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08609C5-1373-47A4-896E-8F06DD619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2133600"/>
            <a:ext cx="152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73111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68F7017-AA25-4885-B69D-99E226203D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1809750"/>
            <a:ext cx="135255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47809A0-6198-4383-BCEB-4889B4AF6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1895475"/>
            <a:ext cx="1162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active=none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41A2C12-BBA8-4976-A4DC-2D63E76DE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2152650"/>
            <a:ext cx="11620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也不能证明 EDM 已清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BB005BE-36FD-446B-A1DF-F4F190425B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2133600"/>
            <a:ext cx="152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73111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C2072C9-2681-46DC-898A-EB25AAE10E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1809750"/>
            <a:ext cx="135255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8B2EF52-2C3E-49F9-8072-AAB1437AA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1895475"/>
            <a:ext cx="1162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88273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EDM baseClass=3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21DE4A4-7AD1-4F95-8907-C2675B7D35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2152650"/>
            <a:ext cx="11620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历史 HID deny 仍在系统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47604A1-E3B2-4476-B4F4-560A36CAEF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133600"/>
            <a:ext cx="152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73111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03C2202-3972-4D27-9447-82839B445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1809750"/>
            <a:ext cx="135255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FF6DE"/>
          </a:solidFill>
          <a:ln xmlns:a="http://schemas.openxmlformats.org/drawingml/2006/main" w="11430">
            <a:solidFill>
              <a:srgbClr val="D99018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1A2D6F6-216B-4D3E-A340-B9CE8DDF9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1895475"/>
            <a:ext cx="1162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rPr>
              <a:t>9200010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79E4C25-05BB-4A24-8872-4805994CF9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2152650"/>
            <a:ext cx="11620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存储策略与残留规则冲突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CF8DEFA-EF24-40A9-98CD-99536F021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9433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修复协议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605AAA5-426D-453A-BE1B-9B45287F28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210050"/>
            <a:ext cx="5905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8A58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F978E2F-1992-469F-8C0B-DBF73828D2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324350"/>
            <a:ext cx="2400300" cy="8001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5D5E5EA-6476-4C05-9DA1-F4C103BF69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410075"/>
            <a:ext cx="2209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1 Read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31F4D14-7059-4F93-9C5C-3A4ABED0AF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667250"/>
            <a:ext cx="2209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getDisallowedUsbDevices()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9C409C4-E87F-4DF6-895A-A24215C718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4572000"/>
            <a:ext cx="28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D1F30DD-E26E-48EB-8FFD-59604D77F7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4324350"/>
            <a:ext cx="2400300" cy="8001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ABD6BC7-A115-4146-9095-4092629652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4410075"/>
            <a:ext cx="2209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2 Clear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0CE7529-3D6B-43C9-B5BC-BA1E6D6F9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4667250"/>
            <a:ext cx="2209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remove 系统类型残留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EBD31344-9CC6-49C8-A854-C963D27ED6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4572000"/>
            <a:ext cx="28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D1366C69-5DDF-45B0-B7D6-E29A44B3C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4324350"/>
            <a:ext cx="2400300" cy="8001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55487FDE-09D6-4A92-901B-95B3BB3C8B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4410075"/>
            <a:ext cx="2209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3 Persist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717415DB-46F4-4021-8426-7E21FE8F75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4667250"/>
            <a:ext cx="2209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local allow / active none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168EB0E6-C282-4EB1-B7FB-30834C414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4572000"/>
            <a:ext cx="28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EB872F45-41D3-4A7C-BC28-BB5150295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4324350"/>
            <a:ext cx="2400300" cy="8001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D69B383D-82A0-4631-9962-88AAD0CBC7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4410075"/>
            <a:ext cx="2209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4 Verify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04C9B15D-CEA1-4E5F-8CF2-DC1BC04CF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4667250"/>
            <a:ext cx="2209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系统列表 + UI + 实物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6C915FB6-0B16-46E0-9E90-0259442C49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391150"/>
            <a:ext cx="10915650" cy="704850"/>
          </a:xfrm>
          <a:prstGeom xmlns:a="http://schemas.openxmlformats.org/drawingml/2006/main" prst="roundRect">
            <a:avLst>
              <a:gd name="adj" fmla="val 16216"/>
            </a:avLst>
          </a:prstGeom>
          <a:solidFill xmlns:a="http://schemas.openxmlformats.org/drawingml/2006/main">
            <a:srgbClr val="F1F4F8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93A7783D-4BA2-4B22-B021-960C6BEAD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14975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新不变量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C198C0B0-B710-4A68-AE70-50D5FF3CF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7850" y="5476875"/>
            <a:ext cx="93154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页面 allow ≠ Policy State active=none ≠ EDM 无 deny ≠ 设备最终可用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24BAC3E4-08EF-41EC-A4A1-F42D08954B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620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真实证据：13-本地Session真实问题证据卡.md#9200010；05-Ralph迭代运行账.md#R11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F58AFE09-77D0-4F67-942E-FE680303DA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477000"/>
            <a:ext cx="12954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6CFBF90C-DB4F-4327-93A2-D990C50B6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6486525"/>
            <a:ext cx="1181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RUN FACT</a:t>
            </a:r>
          </a:p>
        </p:txBody>
      </p:sp>
    </p:spTree>
    <p:extLst>
      <p:ext uri="{BB962C8B-B14F-4D97-AF65-F5344CB8AC3E}">
        <p14:creationId xmlns:p14="http://schemas.microsoft.com/office/powerpoint/2010/main" val="13539628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0709B404-4D34-417C-9E9E-3B17327E35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14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03 MDM 案例｜真实交付链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DAF813B-CCB2-464D-9040-9E3B46218C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1714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24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A1E8EA3-AFC9-4A3F-B555-01897EBD80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真实问题 2：API 报 9200007，但 getter 已经变成读写——到底算成功还是失败？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01943A6-146F-4E17-B27B-34EE01C96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66775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复杂系统不能只看返回码；必须把参数提交、运行态切换和最终行为分开判定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D98194F-B625-49C2-8EF7-40D3780120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52525"/>
            <a:ext cx="111633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A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09FD316-FFC4-4A6E-A6E0-7EFAF7404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525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同一次操作的证据时间线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E5FCA0D-64E1-4610-AA58-3DD693FD8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19250"/>
            <a:ext cx="5905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644A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361E6AE-E3D2-4E2B-998E-6C02023517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752600"/>
            <a:ext cx="2400300" cy="952500"/>
          </a:xfrm>
          <a:prstGeom xmlns:a="http://schemas.openxmlformats.org/drawingml/2006/main" prst="roundRect">
            <a:avLst>
              <a:gd name="adj" fmla="val 12000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CFD46FE-D0AD-446D-8E49-A4F94FBDC6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838325"/>
            <a:ext cx="2209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T1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1DB0BEE-7EEB-4CE2-9CFD-E3C210C2B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095500"/>
            <a:ext cx="22098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readonly value:false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目标参数已写入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80A11F5-51FD-4A18-80AD-C1C895808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2085975"/>
            <a:ext cx="28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BDF306B-DEB0-4F95-949B-CE0CDC0518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1752600"/>
            <a:ext cx="2400300" cy="952500"/>
          </a:xfrm>
          <a:prstGeom xmlns:a="http://schemas.openxmlformats.org/drawingml/2006/main" prst="roundRect">
            <a:avLst>
              <a:gd name="adj" fmla="val 12000"/>
            </a:avLst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4BD91F2-48AB-4464-A749-C2E71FDAD9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1838325"/>
            <a:ext cx="2209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T2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A244336-06DC-42FA-AC7E-30754E7B88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2095500"/>
            <a:ext cx="22098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StorageManagerProvider::Unmount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开始切换运行态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32610B9-822B-4A18-8A42-BDF8D47D3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2085975"/>
            <a:ext cx="28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2420517-9C5E-408C-B887-D12F5D0BF6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1752600"/>
            <a:ext cx="2400300" cy="952500"/>
          </a:xfrm>
          <a:prstGeom xmlns:a="http://schemas.openxmlformats.org/drawingml/2006/main" prst="roundRect">
            <a:avLst>
              <a:gd name="adj" fmla="val 12000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4E98D1F-30D0-4EF7-9EBB-61A891BC04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1838325"/>
            <a:ext cx="2209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T3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7977D08-CA8A-4694-95F0-05B2239296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2095500"/>
            <a:ext cx="22098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volume state=0 not allowed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卸载/重挂载失败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15D77CB-602C-409F-8F70-4E0FF00B4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085975"/>
            <a:ext cx="28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7D57D24-82A0-4E23-8251-631CCC28F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1752600"/>
            <a:ext cx="2400300" cy="952500"/>
          </a:xfrm>
          <a:prstGeom xmlns:a="http://schemas.openxmlformats.org/drawingml/2006/main" prst="roundRect">
            <a:avLst>
              <a:gd name="adj" fmla="val 12000"/>
            </a:avLst>
          </a:prstGeom>
          <a:solidFill xmlns:a="http://schemas.openxmlformats.org/drawingml/2006/main">
            <a:srgbClr val="FFF6DE"/>
          </a:solidFill>
          <a:ln xmlns:a="http://schemas.openxmlformats.org/drawingml/2006/main" w="11430">
            <a:solidFill>
              <a:srgbClr val="D99018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66539D7-D171-4305-BF09-8B097F9D2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1838325"/>
            <a:ext cx="2209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rPr>
              <a:t>T4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3F6B841-C306-4508-BEAB-BAB25DC763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2095500"/>
            <a:ext cx="22098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error 9200007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API 整体返回失败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F563A6A-0029-4869-9842-68635596C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048000"/>
            <a:ext cx="5200650" cy="2476500"/>
          </a:xfrm>
          <a:prstGeom xmlns:a="http://schemas.openxmlformats.org/drawingml/2006/main" prst="roundRect">
            <a:avLst>
              <a:gd name="adj" fmla="val 4615"/>
            </a:avLst>
          </a:prstGeom>
          <a:solidFill xmlns:a="http://schemas.openxmlformats.org/drawingml/2006/main">
            <a:srgbClr val="F1F4F8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A33D3B9-AF38-4CA7-9137-E0128CA97C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143250"/>
            <a:ext cx="4933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三态判定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A5AD7D4-9A6A-4B62-B184-2ED45624FA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409950"/>
            <a:ext cx="5143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256D8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0CA14E9-1D0A-47A3-8185-A01A51462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505200"/>
            <a:ext cx="4933950" cy="1924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if (apiSuccess &amp;&amp; getter === target &amp;&amp; runtimeOk)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5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return APPLIED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5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if (apiError &amp;&amp; getter === target &amp;&amp; !runtimeOk)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5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return PARTIAL_APPLIED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5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if (getter !== target)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5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return FAILED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5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// PARTIAL_APPLIED user action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5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close file handles → replug device → verify mount mode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39BB204-B548-4BE5-B51D-97EBF8A9E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308610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四个 Oracle 分别证明什么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7374625-236D-4E8D-AC55-59540DEDCB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3352800"/>
            <a:ext cx="5905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8C82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C033BA5-F004-496E-86B7-4BE141B559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3486150"/>
            <a:ext cx="4191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0C09CE5-64B9-4D78-8D10-03D8B7561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3495675"/>
            <a:ext cx="304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704ABFF-9CCE-4E15-9C65-AD6FDC872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3495675"/>
            <a:ext cx="1333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13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13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API result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41C4944-A900-433B-BF22-E8B158DF3E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3495675"/>
            <a:ext cx="3200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53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53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调用链是否完整返回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2D53748-BBE8-442B-B264-7D6CB7DF3A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3962400"/>
            <a:ext cx="4191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A4F2F0E8-DCBA-4843-B195-6B37A90D42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3971925"/>
            <a:ext cx="304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FB388F54-2DB1-493A-A93F-CE617ED5F7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3971925"/>
            <a:ext cx="1333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13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13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getter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A3C4142F-1E0A-42EC-BD2E-9F5E8C47A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3971925"/>
            <a:ext cx="3200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53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53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目标参数是否已经提交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409A4CD4-546F-4E19-B672-C45CFE5731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4438650"/>
            <a:ext cx="4191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23141778-43B3-484D-B10D-9DFA39BA6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4448175"/>
            <a:ext cx="304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1A41A8DB-079B-40EA-AF36-3189A8CD7D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4448175"/>
            <a:ext cx="1333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13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13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mount log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44AC50F2-F0F4-4DC1-9ED1-0CD90D6202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4448175"/>
            <a:ext cx="3200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53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53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当前卷是否完成重挂载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7188D662-7B2D-4BCA-8ED4-05EAF218E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4914900"/>
            <a:ext cx="4191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D7688445-DB27-4AD8-8A55-0682CDC69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4924425"/>
            <a:ext cx="304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097B01E5-A9A4-4EDC-86F3-A045CC4E7F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4924425"/>
            <a:ext cx="1333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13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13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replug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43F24C3A-3277-4771-AF2C-0997CA10E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4924425"/>
            <a:ext cx="3200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53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53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下一次接入是否按新策略运行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88354CBC-DDF8-4249-9462-6EF00869E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5429250"/>
            <a:ext cx="541020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FF6DE"/>
          </a:solidFill>
          <a:ln xmlns:a="http://schemas.openxmlformats.org/drawingml/2006/main" w="11430">
            <a:solidFill>
              <a:srgbClr val="D99018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DD357D02-2BE9-415A-9843-3FB91CB20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524500"/>
            <a:ext cx="5105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98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98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rPr>
              <a:t>错误修法：API exception → 无条件回滚 UI。这样会让页面与系统 getter 相反。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713AAE6D-CFE9-4C9D-ADBE-97CC24211D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620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真实证据：13-本地Session真实问题证据卡.md#9200007；验收 AC-18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83FA93AB-6D5F-47CF-9255-D3ADA68279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477000"/>
            <a:ext cx="12954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81A25231-0BFB-49AD-BF3C-5EEE6463F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6486525"/>
            <a:ext cx="1181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RUN FACT</a:t>
            </a:r>
          </a:p>
        </p:txBody>
      </p:sp>
    </p:spTree>
    <p:extLst>
      <p:ext uri="{BB962C8B-B14F-4D97-AF65-F5344CB8AC3E}">
        <p14:creationId xmlns:p14="http://schemas.microsoft.com/office/powerpoint/2010/main" val="1779593745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FAED5606-4EAE-4B39-930A-CE2CB76DA0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14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03 MDM 案例｜真实交付链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E8A98E5-3E94-4AC0-A051-753EF6D55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1714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25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8E82CEA-3F98-4108-92BA-89A9ED89B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E2E 第一页：Case JSON 经过 Runner、MCP/HDC，最后留下四层证据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2C74DAA-8DA9-4A81-9503-2E06563D9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66775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工具调用成功只证明动作发生；业务结论还需要本地状态、系统回读和实物行为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C81601B-E09D-43F4-9E99-EB9E8A22C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52525"/>
            <a:ext cx="111633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A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pic>
        <p:nvPicPr>
          <p:cNvPr id="5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afa278228774fc5"/>
          <a:stretch xmlns:a="http://schemas.openxmlformats.org/drawingml/2006/main"/>
        </p:blipFill>
        <p:spPr>
          <a:xfrm xmlns:a="http://schemas.openxmlformats.org/drawingml/2006/main">
            <a:off x="1621070" y="1314450"/>
            <a:ext cx="8835560" cy="1809750"/>
          </a:xfrm>
          <a:prstGeom xmlns:a="http://schemas.openxmlformats.org/drawingml/2006/main" prst="roundRect">
            <a:avLst>
              <a:gd name="adj" fmla="val 6316"/>
            </a:avLst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7069B48-EA5B-451B-BC87-A67F701C5E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7660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真实文件路线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98E2F17-855A-4CEE-A975-85EF95B30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543300"/>
            <a:ext cx="5905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78D0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348FB22-75F7-4E68-B08E-8051FB2FB0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638550"/>
            <a:ext cx="1733550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1432E81-468B-4310-975A-3EB1E33E9A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724275"/>
            <a:ext cx="1543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Case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1DBF627-9061-46D9-9A88-9E5CF2723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981450"/>
            <a:ext cx="15430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cases/peripheral/usb_policy.json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9BB2AC1-B7AA-4E07-BF7C-DC24F3FAC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3895725"/>
            <a:ext cx="19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129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CD65393-540A-4163-9288-4CCAFD685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3638550"/>
            <a:ext cx="1733550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E8F6F3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257D7DF-5C3C-4528-86DD-E8244427C4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3724275"/>
            <a:ext cx="1543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Runner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2356CD8-9785-4E50-869E-C7BAA7DBE8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3981450"/>
            <a:ext cx="15430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core/runner.py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699752D-92B2-405A-8D05-E40ADD18C2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3895725"/>
            <a:ext cx="19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129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502DFA4-9C42-4160-B184-6C80C9E5B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3638550"/>
            <a:ext cx="1733550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F21A310-7BC6-4C4C-BD59-44BBCE930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3724275"/>
            <a:ext cx="1543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Flow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EB46064-07BB-47D7-B716-D076F51539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3981450"/>
            <a:ext cx="15430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SecurityToolFlowExecutor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EF02605-5316-4C53-B8C1-8DD0456087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3895725"/>
            <a:ext cx="19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129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0A8AAF0-C347-4EC1-94E7-E1897391A8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3638550"/>
            <a:ext cx="1733550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E8F6F3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C4E22F4-41FB-4223-A503-9F647B5147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724275"/>
            <a:ext cx="1543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Driver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17D977D-40C7-4A9F-934E-943E4D74A9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981450"/>
            <a:ext cx="15430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mcp_driver / hdc_driver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44E6106-7B4B-49B8-8A29-93B7E22F34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3895725"/>
            <a:ext cx="19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129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1C4E7DC-F792-44EA-B21C-C493831D09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3638550"/>
            <a:ext cx="1733550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A2C5044-AB41-4B63-9790-C0455BCA44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3724275"/>
            <a:ext cx="1543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Assertion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25DAB45-1213-4240-B4B1-C42C2AAA51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3981450"/>
            <a:ext cx="15430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assertions/executor.py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9CC6B97-D09C-406C-AFA2-FC909B0349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3895725"/>
            <a:ext cx="19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129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90733E4-EE25-4B63-B4F9-FF887C60C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77450" y="3638550"/>
            <a:ext cx="1733550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E8F6F3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EF26816-8945-4AAC-A10F-5B67171872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72700" y="3724275"/>
            <a:ext cx="1543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Report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C73EEC0-A046-4291-B38A-8AC526FA2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72700" y="3981450"/>
            <a:ext cx="15430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CaseResult + artifacts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201559E-4C7F-4CE3-B2AF-08D9679C0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705350"/>
            <a:ext cx="2571750" cy="1181100"/>
          </a:xfrm>
          <a:prstGeom xmlns:a="http://schemas.openxmlformats.org/drawingml/2006/main" prst="roundRect">
            <a:avLst>
              <a:gd name="adj" fmla="val 96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9CF1FF6-970F-472F-84CE-CB10C0FDFB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819650"/>
            <a:ext cx="1428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4F93F7D-D192-4338-A826-00C017A5F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829175"/>
            <a:ext cx="1314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UI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7C3A342B-E1A8-40B2-902A-C8F1C5EC5A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5162550"/>
            <a:ext cx="2286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9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9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页面状态 / 文本 / 截图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58E168D4-4CB8-47EB-AB20-E4BD4424E6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4705350"/>
            <a:ext cx="2571750" cy="1181100"/>
          </a:xfrm>
          <a:prstGeom xmlns:a="http://schemas.openxmlformats.org/drawingml/2006/main" prst="roundRect">
            <a:avLst>
              <a:gd name="adj" fmla="val 96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2FC1E47A-3BAC-4187-9D68-268B593EA0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4819650"/>
            <a:ext cx="1428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E99C4C83-276B-4BF1-A71B-049D3C5B2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4829175"/>
            <a:ext cx="1314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Local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4702DBB4-193A-4C65-ADD4-AD9A5954FC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9475" y="5162550"/>
            <a:ext cx="2286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9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9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desired/active/present / Trace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B6554B03-B29F-44AA-8397-A7C8A88AF9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4705350"/>
            <a:ext cx="2571750" cy="1181100"/>
          </a:xfrm>
          <a:prstGeom xmlns:a="http://schemas.openxmlformats.org/drawingml/2006/main" prst="roundRect">
            <a:avLst>
              <a:gd name="adj" fmla="val 96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4ED6052B-A5C6-4E17-9A2F-131DF6468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4819650"/>
            <a:ext cx="1428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BD4EFCDD-EED4-44D4-9FB2-936AFE443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4829175"/>
            <a:ext cx="1314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System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03A5E111-BA64-4041-B70D-6BACB0A69A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5162550"/>
            <a:ext cx="2286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9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9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restrictions / disallowed types / getter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2FE07A4E-A5E3-46C2-80CA-5F5989D534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4705350"/>
            <a:ext cx="2571750" cy="1181100"/>
          </a:xfrm>
          <a:prstGeom xmlns:a="http://schemas.openxmlformats.org/drawingml/2006/main" prst="roundRect">
            <a:avLst>
              <a:gd name="adj" fmla="val 96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D2FDCCD3-374C-40B9-9171-505AB52208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4819650"/>
            <a:ext cx="1428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B4E8256F-2700-4187-97B5-52AC8C554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4829175"/>
            <a:ext cx="1314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Physical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D80AD72F-BC10-4595-A365-D93C683BA3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05875" y="5162550"/>
            <a:ext cx="2286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9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9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设备可用性 / 读写行为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E7047590-A30D-44DA-848C-C34B137402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620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真实用例：scripts/e2e/cases/peripheral/*.json；框架设计：docs/04-测试文档/e2e测试/端到端测试框架设计.md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909ED392-C65A-47AA-AD1D-3430CE2890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477000"/>
            <a:ext cx="12954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11E6FF78-3CBD-463D-A5CA-ABB618D962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6486525"/>
            <a:ext cx="1181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REPO FACT</a:t>
            </a:r>
          </a:p>
        </p:txBody>
      </p:sp>
    </p:spTree>
    <p:extLst>
      <p:ext uri="{BB962C8B-B14F-4D97-AF65-F5344CB8AC3E}">
        <p14:creationId xmlns:p14="http://schemas.microsoft.com/office/powerpoint/2010/main" val="518049000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6924FCE7-9BF8-4DB0-BA5E-3AD96CBC30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14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03 MDM 案例｜真实交付链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85058FF-D50D-48FD-93CB-EDB35CEBAC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1714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262C6CC-E5D4-481E-A13B-DD71B422D5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E2E 第二页：同一个 Case 必须写清预置、动作、四个 Oracle 和清理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440096E-F401-432D-A0B3-38EBD0122B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66775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示例：默认 deny 的新 USB 设备首次接入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CEF681F-A1CB-4B3A-AAA0-8DAC66932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52525"/>
            <a:ext cx="111633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A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BC77E88-8674-4567-B05D-AE03F99CF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52550"/>
            <a:ext cx="5829300" cy="4648200"/>
          </a:xfrm>
          <a:prstGeom xmlns:a="http://schemas.openxmlformats.org/drawingml/2006/main" prst="roundRect">
            <a:avLst>
              <a:gd name="adj" fmla="val 2459"/>
            </a:avLst>
          </a:prstGeom>
          <a:solidFill xmlns:a="http://schemas.openxmlformats.org/drawingml/2006/main">
            <a:srgbClr val="F1F4F8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C842444-3214-4098-AEBE-76A1170939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447800"/>
            <a:ext cx="5562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usb_blacklist.json → Acceptance Contract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E515EA2-47E2-45A8-8EBE-99936090F8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714500"/>
            <a:ext cx="5143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256D8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6D13807-8092-4D38-AA6C-D6F13051D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809750"/>
            <a:ext cx="5562600" cy="409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precondition: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admin: activated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global_usb: enabled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storage_policy: read_write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explicit_policy: none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default_usb: deny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action: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- attach_new_usb_device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oracles: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ui: device appears in blacklist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local: desired=deny, active=deny, present=true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system: disallowed type is readable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physical: device cannot be used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cleanup: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- clear_system_residual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- restore_local allow/none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result: PASS | PARTIAL_APPLIED | FAIL | UNKNOWN</a:t>
            </a:r>
          </a:p>
        </p:txBody>
      </p:sp>
      <p:pic>
        <p:nvPicPr>
          <p:cNvPr id="4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be3e8174cb64e49"/>
          <a:stretch xmlns:a="http://schemas.openxmlformats.org/drawingml/2006/main"/>
        </p:blipFill>
        <p:spPr>
          <a:xfrm xmlns:a="http://schemas.openxmlformats.org/drawingml/2006/main">
            <a:off x="7091363" y="1352550"/>
            <a:ext cx="3971925" cy="2647950"/>
          </a:xfrm>
          <a:prstGeom xmlns:a="http://schemas.openxmlformats.org/drawingml/2006/main" prst="roundRect">
            <a:avLst>
              <a:gd name="adj" fmla="val 4317"/>
            </a:avLst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43FED73-C90D-47DE-845E-6AF6C938B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2481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当前证据结论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469EC15-2380-42AE-A5BF-882BF3FA54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4514850"/>
            <a:ext cx="5905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644A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BA36687-228F-45E4-BC80-2CA6096C8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4591050"/>
            <a:ext cx="1809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6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6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页面入口 / 卡片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E6783A1-3CAA-4B81-9EF5-02B1BEEEB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591050"/>
            <a:ext cx="1047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E5B42D3-0503-4FAF-9367-E9AAD8D927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4600575"/>
            <a:ext cx="933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PASS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CD54DC2-591C-4096-9B10-CA2A5215B8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4600575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8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8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E2E 可见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4497341-9633-466A-9360-FF14593040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4953000"/>
            <a:ext cx="1809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6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6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本地状态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BB12902-7FB4-4C21-9E9A-6FF6B778E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953000"/>
            <a:ext cx="1047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5284A78-CB48-46E2-A600-5DA5865D8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4962525"/>
            <a:ext cx="933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PARTIAL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AE4DD24-AF51-4350-96C4-B764CC166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4962525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8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8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代码/UT 有证据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44F03AF-6831-4EAF-A912-176C7BF0C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5314950"/>
            <a:ext cx="1809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6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6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系统 readback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8F95C73-385F-43F6-9C75-C7D0F1467A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5314950"/>
            <a:ext cx="1047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6DE"/>
          </a:solidFill>
          <a:ln xmlns:a="http://schemas.openxmlformats.org/drawingml/2006/main" w="11430">
            <a:solidFill>
              <a:srgbClr val="D99018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06A021C-B256-46B4-9BA2-3D9CDEA6F5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5324475"/>
            <a:ext cx="933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rPr>
              <a:t>PENDING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B17B89F-9A67-4077-AA07-8680704E6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5324475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8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8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待设备采集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0423F22-3BEC-4B2C-8A10-0458842F6A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5676900"/>
            <a:ext cx="1809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6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6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同类第二台 / 实物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10DD92E-761A-4E3D-99BD-0852EA470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5676900"/>
            <a:ext cx="1047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6DE"/>
          </a:solidFill>
          <a:ln xmlns:a="http://schemas.openxmlformats.org/drawingml/2006/main" w="11430">
            <a:solidFill>
              <a:srgbClr val="D99018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6548F83-8431-4805-AC25-D2FA1C27F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5686425"/>
            <a:ext cx="933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rPr>
              <a:t>PENDING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8BFE1C1-9129-43CC-9B54-519B8CFE1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5686425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8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8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待现场矩阵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3981A7F-2B22-446A-8257-07E8A8A324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620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真实截图：harmonyos-sdd-workshop-media/e2e/peripheral-policy-current.png；Runbook：12-附录E外设验收手册.md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32DE574-AA30-4B3A-931B-6EA94375D6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477000"/>
            <a:ext cx="12954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CA32531-2553-478B-9EBB-63633CA14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6486525"/>
            <a:ext cx="1181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RUN FACT</a:t>
            </a:r>
          </a:p>
        </p:txBody>
      </p:sp>
    </p:spTree>
    <p:extLst>
      <p:ext uri="{BB962C8B-B14F-4D97-AF65-F5344CB8AC3E}">
        <p14:creationId xmlns:p14="http://schemas.microsoft.com/office/powerpoint/2010/main" val="969310873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3BA6AA0C-CAE8-4316-A6A1-6D56AEE074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14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03 MDM 案例｜真实交付链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4E9F431-D6C1-405F-892E-89B85BAE11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1714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27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DBBCC0F-A003-446D-B524-5361C3B47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MDM Checkpoint：交付的不是代码，而是一条从需求到设备事实的可复核证据链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C73864D-84F9-4F36-9471-E1D113128F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66775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证据缺口按责任分开：U01–U08 需要真机素材；E01–E03 需要工程先闭环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5C8B881-BCB2-422C-B4F2-DD6F83D2F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52525"/>
            <a:ext cx="111633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A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3472635-9C7D-4816-9974-C6031DB67A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390650"/>
            <a:ext cx="1428750" cy="5715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5252489-BE8F-4895-9814-6A7EE1F1E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76375"/>
            <a:ext cx="1238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需求卡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EC8033A-3B7B-4249-9BDC-A0386FFBA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733550"/>
            <a:ext cx="1238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80469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可回读文件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4667B4E-47E9-43DA-8900-1FFE2E27A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1543050"/>
            <a:ext cx="209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F07557E-0587-4321-9FFF-CBBB26054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1390650"/>
            <a:ext cx="1428750" cy="5715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E8F6F3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E5C7FD5-FB5A-4374-B215-6598B061E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1476375"/>
            <a:ext cx="1238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冲突/ADR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CCF310D-2EF6-40E8-87A0-D22984C076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1733550"/>
            <a:ext cx="1238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80469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可回读文件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C06290B-DCC8-4424-86BB-C56BCB51D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1543050"/>
            <a:ext cx="209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D8A146A-5D15-4A00-AB27-3A32238C0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1390650"/>
            <a:ext cx="1428750" cy="5715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D93B76C-2A55-4A01-8593-937EFE722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50" y="1476375"/>
            <a:ext cx="1238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架构 RFC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DF3A801-5D87-4E30-9841-702985E11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50" y="1733550"/>
            <a:ext cx="1238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80469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可回读文件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ADB9180-36A3-4806-B537-6AA2E00582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1543050"/>
            <a:ext cx="209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BF36993-A1A4-4EC9-8ECA-2677C6B3B4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1390650"/>
            <a:ext cx="1428750" cy="5715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E8F6F3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9E0A45A-62A1-4CF7-83A8-770D54E32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1476375"/>
            <a:ext cx="1238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Story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A257D2C-5F05-4171-B0AD-FBC785E28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1733550"/>
            <a:ext cx="1238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80469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可回读文件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B4497D3-99EF-4621-8A5A-F4A273FD0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1543050"/>
            <a:ext cx="209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ABC2CF0-F002-4A05-8B8D-6A02091692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1390650"/>
            <a:ext cx="1428750" cy="5715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1C85937-FB13-46A8-A0F3-A405341F12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1476375"/>
            <a:ext cx="1238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Ralph 账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5FEB17A-4ECC-4917-9E86-82DECB7B60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1733550"/>
            <a:ext cx="1238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80469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可回读文件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48C7640-BC3D-46E5-9800-CACF4996B5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1543050"/>
            <a:ext cx="209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A09F9D0-C199-499F-A9B6-BE545A35E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1390650"/>
            <a:ext cx="1428750" cy="5715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E8F6F3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5AE20CA-BD96-47C2-8FA0-417704AB9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1476375"/>
            <a:ext cx="1238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UT/E2E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A56BC52-2FEB-4C0A-B65C-3E0F3E06C9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1733550"/>
            <a:ext cx="1238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80469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可回读文件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89C4C6C-6258-40BC-A5AE-22E4CAA6F7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77450" y="1543050"/>
            <a:ext cx="209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D039B8F-B16E-42EC-BA71-A582A67CC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1390650"/>
            <a:ext cx="1428750" cy="5715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8E5A7E9-7AD5-4226-85A4-963BC0CB7E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1476375"/>
            <a:ext cx="1238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系统/实物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B12406A-61EF-45F8-8868-835A615928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1733550"/>
            <a:ext cx="1238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80469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最终事实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19E6439-7065-40C6-A86D-23AB193879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3050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当前验收矩阵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E831269-D118-41A8-B0A9-2B9A95D2DE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571750"/>
            <a:ext cx="5905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256D8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2D28048-5341-4526-8A91-44A33C8CE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705100"/>
            <a:ext cx="109347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8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975EDD8E-3733-4944-A256-24A7BE253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52725"/>
            <a:ext cx="1809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规则与架构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7EB63E4E-442B-48EF-8C9D-074D95273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2752725"/>
            <a:ext cx="6762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4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4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冻结优先级、状态和服务边界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CDE85DEA-8B90-485B-969B-4DDF7AB413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2752725"/>
            <a:ext cx="13335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62949A0E-C813-407C-8EBC-F089CE222F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3150" y="2762250"/>
            <a:ext cx="12192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PASS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99B94A20-F00D-4E5E-9693-677C8127A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143250"/>
            <a:ext cx="109347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83660834-9843-4B25-9DD9-289D55E8C9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90875"/>
            <a:ext cx="1809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代码调用链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71F1CB51-C03D-4088-AFF6-AD9EC8CF63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3190875"/>
            <a:ext cx="6762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4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4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真实类、函数、Repository/MDM 映射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ACF3A7D3-CF15-4DCB-8B51-5240FC420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3190875"/>
            <a:ext cx="13335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05A57676-D7F9-4E31-A4F4-B4217CE119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3150" y="3200400"/>
            <a:ext cx="12192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PASS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101CF62D-AAB4-48FD-95ED-D946756968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581400"/>
            <a:ext cx="109347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8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4712FE78-1388-4B6A-B29E-4D9503DEE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29025"/>
            <a:ext cx="1809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关键分支 UT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DFABA453-05C4-467C-8AEC-5F9A0FAFD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3629025"/>
            <a:ext cx="6762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4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4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全局补偿、设备状态、Dispatch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45964F5E-DE8A-4104-8394-209580C85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3629025"/>
            <a:ext cx="13335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5D424A00-B43D-4773-AA9B-095FB3E0EA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3150" y="3638550"/>
            <a:ext cx="12192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PARTIAL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20FF8BBB-B639-4BD8-A020-32EE7D671C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019550"/>
            <a:ext cx="109347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E70FCAA3-598F-46E4-80F1-8719DF05BB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67175"/>
            <a:ext cx="1809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页面 E2E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9FA66D39-B4F7-4729-8A37-FCBB8BE8AE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4067175"/>
            <a:ext cx="6762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4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4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外设策略入口与可见操作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8071623E-BF16-41B4-9815-0F919B80EC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4067175"/>
            <a:ext cx="13335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46537988-6674-4ACD-9D82-9EFF583704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3150" y="4076700"/>
            <a:ext cx="12192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PASS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75AFD884-E9B9-43AF-902E-6AE245B74A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457700"/>
            <a:ext cx="109347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8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C576624F-8714-4354-AF5C-5181FA37F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05325"/>
            <a:ext cx="1809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系统回读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52BDD5F8-EC88-4852-81F2-E632E4F5EF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4505325"/>
            <a:ext cx="6762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4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4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U01/U03/U04/U05：restrictions / disallowed / getter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8FDF30A5-EC51-4E11-A114-A2480D21F4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4505325"/>
            <a:ext cx="13335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6DE"/>
          </a:solidFill>
          <a:ln xmlns:a="http://schemas.openxmlformats.org/drawingml/2006/main" w="11430">
            <a:solidFill>
              <a:srgbClr val="D99018"/>
            </a:solidFill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FE26A561-2E09-4595-940F-605F9B4C20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3150" y="4514850"/>
            <a:ext cx="12192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rPr>
              <a:t>需用户 U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5D6BA82F-8E39-4ACA-BD7E-195D2FAE67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895850"/>
            <a:ext cx="109347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BCBD699D-D34D-4B66-B3F1-6F915137B9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43475"/>
            <a:ext cx="1809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实物矩阵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F708D374-4A25-4F04-8942-8E2D37F597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4943475"/>
            <a:ext cx="6762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4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4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U01–U08 真机证据；E01/E02 先修工程契约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9BC36B28-14C7-4CB2-8F21-76E18A0DC3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4943475"/>
            <a:ext cx="13335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6DE"/>
          </a:solidFill>
          <a:ln xmlns:a="http://schemas.openxmlformats.org/drawingml/2006/main" w="11430">
            <a:solidFill>
              <a:srgbClr val="D99018"/>
            </a:solidFill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437A47B3-DCC3-4A18-A1F6-E1043B8B4C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3150" y="4953000"/>
            <a:ext cx="12192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rPr>
              <a:t>U / E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A06C5B5D-B584-426D-B5F6-91DD79140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467350"/>
            <a:ext cx="10934700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6DE"/>
          </a:solidFill>
          <a:ln xmlns:a="http://schemas.openxmlformats.org/drawingml/2006/main" w="11430">
            <a:solidFill>
              <a:srgbClr val="D99018"/>
            </a:solidFill>
            <a:prstDash val="solid"/>
          </a:ln>
        </p:spPr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FF3E48ED-6FB5-4B9A-9964-B5D9F6F52C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81650"/>
            <a:ext cx="209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rPr>
              <a:t>请先补 U01–U04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C1378CCF-D3E9-462F-AAA4-DED04FAA17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5543550"/>
            <a:ext cx="8382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U01 全局事务  U02 首接 allow/deny  U03 残留清理  U04 9200007 三态证据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B185772F-B78D-4633-988E-588D3163A6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67400"/>
            <a:ext cx="10515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6451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6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6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判断标准：任取一行，都能反向追到 Requirement → RFC → Story → Code → Evidence。断链处就是下一项工作。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CFA846B6-73E2-4BE1-A758-F525D7EB7E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620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证据：00/06/12；用户素材：16-用户补充素材清单.md；工程开放项：E01–E03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507359E2-AC80-4D71-A3F4-1CA96FFC03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477000"/>
            <a:ext cx="12954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3076241B-CAFF-4364-892A-5028C49C30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6486525"/>
            <a:ext cx="1181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REPO FACT</a:t>
            </a:r>
          </a:p>
        </p:txBody>
      </p:sp>
    </p:spTree>
    <p:extLst>
      <p:ext uri="{BB962C8B-B14F-4D97-AF65-F5344CB8AC3E}">
        <p14:creationId xmlns:p14="http://schemas.microsoft.com/office/powerpoint/2010/main" val="1317896914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097E07B-E30E-4CE8-BFE5-49765BFEBB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0500"/>
            <a:ext cx="29527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05 复杂三方项目 · GPU 适配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56A6790-4E6E-4538-8F85-05FA8C772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19100"/>
            <a:ext cx="1038225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背景：双向远控已跑通，主控视频仍卡在 CPU 路径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F1658CA-4737-45AC-B5C9-7E3B7E5AE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247650"/>
            <a:ext cx="5143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28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D1F6F87-E65E-4192-A9A5-A47E81D3B5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334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8"/>
          </a:solidFill>
          <a:ln xmlns:a="http://schemas.openxmlformats.org/drawingml/2006/main" w="0">
            <a:solidFill>
              <a:srgbClr val="D8E0E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45374EB-1A0C-4C2B-8E9B-570A49D3F4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53200"/>
            <a:ext cx="74295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rPr>
              <a:t>HarmonyOS · Spec-Driven Development · Ralph Workshop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0349CE5-A44E-46A2-8DFC-6E824444B2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43000"/>
            <a:ext cx="4333875" cy="4343400"/>
          </a:xfrm>
          <a:prstGeom xmlns:a="http://schemas.openxmlformats.org/drawingml/2006/main" prst="roundRect">
            <a:avLst>
              <a:gd name="adj" fmla="val 3077"/>
            </a:avLst>
          </a:prstGeom>
          <a:solidFill xmlns:a="http://schemas.openxmlformats.org/drawingml/2006/main">
            <a:srgbClr val="0F172A"/>
          </a:solidFill>
          <a:ln xmlns:a="http://schemas.openxmlformats.org/drawingml/2006/main" w="9525">
            <a:solidFill>
              <a:srgbClr val="0F172A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05D66F3-E64C-466C-A4F1-FEFFA16F6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24765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FreeRDP 主控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2C61012-1797-4DC5-9C0E-3E9BB4811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752600"/>
            <a:ext cx="24765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77D5C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77D5CA"/>
                </a:solidFill>
                <a:latin typeface="Microsoft YaHei"/>
                <a:ea typeface="Microsoft YaHei"/>
                <a:cs typeface="Microsoft YaHei"/>
              </a:rPr>
              <a:t>+ xrdp 被控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937A04C-00D4-4989-9255-4EF9A215A0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238375"/>
            <a:ext cx="3429000" cy="781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HarmonyOS ↔ Windows</a:t>
            </a:r>
          </a:p>
          <a:p xmlns:a="http://schemas.openxmlformats.org/drawingml/2006/main">
            <a:pPr algn="l">
              <a:defRPr sz="15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双向远控能力已经打通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C2DA6EF-8516-44F1-BF98-D7B0C6022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190875"/>
            <a:ext cx="34766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solidFill>
              <a:srgbClr val="334155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00CC342-16F2-4430-9B61-FC3D4F557B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429000"/>
            <a:ext cx="952500" cy="295275"/>
          </a:xfrm>
          <a:prstGeom xmlns:a="http://schemas.openxmlformats.org/drawingml/2006/main" prst="roundRect">
            <a:avLst>
              <a:gd name="adj" fmla="val 25806"/>
            </a:avLst>
          </a:prstGeom>
          <a:solidFill xmlns:a="http://schemas.openxmlformats.org/drawingml/2006/main">
            <a:srgbClr val="3B2530"/>
          </a:solidFill>
          <a:ln xmlns:a="http://schemas.openxmlformats.org/drawingml/2006/main" w="9525">
            <a:solidFill>
              <a:srgbClr val="E26852"/>
            </a:solidFill>
            <a:prstDash val="solid"/>
          </a:ln>
        </p:spPr>
        <p:txBody>
          <a:bodyPr xmlns:a="http://schemas.openxmlformats.org/drawingml/2006/main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用户报告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A397A78-9554-4834-847F-033A5C429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3371850"/>
            <a:ext cx="2381250" cy="4095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38100" tIns="19050" rIns="38100" bIns="19050" anchor="ctr">
            <a:normAutofit fontScale="95588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控制 Windows 视频时有明显卡顿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B8351A9-F891-43D0-AE9D-974C030DC3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943350"/>
            <a:ext cx="952500" cy="295275"/>
          </a:xfrm>
          <a:prstGeom xmlns:a="http://schemas.openxmlformats.org/drawingml/2006/main" prst="roundRect">
            <a:avLst>
              <a:gd name="adj" fmla="val 25806"/>
            </a:avLst>
          </a:prstGeom>
          <a:solidFill xmlns:a="http://schemas.openxmlformats.org/drawingml/2006/main">
            <a:srgbClr val="3A321D"/>
          </a:solidFill>
          <a:ln xmlns:a="http://schemas.openxmlformats.org/drawingml/2006/main" w="9525">
            <a:solidFill>
              <a:srgbClr val="D89518"/>
            </a:solidFill>
            <a:prstDash val="solid"/>
          </a:ln>
        </p:spPr>
        <p:txBody>
          <a:bodyPr xmlns:a="http://schemas.openxmlformats.org/drawingml/2006/main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D895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D89518"/>
                </a:solidFill>
                <a:latin typeface="Microsoft YaHei"/>
                <a:ea typeface="Microsoft YaHei"/>
                <a:cs typeface="Microsoft YaHei"/>
              </a:rPr>
              <a:t>原因输入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BC366C3-0929-41B7-93CA-1B1FEA036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3857625"/>
            <a:ext cx="2381250" cy="5810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38100" tIns="19050" rIns="38100" bIns="19050" anchor="ctr">
            <a:normAutofit fontScale="98958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DCE7F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DCE7F2"/>
                </a:solidFill>
                <a:latin typeface="Microsoft YaHei"/>
                <a:ea typeface="Microsoft YaHei"/>
                <a:cs typeface="Microsoft YaHei"/>
              </a:rPr>
              <a:t>当前链路走 CPU / 软件处理，尚未完成硬解与 GPU 合成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2DC6D1A-0551-41D7-82F8-80A35BA7F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714875"/>
            <a:ext cx="3476625" cy="495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5B1A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5B1A3"/>
                </a:solidFill>
                <a:latin typeface="Microsoft YaHei"/>
                <a:ea typeface="Microsoft YaHei"/>
                <a:cs typeface="Microsoft YaHei"/>
              </a:rPr>
              <a:t>本章不先许诺性能数字，先证明：30W+ 三方项目究竟该改哪里。</a:t>
            </a:r>
          </a:p>
        </p:txBody>
      </p:sp>
      <p:pic>
        <p:nvPicPr>
          <p:cNvPr id="4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00629f6c6b44a37"/>
          <a:srcRect xmlns:a="http://schemas.openxmlformats.org/drawingml/2006/main" l="7420" t="0" r="742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048250" y="1143000"/>
            <a:ext cx="6572250" cy="4343400"/>
          </a:xfrm>
          <a:prstGeom xmlns:a="http://schemas.openxmlformats.org/drawingml/2006/main" prst="roundRect">
            <a:avLst>
              <a:gd name="adj" fmla="val 3070"/>
            </a:avLst>
          </a:prstGeom>
        </p:spPr>
      </p:pic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3EE475A-B461-4786-A30E-92B745666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67325" y="4648200"/>
            <a:ext cx="6134100" cy="590550"/>
          </a:xfrm>
          <a:prstGeom xmlns:a="http://schemas.openxmlformats.org/drawingml/2006/main" prst="roundRect">
            <a:avLst>
              <a:gd name="adj" fmla="val 16129"/>
            </a:avLst>
          </a:prstGeom>
          <a:solidFill xmlns:a="http://schemas.openxmlformats.org/drawingml/2006/main">
            <a:srgbClr val="0F172A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D511EA9-E6C2-40AF-A12A-172DF48CEF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76875" y="4733925"/>
            <a:ext cx="5715000" cy="4286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目标不是“把 API 接上”</a:t>
            </a:r>
          </a:p>
          <a:p xmlns:a="http://schemas.openxmlformats.org/drawingml/2006/main">
            <a:pPr algn="ctr">
              <a:defRPr sz="12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而是找到稳定适配缝隙 → 一帧穿刺 → 可逆接管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5064288-B1B1-4B2D-A425-CA7FF386DD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5962650"/>
            <a:ext cx="93916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8"/>
          </a:solidFill>
          <a:ln xmlns:a="http://schemas.openxmlformats.org/drawingml/2006/main" w="0">
            <a:solidFill>
              <a:srgbClr val="D8E0E8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E830991-769E-4F82-9FFF-8B015C9AA8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10563225" y="5915025"/>
            <a:ext cx="104775" cy="104775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D8E0E8"/>
          </a:solidFill>
          <a:ln xmlns:a="http://schemas.openxmlformats.org/drawingml/2006/main" w="0">
            <a:solidFill>
              <a:srgbClr val="D8E0E8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D3876DC-BA97-4310-A423-8A7E65475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5876925"/>
            <a:ext cx="190500" cy="190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846000E-2D11-4578-A571-52D0BBCA53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6115050"/>
            <a:ext cx="1238250" cy="2571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1  限定一帧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A26EA8E-2400-4094-BB2F-B5B73B6D4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1875" y="5876925"/>
            <a:ext cx="190500" cy="190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61397E1-F25F-449D-A056-CEFEAFF4C1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86125" y="6115050"/>
            <a:ext cx="1238250" cy="2571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2  追 Linux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09FC941-F381-45FE-8A25-44E5F47AF3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5876925"/>
            <a:ext cx="190500" cy="190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8C82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3462C35-C070-4171-885C-C14D58DD65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6115050"/>
            <a:ext cx="1238250" cy="2571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16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68C82"/>
                </a:solidFill>
                <a:latin typeface="Microsoft YaHei"/>
                <a:ea typeface="Microsoft YaHei"/>
                <a:cs typeface="Microsoft YaHei"/>
              </a:rPr>
              <a:t>3  探 HarmonyOS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3348D35-EE36-4533-8330-B7F2899840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5876925"/>
            <a:ext cx="190500" cy="190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8C82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DA5AEC6-A7CC-470A-998B-2EAC1399E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6115050"/>
            <a:ext cx="1238250" cy="2571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16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68C82"/>
                </a:solidFill>
                <a:latin typeface="Microsoft YaHei"/>
                <a:ea typeface="Microsoft YaHei"/>
                <a:cs typeface="Microsoft YaHei"/>
              </a:rPr>
              <a:t>4  冻结边界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6CD552B-62FC-4A14-8DE7-46468C212D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5876925"/>
            <a:ext cx="190500" cy="190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8C82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5AA9BDD-6006-49C5-BE06-D28AE77CA6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6115050"/>
            <a:ext cx="1238250" cy="2571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16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68C82"/>
                </a:solidFill>
                <a:latin typeface="Microsoft YaHei"/>
                <a:ea typeface="Microsoft YaHei"/>
                <a:cs typeface="Microsoft YaHei"/>
              </a:rPr>
              <a:t>5  逐轮验收</a:t>
            </a:r>
          </a:p>
        </p:txBody>
      </p:sp>
    </p:spTree>
    <p:extLst>
      <p:ext uri="{BB962C8B-B14F-4D97-AF65-F5344CB8AC3E}">
        <p14:creationId xmlns:p14="http://schemas.microsoft.com/office/powerpoint/2010/main" val="1424108870"/>
      </p:ext>
    </p:extLst>
  </p:cSld>
</p:sld>
</file>

<file path=ppt/slides/slide2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1F1CFC2-5E3D-4CFA-B4A6-A74C158CDE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0500"/>
            <a:ext cx="29527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05 复杂三方项目 · GPU 适配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811E9C9-ADCC-4F5C-B92B-1F9DE00320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19100"/>
            <a:ext cx="1038225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代码很多，不让 AI 通读：把仓库压缩成“一帧 + 两个探针”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A667F87-A5F6-4790-85C3-4E4CD7519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247650"/>
            <a:ext cx="5143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29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450D658-DD2A-4679-8029-E01F1D8C6C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334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8"/>
          </a:solidFill>
          <a:ln xmlns:a="http://schemas.openxmlformats.org/drawingml/2006/main" w="0">
            <a:solidFill>
              <a:srgbClr val="D8E0E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533CDF8-72CD-4BEB-8051-4CF435056F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53200"/>
            <a:ext cx="74295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rPr>
              <a:t>HarmonyOS · Spec-Driven Development · Ralph Workshop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57268DB-4331-4BC2-B7FB-4A75E2BD3A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5125" y="2857500"/>
            <a:ext cx="18669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6852"/>
          </a:solidFill>
          <a:ln xmlns:a="http://schemas.openxmlformats.org/drawingml/2006/main" w="0">
            <a:solidFill>
              <a:srgbClr val="E26852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F3CDD64-A4B5-4F25-AC5A-D40796927B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4752975" y="2809875"/>
            <a:ext cx="104775" cy="104775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E26852"/>
          </a:solidFill>
          <a:ln xmlns:a="http://schemas.openxmlformats.org/drawingml/2006/main" w="0">
            <a:solidFill>
              <a:srgbClr val="E26852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AEACD58-ECD5-488D-82F0-0B2690EF5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095500"/>
            <a:ext cx="38100" cy="6762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0">
            <a:solidFill>
              <a:srgbClr val="1677C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C0A69ED-A253-4F31-8CA0-7A650B972E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153150" y="2095500"/>
            <a:ext cx="104775" cy="104775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0">
            <a:solidFill>
              <a:srgbClr val="1677C8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C1C2FE5-D7F3-4267-AF3B-AF18E45779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857500"/>
            <a:ext cx="38100" cy="1009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C82"/>
          </a:solidFill>
          <a:ln xmlns:a="http://schemas.openxmlformats.org/drawingml/2006/main" w="0">
            <a:solidFill>
              <a:srgbClr val="168C82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BCE585F-5838-4746-8FE9-84D1334258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0800000">
            <a:off x="6153150" y="3848100"/>
            <a:ext cx="104775" cy="104775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168C82"/>
          </a:solidFill>
          <a:ln xmlns:a="http://schemas.openxmlformats.org/drawingml/2006/main" w="0">
            <a:solidFill>
              <a:srgbClr val="168C82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6805FBD-F7FD-4C87-BC70-EDD876C50B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381125"/>
            <a:ext cx="314325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2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2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55.9 万行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745AB34-38B9-4B39-8676-7C3671F540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95500"/>
            <a:ext cx="2952750" cy="666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FreeRDP / xrdp / HarmonyOS</a:t>
            </a:r>
          </a:p>
          <a:p xmlns:a="http://schemas.openxmlformats.org/drawingml/2006/main">
            <a:pPr algn="l">
              <a:defRPr sz="1350" b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协议、平台、渲染、生命周期混在一起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3F8F1BE-3334-438B-B1E5-5023DDDEDC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3143250"/>
            <a:ext cx="3143250" cy="2238375"/>
          </a:xfrm>
          <a:prstGeom xmlns:a="http://schemas.openxmlformats.org/drawingml/2006/main" prst="roundRect">
            <a:avLst>
              <a:gd name="adj" fmla="val 5957"/>
            </a:avLst>
          </a:prstGeom>
          <a:solidFill xmlns:a="http://schemas.openxmlformats.org/drawingml/2006/main">
            <a:srgbClr val="F5F8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8737D9E-1795-4A74-BDA1-CEC2E49ED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352800"/>
            <a:ext cx="16192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上下文预算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BEA6EF0-B648-473B-B34A-014DAA464C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781425"/>
            <a:ext cx="2238375" cy="1352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1 个问题</a:t>
            </a:r>
          </a:p>
          <a:p xmlns:a="http://schemas.openxmlformats.org/drawingml/2006/main">
            <a:pPr algn="l">
              <a:defRPr sz="15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1 条调用链</a:t>
            </a:r>
          </a:p>
          <a:p xmlns:a="http://schemas.openxmlformats.org/drawingml/2006/main">
            <a:pPr algn="l">
              <a:defRPr sz="15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3–7 个关键符号</a:t>
            </a:r>
          </a:p>
          <a:p xmlns:a="http://schemas.openxmlformats.org/drawingml/2006/main">
            <a:pPr algn="l">
              <a:defRPr sz="15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1 条下一步命令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3227A7E-3215-4262-9CCB-882493088F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2190750"/>
            <a:ext cx="2143125" cy="1314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0EC"/>
          </a:solidFill>
          <a:ln xmlns:a="http://schemas.openxmlformats.org/drawingml/2006/main" w="28575">
            <a:solidFill>
              <a:srgbClr val="E26852"/>
            </a:solidFill>
            <a:prstDash val="solid"/>
          </a:ln>
        </p:spPr>
        <p:txBody>
          <a:bodyPr xmlns:a="http://schemas.openxmlformats.org/drawingml/2006/main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只追一帧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BDE9E34-620F-4BCC-A277-0FEC8D59D4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43375" y="3619500"/>
            <a:ext cx="2047875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PDU 进入 → 屏幕 present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FB087EB-775E-49FD-8CB4-A6FFC4146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1190625"/>
            <a:ext cx="3952875" cy="1809750"/>
          </a:xfrm>
          <a:prstGeom xmlns:a="http://schemas.openxmlformats.org/drawingml/2006/main" prst="roundRect">
            <a:avLst>
              <a:gd name="adj" fmla="val 8421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19050">
            <a:solidFill>
              <a:srgbClr val="1677C8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568FF6D-3599-4B8D-974A-2390706456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1381125"/>
            <a:ext cx="1428750" cy="285750"/>
          </a:xfrm>
          <a:prstGeom xmlns:a="http://schemas.openxmlformats.org/drawingml/2006/main" prst="roundRect">
            <a:avLst>
              <a:gd name="adj" fmla="val 2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  <p:txBody>
          <a:bodyPr xmlns:a="http://schemas.openxmlformats.org/drawingml/2006/main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Probe-Linux-01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0556DA3-15C7-4066-804F-39CF6338AD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1790700"/>
            <a:ext cx="333375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参考实现怎么交给平台显示？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ECA9BCC-F796-42A7-933F-3F03B9A19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333625"/>
            <a:ext cx="33337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38100" tIns="19050" rIns="38100" bIns="19050" anchor="t">
            <a:normAutofit fontScale="98958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输出：源码时序 + SurfaceCommand / EndFrame 接缝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47407AE-9F45-4549-8044-A838F9805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3333750"/>
            <a:ext cx="3952875" cy="2047875"/>
          </a:xfrm>
          <a:prstGeom xmlns:a="http://schemas.openxmlformats.org/drawingml/2006/main" prst="roundRect">
            <a:avLst>
              <a:gd name="adj" fmla="val 7442"/>
            </a:avLst>
          </a:prstGeom>
          <a:solidFill xmlns:a="http://schemas.openxmlformats.org/drawingml/2006/main">
            <a:srgbClr val="EAF8F5"/>
          </a:solidFill>
          <a:ln xmlns:a="http://schemas.openxmlformats.org/drawingml/2006/main" w="19050">
            <a:solidFill>
              <a:srgbClr val="168C82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EB89C23-51EF-438F-82A9-9202260758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3524250"/>
            <a:ext cx="1428750" cy="285750"/>
          </a:xfrm>
          <a:prstGeom xmlns:a="http://schemas.openxmlformats.org/drawingml/2006/main" prst="roundRect">
            <a:avLst>
              <a:gd name="adj" fmla="val 2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  <p:txBody>
          <a:bodyPr xmlns:a="http://schemas.openxmlformats.org/drawingml/2006/main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6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168C82"/>
                </a:solidFill>
                <a:latin typeface="Microsoft YaHei"/>
                <a:ea typeface="Microsoft YaHei"/>
                <a:cs typeface="Microsoft YaHei"/>
              </a:rPr>
              <a:t>Probe-OHOS-01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69F8499-F0EA-4BCC-A801-6157F86E66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3933825"/>
            <a:ext cx="333375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6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168C82"/>
                </a:solidFill>
                <a:latin typeface="Microsoft YaHei"/>
                <a:ea typeface="Microsoft YaHei"/>
                <a:cs typeface="Microsoft YaHei"/>
              </a:rPr>
              <a:t>平台能否完成一帧 GPU 穿刺？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BD405C3-DFBF-42FE-8607-5B2F2F9434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4476750"/>
            <a:ext cx="333375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输出：XComponent → AVCodec → NativeBuffer → EGL → present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09891FD-B21F-45CD-B547-C4147D0A7F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4572000"/>
            <a:ext cx="3143250" cy="819150"/>
          </a:xfrm>
          <a:prstGeom xmlns:a="http://schemas.openxmlformats.org/drawingml/2006/main" prst="roundRect">
            <a:avLst>
              <a:gd name="adj" fmla="val 1395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26852"/>
            </a:solidFill>
            <a:prstDash val="dash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18AECF6-27E3-46CF-8D59-ED107469D0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4714875"/>
            <a:ext cx="2714625" cy="5429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每个探针必须交付：</a:t>
            </a:r>
          </a:p>
          <a:p xmlns:a="http://schemas.openxmlformats.org/drawingml/2006/main">
            <a:pPr algn="ctr">
              <a:defRPr sz="1275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输入 / 路径 / 证据 / Verdict / Stop</a:t>
            </a:r>
          </a:p>
        </p:txBody>
      </p:sp>
    </p:spTree>
    <p:extLst>
      <p:ext uri="{BB962C8B-B14F-4D97-AF65-F5344CB8AC3E}">
        <p14:creationId xmlns:p14="http://schemas.microsoft.com/office/powerpoint/2010/main" val="180429601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A123D749-A8B2-47C0-A7F4-74DF458734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0500"/>
            <a:ext cx="29527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05 复杂三方项目 · GPU 适配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99AF3C0-3551-4313-B687-F908333016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19100"/>
            <a:ext cx="1038225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探针 1：Linux 一帧时序，找到三方项目留出的稳定接缝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128F368-2CFC-4270-A50D-A1FD903B0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247650"/>
            <a:ext cx="5143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30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5F2F6F7-EEB7-49C2-8655-A5ED98594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334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8"/>
          </a:solidFill>
          <a:ln xmlns:a="http://schemas.openxmlformats.org/drawingml/2006/main" w="0">
            <a:solidFill>
              <a:srgbClr val="D8E0E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803B668-EDBF-4208-9C7A-91DF2F9DB6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53200"/>
            <a:ext cx="74295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rPr>
              <a:t>HarmonyOS · Spec-Driven Development · Ralph Workshop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7B8B455-B9D0-4A64-B5DC-94795B427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7825" y="1638300"/>
            <a:ext cx="19050" cy="3162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0">
            <a:solidFill>
              <a:srgbClr val="CBD5E1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3A40992-9EFC-420D-BF46-38D269D83D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43325" y="1638300"/>
            <a:ext cx="19050" cy="3162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0">
            <a:solidFill>
              <a:srgbClr val="CBD5E1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2A4716F-17CB-46DB-B52B-DF6008BE5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38825" y="1638300"/>
            <a:ext cx="19050" cy="3162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0">
            <a:solidFill>
              <a:srgbClr val="CBD5E1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CAD6EEF-AAC0-4163-A443-13835B3B4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34325" y="1638300"/>
            <a:ext cx="19050" cy="3162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0">
            <a:solidFill>
              <a:srgbClr val="CBD5E1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14A7030-2B5B-44DC-921A-F8FF202E8E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9825" y="1638300"/>
            <a:ext cx="19050" cy="3162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0">
            <a:solidFill>
              <a:srgbClr val="CBD5E1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12F4FB4-977D-45BA-9F7B-3751CBE48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7825" y="2095500"/>
            <a:ext cx="20097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0">
            <a:solidFill>
              <a:srgbClr val="1677C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8BAE7A5-53F8-41CB-A603-4E6C4E60F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3638550" y="2047875"/>
            <a:ext cx="104775" cy="104775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0">
            <a:solidFill>
              <a:srgbClr val="1677C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8A9F36E-9AD9-47C4-9A0A-0EEFF46F2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43325" y="2686050"/>
            <a:ext cx="20097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0">
            <a:solidFill>
              <a:srgbClr val="1677C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222D479-7423-410C-9638-3034751CA7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5734050" y="2638425"/>
            <a:ext cx="104775" cy="104775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0">
            <a:solidFill>
              <a:srgbClr val="1677C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1DAD6E4-BA09-4EF4-893B-3D47BEA737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38825" y="3276600"/>
            <a:ext cx="20097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6852"/>
          </a:solidFill>
          <a:ln xmlns:a="http://schemas.openxmlformats.org/drawingml/2006/main" w="0">
            <a:solidFill>
              <a:srgbClr val="E26852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2B544CD-471B-422B-A9B7-2A995A6CD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7829550" y="3228975"/>
            <a:ext cx="104775" cy="104775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E26852"/>
          </a:solidFill>
          <a:ln xmlns:a="http://schemas.openxmlformats.org/drawingml/2006/main" w="0">
            <a:solidFill>
              <a:srgbClr val="E26852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97962D3-96C0-43BC-BCC6-13E960A44C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34325" y="3867150"/>
            <a:ext cx="20097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0">
            <a:solidFill>
              <a:srgbClr val="1677C8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9BE161A-F13E-4A82-A1AF-441F52A38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9925050" y="3819525"/>
            <a:ext cx="104775" cy="104775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0">
            <a:solidFill>
              <a:srgbClr val="1677C8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67AC1BA-AC7E-4026-ABF7-A84A073A4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34325" y="4457700"/>
            <a:ext cx="20097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C82"/>
          </a:solidFill>
          <a:ln xmlns:a="http://schemas.openxmlformats.org/drawingml/2006/main" w="0">
            <a:solidFill>
              <a:srgbClr val="168C82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436E353-9EF4-4AFC-AFA6-2F39340C6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9925050" y="4410075"/>
            <a:ext cx="104775" cy="104775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168C82"/>
          </a:solidFill>
          <a:ln xmlns:a="http://schemas.openxmlformats.org/drawingml/2006/main" w="0">
            <a:solidFill>
              <a:srgbClr val="168C82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D2C4B3C-52FB-43B1-A307-7F16F250B3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1162050"/>
            <a:ext cx="1485900" cy="495300"/>
          </a:xfrm>
          <a:prstGeom xmlns:a="http://schemas.openxmlformats.org/drawingml/2006/main" prst="roundRect">
            <a:avLst>
              <a:gd name="adj" fmla="val 19231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  <p:txBody>
          <a:bodyPr xmlns:a="http://schemas.openxmlformats.org/drawingml/2006/main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RDP Server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F3606BF-10EB-48A0-86F6-342B63580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75" y="1162050"/>
            <a:ext cx="1485900" cy="495300"/>
          </a:xfrm>
          <a:prstGeom xmlns:a="http://schemas.openxmlformats.org/drawingml/2006/main" prst="roundRect">
            <a:avLst>
              <a:gd name="adj" fmla="val 19231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  <p:txBody>
          <a:bodyPr xmlns:a="http://schemas.openxmlformats.org/drawingml/2006/main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rdpgfx_main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338CC2C-EB5A-4AFE-ABF6-C1A7F083B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95875" y="1162050"/>
            <a:ext cx="1485900" cy="495300"/>
          </a:xfrm>
          <a:prstGeom xmlns:a="http://schemas.openxmlformats.org/drawingml/2006/main" prst="roundRect">
            <a:avLst>
              <a:gd name="adj" fmla="val 19231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  <p:txBody>
          <a:bodyPr xmlns:a="http://schemas.openxmlformats.org/drawingml/2006/main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rdpgfx_codec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8B512E7-105F-48DE-992F-AD8AACDC24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1375" y="1162050"/>
            <a:ext cx="1485900" cy="495300"/>
          </a:xfrm>
          <a:prstGeom xmlns:a="http://schemas.openxmlformats.org/drawingml/2006/main" prst="roundRect">
            <a:avLst>
              <a:gd name="adj" fmla="val 19231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9525">
            <a:solidFill>
              <a:srgbClr val="E26852"/>
            </a:solidFill>
            <a:prstDash val="solid"/>
          </a:ln>
        </p:spPr>
        <p:txBody>
          <a:bodyPr xmlns:a="http://schemas.openxmlformats.org/drawingml/2006/main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GDI gfx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C23BE5F-976F-4DFD-8336-E8FD23605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86875" y="1162050"/>
            <a:ext cx="1485900" cy="495300"/>
          </a:xfrm>
          <a:prstGeom xmlns:a="http://schemas.openxmlformats.org/drawingml/2006/main" prst="roundRect">
            <a:avLst>
              <a:gd name="adj" fmla="val 19231"/>
            </a:avLst>
          </a:prstGeom>
          <a:solidFill xmlns:a="http://schemas.openxmlformats.org/drawingml/2006/main">
            <a:srgbClr val="EAF8F5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  <p:txBody>
          <a:bodyPr xmlns:a="http://schemas.openxmlformats.org/drawingml/2006/main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16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68C82"/>
                </a:solidFill>
                <a:latin typeface="Microsoft YaHei"/>
                <a:ea typeface="Microsoft YaHei"/>
                <a:cs typeface="Microsoft YaHei"/>
              </a:rPr>
              <a:t>xf_gfx / X11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468577F-D1F6-4B40-84C7-F4B0DEF863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1790700"/>
            <a:ext cx="17145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WireToSurface1 PDU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C281BB5-DD4D-49E6-9CC8-35577078C1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2381250"/>
            <a:ext cx="17145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38100" tIns="19050" rIns="38100" bIns="19050" anchor="t">
            <a:normAutofit fontScale="97961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parse AVC420 metablock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F941BBB-080B-4511-A7CC-CD2E654FC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2971800"/>
            <a:ext cx="17145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38100" tIns="19050" rIns="38100" bIns="19050" anchor="t">
            <a:normAutofit fontScale="73346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context→SurfaceCommand(cmd)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753EBF8-3DD1-4555-BD3F-1DBA576EF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562350"/>
            <a:ext cx="17145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38100" tIns="19050" rIns="38100" bIns="19050" anchor="t">
            <a:normAutofit fontScale="79868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gdi_SurfaceCommand_AVC420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A79D5D7-4659-4F2D-83B7-8CD99EFA37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4152900"/>
            <a:ext cx="2047875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38100" tIns="19050" rIns="38100" bIns="19050" anchor="t">
            <a:normAutofit fontScale="71429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16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68C82"/>
                </a:solidFill>
                <a:latin typeface="Microsoft YaHei"/>
                <a:ea typeface="Microsoft YaHei"/>
                <a:cs typeface="Microsoft YaHei"/>
              </a:rPr>
              <a:t>EndFrame → UpdateSurfaces → XPutImage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3C3C700-124F-4931-8FDD-B168095831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5095875"/>
            <a:ext cx="11144250" cy="97155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0F172A"/>
          </a:solidFill>
          <a:ln xmlns:a="http://schemas.openxmlformats.org/drawingml/2006/main" w="9525">
            <a:solidFill>
              <a:srgbClr val="0F172A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605A350A-53D4-4654-A46B-24BD6FF354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257800"/>
            <a:ext cx="952500" cy="238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F5B1A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F5B1A3"/>
                </a:solidFill>
                <a:latin typeface="Microsoft YaHei"/>
                <a:ea typeface="Microsoft YaHei"/>
                <a:cs typeface="Microsoft YaHei"/>
              </a:rPr>
              <a:t>源码证据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8ACD43C9-B0A2-4B67-96BC-3DB85A954F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5219700"/>
            <a:ext cx="2143125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rdpgfx_main.c:1334–1404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079AFC4C-13C6-4997-BE97-1D1DAB9036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5219700"/>
            <a:ext cx="20955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rdpgfx_codec.c:185–214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7CB237EC-D7DD-47A1-9EC7-6380D1CFD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3625" y="5219700"/>
            <a:ext cx="25717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gdi/gfx.c:316–351,1246–1301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50355BF0-2088-4127-A9C5-1B37EC956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5219700"/>
            <a:ext cx="25717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client/X11/xf_gfx.c:39–140,507–530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B255E5E1-B5A9-4EF9-B046-608D8C7DA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5619750"/>
            <a:ext cx="9525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77D5C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77D5CA"/>
                </a:solidFill>
                <a:latin typeface="Microsoft YaHei"/>
                <a:ea typeface="Microsoft YaHei"/>
                <a:cs typeface="Microsoft YaHei"/>
              </a:rPr>
              <a:t>结论：协议解析保持通用；平台差异在 SurfaceCommand / EndFrame / UpdateSurfaces 回调之后。</a:t>
            </a:r>
          </a:p>
        </p:txBody>
      </p:sp>
    </p:spTree>
    <p:extLst>
      <p:ext uri="{BB962C8B-B14F-4D97-AF65-F5344CB8AC3E}">
        <p14:creationId xmlns:p14="http://schemas.microsoft.com/office/powerpoint/2010/main" val="1688973172"/>
      </p:ext>
    </p:extLst>
  </p:cSld>
</p:sld>
</file>

<file path=ppt/slides/slide3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B28ECF0C-999D-4BDC-A777-6FF677B9EF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0500"/>
            <a:ext cx="29527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05 复杂三方项目 · GPU 适配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8648C1A-6D50-4715-870F-D57554302B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19100"/>
            <a:ext cx="1038225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适配点不是硬解 API：是协议资产与平台显示之间的回调接缝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6508FD9-6853-4D61-A4D8-03DEA34A03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247650"/>
            <a:ext cx="5143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31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BA61E52-6C84-4789-8533-4CB265143C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334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8"/>
          </a:solidFill>
          <a:ln xmlns:a="http://schemas.openxmlformats.org/drawingml/2006/main" w="0">
            <a:solidFill>
              <a:srgbClr val="D8E0E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E5218BE-6473-4D90-B2C2-EC2065EB83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53200"/>
            <a:ext cx="74295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rPr>
              <a:t>HarmonyOS · Spec-Driven Development · Ralph Workshop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B0D894F-A48C-4BC3-99D7-1E9954553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3238500"/>
            <a:ext cx="32004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6852"/>
          </a:solidFill>
          <a:ln xmlns:a="http://schemas.openxmlformats.org/drawingml/2006/main" w="0">
            <a:solidFill>
              <a:srgbClr val="E26852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654758E-3816-475B-9B05-F1E57C2015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7610475" y="3190875"/>
            <a:ext cx="104775" cy="104775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E26852"/>
          </a:solidFill>
          <a:ln xmlns:a="http://schemas.openxmlformats.org/drawingml/2006/main" w="0">
            <a:solidFill>
              <a:srgbClr val="E26852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32BE6A7-8820-4DF6-960A-6EB81AF8B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238250"/>
            <a:ext cx="4095750" cy="3905250"/>
          </a:xfrm>
          <a:prstGeom xmlns:a="http://schemas.openxmlformats.org/drawingml/2006/main" prst="roundRect">
            <a:avLst>
              <a:gd name="adj" fmla="val 4390"/>
            </a:avLst>
          </a:prstGeom>
          <a:solidFill xmlns:a="http://schemas.openxmlformats.org/drawingml/2006/main">
            <a:srgbClr val="F5F8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DB247B4-FB92-4029-8A95-63F3942D07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1524000"/>
            <a:ext cx="314325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第三方协议资产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FE67D06-3898-4EA6-A36C-8CA394DAE6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1943100"/>
            <a:ext cx="15240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保持不动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A8B31D4-2DCB-4CBB-A0BC-3549F8E4F1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81275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2899AE7-24C0-4868-989D-419D2CF574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505075"/>
            <a:ext cx="2857500" cy="4286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RDPGFX PDU 解析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10FE514-1C19-4989-B2DD-FDFA1E4625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24225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745AD8B-B2AF-4852-B840-BD3CBD272B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248025"/>
            <a:ext cx="2857500" cy="4286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AVC420 / AVC444 语义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9C07472-9269-449A-9049-57856F8191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067175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FC7F043-2D80-46D0-A24A-3759B579C2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990975"/>
            <a:ext cx="2857500" cy="4286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Surface / Frame 状态机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6994738-75F8-4D43-B841-5EE547E1E9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4572000"/>
            <a:ext cx="323850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贸然改动这里，会把平台适配扩大成协议回归。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012FB2D-0AD8-42E2-94E3-08D2CF8E9F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1238250"/>
            <a:ext cx="4000500" cy="3905250"/>
          </a:xfrm>
          <a:prstGeom xmlns:a="http://schemas.openxmlformats.org/drawingml/2006/main" prst="roundRect">
            <a:avLst>
              <a:gd name="adj" fmla="val 4390"/>
            </a:avLst>
          </a:prstGeom>
          <a:solidFill xmlns:a="http://schemas.openxmlformats.org/drawingml/2006/main">
            <a:srgbClr val="EAF8F5"/>
          </a:solidFill>
          <a:ln xmlns:a="http://schemas.openxmlformats.org/drawingml/2006/main" w="19050">
            <a:solidFill>
              <a:srgbClr val="168C82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69B606C-F40F-4683-81DE-8DFDF36867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1524000"/>
            <a:ext cx="314325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6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168C82"/>
                </a:solidFill>
                <a:latin typeface="Microsoft YaHei"/>
                <a:ea typeface="Microsoft YaHei"/>
                <a:cs typeface="Microsoft YaHei"/>
              </a:rPr>
              <a:t>HarmonyOS GPU 后端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59114D6-DFD6-4806-95AE-E6CB1E8343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581275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8C82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5C3F7F2-EF67-4D99-8E6B-CBDFD0725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505075"/>
            <a:ext cx="2857500" cy="4286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XComponent / NativeWindow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42DD6EA-3684-42B7-BA8B-B2878CFF42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3324225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8C82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2EFD01A-DC7E-4148-8077-145338D8F2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3248025"/>
            <a:ext cx="2857500" cy="4286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OH_AVCodec + NativeBuffer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2F3CEB0-6483-49F1-B73D-6C93488D88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4067175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8C82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CEB4E65-87FF-4C9B-AC42-9D923DA68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3990975"/>
            <a:ext cx="2857500" cy="4286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EGLImage / OES / FBO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34F95F6-DA4C-42A8-8908-6D6CD1523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4572000"/>
            <a:ext cx="3190875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6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68C82"/>
                </a:solidFill>
                <a:latin typeface="Microsoft YaHei"/>
                <a:ea typeface="Microsoft YaHei"/>
                <a:cs typeface="Microsoft YaHei"/>
              </a:rPr>
              <a:t>实现同一契约，不照搬 X11 的 API 与线程假设。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98307EA-DA48-4340-B8E6-885CA6C9B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1666875"/>
            <a:ext cx="3048000" cy="3143250"/>
          </a:xfrm>
          <a:prstGeom xmlns:a="http://schemas.openxmlformats.org/drawingml/2006/main" prst="roundRect">
            <a:avLst>
              <a:gd name="adj" fmla="val 5625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28575">
            <a:solidFill>
              <a:srgbClr val="E26852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5406BBF-008A-4DFA-9467-065A2D1BFA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1885950"/>
            <a:ext cx="228600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可逆 Bridge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6783956-9146-42D7-BC20-B14CEE69D0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95875" y="2476500"/>
            <a:ext cx="2000250" cy="447675"/>
          </a:xfrm>
          <a:prstGeom xmlns:a="http://schemas.openxmlformats.org/drawingml/2006/main" prst="roundRect">
            <a:avLst>
              <a:gd name="adj" fmla="val 1702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26852"/>
            </a:solidFill>
            <a:prstDash val="solid"/>
          </a:ln>
        </p:spPr>
        <p:txBody>
          <a:bodyPr xmlns:a="http://schemas.openxmlformats.org/drawingml/2006/main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SurfaceCommand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F40EA28-B626-43C5-A84B-8CA04DBF8A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95875" y="3105150"/>
            <a:ext cx="2000250" cy="447675"/>
          </a:xfrm>
          <a:prstGeom xmlns:a="http://schemas.openxmlformats.org/drawingml/2006/main" prst="roundRect">
            <a:avLst>
              <a:gd name="adj" fmla="val 1702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26852"/>
            </a:solidFill>
            <a:prstDash val="solid"/>
          </a:ln>
        </p:spPr>
        <p:txBody>
          <a:bodyPr xmlns:a="http://schemas.openxmlformats.org/drawingml/2006/main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EndFrame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ADAD0B7-19AA-4100-A5CF-F9FD28708A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95875" y="3733800"/>
            <a:ext cx="2000250" cy="447675"/>
          </a:xfrm>
          <a:prstGeom xmlns:a="http://schemas.openxmlformats.org/drawingml/2006/main" prst="roundRect">
            <a:avLst>
              <a:gd name="adj" fmla="val 1702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26852"/>
            </a:solidFill>
            <a:prstDash val="solid"/>
          </a:ln>
        </p:spPr>
        <p:txBody>
          <a:bodyPr xmlns:a="http://schemas.openxmlformats.org/drawingml/2006/main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UpdateSurfaces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D51C45B-A9EE-490D-ACE9-41EF3A2D71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4324350"/>
            <a:ext cx="2286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先保存 original callbacks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43EEBE11-3366-4BCD-8447-F1920DE631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5381625"/>
            <a:ext cx="11096625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0F172A"/>
          </a:solidFill>
          <a:ln xmlns:a="http://schemas.openxmlformats.org/drawingml/2006/main" w="9525">
            <a:solidFill>
              <a:srgbClr val="0F172A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FB56190C-8F67-4A12-8F86-1BC76CD50E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553075"/>
            <a:ext cx="1143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5B1A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5B1A3"/>
                </a:solidFill>
                <a:latin typeface="Microsoft YaHei"/>
                <a:ea typeface="Microsoft YaHei"/>
                <a:cs typeface="Microsoft YaHei"/>
              </a:rPr>
              <a:t>四条不变量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62EA1F4E-AB6B-4FE4-9812-C5C0542933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2625" y="5534025"/>
            <a:ext cx="9334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original 始终可达  ·  首帧前不 suppress GDI  ·  一帧只有一个 owner  ·  matched EndFrame 才 present</a:t>
            </a:r>
          </a:p>
        </p:txBody>
      </p:sp>
    </p:spTree>
    <p:extLst>
      <p:ext uri="{BB962C8B-B14F-4D97-AF65-F5344CB8AC3E}">
        <p14:creationId xmlns:p14="http://schemas.microsoft.com/office/powerpoint/2010/main" val="1770577678"/>
      </p:ext>
    </p:extLst>
  </p:cSld>
</p:sld>
</file>

<file path=ppt/slides/slide3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B4512F82-A5C0-4E96-8944-A8D62C5199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0500"/>
            <a:ext cx="29527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05 复杂三方项目 · GPU 适配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1F65715-B15E-481F-9D83-83D5DEBCD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19100"/>
            <a:ext cx="1038225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探针 2：用 XComponent 穿刺“硬解 → 零拷贝 → 帧边界提交”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1754060-4327-42EC-90AB-5391D3B5AF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247650"/>
            <a:ext cx="5143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32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8DC4D65-C38C-4962-9308-13F12AB7B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334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8"/>
          </a:solidFill>
          <a:ln xmlns:a="http://schemas.openxmlformats.org/drawingml/2006/main" w="0">
            <a:solidFill>
              <a:srgbClr val="D8E0E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E427F46-F4C0-44B9-B2A2-79E90E87B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53200"/>
            <a:ext cx="74295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rPr>
              <a:t>HarmonyOS · Spec-Driven Development · Ralph Workshop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448465B-8D60-48E6-A4C1-0A144984E1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2600325"/>
            <a:ext cx="390525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0">
            <a:solidFill>
              <a:srgbClr val="1677C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787931E-2784-46BE-A44A-770590E9E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2181225" y="2552700"/>
            <a:ext cx="104775" cy="104775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0">
            <a:solidFill>
              <a:srgbClr val="1677C8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D228990-2E31-4831-A942-A0AFA02E5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2600325"/>
            <a:ext cx="390525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0">
            <a:solidFill>
              <a:srgbClr val="1677C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8260627-EC48-4CD7-B34E-58F6AE611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3990975" y="2552700"/>
            <a:ext cx="104775" cy="104775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0">
            <a:solidFill>
              <a:srgbClr val="1677C8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835E17F-AA11-4CEC-8F22-15B029D802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2600325"/>
            <a:ext cx="390525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C82"/>
          </a:solidFill>
          <a:ln xmlns:a="http://schemas.openxmlformats.org/drawingml/2006/main" w="0">
            <a:solidFill>
              <a:srgbClr val="168C82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828A7A0-CB6F-4325-8B63-DD0FF3680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5800725" y="2552700"/>
            <a:ext cx="104775" cy="104775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168C82"/>
          </a:solidFill>
          <a:ln xmlns:a="http://schemas.openxmlformats.org/drawingml/2006/main" w="0">
            <a:solidFill>
              <a:srgbClr val="168C82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D0EDCF5-3A1B-4312-B253-F41035B57B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600325"/>
            <a:ext cx="390525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C82"/>
          </a:solidFill>
          <a:ln xmlns:a="http://schemas.openxmlformats.org/drawingml/2006/main" w="0">
            <a:solidFill>
              <a:srgbClr val="168C82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886A5FA-137F-4698-8AC0-5E14D7826A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7610475" y="2552700"/>
            <a:ext cx="104775" cy="104775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168C82"/>
          </a:solidFill>
          <a:ln xmlns:a="http://schemas.openxmlformats.org/drawingml/2006/main" w="0">
            <a:solidFill>
              <a:srgbClr val="168C82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61E5717-F717-4988-AC82-19FFC7D222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2600325"/>
            <a:ext cx="390525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C82"/>
          </a:solidFill>
          <a:ln xmlns:a="http://schemas.openxmlformats.org/drawingml/2006/main" w="0">
            <a:solidFill>
              <a:srgbClr val="168C82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6DAE175-3BD9-45EE-BA61-8AAA516881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9420225" y="2552700"/>
            <a:ext cx="104775" cy="104775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168C82"/>
          </a:solidFill>
          <a:ln xmlns:a="http://schemas.openxmlformats.org/drawingml/2006/main" w="0">
            <a:solidFill>
              <a:srgbClr val="168C82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2DECAEB-2C42-4C38-BC53-EBE5E0940D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095500"/>
            <a:ext cx="1371600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  <p:txBody>
          <a:bodyPr xmlns:a="http://schemas.openxmlformats.org/drawingml/2006/main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SurfaceCommand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D4FA396-7196-4D59-88C6-129B887A25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2905125"/>
            <a:ext cx="14287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压缩码流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78B6577-A2D7-404F-A29B-679A581CD4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2095500"/>
            <a:ext cx="1371600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  <p:txBody>
          <a:bodyPr xmlns:a="http://schemas.openxmlformats.org/drawingml/2006/main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OH_AVCodec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5ED8CC5-3F8F-4296-A0FA-92E7133A4F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2905125"/>
            <a:ext cx="14287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HARDWARE AVC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2F0B8AA-62FD-42F2-85A6-08BE33D187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6700" y="2095500"/>
            <a:ext cx="1371600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AF8F5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  <p:txBody>
          <a:bodyPr xmlns:a="http://schemas.openxmlformats.org/drawingml/2006/main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6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68C82"/>
                </a:solidFill>
                <a:latin typeface="Microsoft YaHei"/>
                <a:ea typeface="Microsoft YaHei"/>
                <a:cs typeface="Microsoft YaHei"/>
              </a:rPr>
              <a:t>NativeBuffer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A30B3B2-E7F4-4403-98F8-2099EEBF37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48125" y="2905125"/>
            <a:ext cx="14287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format / stride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4D4876C-F4AD-49C6-9EAA-8D543CC973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6450" y="2095500"/>
            <a:ext cx="1371600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AF8F5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  <p:txBody>
          <a:bodyPr xmlns:a="http://schemas.openxmlformats.org/drawingml/2006/main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6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68C82"/>
                </a:solidFill>
                <a:latin typeface="Microsoft YaHei"/>
                <a:ea typeface="Microsoft YaHei"/>
                <a:cs typeface="Microsoft YaHei"/>
              </a:rPr>
              <a:t>EGLImage + OES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0D0A02B-8A03-4181-90BD-10AF0C0C96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7875" y="2905125"/>
            <a:ext cx="14287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零拷贝 import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CE1E7C3-EE7B-4D5F-9273-3914C9EC2F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2095500"/>
            <a:ext cx="1371600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AF8F5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  <p:txBody>
          <a:bodyPr xmlns:a="http://schemas.openxmlformats.org/drawingml/2006/main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6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68C82"/>
                </a:solidFill>
                <a:latin typeface="Microsoft YaHei"/>
                <a:ea typeface="Microsoft YaHei"/>
                <a:cs typeface="Microsoft YaHei"/>
              </a:rPr>
              <a:t>Retained FBO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244E886-C477-4301-AB14-DE5957B6AE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2905125"/>
            <a:ext cx="14287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dirty compose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1E3FD14-2CBB-4F30-9EAE-E856532C2C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2095500"/>
            <a:ext cx="1371600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9525">
            <a:solidFill>
              <a:srgbClr val="E26852"/>
            </a:solidFill>
            <a:prstDash val="solid"/>
          </a:ln>
        </p:spPr>
        <p:txBody>
          <a:bodyPr xmlns:a="http://schemas.openxmlformats.org/drawingml/2006/main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EndFrame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386D476-09B9-4391-B9AB-A7B3357B7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77375" y="2905125"/>
            <a:ext cx="14287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matched → swap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3DC8CC2-DBB2-4A43-A921-C0B5678B10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304925"/>
            <a:ext cx="171450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6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168C82"/>
                </a:solidFill>
                <a:latin typeface="Microsoft YaHei"/>
                <a:ea typeface="Microsoft YaHei"/>
                <a:cs typeface="Microsoft YaHei"/>
              </a:rPr>
              <a:t>一帧 probe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7E2F72A-3391-4EAF-8B71-221B2C7228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1343025"/>
            <a:ext cx="7239000" cy="333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不先改完整远控链路，只验证三个互操作边界是否真的成立。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0480879-8229-49E6-A2B8-D3047598FE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905250"/>
            <a:ext cx="2667000" cy="704850"/>
          </a:xfrm>
          <a:prstGeom xmlns:a="http://schemas.openxmlformats.org/drawingml/2006/main" prst="roundRect">
            <a:avLst>
              <a:gd name="adj" fmla="val 1621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  <p:txBody>
          <a:bodyPr xmlns:a="http://schemas.openxmlformats.org/drawingml/2006/main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Surface 生命周期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EF6F29D4-2987-476E-B96E-DF454746E6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905250"/>
            <a:ext cx="2667000" cy="704850"/>
          </a:xfrm>
          <a:prstGeom xmlns:a="http://schemas.openxmlformats.org/drawingml/2006/main" prst="roundRect">
            <a:avLst>
              <a:gd name="adj" fmla="val 1621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  <p:txBody>
          <a:bodyPr xmlns:a="http://schemas.openxmlformats.org/drawingml/2006/main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6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68C82"/>
                </a:solidFill>
                <a:latin typeface="Microsoft YaHei"/>
                <a:ea typeface="Microsoft YaHei"/>
                <a:cs typeface="Microsoft YaHei"/>
              </a:rPr>
              <a:t>Decoder / Buffer 所有权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8D58143-F25E-4AB4-B335-FD89AB775D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3905250"/>
            <a:ext cx="2667000" cy="704850"/>
          </a:xfrm>
          <a:prstGeom xmlns:a="http://schemas.openxmlformats.org/drawingml/2006/main" prst="roundRect">
            <a:avLst>
              <a:gd name="adj" fmla="val 1621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26852"/>
            </a:solidFill>
            <a:prstDash val="solid"/>
          </a:ln>
        </p:spPr>
        <p:txBody>
          <a:bodyPr xmlns:a="http://schemas.openxmlformats.org/drawingml/2006/main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pending / EndFrame 边界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56253344-1578-48EC-8D7D-F76B47173C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4619625"/>
            <a:ext cx="28575" cy="485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0">
            <a:solidFill>
              <a:srgbClr val="1677C8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6B42210D-FF61-46F4-A587-37E9392FBF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0800000">
            <a:off x="2152650" y="5086350"/>
            <a:ext cx="104775" cy="104775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0">
            <a:solidFill>
              <a:srgbClr val="1677C8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0980B17C-AED9-4E6B-AF23-1D97D2F388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619625"/>
            <a:ext cx="28575" cy="485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C82"/>
          </a:solidFill>
          <a:ln xmlns:a="http://schemas.openxmlformats.org/drawingml/2006/main" w="0">
            <a:solidFill>
              <a:srgbClr val="168C82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5E1CF2AE-8F20-4E3F-9B23-0A1D68AD81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0800000">
            <a:off x="6057900" y="5086350"/>
            <a:ext cx="104775" cy="104775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168C82"/>
          </a:solidFill>
          <a:ln xmlns:a="http://schemas.openxmlformats.org/drawingml/2006/main" w="0">
            <a:solidFill>
              <a:srgbClr val="168C82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5CDB243C-7053-46CA-A305-A41675F31C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4619625"/>
            <a:ext cx="28575" cy="485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6852"/>
          </a:solidFill>
          <a:ln xmlns:a="http://schemas.openxmlformats.org/drawingml/2006/main" w="0">
            <a:solidFill>
              <a:srgbClr val="E26852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0280C242-C944-438F-8608-CBB4D50B16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0800000">
            <a:off x="9963150" y="5086350"/>
            <a:ext cx="104775" cy="104775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E26852"/>
          </a:solidFill>
          <a:ln xmlns:a="http://schemas.openxmlformats.org/drawingml/2006/main" w="0">
            <a:solidFill>
              <a:srgbClr val="E26852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45813A6C-CBB1-4908-AC08-200BE65A6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5286375"/>
            <a:ext cx="25717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created / changed / destroyed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8B900F01-27B5-4E04-85E0-2F7FC0B7B1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5286375"/>
            <a:ext cx="25717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input PTS ↔ output buffer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801DE1ED-5F24-40AC-926F-1789607B6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5375" y="5286375"/>
            <a:ext cx="25717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不提前显示 · 不双写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E262E769-E0A1-416B-B852-2940B38F0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5810250"/>
            <a:ext cx="11096625" cy="352425"/>
          </a:xfrm>
          <a:prstGeom xmlns:a="http://schemas.openxmlformats.org/drawingml/2006/main" prst="roundRect">
            <a:avLst>
              <a:gd name="adj" fmla="val 21622"/>
            </a:avLst>
          </a:prstGeom>
          <a:solidFill xmlns:a="http://schemas.openxmlformats.org/drawingml/2006/main">
            <a:srgbClr val="F5F8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9018A02A-8335-4A69-96B0-75AC790E4A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67400"/>
            <a:ext cx="10763250" cy="2190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源码：xcomponent_native_host.cpp:22–76  ·  native_bridge_context.cpp:284–323  ·  compositor:551–603 / 788–803 / 1569–1632 / 2248–2393</a:t>
            </a:r>
          </a:p>
        </p:txBody>
      </p:sp>
    </p:spTree>
    <p:extLst>
      <p:ext uri="{BB962C8B-B14F-4D97-AF65-F5344CB8AC3E}">
        <p14:creationId xmlns:p14="http://schemas.microsoft.com/office/powerpoint/2010/main" val="522894115"/>
      </p:ext>
    </p:extLst>
  </p:cSld>
</p:sld>
</file>

<file path=ppt/slides/slide3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BBBC6A8C-0AFB-4F34-BC70-14B50A8505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0500"/>
            <a:ext cx="29527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05 复杂三方项目 · GPU 适配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30F1741-9021-4DDE-9BF6-FED7E8A115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19100"/>
            <a:ext cx="1038225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穿刺结论：五道 Gate 逐个关闭未知，全部有证据才冻结方案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109E85D-6F33-4246-81A4-74DCD50AB0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247650"/>
            <a:ext cx="5143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33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6E0CDC2-6A40-4E26-A461-B692CC200B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334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8"/>
          </a:solidFill>
          <a:ln xmlns:a="http://schemas.openxmlformats.org/drawingml/2006/main" w="0">
            <a:solidFill>
              <a:srgbClr val="D8E0E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8A9DD47-10F0-4A0E-8CA5-964512F27E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53200"/>
            <a:ext cx="74295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rPr>
              <a:t>HarmonyOS · Spec-Driven Development · Ralph Workshop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C483278-7894-46D9-90A2-BCC590BD3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333625"/>
            <a:ext cx="89154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C82"/>
          </a:solidFill>
          <a:ln xmlns:a="http://schemas.openxmlformats.org/drawingml/2006/main" w="0">
            <a:solidFill>
              <a:srgbClr val="168C82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4D65298-76D6-4314-BB37-8C5CEBFE26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9896475" y="2286000"/>
            <a:ext cx="104775" cy="104775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168C82"/>
          </a:solidFill>
          <a:ln xmlns:a="http://schemas.openxmlformats.org/drawingml/2006/main" w="0">
            <a:solidFill>
              <a:srgbClr val="168C82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EDE9C65-1C2E-4B09-A5B4-5CAA36C79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" y="2181225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8C82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8299085-DC99-4B95-920B-3F4FBC0AB3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14500"/>
            <a:ext cx="571500" cy="333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6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68C82"/>
                </a:solidFill>
                <a:latin typeface="Microsoft YaHei"/>
                <a:ea typeface="Microsoft YaHei"/>
                <a:cs typeface="Microsoft YaHei"/>
              </a:rPr>
              <a:t>G1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270AEFB-AF70-4993-891D-845479CC4C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" y="2619375"/>
            <a:ext cx="1428750" cy="333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Surface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1396CED-0EC2-4CD2-B39A-8605293503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3028950"/>
            <a:ext cx="167640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target 可创建 / 更新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B526053-BCC6-41D2-BDD5-FBDA33EC44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2181225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8C82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1D0FE67-40B6-489A-B5CE-EC3F19410D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5125" y="1714500"/>
            <a:ext cx="571500" cy="333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6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68C82"/>
                </a:solidFill>
                <a:latin typeface="Microsoft YaHei"/>
                <a:ea typeface="Microsoft YaHei"/>
                <a:cs typeface="Microsoft YaHei"/>
              </a:rPr>
              <a:t>G2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430553B-3869-463A-B5BD-CAD93B678D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2619375"/>
            <a:ext cx="1428750" cy="333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Decoder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A403B2B-5173-463F-840C-5639CE0EE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2675" y="3028950"/>
            <a:ext cx="167640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HARDWARE AVC 可启动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F61977B-8956-45CA-B4E5-3586A226DA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72075" y="2181225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8C82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2599B59-BAA9-458A-A8AA-E3867D3C57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1714500"/>
            <a:ext cx="571500" cy="333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6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68C82"/>
                </a:solidFill>
                <a:latin typeface="Microsoft YaHei"/>
                <a:ea typeface="Microsoft YaHei"/>
                <a:cs typeface="Microsoft YaHei"/>
              </a:rPr>
              <a:t>G3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AE4FA77-32B7-43C3-955C-C6BFA8EA86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2619375"/>
            <a:ext cx="1428750" cy="333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Output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596CDDF-104E-4FD4-9C23-8BAC76D791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3028950"/>
            <a:ext cx="167640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NativeBuffer + format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5FC088A-3EF8-49C9-827D-622DEBD82A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2181225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8C82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AA83155-22EE-4ABA-88E1-13B8A61E5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1375" y="1714500"/>
            <a:ext cx="571500" cy="333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6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68C82"/>
                </a:solidFill>
                <a:latin typeface="Microsoft YaHei"/>
                <a:ea typeface="Microsoft YaHei"/>
                <a:cs typeface="Microsoft YaHei"/>
              </a:rPr>
              <a:t>G4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706BE54-786F-4A2A-B129-2641F4751C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619375"/>
            <a:ext cx="1428750" cy="333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Import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6271C15-AE74-44CF-AD18-5C98CBCD32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38925" y="3028950"/>
            <a:ext cx="167640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EGLImage / OES 成功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3A5434A-D044-4408-8746-2BFEE7B2D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58325" y="2181225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8C82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500D19F-291E-4063-96F5-674BF483AE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1714500"/>
            <a:ext cx="571500" cy="333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6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68C82"/>
                </a:solidFill>
                <a:latin typeface="Microsoft YaHei"/>
                <a:ea typeface="Microsoft YaHei"/>
                <a:cs typeface="Microsoft YaHei"/>
              </a:rPr>
              <a:t>G5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1680D81-AB0E-4597-AF92-45AC2E07F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05875" y="2619375"/>
            <a:ext cx="1428750" cy="333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Present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BB82DC0-ECB4-41E0-83B0-19F3B46390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3028950"/>
            <a:ext cx="167640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matched EndFrame 才 swap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F9D8C64-56FA-4FF3-90AA-279436D7A8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3857625"/>
            <a:ext cx="7858125" cy="1619250"/>
          </a:xfrm>
          <a:prstGeom xmlns:a="http://schemas.openxmlformats.org/drawingml/2006/main" prst="roundRect">
            <a:avLst>
              <a:gd name="adj" fmla="val 8235"/>
            </a:avLst>
          </a:prstGeom>
          <a:solidFill xmlns:a="http://schemas.openxmlformats.org/drawingml/2006/main">
            <a:srgbClr val="0F172A"/>
          </a:solidFill>
          <a:ln xmlns:a="http://schemas.openxmlformats.org/drawingml/2006/main" w="9525">
            <a:solidFill>
              <a:srgbClr val="0F172A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E307DB2-E762-4529-A97A-862CF7320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95750"/>
            <a:ext cx="24765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每道 Gate 的证据格式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C72F47B-DC17-4ED8-9BF7-7B7CB046D8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572000"/>
            <a:ext cx="6953250" cy="3524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77D5C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77D5CA"/>
                </a:solidFill>
                <a:latin typeface="Microsoft YaHei"/>
                <a:ea typeface="Microsoft YaHei"/>
                <a:cs typeface="Microsoft YaHei"/>
              </a:rPr>
              <a:t>Input → path::symbol → expected → actual → Verdict → artifact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55F864A-7B6B-4F67-BBAC-400EDE7AED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048250"/>
            <a:ext cx="69532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38100" tIns="19050" rIns="38100" bIns="19050" anchor="t">
            <a:normAutofit fontScale="98883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CBD5E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CBD5E1"/>
                </a:solidFill>
                <a:latin typeface="Microsoft YaHei"/>
                <a:ea typeface="Microsoft YaHei"/>
                <a:cs typeface="Microsoft YaHei"/>
              </a:rPr>
              <a:t>缺 hardware identity、同 run trace 或 fallback 记录时，只能标 PENDING；不能拿源码事实替代运行事实。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B3372300-FD5D-4AE8-8723-71A3E109D4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3857625"/>
            <a:ext cx="2952750" cy="1619250"/>
          </a:xfrm>
          <a:prstGeom xmlns:a="http://schemas.openxmlformats.org/drawingml/2006/main" prst="roundRect">
            <a:avLst>
              <a:gd name="adj" fmla="val 8235"/>
            </a:avLst>
          </a:prstGeom>
          <a:solidFill xmlns:a="http://schemas.openxmlformats.org/drawingml/2006/main">
            <a:srgbClr val="EEF8F1"/>
          </a:solidFill>
          <a:ln xmlns:a="http://schemas.openxmlformats.org/drawingml/2006/main" w="19050">
            <a:solidFill>
              <a:srgbClr val="2F8F5B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7B4E32A-F14E-44D5-A7C5-1E3ED4A91B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01125" y="4095750"/>
            <a:ext cx="22860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2F8F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2F8F5B"/>
                </a:solidFill>
                <a:latin typeface="Microsoft YaHei"/>
                <a:ea typeface="Microsoft YaHei"/>
                <a:cs typeface="Microsoft YaHei"/>
              </a:rPr>
              <a:t>Verdict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5B1DD07-2C1C-4426-8CC8-B18291CF9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01125" y="4524375"/>
            <a:ext cx="228600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2F8F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2F8F5B"/>
                </a:solidFill>
                <a:latin typeface="Microsoft YaHei"/>
                <a:ea typeface="Microsoft YaHei"/>
                <a:cs typeface="Microsoft YaHei"/>
              </a:rPr>
              <a:t>技术方向可行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FF939B5E-D151-4AA3-ACBC-B58D89D9EE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01125" y="4981575"/>
            <a:ext cx="228600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进入方案冻结</a:t>
            </a:r>
          </a:p>
          <a:p xmlns:a="http://schemas.openxmlformats.org/drawingml/2006/main">
            <a:pPr algn="ctr">
              <a:defRPr sz="112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≠ 性能已经验收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77EF7D0A-CC51-437D-BAA1-4765DA40F5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5715000"/>
            <a:ext cx="11096625" cy="428625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FFF7E3"/>
          </a:solidFill>
          <a:ln xmlns:a="http://schemas.openxmlformats.org/drawingml/2006/main" w="9525">
            <a:solidFill>
              <a:srgbClr val="D89518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2175BDB9-E568-4A1B-8F32-CEDAB8E54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800725"/>
            <a:ext cx="10715625" cy="2571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D895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D89518"/>
                </a:solidFill>
                <a:latin typeface="Microsoft YaHei"/>
                <a:ea typeface="Microsoft YaHei"/>
                <a:cs typeface="Microsoft YaHei"/>
              </a:rPr>
              <a:t>当前课堂材料：源码可证明五个边界；最终同设备 A/B 性能仍保留视频与 trace 占位。</a:t>
            </a:r>
          </a:p>
        </p:txBody>
      </p:sp>
    </p:spTree>
    <p:extLst>
      <p:ext uri="{BB962C8B-B14F-4D97-AF65-F5344CB8AC3E}">
        <p14:creationId xmlns:p14="http://schemas.microsoft.com/office/powerpoint/2010/main" val="230826617"/>
      </p:ext>
    </p:extLst>
  </p:cSld>
</p:sld>
</file>

<file path=ppt/slides/slide3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4E78B72-70B3-472A-A866-26EEEA337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0500"/>
            <a:ext cx="29527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05 复杂三方项目 · GPU 适配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319FE28-BF4D-4334-9775-D1209694F9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19100"/>
            <a:ext cx="1038225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最终方案：在回调缝隙受控接管 GPU，任何失败都回到 original GDI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8BD9D0F-1D9F-4C74-8584-8F9D129946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247650"/>
            <a:ext cx="5143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34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C92B313-8FC1-4ED8-8F3F-4FE316EC71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334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8"/>
          </a:solidFill>
          <a:ln xmlns:a="http://schemas.openxmlformats.org/drawingml/2006/main" w="0">
            <a:solidFill>
              <a:srgbClr val="D8E0E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FCFB8B5-9818-4FBB-8080-80992522C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53200"/>
            <a:ext cx="74295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rPr>
              <a:t>HarmonyOS · Spec-Driven Development · Ralph Workshop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B1F67CC-FFE3-4876-804F-C2ACC4BF30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2625" y="2238375"/>
            <a:ext cx="1628775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6852"/>
          </a:solidFill>
          <a:ln xmlns:a="http://schemas.openxmlformats.org/drawingml/2006/main" w="0">
            <a:solidFill>
              <a:srgbClr val="E26852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A8F49FD-5AD1-4039-B748-76D2F3F81E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3562350" y="2190750"/>
            <a:ext cx="104775" cy="104775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E26852"/>
          </a:solidFill>
          <a:ln xmlns:a="http://schemas.openxmlformats.org/drawingml/2006/main" w="0">
            <a:solidFill>
              <a:srgbClr val="E26852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5D1C264-4913-423E-A28E-B4D750FFED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2238375"/>
            <a:ext cx="1152525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C82"/>
          </a:solidFill>
          <a:ln xmlns:a="http://schemas.openxmlformats.org/drawingml/2006/main" w="0">
            <a:solidFill>
              <a:srgbClr val="168C82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11BC87D-7D69-4284-9075-3D498A8849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5943600" y="2190750"/>
            <a:ext cx="104775" cy="104775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168C82"/>
          </a:solidFill>
          <a:ln xmlns:a="http://schemas.openxmlformats.org/drawingml/2006/main" w="0">
            <a:solidFill>
              <a:srgbClr val="168C82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F58060C-3C4D-48A3-9232-0659E322FE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1375" y="2238375"/>
            <a:ext cx="1152525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C82"/>
          </a:solidFill>
          <a:ln xmlns:a="http://schemas.openxmlformats.org/drawingml/2006/main" w="0">
            <a:solidFill>
              <a:srgbClr val="168C82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FCB890D-EEA8-4A82-AD37-42C5AEB84A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8324850" y="2190750"/>
            <a:ext cx="104775" cy="104775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168C82"/>
          </a:solidFill>
          <a:ln xmlns:a="http://schemas.openxmlformats.org/drawingml/2006/main" w="0">
            <a:solidFill>
              <a:srgbClr val="168C82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7A7B484-9FC3-4D82-9972-A182141DDB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72625" y="2238375"/>
            <a:ext cx="12954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C82"/>
          </a:solidFill>
          <a:ln xmlns:a="http://schemas.openxmlformats.org/drawingml/2006/main" w="0">
            <a:solidFill>
              <a:srgbClr val="168C82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41664DC-475F-4488-A232-FF3AD20DB7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10848975" y="2190750"/>
            <a:ext cx="104775" cy="104775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168C82"/>
          </a:solidFill>
          <a:ln xmlns:a="http://schemas.openxmlformats.org/drawingml/2006/main" w="0">
            <a:solidFill>
              <a:srgbClr val="168C82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A25D10D-0532-4D3A-844B-1AFDF7645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2714625"/>
            <a:ext cx="38100" cy="1295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6852"/>
          </a:solidFill>
          <a:ln xmlns:a="http://schemas.openxmlformats.org/drawingml/2006/main" w="0">
            <a:solidFill>
              <a:srgbClr val="E26852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75BE366-BD32-4702-AEAB-7E637208C9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0800000">
            <a:off x="4200525" y="3990975"/>
            <a:ext cx="104775" cy="104775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E26852"/>
          </a:solidFill>
          <a:ln xmlns:a="http://schemas.openxmlformats.org/drawingml/2006/main" w="0">
            <a:solidFill>
              <a:srgbClr val="E26852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2D4EBE0-9704-48BF-8EF7-B5BDAB0EEE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4095750"/>
            <a:ext cx="50101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6852"/>
          </a:solidFill>
          <a:ln xmlns:a="http://schemas.openxmlformats.org/drawingml/2006/main" w="0">
            <a:solidFill>
              <a:srgbClr val="E26852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A174A94-28F0-46DC-86A4-42A4E42EE1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9229725" y="4048125"/>
            <a:ext cx="104775" cy="104775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E26852"/>
          </a:solidFill>
          <a:ln xmlns:a="http://schemas.openxmlformats.org/drawingml/2006/main" w="0">
            <a:solidFill>
              <a:srgbClr val="E26852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331776B-5B9B-4317-8EA1-F5A5A32BA0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3000375"/>
            <a:ext cx="38100" cy="1009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6852"/>
          </a:solidFill>
          <a:ln xmlns:a="http://schemas.openxmlformats.org/drawingml/2006/main" w="0">
            <a:solidFill>
              <a:srgbClr val="E26852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5DB8778-C723-4C4B-8B98-0A97FC54ED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96400" y="3000375"/>
            <a:ext cx="104775" cy="104775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E26852"/>
          </a:solidFill>
          <a:ln xmlns:a="http://schemas.openxmlformats.org/drawingml/2006/main" w="0">
            <a:solidFill>
              <a:srgbClr val="E26852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6AB6829-40DC-4797-A386-4E3774326F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1809750"/>
            <a:ext cx="1238250" cy="85725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  <p:txBody>
          <a:bodyPr xmlns:a="http://schemas.openxmlformats.org/drawingml/2006/main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RDPGFX</a:t>
            </a:r>
          </a:p>
          <a:p xmlns:a="http://schemas.openxmlformats.org/drawingml/2006/main">
            <a:pPr algn="ctr">
              <a:defRPr sz="135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PDU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E7AE150-10F4-415B-9108-1A83C9851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7125" y="1714500"/>
            <a:ext cx="1143000" cy="1047750"/>
          </a:xfrm>
          <a:prstGeom xmlns:a="http://schemas.openxmlformats.org/drawingml/2006/main" prst="diamond">
            <a:avLst/>
          </a:prstGeom>
          <a:solidFill xmlns:a="http://schemas.openxmlformats.org/drawingml/2006/main">
            <a:srgbClr val="FFF0EC"/>
          </a:solidFill>
          <a:ln xmlns:a="http://schemas.openxmlformats.org/drawingml/2006/main" w="9525">
            <a:solidFill>
              <a:srgbClr val="E26852"/>
            </a:solidFill>
            <a:prstDash val="solid"/>
          </a:ln>
        </p:spPr>
        <p:txBody>
          <a:bodyPr xmlns:a="http://schemas.openxmlformats.org/drawingml/2006/main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candidate?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DFC4F19-ACC5-4DB5-A551-D955936A7C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1809750"/>
            <a:ext cx="1143000" cy="85725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EAF8F5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  <p:txBody>
          <a:bodyPr xmlns:a="http://schemas.openxmlformats.org/drawingml/2006/main" lIns="76200" tIns="47625" rIns="76200" bIns="47625" anchor="ctr">
            <a:normAutofit fontScale="95014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6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68C82"/>
                </a:solidFill>
                <a:latin typeface="Microsoft YaHei"/>
                <a:ea typeface="Microsoft YaHei"/>
                <a:cs typeface="Microsoft YaHei"/>
              </a:rPr>
              <a:t>AVCodec</a:t>
            </a:r>
          </a:p>
          <a:p xmlns:a="http://schemas.openxmlformats.org/drawingml/2006/main">
            <a:pPr algn="ctr">
              <a:defRPr sz="1200" b="1">
                <a:solidFill>
                  <a:srgbClr val="16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68C82"/>
                </a:solidFill>
                <a:latin typeface="Microsoft YaHei"/>
                <a:ea typeface="Microsoft YaHei"/>
                <a:cs typeface="Microsoft YaHei"/>
              </a:rPr>
              <a:t>+ NativeBuffer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806ED44-5106-49A1-BE0A-93B22E7D22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1809750"/>
            <a:ext cx="1143000" cy="85725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EAF8F5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  <p:txBody>
          <a:bodyPr xmlns:a="http://schemas.openxmlformats.org/drawingml/2006/main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6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68C82"/>
                </a:solidFill>
                <a:latin typeface="Microsoft YaHei"/>
                <a:ea typeface="Microsoft YaHei"/>
                <a:cs typeface="Microsoft YaHei"/>
              </a:rPr>
              <a:t>EGL / retained FBO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4519CFA-86A2-4E4E-AC94-C4E04C9227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1809750"/>
            <a:ext cx="952500" cy="85725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EEF8F1"/>
          </a:solidFill>
          <a:ln xmlns:a="http://schemas.openxmlformats.org/drawingml/2006/main" w="9525">
            <a:solidFill>
              <a:srgbClr val="2F8F5B"/>
            </a:solidFill>
            <a:prstDash val="solid"/>
          </a:ln>
        </p:spPr>
        <p:txBody>
          <a:bodyPr xmlns:a="http://schemas.openxmlformats.org/drawingml/2006/main" lIns="76200" tIns="47625" rIns="76200" bIns="47625" anchor="ctr">
            <a:normAutofit fontScale="8687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2F8F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2F8F5B"/>
                </a:solidFill>
                <a:latin typeface="Microsoft YaHei"/>
                <a:ea typeface="Microsoft YaHei"/>
                <a:cs typeface="Microsoft YaHei"/>
              </a:rPr>
              <a:t>matched EndFrame</a:t>
            </a:r>
          </a:p>
          <a:p xmlns:a="http://schemas.openxmlformats.org/drawingml/2006/main">
            <a:pPr algn="ctr">
              <a:defRPr sz="1050" b="1">
                <a:solidFill>
                  <a:srgbClr val="2F8F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2F8F5B"/>
                </a:solidFill>
                <a:latin typeface="Microsoft YaHei"/>
                <a:ea typeface="Microsoft YaHei"/>
                <a:cs typeface="Microsoft YaHei"/>
              </a:rPr>
              <a:t>→ XComponent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4B121D1-0C6B-457F-BC1F-F9E6514ECD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3762375"/>
            <a:ext cx="3143250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9525">
            <a:solidFill>
              <a:srgbClr val="E26852"/>
            </a:solidFill>
            <a:prstDash val="solid"/>
          </a:ln>
        </p:spPr>
        <p:txBody>
          <a:bodyPr xmlns:a="http://schemas.openxmlformats.org/drawingml/2006/main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original SurfaceCommand</a:t>
            </a:r>
          </a:p>
          <a:p xmlns:a="http://schemas.openxmlformats.org/drawingml/2006/main">
            <a:pPr algn="ctr">
              <a:defRPr sz="135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+ original EndFrame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6BDF0B1-1123-4DCB-88E5-509F6CC32B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5125" y="3476625"/>
            <a:ext cx="24765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NO / not consumed / target lost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CAF91E4-C113-4852-A765-F6E5212718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1733550"/>
            <a:ext cx="1476375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16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68C82"/>
                </a:solidFill>
                <a:latin typeface="Microsoft YaHei"/>
                <a:ea typeface="Microsoft YaHei"/>
                <a:cs typeface="Microsoft YaHei"/>
              </a:rPr>
              <a:t>YES · 首帧成功后再切 owner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1F47483-11D8-43CB-A1EA-4D4F7B09AF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4905375"/>
            <a:ext cx="11096625" cy="1162050"/>
          </a:xfrm>
          <a:prstGeom xmlns:a="http://schemas.openxmlformats.org/drawingml/2006/main" prst="roundRect">
            <a:avLst>
              <a:gd name="adj" fmla="val 11475"/>
            </a:avLst>
          </a:prstGeom>
          <a:solidFill xmlns:a="http://schemas.openxmlformats.org/drawingml/2006/main">
            <a:srgbClr val="0F172A"/>
          </a:solidFill>
          <a:ln xmlns:a="http://schemas.openxmlformats.org/drawingml/2006/main" w="9525">
            <a:solidFill>
              <a:srgbClr val="0F172A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7086F9F-5FA3-41EE-BDAE-2B828E2D8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133975"/>
            <a:ext cx="904875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5B1A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5B1A3"/>
                </a:solidFill>
                <a:latin typeface="Microsoft YaHei"/>
                <a:ea typeface="Microsoft YaHei"/>
                <a:cs typeface="Microsoft YaHei"/>
              </a:rPr>
              <a:t>控制面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F34F6D5-7C13-461B-828F-4A240BA85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5095875"/>
            <a:ext cx="9572625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Bridge 保存 original → 安装 Hook → candidate gate → consumed 语义 → owner 切换 → surface destroy 时恢复 GDI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0FAFCBD-A02E-4A38-8531-79B1EF7A69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91175"/>
            <a:ext cx="904875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77D5C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77D5CA"/>
                </a:solidFill>
                <a:latin typeface="Microsoft YaHei"/>
                <a:ea typeface="Microsoft YaHei"/>
                <a:cs typeface="Microsoft YaHei"/>
              </a:rPr>
              <a:t>数据面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367F3E4-6244-44BF-B421-342A70B698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5553075"/>
            <a:ext cx="9572625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77D5C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77D5CA"/>
                </a:solidFill>
                <a:latin typeface="Microsoft YaHei"/>
                <a:ea typeface="Microsoft YaHei"/>
                <a:cs typeface="Microsoft YaHei"/>
              </a:rPr>
              <a:t>command → decode → native buffer → import → retained compose → pending → matched EndFrame → swap</a:t>
            </a:r>
          </a:p>
        </p:txBody>
      </p:sp>
    </p:spTree>
    <p:extLst>
      <p:ext uri="{BB962C8B-B14F-4D97-AF65-F5344CB8AC3E}">
        <p14:creationId xmlns:p14="http://schemas.microsoft.com/office/powerpoint/2010/main" val="1010202204"/>
      </p:ext>
    </p:extLst>
  </p:cSld>
</p:sld>
</file>

<file path=ppt/slides/slide3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8E77ED7-6322-4E90-A51B-F718E5A64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0500"/>
            <a:ext cx="29527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05 复杂三方项目 · GPU 适配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AE3C1DA-A4DF-4D6E-B61C-BF5F3C112B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19100"/>
            <a:ext cx="1038225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方案不是一张图：把源码锚点、约束与十步路径写成可执行文档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AECD3DF-4B24-48EE-B0B5-0F12D79070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247650"/>
            <a:ext cx="5143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35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F144BEE-86AC-4EFF-89E5-939F607BA7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334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8"/>
          </a:solidFill>
          <a:ln xmlns:a="http://schemas.openxmlformats.org/drawingml/2006/main" w="0">
            <a:solidFill>
              <a:srgbClr val="D8E0E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517506D-71E2-464D-ACD0-1784019197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53200"/>
            <a:ext cx="74295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rPr>
              <a:t>HarmonyOS · Spec-Driven Development · Ralph Workshop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3EAF686-31C9-4EB1-8D20-4F2B80D7A2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143000"/>
            <a:ext cx="5810250" cy="4905375"/>
          </a:xfrm>
          <a:prstGeom xmlns:a="http://schemas.openxmlformats.org/drawingml/2006/main" prst="roundRect">
            <a:avLst>
              <a:gd name="adj" fmla="val 2718"/>
            </a:avLst>
          </a:prstGeom>
          <a:solidFill xmlns:a="http://schemas.openxmlformats.org/drawingml/2006/main">
            <a:srgbClr val="0F172A"/>
          </a:solidFill>
          <a:ln xmlns:a="http://schemas.openxmlformats.org/drawingml/2006/main" w="9525">
            <a:solidFill>
              <a:srgbClr val="0F172A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63C6AAD-371C-490C-8257-7A28B78F22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381125"/>
            <a:ext cx="5095875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17 · 复杂三方项目 GPU 适配源码分析与探针方案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F6A6795-5557-44F5-A27C-1677B7B207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952625"/>
            <a:ext cx="742950" cy="276225"/>
          </a:xfrm>
          <a:prstGeom xmlns:a="http://schemas.openxmlformats.org/drawingml/2006/main" prst="roundRect">
            <a:avLst>
              <a:gd name="adj" fmla="val 27586"/>
            </a:avLst>
          </a:prstGeom>
          <a:solidFill xmlns:a="http://schemas.openxmlformats.org/drawingml/2006/main">
            <a:srgbClr val="17344B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  <p:txBody>
          <a:bodyPr xmlns:a="http://schemas.openxmlformats.org/drawingml/2006/main" lIns="76200" tIns="47625" rIns="76200" bIns="47625" anchor="ctr">
            <a:normAutofit fontScale="99401"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INPUT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FA2140F-38C0-4D22-A301-CBA2B88999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6875" y="1933575"/>
            <a:ext cx="4095750" cy="2952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DCE7F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DCE7F2"/>
                </a:solidFill>
                <a:latin typeface="Microsoft YaHei"/>
                <a:ea typeface="Microsoft YaHei"/>
                <a:cs typeface="Microsoft YaHei"/>
              </a:rPr>
              <a:t>demo@aa31146 · Linux 一帧探针 · OHOS 一帧探针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D4A0AD8-6309-4A7D-B38A-1BCF196EC1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419350"/>
            <a:ext cx="742950" cy="276225"/>
          </a:xfrm>
          <a:prstGeom xmlns:a="http://schemas.openxmlformats.org/drawingml/2006/main" prst="roundRect">
            <a:avLst>
              <a:gd name="adj" fmla="val 27586"/>
            </a:avLst>
          </a:prstGeom>
          <a:solidFill xmlns:a="http://schemas.openxmlformats.org/drawingml/2006/main">
            <a:srgbClr val="3B2530"/>
          </a:solidFill>
          <a:ln xmlns:a="http://schemas.openxmlformats.org/drawingml/2006/main" w="9525">
            <a:solidFill>
              <a:srgbClr val="E26852"/>
            </a:solidFill>
            <a:prstDash val="solid"/>
          </a:ln>
        </p:spPr>
        <p:txBody>
          <a:bodyPr xmlns:a="http://schemas.openxmlformats.org/drawingml/2006/main" lIns="76200" tIns="47625" rIns="76200" bIns="47625" anchor="ctr">
            <a:normAutofit fontScale="99401"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SEAM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1C866AB-CED2-4651-9BD4-712BE7B2B7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6875" y="2343150"/>
            <a:ext cx="4095750" cy="5238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F5B1A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F5B1A3"/>
                </a:solidFill>
                <a:latin typeface="Microsoft YaHei"/>
                <a:ea typeface="Microsoft YaHei"/>
                <a:cs typeface="Microsoft YaHei"/>
              </a:rPr>
              <a:t>ohos_rdpgfx_surface.c:112–138</a:t>
            </a:r>
          </a:p>
          <a:p xmlns:a="http://schemas.openxmlformats.org/drawingml/2006/main">
            <a:pPr algn="l">
              <a:defRPr sz="1125" b="1">
                <a:solidFill>
                  <a:srgbClr val="F5B1A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F5B1A3"/>
                </a:solidFill>
                <a:latin typeface="Microsoft YaHei"/>
                <a:ea typeface="Microsoft YaHei"/>
                <a:cs typeface="Microsoft YaHei"/>
              </a:rPr>
              <a:t>ohos_rdpgfx_bridge.c:569–606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A75167D-399A-4DE2-864B-75632C7052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038475"/>
            <a:ext cx="742950" cy="276225"/>
          </a:xfrm>
          <a:prstGeom xmlns:a="http://schemas.openxmlformats.org/drawingml/2006/main" prst="roundRect">
            <a:avLst>
              <a:gd name="adj" fmla="val 27586"/>
            </a:avLst>
          </a:prstGeom>
          <a:solidFill xmlns:a="http://schemas.openxmlformats.org/drawingml/2006/main">
            <a:srgbClr val="173B3B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  <p:txBody>
          <a:bodyPr xmlns:a="http://schemas.openxmlformats.org/drawingml/2006/main" lIns="76200" tIns="47625" rIns="76200" bIns="47625" anchor="ctr">
            <a:normAutofit fontScale="99401"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6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168C82"/>
                </a:solidFill>
                <a:latin typeface="Microsoft YaHei"/>
                <a:ea typeface="Microsoft YaHei"/>
                <a:cs typeface="Microsoft YaHei"/>
              </a:rPr>
              <a:t>PATH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AC64AC4-BC9B-4D3B-9178-2AE1177A9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6875" y="2962275"/>
            <a:ext cx="409575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77D5C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77D5CA"/>
                </a:solidFill>
                <a:latin typeface="Microsoft YaHei"/>
                <a:ea typeface="Microsoft YaHei"/>
                <a:cs typeface="Microsoft YaHei"/>
              </a:rPr>
              <a:t>AVCodec:551–712 → NativeBuffer:788–803</a:t>
            </a:r>
          </a:p>
          <a:p xmlns:a="http://schemas.openxmlformats.org/drawingml/2006/main">
            <a:pPr algn="l">
              <a:defRPr sz="1125" b="1">
                <a:solidFill>
                  <a:srgbClr val="77D5C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77D5CA"/>
                </a:solidFill>
                <a:latin typeface="Microsoft YaHei"/>
                <a:ea typeface="Microsoft YaHei"/>
                <a:cs typeface="Microsoft YaHei"/>
              </a:rPr>
              <a:t>EGLImage:1569–1632 → EndFrame:2292–2393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1521981-4A24-4BB6-8F5B-F53A274C0D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733800"/>
            <a:ext cx="509587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solidFill>
              <a:srgbClr val="334155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5849579-07F0-4BA5-A25B-B957C33A62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933825"/>
            <a:ext cx="11430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冻结约束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50FCBA3-B471-4B2D-BB90-2BF8B9E80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324350"/>
            <a:ext cx="4762500" cy="1238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DCE7F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DCE7F2"/>
                </a:solidFill>
                <a:latin typeface="Microsoft YaHei"/>
                <a:ea typeface="Microsoft YaHei"/>
                <a:cs typeface="Microsoft YaHei"/>
              </a:rPr>
              <a:t>• original 始终可达</a:t>
            </a:r>
          </a:p>
          <a:p xmlns:a="http://schemas.openxmlformats.org/drawingml/2006/main">
            <a:pPr algn="l">
              <a:defRPr sz="1350" b="1">
                <a:solidFill>
                  <a:srgbClr val="DCE7F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DCE7F2"/>
                </a:solidFill>
                <a:latin typeface="Microsoft YaHei"/>
                <a:ea typeface="Microsoft YaHei"/>
                <a:cs typeface="Microsoft YaHei"/>
              </a:rPr>
              <a:t>• 未 consumed 必须 fallback</a:t>
            </a:r>
          </a:p>
          <a:p xmlns:a="http://schemas.openxmlformats.org/drawingml/2006/main">
            <a:pPr algn="l">
              <a:defRPr sz="1350" b="1">
                <a:solidFill>
                  <a:srgbClr val="DCE7F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DCE7F2"/>
                </a:solidFill>
                <a:latin typeface="Microsoft YaHei"/>
                <a:ea typeface="Microsoft YaHei"/>
                <a:cs typeface="Microsoft YaHei"/>
              </a:rPr>
              <a:t>• owner 唯一</a:t>
            </a:r>
          </a:p>
          <a:p xmlns:a="http://schemas.openxmlformats.org/drawingml/2006/main">
            <a:pPr algn="l">
              <a:defRPr sz="1350" b="1">
                <a:solidFill>
                  <a:srgbClr val="DCE7F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DCE7F2"/>
                </a:solidFill>
                <a:latin typeface="Microsoft YaHei"/>
                <a:ea typeface="Microsoft YaHei"/>
                <a:cs typeface="Microsoft YaHei"/>
              </a:rPr>
              <a:t>• matched EndFrame 才 present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E5EF9AB-648D-4A64-BA0E-3FE7D6AA57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1285875"/>
            <a:ext cx="21907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为什么这样做？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20FCCED-B8F8-450C-9125-58BAE83398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1323975"/>
            <a:ext cx="23812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每一步都能回到上游证据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DCD7BB0-6926-4AF1-A234-079802596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5" y="1762125"/>
            <a:ext cx="4905375" cy="1095375"/>
          </a:xfrm>
          <a:prstGeom xmlns:a="http://schemas.openxmlformats.org/drawingml/2006/main" prst="roundRect">
            <a:avLst>
              <a:gd name="adj" fmla="val 10435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19050">
            <a:solidFill>
              <a:srgbClr val="1677C8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7FB6EDB-080A-4087-B0CF-C570E203B1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1924050"/>
            <a:ext cx="16192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A · 接入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B25F798-A95E-499C-92A9-000C8E9A28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1866900"/>
            <a:ext cx="2667000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1 XComponent target</a:t>
            </a:r>
          </a:p>
          <a:p xmlns:a="http://schemas.openxmlformats.org/drawingml/2006/main">
            <a:pPr algn="l">
              <a:def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2 保存 original + Hook</a:t>
            </a:r>
          </a:p>
          <a:p xmlns:a="http://schemas.openxmlformats.org/drawingml/2006/main">
            <a:pPr algn="l">
              <a:def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3 candidate / consumed gate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A4338EE-FEBB-4E27-A234-C34C26E87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5" y="3048000"/>
            <a:ext cx="4905375" cy="1095375"/>
          </a:xfrm>
          <a:prstGeom xmlns:a="http://schemas.openxmlformats.org/drawingml/2006/main" prst="roundRect">
            <a:avLst>
              <a:gd name="adj" fmla="val 10435"/>
            </a:avLst>
          </a:prstGeom>
          <a:solidFill xmlns:a="http://schemas.openxmlformats.org/drawingml/2006/main">
            <a:srgbClr val="EAF8F5"/>
          </a:solidFill>
          <a:ln xmlns:a="http://schemas.openxmlformats.org/drawingml/2006/main" w="19050">
            <a:solidFill>
              <a:srgbClr val="168C82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3E3E273-1D6A-4B83-BF4A-9E2B514948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3209925"/>
            <a:ext cx="16192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6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68C82"/>
                </a:solidFill>
                <a:latin typeface="Microsoft YaHei"/>
                <a:ea typeface="Microsoft YaHei"/>
                <a:cs typeface="Microsoft YaHei"/>
              </a:rPr>
              <a:t>B · 硬解与合成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3CB64BE-8E75-485D-BD12-C1BF133F8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3152775"/>
            <a:ext cx="2667000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4 HARDWARE AVC</a:t>
            </a:r>
          </a:p>
          <a:p xmlns:a="http://schemas.openxmlformats.org/drawingml/2006/main">
            <a:pPr algn="l">
              <a:def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5 PTS 关联</a:t>
            </a:r>
          </a:p>
          <a:p xmlns:a="http://schemas.openxmlformats.org/drawingml/2006/main">
            <a:pPr algn="l">
              <a:def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6 NativeBuffer → EGLImage</a:t>
            </a:r>
          </a:p>
          <a:p xmlns:a="http://schemas.openxmlformats.org/drawingml/2006/main">
            <a:pPr algn="l">
              <a:def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7 dirty → retained FBO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C76569F-2202-4ECA-BB46-54B67719DC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5" y="4333875"/>
            <a:ext cx="4905375" cy="1095375"/>
          </a:xfrm>
          <a:prstGeom xmlns:a="http://schemas.openxmlformats.org/drawingml/2006/main" prst="roundRect">
            <a:avLst>
              <a:gd name="adj" fmla="val 10435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19050">
            <a:solidFill>
              <a:srgbClr val="E26852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7FD122F-F014-4183-B46D-4F1332BBB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4495800"/>
            <a:ext cx="16192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C · 提交与回退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FDFF8ED-9353-4DFC-957D-14A00445B3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4438650"/>
            <a:ext cx="2667000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8 matched EndFrame</a:t>
            </a:r>
          </a:p>
          <a:p xmlns:a="http://schemas.openxmlformats.org/drawingml/2006/main">
            <a:pPr algn="l">
              <a:def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9 首帧后切 owner</a:t>
            </a:r>
          </a:p>
          <a:p xmlns:a="http://schemas.openxmlformats.org/drawingml/2006/main">
            <a:pPr algn="l">
              <a:def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10 trace + fallback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19E201D-A080-4475-AE2B-48ECA6533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5" y="5619750"/>
            <a:ext cx="4905375" cy="428625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F5F8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A05EFB0-CC3A-4143-B904-F0438D4867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5625" y="5705475"/>
            <a:ext cx="4524375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输出 → 18-GPU适配实施任务包与验收点.md</a:t>
            </a:r>
          </a:p>
        </p:txBody>
      </p:sp>
    </p:spTree>
    <p:extLst>
      <p:ext uri="{BB962C8B-B14F-4D97-AF65-F5344CB8AC3E}">
        <p14:creationId xmlns:p14="http://schemas.microsoft.com/office/powerpoint/2010/main" val="230826617"/>
      </p:ext>
    </p:extLst>
  </p:cSld>
</p:sld>
</file>

<file path=ppt/slides/slide3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F3BE7DE5-6B0E-4F83-A3EC-36934DFBFF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0500"/>
            <a:ext cx="29527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05 复杂三方项目 · GPU 适配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96A9AC1-BD6B-4B0F-AA32-B1280D59F6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19100"/>
            <a:ext cx="1038225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Ralph 实施：G0–G8 每轮只增加一个能力，证据不闭合就停止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06F2DD6-2DD6-4C75-A55D-3068CAC81F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247650"/>
            <a:ext cx="5143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36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2CB1E66-215E-48D7-8EC3-346313CD1E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334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8"/>
          </a:solidFill>
          <a:ln xmlns:a="http://schemas.openxmlformats.org/drawingml/2006/main" w="0">
            <a:solidFill>
              <a:srgbClr val="D8E0E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82EA6E0-B543-4D2E-B0EB-860D4624EF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53200"/>
            <a:ext cx="74295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rPr>
              <a:t>HarmonyOS · Spec-Driven Development · Ralph Workshop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600DB7F-2128-440E-ACFE-504F7D3702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619250"/>
            <a:ext cx="1010602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8"/>
          </a:solidFill>
          <a:ln xmlns:a="http://schemas.openxmlformats.org/drawingml/2006/main" w="0">
            <a:solidFill>
              <a:srgbClr val="D8E0E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5BE9FE9-E198-47A8-BEBD-DC62D4FC60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11087100" y="1571625"/>
            <a:ext cx="104775" cy="104775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D8E0E8"/>
          </a:solidFill>
          <a:ln xmlns:a="http://schemas.openxmlformats.org/drawingml/2006/main" w="0">
            <a:solidFill>
              <a:srgbClr val="D8E0E8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3EC284A-CF5D-4C4D-A06F-2F3991ED92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154305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52AA07F-300D-48D9-A987-B368EB17B2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790700"/>
            <a:ext cx="952500" cy="3143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Read First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9994616-B48A-4F34-9B09-7E3985359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154305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C32D87E-531B-43D2-AEA3-2AC520C1CF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7875" y="1790700"/>
            <a:ext cx="952500" cy="3143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RED / 基线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455803F-627B-475A-A68B-A92D0AA92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154305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3DEB52E-1624-45A1-88C5-3EBC76C212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1790700"/>
            <a:ext cx="952500" cy="3143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Allowed files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FEC168B-AAA5-40C5-AF4C-367C8C3FE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154305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318102B-BE8F-46D8-8305-EFFB4178EE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1790700"/>
            <a:ext cx="952500" cy="3143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伪代码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BA81572-BD4E-400C-9F4B-BD0953A66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154305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8C82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92A868A-14ED-4E71-9A73-50324FBB02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790700"/>
            <a:ext cx="952500" cy="3143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16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68C82"/>
                </a:solidFill>
                <a:latin typeface="Microsoft YaHei"/>
                <a:ea typeface="Microsoft YaHei"/>
                <a:cs typeface="Microsoft YaHei"/>
              </a:rPr>
              <a:t>AC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D97C664-809D-4043-91AD-0CE70EEEA8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154305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8C82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03B7FF5-A674-4281-ABF4-36A6BAC99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1790700"/>
            <a:ext cx="952500" cy="3143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16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68C82"/>
                </a:solidFill>
                <a:latin typeface="Microsoft YaHei"/>
                <a:ea typeface="Microsoft YaHei"/>
                <a:cs typeface="Microsoft YaHei"/>
              </a:rPr>
              <a:t>失败注入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678C86C-F7D4-45C1-9C04-E77EF4BE2B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154305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8C82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AB4AF3C-C7B3-4651-B970-3499341AC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1790700"/>
            <a:ext cx="952500" cy="3143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16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68C82"/>
                </a:solidFill>
                <a:latin typeface="Microsoft YaHei"/>
                <a:ea typeface="Microsoft YaHei"/>
                <a:cs typeface="Microsoft YaHei"/>
              </a:rPr>
              <a:t>证据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932F365-6969-4F4C-BE1B-1E85C13DBD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154305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8C82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4B99F1E-BE3A-4389-92A1-F0DE7E1105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0375" y="1790700"/>
            <a:ext cx="952500" cy="3143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16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68C82"/>
                </a:solidFill>
                <a:latin typeface="Microsoft YaHei"/>
                <a:ea typeface="Microsoft YaHei"/>
                <a:cs typeface="Microsoft YaHei"/>
              </a:rPr>
              <a:t>Exit Gate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306ADEB-AB8F-45FE-BCDB-001D939D4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333500"/>
            <a:ext cx="2333625" cy="4238625"/>
          </a:xfrm>
          <a:prstGeom xmlns:a="http://schemas.openxmlformats.org/drawingml/2006/main" prst="roundRect">
            <a:avLst>
              <a:gd name="adj" fmla="val 571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28575">
            <a:solidFill>
              <a:srgbClr val="1677C8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8A390C9-44CE-4313-B8C2-64EEAD38ED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1504950"/>
            <a:ext cx="7620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G0–G1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B267FEB-067E-4C57-9C60-F59E03FD53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1476375"/>
            <a:ext cx="1095375" cy="333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5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观察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763FA2C-0DCF-461C-BFC8-7227E67C01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952625"/>
            <a:ext cx="1857375" cy="9048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frame trace</a:t>
            </a:r>
          </a:p>
          <a:p xmlns:a="http://schemas.openxmlformats.org/drawingml/2006/main">
            <a:pPr algn="ctr">
              <a:defRPr sz="1200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Linux path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7398939-0EC6-43EA-8B92-2E77251E97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238375"/>
            <a:ext cx="2333625" cy="3333750"/>
          </a:xfrm>
          <a:prstGeom xmlns:a="http://schemas.openxmlformats.org/drawingml/2006/main" prst="roundRect">
            <a:avLst>
              <a:gd name="adj" fmla="val 571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28575">
            <a:solidFill>
              <a:srgbClr val="168C82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29B9174-C75A-44AF-8E5F-31ED5F595B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2409825"/>
            <a:ext cx="7620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6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68C82"/>
                </a:solidFill>
                <a:latin typeface="Microsoft YaHei"/>
                <a:ea typeface="Microsoft YaHei"/>
                <a:cs typeface="Microsoft YaHei"/>
              </a:rPr>
              <a:t>G2–G4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6826473-06BB-42BE-A994-9A8965C1E1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2381250"/>
            <a:ext cx="1095375" cy="333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5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平台穿刺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CBE8DDC-42C0-4262-AE42-7EA1F09643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1875" y="2857500"/>
            <a:ext cx="1857375" cy="9048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surface lifecycle</a:t>
            </a:r>
          </a:p>
          <a:p xmlns:a="http://schemas.openxmlformats.org/drawingml/2006/main">
            <a:pPr algn="ctr">
              <a:defRPr sz="1200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hardware decode</a:t>
            </a:r>
          </a:p>
          <a:p xmlns:a="http://schemas.openxmlformats.org/drawingml/2006/main">
            <a:pPr algn="ctr">
              <a:defRPr sz="1200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native buffer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B9CD6324-26EA-40BE-A83B-AB6FA620D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143250"/>
            <a:ext cx="2333625" cy="2428875"/>
          </a:xfrm>
          <a:prstGeom xmlns:a="http://schemas.openxmlformats.org/drawingml/2006/main" prst="roundRect">
            <a:avLst>
              <a:gd name="adj" fmla="val 571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28575">
            <a:solidFill>
              <a:srgbClr val="E26852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B77381A-00D9-4279-9B55-FFDEE9145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314700"/>
            <a:ext cx="7620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G5–G6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65BB04C-6748-4267-B889-C2C3A81565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1375" y="3286125"/>
            <a:ext cx="1095375" cy="333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5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帧语义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B1A63F39-AEB8-4C5C-B44C-50C31FBAE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3762375"/>
            <a:ext cx="1857375" cy="9048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EGL import</a:t>
            </a:r>
          </a:p>
          <a:p xmlns:a="http://schemas.openxmlformats.org/drawingml/2006/main">
            <a:pPr algn="ctr">
              <a:defRPr sz="1200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EndFrame / owner</a:t>
            </a:r>
          </a:p>
          <a:p xmlns:a="http://schemas.openxmlformats.org/drawingml/2006/main">
            <a:pPr algn="ctr">
              <a:defRPr sz="1200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fallback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18464C90-EEF0-43BB-BBAD-853B5B542C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4048125"/>
            <a:ext cx="2333625" cy="1524000"/>
          </a:xfrm>
          <a:prstGeom xmlns:a="http://schemas.openxmlformats.org/drawingml/2006/main" prst="roundRect">
            <a:avLst>
              <a:gd name="adj" fmla="val 87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28575">
            <a:solidFill>
              <a:srgbClr val="D89518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8BFE43C9-7F9C-4000-AEB5-DE75E816E1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8300" y="4219575"/>
            <a:ext cx="7620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D895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D89518"/>
                </a:solidFill>
                <a:latin typeface="Microsoft YaHei"/>
                <a:ea typeface="Microsoft YaHei"/>
                <a:cs typeface="Microsoft YaHei"/>
              </a:rPr>
              <a:t>G7–G8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D8D2B38F-C850-4805-8BE5-FB148CC6B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48875" y="4191000"/>
            <a:ext cx="1095375" cy="333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5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工程化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744C55C4-8156-411D-A95D-253B698891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86875" y="4667250"/>
            <a:ext cx="1857375" cy="9048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continuous / queue</a:t>
            </a:r>
          </a:p>
          <a:p xmlns:a="http://schemas.openxmlformats.org/drawingml/2006/main">
            <a:pPr algn="ctr">
              <a:defRPr sz="1200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resize / reconnect</a:t>
            </a:r>
          </a:p>
          <a:p xmlns:a="http://schemas.openxmlformats.org/drawingml/2006/main">
            <a:pPr algn="ctr">
              <a:defRPr sz="1200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final acceptance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1C7DF14E-44FE-4ABA-ACFA-4B115C7B6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4476750"/>
            <a:ext cx="476250" cy="26670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EAF8F5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  <p:txBody>
          <a:bodyPr xmlns:a="http://schemas.openxmlformats.org/drawingml/2006/main" lIns="76200" tIns="47625" rIns="76200" bIns="47625" anchor="ctr">
            <a:normAutofit fontScale="92457"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6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168C82"/>
                </a:solidFill>
                <a:latin typeface="Microsoft YaHei"/>
                <a:ea typeface="Microsoft YaHei"/>
                <a:cs typeface="Microsoft YaHei"/>
              </a:rPr>
              <a:t>G3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CE77B5B4-509F-4B82-A80F-35DFF52EDF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4457700"/>
            <a:ext cx="12382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Bridge 可逆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2CCA2141-1175-4D4E-AEFA-191A6E1AB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4953000"/>
            <a:ext cx="476250" cy="26670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EAF8F5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  <p:txBody>
          <a:bodyPr xmlns:a="http://schemas.openxmlformats.org/drawingml/2006/main" lIns="76200" tIns="47625" rIns="76200" bIns="47625" anchor="ctr">
            <a:normAutofit fontScale="92457"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6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168C82"/>
                </a:solidFill>
                <a:latin typeface="Microsoft YaHei"/>
                <a:ea typeface="Microsoft YaHei"/>
                <a:cs typeface="Microsoft YaHei"/>
              </a:rPr>
              <a:t>G4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90893C1A-9D01-48D6-BCC6-8EF2E91C3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4933950"/>
            <a:ext cx="12382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硬解 output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804A56EE-A4BB-4A08-A679-4D3A1A10A4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4953000"/>
            <a:ext cx="476250" cy="26670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9525">
            <a:solidFill>
              <a:srgbClr val="E26852"/>
            </a:solidFill>
            <a:prstDash val="solid"/>
          </a:ln>
        </p:spPr>
        <p:txBody>
          <a:bodyPr xmlns:a="http://schemas.openxmlformats.org/drawingml/2006/main" lIns="76200" tIns="47625" rIns="76200" bIns="47625" anchor="ctr">
            <a:normAutofit fontScale="92457"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G6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9B1F2CE0-5F69-48B5-AC01-CDE214D73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1375" y="4933950"/>
            <a:ext cx="12382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owner + fallback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F0F430BC-F83E-4DC1-9381-4B66D8F6EC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5810250"/>
            <a:ext cx="1085850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9525">
            <a:solidFill>
              <a:srgbClr val="E26852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9F2952D5-932D-4E50-AFC3-0074BFEC1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886450"/>
            <a:ext cx="104775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18 文档的每张 Story 都含：path::symbol、Allowed/Forbidden、伪代码、逐条 AC、Stop、证据文件名。</a:t>
            </a:r>
          </a:p>
        </p:txBody>
      </p:sp>
    </p:spTree>
    <p:extLst>
      <p:ext uri="{BB962C8B-B14F-4D97-AF65-F5344CB8AC3E}">
        <p14:creationId xmlns:p14="http://schemas.microsoft.com/office/powerpoint/2010/main" val="125425517"/>
      </p:ext>
    </p:extLst>
  </p:cSld>
</p:sld>
</file>

<file path=ppt/slides/slide3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6D30D4F4-0811-4AFB-9EFC-886791B866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0500"/>
            <a:ext cx="29527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05 复杂三方项目 · GPU 适配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A693912-737F-40FB-AD37-513A396B2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19100"/>
            <a:ext cx="1038225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AI 判断不对怎么办：回到同一帧链，只找第一处 expected ≠ actual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274F7C3-2ED0-4B3F-83CE-B9872FFBB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247650"/>
            <a:ext cx="5143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37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D6442F3-25FA-4A33-8F0C-EF829106B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334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8"/>
          </a:solidFill>
          <a:ln xmlns:a="http://schemas.openxmlformats.org/drawingml/2006/main" w="0">
            <a:solidFill>
              <a:srgbClr val="D8E0E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787BB77-EDEC-479A-8E66-E8CEC3EB27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53200"/>
            <a:ext cx="74295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rPr>
              <a:t>HarmonyOS · Spec-Driven Development · Ralph Workshop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974428F-09E8-4D4D-A018-B11EDB83E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2190750"/>
            <a:ext cx="2952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0">
            <a:solidFill>
              <a:srgbClr val="1677C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BFCFF3B-8210-40FB-BB7F-F79A4A78D6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1657350" y="2143125"/>
            <a:ext cx="104775" cy="104775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0">
            <a:solidFill>
              <a:srgbClr val="1677C8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441FEAC-78A8-48F7-8B2F-F541D7927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5125" y="2190750"/>
            <a:ext cx="2952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0">
            <a:solidFill>
              <a:srgbClr val="1677C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A59A823-7DE2-4B5E-9ED1-1D942D3D7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3181350" y="2143125"/>
            <a:ext cx="104775" cy="104775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0">
            <a:solidFill>
              <a:srgbClr val="1677C8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590B4FE-00AA-4755-A033-86288EBC34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2190750"/>
            <a:ext cx="2952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0">
            <a:solidFill>
              <a:srgbClr val="1677C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9B2DCC5-BE54-404E-B349-EFE9242E08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4705350" y="2143125"/>
            <a:ext cx="104775" cy="104775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0">
            <a:solidFill>
              <a:srgbClr val="1677C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6EDBF86-B818-4B3F-8FB1-90DC112FEC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3125" y="2190750"/>
            <a:ext cx="295275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4B4B"/>
          </a:solidFill>
          <a:ln xmlns:a="http://schemas.openxmlformats.org/drawingml/2006/main" w="0">
            <a:solidFill>
              <a:srgbClr val="C84B4B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122B860-7BD8-4C7F-912B-B3E6E3DB4F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6229350" y="2143125"/>
            <a:ext cx="104775" cy="104775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C84B4B"/>
          </a:solidFill>
          <a:ln xmlns:a="http://schemas.openxmlformats.org/drawingml/2006/main" w="0">
            <a:solidFill>
              <a:srgbClr val="C84B4B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9D7D9FE-68C6-433F-B298-2FFB020E70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7125" y="2190750"/>
            <a:ext cx="2952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0">
            <a:solidFill>
              <a:srgbClr val="1677C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AD3DCD9-E086-4F87-84A0-F11A2F5D48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7753350" y="2143125"/>
            <a:ext cx="104775" cy="104775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0">
            <a:solidFill>
              <a:srgbClr val="1677C8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5EEFFB6-7A00-4A74-8D3E-C2B4484D9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01125" y="2190750"/>
            <a:ext cx="2952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0">
            <a:solidFill>
              <a:srgbClr val="1677C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E013BB4-DD6B-4012-9F8F-9A0428273B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9277350" y="2143125"/>
            <a:ext cx="104775" cy="104775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0">
            <a:solidFill>
              <a:srgbClr val="1677C8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2A59CF1-1D46-4C40-AA1F-54972C64CF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" y="1857375"/>
            <a:ext cx="1143000" cy="685800"/>
          </a:xfrm>
          <a:prstGeom xmlns:a="http://schemas.openxmlformats.org/drawingml/2006/main" prst="roundRect">
            <a:avLst>
              <a:gd name="adj" fmla="val 1388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  <p:txBody>
          <a:bodyPr xmlns:a="http://schemas.openxmlformats.org/drawingml/2006/main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command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0D200AB-9372-45D3-8DED-D9AA4A699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62125" y="1857375"/>
            <a:ext cx="1143000" cy="685800"/>
          </a:xfrm>
          <a:prstGeom xmlns:a="http://schemas.openxmlformats.org/drawingml/2006/main" prst="roundRect">
            <a:avLst>
              <a:gd name="adj" fmla="val 1388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  <p:txBody>
          <a:bodyPr xmlns:a="http://schemas.openxmlformats.org/drawingml/2006/main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input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FB47932-77AF-4DB0-8575-0D5F710ABE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86125" y="1857375"/>
            <a:ext cx="1143000" cy="685800"/>
          </a:xfrm>
          <a:prstGeom xmlns:a="http://schemas.openxmlformats.org/drawingml/2006/main" prst="roundRect">
            <a:avLst>
              <a:gd name="adj" fmla="val 1388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  <p:txBody>
          <a:bodyPr xmlns:a="http://schemas.openxmlformats.org/drawingml/2006/main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output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A019EE1-E551-4BBF-8533-834BF5A9D7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1857375"/>
            <a:ext cx="1143000" cy="685800"/>
          </a:xfrm>
          <a:prstGeom xmlns:a="http://schemas.openxmlformats.org/drawingml/2006/main" prst="roundRect">
            <a:avLst>
              <a:gd name="adj" fmla="val 1388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  <p:txBody>
          <a:bodyPr xmlns:a="http://schemas.openxmlformats.org/drawingml/2006/main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import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C3DA467-26D9-4DA9-8870-ECFE69DD99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857375"/>
            <a:ext cx="1143000" cy="685800"/>
          </a:xfrm>
          <a:prstGeom xmlns:a="http://schemas.openxmlformats.org/drawingml/2006/main" prst="roundRect">
            <a:avLst>
              <a:gd name="adj" fmla="val 13889"/>
            </a:avLst>
          </a:prstGeom>
          <a:solidFill xmlns:a="http://schemas.openxmlformats.org/drawingml/2006/main">
            <a:srgbClr val="FFF1F1"/>
          </a:solidFill>
          <a:ln xmlns:a="http://schemas.openxmlformats.org/drawingml/2006/main" w="9525">
            <a:solidFill>
              <a:srgbClr val="C84B4B"/>
            </a:solidFill>
            <a:prstDash val="solid"/>
          </a:ln>
        </p:spPr>
        <p:txBody>
          <a:bodyPr xmlns:a="http://schemas.openxmlformats.org/drawingml/2006/main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C84B4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C84B4B"/>
                </a:solidFill>
                <a:latin typeface="Microsoft YaHei"/>
                <a:ea typeface="Microsoft YaHei"/>
                <a:cs typeface="Microsoft YaHei"/>
              </a:rPr>
              <a:t>pending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F3FC579-A061-4953-AF09-FD81DF620B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1857375"/>
            <a:ext cx="1143000" cy="685800"/>
          </a:xfrm>
          <a:prstGeom xmlns:a="http://schemas.openxmlformats.org/drawingml/2006/main" prst="roundRect">
            <a:avLst>
              <a:gd name="adj" fmla="val 1388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  <p:txBody>
          <a:bodyPr xmlns:a="http://schemas.openxmlformats.org/drawingml/2006/main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EndFrame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2AABCFF-DFF6-444E-908B-56DD7FAE48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2125" y="1857375"/>
            <a:ext cx="1143000" cy="685800"/>
          </a:xfrm>
          <a:prstGeom xmlns:a="http://schemas.openxmlformats.org/drawingml/2006/main" prst="roundRect">
            <a:avLst>
              <a:gd name="adj" fmla="val 1388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  <p:txBody>
          <a:bodyPr xmlns:a="http://schemas.openxmlformats.org/drawingml/2006/main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swap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9155584-BB3D-4791-AC31-1F5616D227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81625" y="2667000"/>
            <a:ext cx="11430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2F8F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2F8F5B"/>
                </a:solidFill>
                <a:latin typeface="Microsoft YaHei"/>
                <a:ea typeface="Microsoft YaHei"/>
                <a:cs typeface="Microsoft YaHei"/>
              </a:rPr>
              <a:t>最后正常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D7CB5EC-5062-44F2-B584-4D0250178D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5625" y="2667000"/>
            <a:ext cx="11430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C84B4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C84B4B"/>
                </a:solidFill>
                <a:latin typeface="Microsoft YaHei"/>
                <a:ea typeface="Microsoft YaHei"/>
                <a:cs typeface="Microsoft YaHei"/>
              </a:rPr>
              <a:t>第一异常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E6921A6-9783-4858-8CF5-932858FC05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3190875"/>
            <a:ext cx="6953250" cy="2524125"/>
          </a:xfrm>
          <a:prstGeom xmlns:a="http://schemas.openxmlformats.org/drawingml/2006/main" prst="roundRect">
            <a:avLst>
              <a:gd name="adj" fmla="val 5283"/>
            </a:avLst>
          </a:prstGeom>
          <a:solidFill xmlns:a="http://schemas.openxmlformats.org/drawingml/2006/main">
            <a:srgbClr val="0F172A"/>
          </a:solidFill>
          <a:ln xmlns:a="http://schemas.openxmlformats.org/drawingml/2006/main" w="9525">
            <a:solidFill>
              <a:srgbClr val="0F172A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A96BA8B-1C8F-4307-B15D-9FB3D78430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429000"/>
            <a:ext cx="24765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真实黑屏纠偏记录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48B1AA3-6342-4436-8665-9F3C072663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952875"/>
            <a:ext cx="323850" cy="26670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3B2530"/>
          </a:solidFill>
          <a:ln xmlns:a="http://schemas.openxmlformats.org/drawingml/2006/main" w="9525">
            <a:solidFill>
              <a:srgbClr val="E26852"/>
            </a:solidFill>
            <a:prstDash val="solid"/>
          </a:ln>
        </p:spPr>
        <p:txBody>
          <a:bodyPr xmlns:a="http://schemas.openxmlformats.org/drawingml/2006/main" lIns="76200" tIns="47625" rIns="76200" bIns="47625" anchor="ctr">
            <a:normAutofit fontScale="92457"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45ED9EB-8059-4D14-BA85-F31442A56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924300"/>
            <a:ext cx="714375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F5B1A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F5B1A3"/>
                </a:solidFill>
                <a:latin typeface="Microsoft YaHei"/>
                <a:ea typeface="Microsoft YaHei"/>
                <a:cs typeface="Microsoft YaHei"/>
              </a:rPr>
              <a:t>假设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266051C-DBE1-44E0-8D53-D9F5CA9A07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7875" y="3924300"/>
            <a:ext cx="50482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EndFrame 前立即 present 可以消除黑屏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AC96F66C-BFFA-4F90-B052-CF1D09AFE7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362450"/>
            <a:ext cx="323850" cy="26670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3B2530"/>
          </a:solidFill>
          <a:ln xmlns:a="http://schemas.openxmlformats.org/drawingml/2006/main" w="9525">
            <a:solidFill>
              <a:srgbClr val="E26852"/>
            </a:solidFill>
            <a:prstDash val="solid"/>
          </a:ln>
        </p:spPr>
        <p:txBody>
          <a:bodyPr xmlns:a="http://schemas.openxmlformats.org/drawingml/2006/main" lIns="76200" tIns="47625" rIns="76200" bIns="47625" anchor="ctr">
            <a:normAutofit fontScale="92457"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9600A23-11D0-47A2-8ADA-13E935EC34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333875"/>
            <a:ext cx="714375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F5B1A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F5B1A3"/>
                </a:solidFill>
                <a:latin typeface="Microsoft YaHei"/>
                <a:ea typeface="Microsoft YaHei"/>
                <a:cs typeface="Microsoft YaHei"/>
              </a:rPr>
              <a:t>修改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D0C801CB-F664-41A7-AE5F-FB7695906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7875" y="4333875"/>
            <a:ext cx="50482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构建 / 安装成功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B4A06C4-9137-417E-AED6-88B6CE41A9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772025"/>
            <a:ext cx="323850" cy="26670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3B2530"/>
          </a:solidFill>
          <a:ln xmlns:a="http://schemas.openxmlformats.org/drawingml/2006/main" w="9525">
            <a:solidFill>
              <a:srgbClr val="E26852"/>
            </a:solidFill>
            <a:prstDash val="solid"/>
          </a:ln>
        </p:spPr>
        <p:txBody>
          <a:bodyPr xmlns:a="http://schemas.openxmlformats.org/drawingml/2006/main" lIns="76200" tIns="47625" rIns="76200" bIns="47625" anchor="ctr">
            <a:normAutofit fontScale="92457"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234FFB42-CF23-4915-98B2-937C19509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743450"/>
            <a:ext cx="714375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F5B1A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F5B1A3"/>
                </a:solidFill>
                <a:latin typeface="Microsoft YaHei"/>
                <a:ea typeface="Microsoft YaHei"/>
                <a:cs typeface="Microsoft YaHei"/>
              </a:rPr>
              <a:t>证据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09B36576-7EFC-4D3F-8A16-921BD4E1FE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7875" y="4743450"/>
            <a:ext cx="50482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output / import / pending 已发生，但画面仍黑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BEBD587D-A758-4A4B-900A-44D418A984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181600"/>
            <a:ext cx="323850" cy="26670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173B3B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  <p:txBody>
          <a:bodyPr xmlns:a="http://schemas.openxmlformats.org/drawingml/2006/main" lIns="76200" tIns="47625" rIns="76200" bIns="47625" anchor="ctr">
            <a:normAutofit fontScale="92457"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6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168C82"/>
                </a:solidFill>
                <a:latin typeface="Microsoft YaHei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8046F33D-1EFC-4995-9825-045AE760D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5153025"/>
            <a:ext cx="714375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77D5C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77D5CA"/>
                </a:solidFill>
                <a:latin typeface="Microsoft YaHei"/>
                <a:ea typeface="Microsoft YaHei"/>
                <a:cs typeface="Microsoft YaHei"/>
              </a:rPr>
              <a:t>判定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63FE6C64-C07B-42C4-8E53-4A0835A98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7875" y="5153025"/>
            <a:ext cx="50482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假设被证伪；回退修改并重建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F02C74C2-F869-468E-A813-EE1DFBC2C6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3190875"/>
            <a:ext cx="3810000" cy="2524125"/>
          </a:xfrm>
          <a:prstGeom xmlns:a="http://schemas.openxmlformats.org/drawingml/2006/main" prst="roundRect">
            <a:avLst>
              <a:gd name="adj" fmla="val 5283"/>
            </a:avLst>
          </a:prstGeom>
          <a:solidFill xmlns:a="http://schemas.openxmlformats.org/drawingml/2006/main">
            <a:srgbClr val="EAF8F5"/>
          </a:solidFill>
          <a:ln xmlns:a="http://schemas.openxmlformats.org/drawingml/2006/main" w="19050">
            <a:solidFill>
              <a:srgbClr val="168C82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9F0A6FF1-0559-4DB7-A893-728FAD5367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429000"/>
            <a:ext cx="31432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6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68C82"/>
                </a:solidFill>
                <a:latin typeface="Microsoft YaHei"/>
                <a:ea typeface="Microsoft YaHei"/>
                <a:cs typeface="Microsoft YaHei"/>
              </a:rPr>
              <a:t>Ralph 排障协议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8383EEAD-3DFD-477F-8150-DBDE31A3BD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943350"/>
            <a:ext cx="3143250" cy="1381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STOP  保留现场</a:t>
            </a:r>
          </a:p>
          <a:p xmlns:a="http://schemas.openxmlformats.org/drawingml/2006/main">
            <a:pPr algn="l"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ALIGN  对齐 frameId / PTS / runId</a:t>
            </a:r>
          </a:p>
          <a:p xmlns:a="http://schemas.openxmlformats.org/drawingml/2006/main">
            <a:pPr algn="l"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FALSIFY  一次只放一个探针</a:t>
            </a:r>
          </a:p>
          <a:p xmlns:a="http://schemas.openxmlformats.org/drawingml/2006/main">
            <a:pPr algn="l"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REPAIR  最小修改</a:t>
            </a:r>
          </a:p>
          <a:p xmlns:a="http://schemas.openxmlformats.org/drawingml/2006/main">
            <a:pPr algn="l"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REPLAY  目标 + fallback + 回归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9D1F82DB-D7E4-4892-B655-71AFE7BFE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5876925"/>
            <a:ext cx="11096625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F5F8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87CC86D7-D45C-4EFC-BD5B-723AD6D46F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924550"/>
            <a:ext cx="1071562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连续三轮没有新证据：停止猜测，REPLAN 或升级人工审阅。代码能编译 ≠ 假设成立。</a:t>
            </a:r>
          </a:p>
        </p:txBody>
      </p:sp>
    </p:spTree>
    <p:extLst>
      <p:ext uri="{BB962C8B-B14F-4D97-AF65-F5344CB8AC3E}">
        <p14:creationId xmlns:p14="http://schemas.microsoft.com/office/powerpoint/2010/main" val="958828902"/>
      </p:ext>
    </p:extLst>
  </p:cSld>
</p:sld>
</file>

<file path=ppt/slides/slide3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B8F9D17-188B-4816-9935-4B19115DAC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0500"/>
            <a:ext cx="29527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05 复杂三方项目 · GPU 适配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45472C4-19F9-4449-B099-D0B235F301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19100"/>
            <a:ext cx="1038225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结果与收束：从复杂项目中找到适配点，再逐步证明它正确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03D72CF-5561-4F82-83EF-28BB9FFB54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247650"/>
            <a:ext cx="5143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38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886CD8A-11A0-45E3-B8E3-287F983238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334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8"/>
          </a:solidFill>
          <a:ln xmlns:a="http://schemas.openxmlformats.org/drawingml/2006/main" w="0">
            <a:solidFill>
              <a:srgbClr val="D8E0E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C5C9F80-5D2A-4E80-89F8-C7C8EDF747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53200"/>
            <a:ext cx="74295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rPr>
              <a:t>HarmonyOS · Spec-Driven Development · Ralph Workshop</a:t>
            </a:r>
          </a:p>
        </p:txBody>
      </p:sp>
      <p:pic>
        <p:nvPicPr>
          <p:cNvPr id="3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13a39f03b784ac9"/>
          <a:srcRect xmlns:a="http://schemas.openxmlformats.org/drawingml/2006/main" l="1760" t="0" r="176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23875" y="1143000"/>
            <a:ext cx="7429500" cy="4333875"/>
          </a:xfrm>
          <a:prstGeom xmlns:a="http://schemas.openxmlformats.org/drawingml/2006/main" prst="roundRect">
            <a:avLst>
              <a:gd name="adj" fmla="val 3077"/>
            </a:avLst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6199A6E-1871-445F-9ED2-5B9B7C32C1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619625"/>
            <a:ext cx="6953250" cy="628650"/>
          </a:xfrm>
          <a:prstGeom xmlns:a="http://schemas.openxmlformats.org/drawingml/2006/main" prst="roundRect">
            <a:avLst>
              <a:gd name="adj" fmla="val 15152"/>
            </a:avLst>
          </a:prstGeom>
          <a:solidFill xmlns:a="http://schemas.openxmlformats.org/drawingml/2006/main">
            <a:srgbClr val="0F172A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98AFE92-0465-44F0-8FD0-9062EF955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714875"/>
            <a:ext cx="657225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替换区：流畅控制 Windows 的最终截图 / 视频封面</a:t>
            </a:r>
          </a:p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现有 16s 播放素材可用；同 run 性能 A/B 仍待补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21C293E-EFFA-4EC6-B973-3240ECBB65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1285875"/>
            <a:ext cx="285750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方法闭环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21AE277-5D9B-4A27-9A16-9240BD6CD5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1857375"/>
            <a:ext cx="495300" cy="3143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B6E71D3-F8FF-4AD1-94A2-65C04ED66A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019300"/>
            <a:ext cx="381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0">
            <a:solidFill>
              <a:srgbClr val="1677C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263E868-3C7C-47B5-B3C4-E75891D61F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2125" y="1809750"/>
            <a:ext cx="1952625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限定一帧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7089442-0AE6-4C55-95C6-138540ACBA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2125" y="2105025"/>
            <a:ext cx="1952625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不通读仓库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B26929B-F89A-4CEA-A5C0-7C4A3E44EF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2543175"/>
            <a:ext cx="495300" cy="3143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FB40CB1-6255-4269-80B3-F3D7498B14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705100"/>
            <a:ext cx="381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0">
            <a:solidFill>
              <a:srgbClr val="1677C8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1E11090-F6D2-43DA-8722-60E4CC9D68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2125" y="2495550"/>
            <a:ext cx="1952625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追参考实现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D33B262-DAD7-4376-92A0-CEA8FCC76B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2125" y="2790825"/>
            <a:ext cx="1952625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找到稳定回调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D946179-B5CE-4923-9EA0-0EAB14DDDA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3228975"/>
            <a:ext cx="495300" cy="3143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6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168C82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BDB396D-350C-46D0-97B3-A05FFD018E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390900"/>
            <a:ext cx="381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C82"/>
          </a:solidFill>
          <a:ln xmlns:a="http://schemas.openxmlformats.org/drawingml/2006/main" w="0">
            <a:solidFill>
              <a:srgbClr val="168C82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D62B04D-3F70-445D-832B-60130D881B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2125" y="3181350"/>
            <a:ext cx="1952625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平台最小穿刺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C3B3885-95C8-4ECA-9292-4630F1BB41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2125" y="3476625"/>
            <a:ext cx="1952625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先关闭未知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B179265-40FE-4AB3-A8A4-EEE90E1183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3914775"/>
            <a:ext cx="495300" cy="3143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6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168C82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ACCBD0F-5230-4C6A-816A-82BAEC6453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4076700"/>
            <a:ext cx="381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C82"/>
          </a:solidFill>
          <a:ln xmlns:a="http://schemas.openxmlformats.org/drawingml/2006/main" w="0">
            <a:solidFill>
              <a:srgbClr val="168C82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F6762B7-737A-4FB3-BA89-F7640439AF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2125" y="3867150"/>
            <a:ext cx="1952625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冻结可逆方案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FB56C1C-BAB0-426A-BAA3-EC49D4B981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2125" y="4162425"/>
            <a:ext cx="1952625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38100" tIns="19050" rIns="38100" bIns="19050" anchor="t">
            <a:normAutofit fontScale="98818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owner / EndFrame / fallback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8EEAE20-DB51-40C2-8B4F-FE47BCD3B7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600575"/>
            <a:ext cx="495300" cy="3143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6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168C82"/>
                </a:solidFill>
                <a:latin typeface="Microsoft YaHei"/>
                <a:ea typeface="Microsoft YaHei"/>
                <a:cs typeface="Microsoft YaHei"/>
              </a:rPr>
              <a:t>05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EDF919E-169D-4BF3-8511-F45CC59234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4762500"/>
            <a:ext cx="381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C82"/>
          </a:solidFill>
          <a:ln xmlns:a="http://schemas.openxmlformats.org/drawingml/2006/main" w="0">
            <a:solidFill>
              <a:srgbClr val="168C82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D125179-D934-4968-A347-7CF2CFCC45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2125" y="4552950"/>
            <a:ext cx="1952625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Ralph 逐轮验收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0354245-8A20-4DB5-A850-6F1AA84C32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2125" y="4848225"/>
            <a:ext cx="1952625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证据不闭合就停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346F559-E86D-4E5B-923F-BB823271DF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5734050"/>
            <a:ext cx="11096625" cy="457200"/>
          </a:xfrm>
          <a:prstGeom xmlns:a="http://schemas.openxmlformats.org/drawingml/2006/main" prst="roundRect">
            <a:avLst>
              <a:gd name="adj" fmla="val 18750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9525">
            <a:solidFill>
              <a:srgbClr val="E26852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956D8D8-157C-436F-8C1F-751605A0F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819775"/>
            <a:ext cx="106489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判断 AI 是否正确：不是看它写得像不像，而是看每个关键结论能否回到源码锚点、运行证据与失败回退。</a:t>
            </a:r>
          </a:p>
        </p:txBody>
      </p:sp>
    </p:spTree>
    <p:extLst>
      <p:ext uri="{BB962C8B-B14F-4D97-AF65-F5344CB8AC3E}">
        <p14:creationId xmlns:p14="http://schemas.microsoft.com/office/powerpoint/2010/main" val="170761064"/>
      </p:ext>
    </p:extLst>
  </p:cSld>
</p:sld>
</file>

<file path=ppt/slides/slide3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E149BD3-4376-4B1E-AD98-44FADA94D7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0500"/>
            <a:ext cx="228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05 FreeRDP 实战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5724BA7-E2F3-4FB2-B872-F7250BAFDD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28625"/>
            <a:ext cx="10334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把方法带回项目，只保留七个问题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B251875-7F5B-44FA-A2D4-06A1EDCB4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171450"/>
            <a:ext cx="6286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9E57918-AD78-40E3-BBCA-0C70C290B9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257175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39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44277A7-F582-40A4-90AD-7E90C5D0F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334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8736B55-D10D-47F4-BF7B-60D38940DB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123950"/>
            <a:ext cx="174625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A552F99-35AC-4C1F-A15E-F0FB11762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1181100"/>
            <a:ext cx="15938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事实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A87FD06-CE05-4015-A66D-54E2F4260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3475" y="1123950"/>
            <a:ext cx="174625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EAF8F5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6FD15FA-1367-4113-B948-C2F10F7BA2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9675" y="1181100"/>
            <a:ext cx="15938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规格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5DE90D0-9BD3-40E5-89EA-16965A6FB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3075" y="1123950"/>
            <a:ext cx="174625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F2EEFF"/>
          </a:solidFill>
          <a:ln xmlns:a="http://schemas.openxmlformats.org/drawingml/2006/main" w="9525">
            <a:solidFill>
              <a:srgbClr val="7157B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21EF0FF-B3B6-4DA5-876A-D31BDD5EB7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9275" y="1181100"/>
            <a:ext cx="15938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任务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9F86B29-F984-47A3-BAC6-A2DED0900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1123950"/>
            <a:ext cx="174625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FCEEEE"/>
          </a:solidFill>
          <a:ln xmlns:a="http://schemas.openxmlformats.org/drawingml/2006/main" w="9525">
            <a:solidFill>
              <a:srgbClr val="C84B4B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C26EEFE-E856-4437-86FB-6C996449DB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1181100"/>
            <a:ext cx="15938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RED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A3DF3FE-ADCD-4DD8-89A4-DDD542A8B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2275" y="1123950"/>
            <a:ext cx="174625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FFF7E3"/>
          </a:solidFill>
          <a:ln xmlns:a="http://schemas.openxmlformats.org/drawingml/2006/main" w="9525">
            <a:solidFill>
              <a:srgbClr val="D8951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633A221-BEBB-4DE5-B6F1-BA746CD79E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8475" y="1181100"/>
            <a:ext cx="15938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最小 Diff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B4EE3CE-DA20-41DD-BCB7-FF4BBB466C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1875" y="1123950"/>
            <a:ext cx="174625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EBF8F1"/>
          </a:solidFill>
          <a:ln xmlns:a="http://schemas.openxmlformats.org/drawingml/2006/main" w="9525">
            <a:solidFill>
              <a:srgbClr val="2F8F5B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3B8B639-4D19-4EE5-A792-036693EE49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8075" y="1181100"/>
            <a:ext cx="15938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系统证据</a:t>
            </a:r>
          </a:p>
        </p:txBody>
      </p:sp>
      <p:cxnSp>
        <p:nvCxnSpPr>
          <p:cNvPr id="555" name=""/>
          <p:cNvCxnSpPr>
            <a:stCxn xmlns:a="http://schemas.openxmlformats.org/drawingml/2006/main" id="6" idx="3"/>
            <a:endCxn xmlns:a="http://schemas.openxmlformats.org/drawingml/2006/main" id="8" idx="1"/>
          </p:cNvCxnSpPr>
          <p:nvPr/>
        </p:nvCxnSpPr>
        <p:spPr>
          <a:xfrm xmlns:a="http://schemas.openxmlformats.org/drawingml/2006/main">
            <a:off x="2270125" y="1400175"/>
            <a:ext cx="1333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556" name=""/>
          <p:cNvCxnSpPr>
            <a:stCxn xmlns:a="http://schemas.openxmlformats.org/drawingml/2006/main" id="8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>
            <a:off x="4149725" y="1400175"/>
            <a:ext cx="1333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557" name=""/>
          <p:cNvCxnSpPr>
            <a:stCxn xmlns:a="http://schemas.openxmlformats.org/drawingml/2006/main" id="10" idx="3"/>
            <a:endCxn xmlns:a="http://schemas.openxmlformats.org/drawingml/2006/main" id="12" idx="1"/>
          </p:cNvCxnSpPr>
          <p:nvPr/>
        </p:nvCxnSpPr>
        <p:spPr>
          <a:xfrm xmlns:a="http://schemas.openxmlformats.org/drawingml/2006/main">
            <a:off x="6029325" y="1400175"/>
            <a:ext cx="1333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558" name=""/>
          <p:cNvCxnSpPr>
            <a:stCxn xmlns:a="http://schemas.openxmlformats.org/drawingml/2006/main" id="12" idx="3"/>
            <a:endCxn xmlns:a="http://schemas.openxmlformats.org/drawingml/2006/main" id="14" idx="1"/>
          </p:cNvCxnSpPr>
          <p:nvPr/>
        </p:nvCxnSpPr>
        <p:spPr>
          <a:xfrm xmlns:a="http://schemas.openxmlformats.org/drawingml/2006/main">
            <a:off x="7908925" y="1400175"/>
            <a:ext cx="1333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559" name=""/>
          <p:cNvCxnSpPr>
            <a:stCxn xmlns:a="http://schemas.openxmlformats.org/drawingml/2006/main" id="14" idx="3"/>
            <a:endCxn xmlns:a="http://schemas.openxmlformats.org/drawingml/2006/main" id="16" idx="1"/>
          </p:cNvCxnSpPr>
          <p:nvPr/>
        </p:nvCxnSpPr>
        <p:spPr>
          <a:xfrm xmlns:a="http://schemas.openxmlformats.org/drawingml/2006/main">
            <a:off x="9788525" y="1400175"/>
            <a:ext cx="1333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pic>
        <p:nvPicPr>
          <p:cNvPr id="56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897b4553ba5497e"/>
          <a:stretch xmlns:a="http://schemas.openxmlformats.org/drawingml/2006/main"/>
        </p:blipFill>
        <p:spPr>
          <a:xfrm xmlns:a="http://schemas.openxmlformats.org/drawingml/2006/main">
            <a:off x="588778" y="2047875"/>
            <a:ext cx="4823194" cy="2714625"/>
          </a:xfrm>
          <a:prstGeom xmlns:a="http://schemas.openxmlformats.org/drawingml/2006/main" prst="roundRect">
            <a:avLst>
              <a:gd name="adj" fmla="val 4211"/>
            </a:avLst>
          </a:prstGeom>
        </p:spPr>
      </p:pic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2311B43-FF5E-4410-A70A-2681C6A82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2047875"/>
            <a:ext cx="4953000" cy="2714625"/>
          </a:xfrm>
          <a:prstGeom xmlns:a="http://schemas.openxmlformats.org/drawingml/2006/main" prst="roundRect">
            <a:avLst>
              <a:gd name="adj" fmla="val 4211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1A93092-0E09-4F4A-BC9A-A8DC215CEF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2000250"/>
            <a:ext cx="5810250" cy="3238500"/>
          </a:xfrm>
          <a:prstGeom xmlns:a="http://schemas.openxmlformats.org/drawingml/2006/main" prst="roundRect">
            <a:avLst>
              <a:gd name="adj" fmla="val 41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62443B3-F549-476A-8E64-055D9608FE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2114550"/>
            <a:ext cx="5505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下一次只问七个问题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787218D-2B5B-45E9-9893-3BFD592CE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2400300"/>
            <a:ext cx="609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685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34A364A-C850-4E87-9FBE-5AA73EE62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524125"/>
            <a:ext cx="5238750" cy="2428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1. 哪些词会让实现分叉？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2. 最终真相在哪一层？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3. 哪些不变量绝不能破坏？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4. 本轮只允许 AI 改哪个边界？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5. 怎样先制造一个可解释的 RED？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6. 最早异常证据在哪里？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7. 什么证据满足后，本轮必须停止？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1FD6EA7-64CC-4B3C-AE92-18D84BDF6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572125"/>
            <a:ext cx="571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C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9AC4648-825D-44CF-AAA6-1F51C9659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5610225"/>
            <a:ext cx="97345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一分钟迁移题：权限页面第一次进入为空，第二次正常。给出只读勘察、可证伪假设、禁止范围和最终事实源。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42E0B43-4A81-4189-A24F-6E0327E8FF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72250"/>
            <a:ext cx="7429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rPr>
              <a:t>HarmonyOS · Spec-Driven Development · Ralph Workshop</a:t>
            </a:r>
          </a:p>
        </p:txBody>
      </p:sp>
    </p:spTree>
    <p:extLst>
      <p:ext uri="{BB962C8B-B14F-4D97-AF65-F5344CB8AC3E}">
        <p14:creationId xmlns:p14="http://schemas.microsoft.com/office/powerpoint/2010/main" val="1819435454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2026-09-02T07:50:52.4070000Z</dcterms:created>
  <dcterms:modified xsi:type="dcterms:W3CDTF">2026-09-02T07:50:52.4070000Z</dcterms:modified>
</coreProperties>
</file>