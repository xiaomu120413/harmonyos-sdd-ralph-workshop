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80c26795b904763" /><Relationship Type="http://schemas.openxmlformats.org/officeDocument/2006/relationships/extended-properties" Target="/docProps/app.xml" Id="R16e355f465844a92" /><Relationship Type="http://schemas.openxmlformats.org/officeDocument/2006/relationships/officeDocument" Target="/ppt/presentation.xml" Id="R39018240e6904eb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26bb6dfcfe24ffb"/>
  </p:sldMasterIdLst>
  <p:notesMasterIdLst>
    <p:notesMasterId xmlns:r="http://schemas.openxmlformats.org/officeDocument/2006/relationships" r:id="Rff7d8e1fc0264741"/>
  </p:notesMasterIdLst>
  <p:sldIdLst>
    <p:sldId xmlns:r="http://schemas.openxmlformats.org/officeDocument/2006/relationships" id="256" r:id="R76148f2fcffa4ebb"/>
    <p:sldId xmlns:r="http://schemas.openxmlformats.org/officeDocument/2006/relationships" id="257" r:id="R2ac801a7f5204b9e"/>
    <p:sldId xmlns:r="http://schemas.openxmlformats.org/officeDocument/2006/relationships" id="258" r:id="R67ed9d6953e24afe"/>
    <p:sldId xmlns:r="http://schemas.openxmlformats.org/officeDocument/2006/relationships" id="259" r:id="R6f49fb6a4df34243"/>
    <p:sldId xmlns:r="http://schemas.openxmlformats.org/officeDocument/2006/relationships" id="260" r:id="R49839578dcd44336"/>
    <p:sldId xmlns:r="http://schemas.openxmlformats.org/officeDocument/2006/relationships" id="261" r:id="Rfe0084f3020a4c90"/>
    <p:sldId xmlns:r="http://schemas.openxmlformats.org/officeDocument/2006/relationships" id="262" r:id="Ra301925af8334f43"/>
    <p:sldId xmlns:r="http://schemas.openxmlformats.org/officeDocument/2006/relationships" id="263" r:id="R47099df4f57b4acf"/>
    <p:sldId xmlns:r="http://schemas.openxmlformats.org/officeDocument/2006/relationships" id="264" r:id="Ra67df2fe4a484915"/>
    <p:sldId xmlns:r="http://schemas.openxmlformats.org/officeDocument/2006/relationships" id="265" r:id="Rf30152ea6e0e4f92"/>
    <p:sldId xmlns:r="http://schemas.openxmlformats.org/officeDocument/2006/relationships" id="266" r:id="Ref31a534b1bf4071"/>
    <p:sldId xmlns:r="http://schemas.openxmlformats.org/officeDocument/2006/relationships" id="267" r:id="R525b80997763450d"/>
    <p:sldId xmlns:r="http://schemas.openxmlformats.org/officeDocument/2006/relationships" id="268" r:id="R2d02f9d926d54c62"/>
    <p:sldId xmlns:r="http://schemas.openxmlformats.org/officeDocument/2006/relationships" id="269" r:id="Rd9811dcd5c29400e"/>
    <p:sldId xmlns:r="http://schemas.openxmlformats.org/officeDocument/2006/relationships" id="270" r:id="R15aa5c31a3f44197"/>
    <p:sldId xmlns:r="http://schemas.openxmlformats.org/officeDocument/2006/relationships" id="271" r:id="R2de9838d5cb14034"/>
    <p:sldId xmlns:r="http://schemas.openxmlformats.org/officeDocument/2006/relationships" id="272" r:id="R27b4085e4d094e53"/>
    <p:sldId xmlns:r="http://schemas.openxmlformats.org/officeDocument/2006/relationships" id="273" r:id="R926e929be5c94ab5"/>
    <p:sldId xmlns:r="http://schemas.openxmlformats.org/officeDocument/2006/relationships" id="274" r:id="R5df9998032504887"/>
    <p:sldId xmlns:r="http://schemas.openxmlformats.org/officeDocument/2006/relationships" id="275" r:id="R3422ba24dfed4b29"/>
    <p:sldId xmlns:r="http://schemas.openxmlformats.org/officeDocument/2006/relationships" id="276" r:id="R9c463a04d76e46bb"/>
    <p:sldId xmlns:r="http://schemas.openxmlformats.org/officeDocument/2006/relationships" id="277" r:id="Rc9ee699b7a064638"/>
    <p:sldId xmlns:r="http://schemas.openxmlformats.org/officeDocument/2006/relationships" id="278" r:id="R7cc3173841ee456f"/>
    <p:sldId xmlns:r="http://schemas.openxmlformats.org/officeDocument/2006/relationships" id="279" r:id="Ra5ba6364efe84d84"/>
    <p:sldId xmlns:r="http://schemas.openxmlformats.org/officeDocument/2006/relationships" id="280" r:id="Rfd7eb7980b244e97"/>
    <p:sldId xmlns:r="http://schemas.openxmlformats.org/officeDocument/2006/relationships" id="281" r:id="R8360ab6c7e60442b"/>
    <p:sldId xmlns:r="http://schemas.openxmlformats.org/officeDocument/2006/relationships" id="282" r:id="Rb6fe74d339bc47e5"/>
    <p:sldId xmlns:r="http://schemas.openxmlformats.org/officeDocument/2006/relationships" id="283" r:id="Rcffd06695da24719"/>
    <p:sldId xmlns:r="http://schemas.openxmlformats.org/officeDocument/2006/relationships" id="284" r:id="Ra4eeda7423c947ee"/>
    <p:sldId xmlns:r="http://schemas.openxmlformats.org/officeDocument/2006/relationships" id="285" r:id="R2f92b1376a614e15"/>
    <p:sldId xmlns:r="http://schemas.openxmlformats.org/officeDocument/2006/relationships" id="286" r:id="R35b5cfbf693949f0"/>
    <p:sldId xmlns:r="http://schemas.openxmlformats.org/officeDocument/2006/relationships" id="287" r:id="Rf3902a1367f84893"/>
    <p:sldId xmlns:r="http://schemas.openxmlformats.org/officeDocument/2006/relationships" id="288" r:id="R93a545574adc441b"/>
    <p:sldId xmlns:r="http://schemas.openxmlformats.org/officeDocument/2006/relationships" id="289" r:id="Rd041f47adb3c4eb0"/>
    <p:sldId xmlns:r="http://schemas.openxmlformats.org/officeDocument/2006/relationships" id="290" r:id="R425e8b70f38349a6"/>
    <p:sldId xmlns:r="http://schemas.openxmlformats.org/officeDocument/2006/relationships" id="291" r:id="Rdec5d08591dd40a2"/>
    <p:sldId xmlns:r="http://schemas.openxmlformats.org/officeDocument/2006/relationships" id="292" r:id="R88cfd02f99a04817"/>
    <p:sldId xmlns:r="http://schemas.openxmlformats.org/officeDocument/2006/relationships" id="293" r:id="R5e7995ed9fa34a96"/>
    <p:sldId xmlns:r="http://schemas.openxmlformats.org/officeDocument/2006/relationships" id="294" r:id="R3eee9f4728574ed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b9bbcf485a94d2f" /><Relationship Type="http://schemas.openxmlformats.org/officeDocument/2006/relationships/slideMaster" Target="/ppt/slideMasters/slideMaster1.xml" Id="Rc26bb6dfcfe24ffb" /><Relationship Type="http://schemas.openxmlformats.org/officeDocument/2006/relationships/notesMaster" Target="/ppt/notesMasters/notesMaster1.xml" Id="Rff7d8e1fc0264741" /><Relationship Type="http://schemas.openxmlformats.org/officeDocument/2006/relationships/presProps" Target="/ppt/presProps.xml" Id="R879d4cccb6384a5f" /><Relationship Type="http://schemas.openxmlformats.org/officeDocument/2006/relationships/tableStyles" Target="/ppt/tableStyles.xml" Id="Rb1eda4ce461046d0" /><Relationship Type="http://schemas.openxmlformats.org/officeDocument/2006/relationships/slide" Target="/ppt/slides/slide1.xml" Id="R76148f2fcffa4ebb" /><Relationship Type="http://schemas.openxmlformats.org/officeDocument/2006/relationships/slide" Target="/ppt/slides/slide2.xml" Id="R2ac801a7f5204b9e" /><Relationship Type="http://schemas.openxmlformats.org/officeDocument/2006/relationships/slide" Target="/ppt/slides/slide3.xml" Id="R67ed9d6953e24afe" /><Relationship Type="http://schemas.openxmlformats.org/officeDocument/2006/relationships/slide" Target="/ppt/slides/slide4.xml" Id="R6f49fb6a4df34243" /><Relationship Type="http://schemas.openxmlformats.org/officeDocument/2006/relationships/slide" Target="/ppt/slides/slide5.xml" Id="R49839578dcd44336" /><Relationship Type="http://schemas.openxmlformats.org/officeDocument/2006/relationships/slide" Target="/ppt/slides/slide6.xml" Id="Rfe0084f3020a4c90" /><Relationship Type="http://schemas.openxmlformats.org/officeDocument/2006/relationships/slide" Target="/ppt/slides/slide7.xml" Id="Ra301925af8334f43" /><Relationship Type="http://schemas.openxmlformats.org/officeDocument/2006/relationships/slide" Target="/ppt/slides/slide8.xml" Id="R47099df4f57b4acf" /><Relationship Type="http://schemas.openxmlformats.org/officeDocument/2006/relationships/slide" Target="/ppt/slides/slide9.xml" Id="Ra67df2fe4a484915" /><Relationship Type="http://schemas.openxmlformats.org/officeDocument/2006/relationships/slide" Target="/ppt/slides/slide10.xml" Id="Rf30152ea6e0e4f92" /><Relationship Type="http://schemas.openxmlformats.org/officeDocument/2006/relationships/slide" Target="/ppt/slides/slide11.xml" Id="Ref31a534b1bf4071" /><Relationship Type="http://schemas.openxmlformats.org/officeDocument/2006/relationships/slide" Target="/ppt/slides/slide12.xml" Id="R525b80997763450d" /><Relationship Type="http://schemas.openxmlformats.org/officeDocument/2006/relationships/slide" Target="/ppt/slides/slide13.xml" Id="R2d02f9d926d54c62" /><Relationship Type="http://schemas.openxmlformats.org/officeDocument/2006/relationships/slide" Target="/ppt/slides/slide14.xml" Id="Rd9811dcd5c29400e" /><Relationship Type="http://schemas.openxmlformats.org/officeDocument/2006/relationships/slide" Target="/ppt/slides/slide15.xml" Id="R15aa5c31a3f44197" /><Relationship Type="http://schemas.openxmlformats.org/officeDocument/2006/relationships/slide" Target="/ppt/slides/slide16.xml" Id="R2de9838d5cb14034" /><Relationship Type="http://schemas.openxmlformats.org/officeDocument/2006/relationships/slide" Target="/ppt/slides/slide17.xml" Id="R27b4085e4d094e53" /><Relationship Type="http://schemas.openxmlformats.org/officeDocument/2006/relationships/slide" Target="/ppt/slides/slide18.xml" Id="R926e929be5c94ab5" /><Relationship Type="http://schemas.openxmlformats.org/officeDocument/2006/relationships/slide" Target="/ppt/slides/slide19.xml" Id="R5df9998032504887" /><Relationship Type="http://schemas.openxmlformats.org/officeDocument/2006/relationships/slide" Target="/ppt/slides/slide20.xml" Id="R3422ba24dfed4b29" /><Relationship Type="http://schemas.openxmlformats.org/officeDocument/2006/relationships/slide" Target="/ppt/slides/slide21.xml" Id="R9c463a04d76e46bb" /><Relationship Type="http://schemas.openxmlformats.org/officeDocument/2006/relationships/slide" Target="/ppt/slides/slide22.xml" Id="Rc9ee699b7a064638" /><Relationship Type="http://schemas.openxmlformats.org/officeDocument/2006/relationships/slide" Target="/ppt/slides/slide23.xml" Id="R7cc3173841ee456f" /><Relationship Type="http://schemas.openxmlformats.org/officeDocument/2006/relationships/slide" Target="/ppt/slides/slide24.xml" Id="Ra5ba6364efe84d84" /><Relationship Type="http://schemas.openxmlformats.org/officeDocument/2006/relationships/slide" Target="/ppt/slides/slide25.xml" Id="Rfd7eb7980b244e97" /><Relationship Type="http://schemas.openxmlformats.org/officeDocument/2006/relationships/slide" Target="/ppt/slides/slide26.xml" Id="R8360ab6c7e60442b" /><Relationship Type="http://schemas.openxmlformats.org/officeDocument/2006/relationships/slide" Target="/ppt/slides/slide27.xml" Id="Rb6fe74d339bc47e5" /><Relationship Type="http://schemas.openxmlformats.org/officeDocument/2006/relationships/slide" Target="/ppt/slides/slide28.xml" Id="Rcffd06695da24719" /><Relationship Type="http://schemas.openxmlformats.org/officeDocument/2006/relationships/slide" Target="/ppt/slides/slide29.xml" Id="Ra4eeda7423c947ee" /><Relationship Type="http://schemas.openxmlformats.org/officeDocument/2006/relationships/slide" Target="/ppt/slides/slide30.xml" Id="R2f92b1376a614e15" /><Relationship Type="http://schemas.openxmlformats.org/officeDocument/2006/relationships/slide" Target="/ppt/slides/slide31.xml" Id="R35b5cfbf693949f0" /><Relationship Type="http://schemas.openxmlformats.org/officeDocument/2006/relationships/slide" Target="/ppt/slides/slide32.xml" Id="Rf3902a1367f84893" /><Relationship Type="http://schemas.openxmlformats.org/officeDocument/2006/relationships/slide" Target="/ppt/slides/slide33.xml" Id="R93a545574adc441b" /><Relationship Type="http://schemas.openxmlformats.org/officeDocument/2006/relationships/slide" Target="/ppt/slides/slide34.xml" Id="Rd041f47adb3c4eb0" /><Relationship Type="http://schemas.openxmlformats.org/officeDocument/2006/relationships/slide" Target="/ppt/slides/slide35.xml" Id="R425e8b70f38349a6" /><Relationship Type="http://schemas.openxmlformats.org/officeDocument/2006/relationships/slide" Target="/ppt/slides/slide36.xml" Id="Rdec5d08591dd40a2" /><Relationship Type="http://schemas.openxmlformats.org/officeDocument/2006/relationships/slide" Target="/ppt/slides/slide37.xml" Id="R88cfd02f99a04817" /><Relationship Type="http://schemas.openxmlformats.org/officeDocument/2006/relationships/slide" Target="/ppt/slides/slide38.xml" Id="R5e7995ed9fa34a96" /><Relationship Type="http://schemas.openxmlformats.org/officeDocument/2006/relationships/slide" Target="/ppt/slides/slide39.xml" Id="R3eee9f4728574ed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22ee843c0dd402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cb03f864363459c" /><Relationship Type="http://schemas.openxmlformats.org/officeDocument/2006/relationships/notesMaster" Target="/ppt/notesMasters/notesMaster1.xml" Id="Rabd8e234ab8940f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7c048531a22483e" /><Relationship Type="http://schemas.openxmlformats.org/officeDocument/2006/relationships/notesMaster" Target="/ppt/notesMasters/notesMaster1.xml" Id="R39a8091e682f409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1a02bcc27874196" /><Relationship Type="http://schemas.openxmlformats.org/officeDocument/2006/relationships/notesMaster" Target="/ppt/notesMasters/notesMaster1.xml" Id="Reda5fcbd831440e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3eb341d3eca47cd" /><Relationship Type="http://schemas.openxmlformats.org/officeDocument/2006/relationships/notesMaster" Target="/ppt/notesMasters/notesMaster1.xml" Id="R9e113852dab1452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2de67e0fa924660" /><Relationship Type="http://schemas.openxmlformats.org/officeDocument/2006/relationships/notesMaster" Target="/ppt/notesMasters/notesMaster1.xml" Id="R89c6499af323497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936cd062f3342ed" /><Relationship Type="http://schemas.openxmlformats.org/officeDocument/2006/relationships/notesMaster" Target="/ppt/notesMasters/notesMaster1.xml" Id="R29e1da24b32a47c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625e4b90fff4958" /><Relationship Type="http://schemas.openxmlformats.org/officeDocument/2006/relationships/notesMaster" Target="/ppt/notesMasters/notesMaster1.xml" Id="R6d6ffbbd285644f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25b90bf240742ee" /><Relationship Type="http://schemas.openxmlformats.org/officeDocument/2006/relationships/notesMaster" Target="/ppt/notesMasters/notesMaster1.xml" Id="R3b9ec075990d488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9a88fb6077e4255" /><Relationship Type="http://schemas.openxmlformats.org/officeDocument/2006/relationships/notesMaster" Target="/ppt/notesMasters/notesMaster1.xml" Id="R083c54028b77453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1c4b70bae784168" /><Relationship Type="http://schemas.openxmlformats.org/officeDocument/2006/relationships/notesMaster" Target="/ppt/notesMasters/notesMaster1.xml" Id="R130aa483256f40c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5e6439467fe41f3" /><Relationship Type="http://schemas.openxmlformats.org/officeDocument/2006/relationships/notesMaster" Target="/ppt/notesMasters/notesMaster1.xml" Id="Rde6ad21134b94b0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f867a6b41244983" /><Relationship Type="http://schemas.openxmlformats.org/officeDocument/2006/relationships/notesMaster" Target="/ppt/notesMasters/notesMaster1.xml" Id="Ra409418123cf4a3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cad764e2df24cdc" /><Relationship Type="http://schemas.openxmlformats.org/officeDocument/2006/relationships/notesMaster" Target="/ppt/notesMasters/notesMaster1.xml" Id="R9dcacdfd29114d0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7837124abd749f9" /><Relationship Type="http://schemas.openxmlformats.org/officeDocument/2006/relationships/notesMaster" Target="/ppt/notesMasters/notesMaster1.xml" Id="Raccd4412f5e8425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8830bc628584b05" /><Relationship Type="http://schemas.openxmlformats.org/officeDocument/2006/relationships/notesMaster" Target="/ppt/notesMasters/notesMaster1.xml" Id="Rd9d2b819b5d5499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28ee8de366e463e" /><Relationship Type="http://schemas.openxmlformats.org/officeDocument/2006/relationships/notesMaster" Target="/ppt/notesMasters/notesMaster1.xml" Id="R1064235f066847a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f777ed01d7c4d9a" /><Relationship Type="http://schemas.openxmlformats.org/officeDocument/2006/relationships/notesMaster" Target="/ppt/notesMasters/notesMaster1.xml" Id="Ra0f8416c96c84c1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8b6cbd43e2e4fa4" /><Relationship Type="http://schemas.openxmlformats.org/officeDocument/2006/relationships/notesMaster" Target="/ppt/notesMasters/notesMaster1.xml" Id="Re26b7f1bc3bb4065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0d104fb0acb4ecf" /><Relationship Type="http://schemas.openxmlformats.org/officeDocument/2006/relationships/notesMaster" Target="/ppt/notesMasters/notesMaster1.xml" Id="Rc91cee6fdaea478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3b09ba12893470b" /><Relationship Type="http://schemas.openxmlformats.org/officeDocument/2006/relationships/notesMaster" Target="/ppt/notesMasters/notesMaster1.xml" Id="Ra9cce9b2fb344fe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47e5322941e41f9" /><Relationship Type="http://schemas.openxmlformats.org/officeDocument/2006/relationships/notesMaster" Target="/ppt/notesMasters/notesMaster1.xml" Id="Rcbc224d8c2c44ca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0f8319b716441a3" /><Relationship Type="http://schemas.openxmlformats.org/officeDocument/2006/relationships/notesMaster" Target="/ppt/notesMasters/notesMaster1.xml" Id="Rc132cae37f4b4077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882af4fb32c4da4" /><Relationship Type="http://schemas.openxmlformats.org/officeDocument/2006/relationships/notesMaster" Target="/ppt/notesMasters/notesMaster1.xml" Id="R6ddd1c3732f6461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1978eb6cd28442dd" /><Relationship Type="http://schemas.openxmlformats.org/officeDocument/2006/relationships/notesMaster" Target="/ppt/notesMasters/notesMaster1.xml" Id="R83fa9ffe59554058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3fba4079c04c44be" /><Relationship Type="http://schemas.openxmlformats.org/officeDocument/2006/relationships/notesMaster" Target="/ppt/notesMasters/notesMaster1.xml" Id="R7869ffddcb3449d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937c5e52f0a64d6a" /><Relationship Type="http://schemas.openxmlformats.org/officeDocument/2006/relationships/notesMaster" Target="/ppt/notesMasters/notesMaster1.xml" Id="Rfe9d116471714276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337fb7a91bdd4081" /><Relationship Type="http://schemas.openxmlformats.org/officeDocument/2006/relationships/notesMaster" Target="/ppt/notesMasters/notesMaster1.xml" Id="R95b442271cbe4d8a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31ad072a9e864df9" /><Relationship Type="http://schemas.openxmlformats.org/officeDocument/2006/relationships/notesMaster" Target="/ppt/notesMasters/notesMaster1.xml" Id="Re72a8751d799441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e70b29d9847a4809" /><Relationship Type="http://schemas.openxmlformats.org/officeDocument/2006/relationships/notesMaster" Target="/ppt/notesMasters/notesMaster1.xml" Id="Rf72be4fc68984976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284befbb9d442e3" /><Relationship Type="http://schemas.openxmlformats.org/officeDocument/2006/relationships/notesMaster" Target="/ppt/notesMasters/notesMaster1.xml" Id="R70e0b4799f3c425f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fc3b427e68f74fd8" /><Relationship Type="http://schemas.openxmlformats.org/officeDocument/2006/relationships/notesMaster" Target="/ppt/notesMasters/notesMaster1.xml" Id="Rd3583138648b42df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cc054d71feac4638" /><Relationship Type="http://schemas.openxmlformats.org/officeDocument/2006/relationships/notesMaster" Target="/ppt/notesMasters/notesMaster1.xml" Id="R3a3f60e3377048af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e56a969c07be406e" /><Relationship Type="http://schemas.openxmlformats.org/officeDocument/2006/relationships/notesMaster" Target="/ppt/notesMasters/notesMaster1.xml" Id="R46bc4d82e9304025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8e6929450050477f" /><Relationship Type="http://schemas.openxmlformats.org/officeDocument/2006/relationships/notesMaster" Target="/ppt/notesMasters/notesMaster1.xml" Id="R72ce3df52a8946f1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ad6dc1dc6a4048a2" /><Relationship Type="http://schemas.openxmlformats.org/officeDocument/2006/relationships/notesMaster" Target="/ppt/notesMasters/notesMaster1.xml" Id="R096df24ccd7948fe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1d9710e3f94043fb" /><Relationship Type="http://schemas.openxmlformats.org/officeDocument/2006/relationships/notesMaster" Target="/ppt/notesMasters/notesMaster1.xml" Id="Rb5d7dc6623be4f40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c32e617077c9470b" /><Relationship Type="http://schemas.openxmlformats.org/officeDocument/2006/relationships/notesMaster" Target="/ppt/notesMasters/notesMaster1.xml" Id="R4e16378c6b3e4c56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a6804945c46f47d5" /><Relationship Type="http://schemas.openxmlformats.org/officeDocument/2006/relationships/notesMaster" Target="/ppt/notesMasters/notesMaster1.xml" Id="Ra92eb7a9f03f4305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35b009738fc54639" /><Relationship Type="http://schemas.openxmlformats.org/officeDocument/2006/relationships/notesMaster" Target="/ppt/notesMasters/notesMaster1.xml" Id="Rca8e96937b38408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C:/Users/mu/Desktop/code/ppt/harmonyos-sdd-ralph-workshop/harmonyos-sdd-workshop-media/methodology/ai-fluency-neutral.png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# 使用 AI 进阶能力实现较为复杂的需求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**从需求拆解、开发、验证，到问题定位与协同闭环**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需求 → 规格 → 任务 → 代码 → 调试 → 证据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主视觉建议：左侧是一句模糊需求，中央是紫色受控 AI 循环，右侧是绿色设备证据包；背景只保留真实设备、测试结果和日志的低透明度拼贴。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![真实 SecurityTool 防火墙域名规则页面](harmonyos-sdd-workshop-media/mdm/firewall-domain-rule-created.jpeg)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&lt;sub&gt;这张真机图只能证明规则已出现在 UI；它不能单独证明每个账号的系统 policy/rules 已正确下发。开场让学员先说“它能证明什么、不能证明什么”。&lt;/sub&gt;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**MDM 主闭环｜TEACHING COMPOSITE**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设备当前处于 `public` 且防火墙已开启，已覆盖账号 `[100,112]`。系统收到 `account-added(123)` 后，先等待账号事实稳定，再把 public policy / preset rules 补到最新账号集合。若账号 123 的第 2 条规则下发失败，必须恢复旧状态，不得保存目标 signature，并留下可回读证据。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LR</a:t>
            </a:r>
          </a:p>
          <a:p xmlns:a="http://schemas.openxmlformats.org/drawingml/2006/main">
            <a:r>
              <a:t>    A[账号 123 新增] --&gt; B[稳定快照]</a:t>
            </a:r>
          </a:p>
          <a:p xmlns:a="http://schemas.openxmlformats.org/drawingml/2006/main">
            <a:r>
              <a:t>    B --&gt; C[模式重放]</a:t>
            </a:r>
          </a:p>
          <a:p xmlns:a="http://schemas.openxmlformats.org/drawingml/2006/main">
            <a:r>
              <a:t>    C --&gt; D[故障注入]</a:t>
            </a:r>
          </a:p>
          <a:p xmlns:a="http://schemas.openxmlformats.org/drawingml/2006/main">
            <a:r>
              <a:t>    D --&gt; E[补偿与回读]</a:t>
            </a:r>
          </a:p>
          <a:p xmlns:a="http://schemas.openxmlformats.org/drawingml/2006/main">
            <a:r>
              <a:t>```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A[Task：本轮唯一结果] --&gt; B[RED：制造可解释失败]</a:t>
            </a:r>
          </a:p>
          <a:p xmlns:a="http://schemas.openxmlformats.org/drawingml/2006/main">
            <a:r>
              <a:t>    B --&gt; C[AI：最小 Diff]</a:t>
            </a:r>
          </a:p>
          <a:p xmlns:a="http://schemas.openxmlformats.org/drawingml/2006/main">
            <a:r>
              <a:t>    C --&gt; D[Verify：窄测与回归]</a:t>
            </a:r>
          </a:p>
          <a:p xmlns:a="http://schemas.openxmlformats.org/drawingml/2006/main">
            <a:r>
              <a:t>    D --&gt; E[Evidence：日志与系统事实]</a:t>
            </a:r>
          </a:p>
          <a:p xmlns:a="http://schemas.openxmlformats.org/drawingml/2006/main">
            <a:r>
              <a:t>    E --&gt; F{停止条件满足？}</a:t>
            </a:r>
          </a:p>
          <a:p xmlns:a="http://schemas.openxmlformats.org/drawingml/2006/main">
            <a:r>
              <a:t>    F -- 否 --&gt; A</a:t>
            </a:r>
          </a:p>
          <a:p xmlns:a="http://schemas.openxmlformats.org/drawingml/2006/main">
            <a:r>
              <a:t>    F -- 是 --&gt; G[提交结果]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**可选对照图（PPT 制作时与上方 Mermaid 二选一）**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![Autonomous Agent：Human、LLM、Environment、Feedback 与 Stop](harmonyos-sdd-workshop-media/anthropic/autonomous-agent-loop.png)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&lt;sub&gt;讲师读图：Agent 不是“连续生成代码”，而是在环境反馈中行动，并在检查点接受人类判断或满足停止条件。图源：Anthropic《Building Effective Agents》。&lt;/sub&gt;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每轮写入 `progress.md`：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`假设 / RED 命令与输出 / 修改文件 / GREEN 输出 / 新事实 / 剩余风险 / Stop 或 Next`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触发事实 → 稳定快照 → 目标状态 → 执行结果 → 系统证据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层 | 必须回答的问题 | 可验证对象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触发事实 | 这轮变化由什么事件或操作开始？ | 事件源、时间戳、参数 |</a:t>
            </a:r>
          </a:p>
          <a:p xmlns:a="http://schemas.openxmlformats.org/drawingml/2006/main">
            <a:r>
              <a:t>| 稳定快照 | 执行前的完整事实是什么？ | 系统 getter、列表、版本号 |</a:t>
            </a:r>
          </a:p>
          <a:p xmlns:a="http://schemas.openxmlformats.org/drawingml/2006/main">
            <a:r>
              <a:t>| 目标状态 | 需求冻结后的期望结果是什么？ | `spec.md`、ADR、不变量 |</a:t>
            </a:r>
          </a:p>
          <a:p xmlns:a="http://schemas.openxmlformats.org/drawingml/2006/main">
            <a:r>
              <a:t>| 执行结果 | 哪些写入成功、失败或需要补偿？ | 返回值、映射、事务边界 |</a:t>
            </a:r>
          </a:p>
          <a:p xmlns:a="http://schemas.openxmlformats.org/drawingml/2006/main">
            <a:r>
              <a:t>| 系统证据 | 最终事实是否与目标一致？ | 回读、日志、截图/视频、性能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“权限页面第一次进入为空，退出后第二次进入正常。”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这句话只描述了现象，没有告诉我们下面四个事实：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**数据来自哪里**：页面缓存、ViewModel 内存、业务 API，还是系统 getter？</a:t>
            </a:r>
          </a:p>
          <a:p xmlns:a="http://schemas.openxmlformats.org/drawingml/2006/main">
            <a:r>
              <a:t>2. **什么时候开始监听**：页面创建前后、首次读取前后，哪一个边界会丢事件？</a:t>
            </a:r>
          </a:p>
          <a:p xmlns:a="http://schemas.openxmlformats.org/drawingml/2006/main">
            <a:r>
              <a:t>3. **什么时候算完成**：调用返回、本地状态更新，还是系统回读与页面一致？</a:t>
            </a:r>
          </a:p>
          <a:p xmlns:a="http://schemas.openxmlformats.org/drawingml/2006/main">
            <a:r>
              <a:t>4. **失败时展示什么**：空列表、旧状态、加载态，还是可重试错误？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**四个答案会改变监听顺序、状态模型、回归测试和最终证据。所以下一步不是设计，而是把分叉变成选择题。**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的职责是列出互斥答案、工程影响和危险假设；人的职责是关闭高影响 `OPEN`，冻结业务语义。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待决策项 | AI 列出的互斥答案 | 本轮冻结答案 | 直接影响 |</a:t>
            </a:r>
          </a:p>
          <a:p xmlns:a="http://schemas.openxmlformats.org/drawingml/2006/main">
            <a:r>
              <a:t>|---|---|---|---|</a:t>
            </a:r>
          </a:p>
          <a:p xmlns:a="http://schemas.openxmlformats.org/drawingml/2006/main">
            <a:r>
              <a:t>| 最终事实源 | 缓存 / ViewModel / API / 系统 getter | 系统 getter；ViewModel 只缓存 | 状态所有权 |</a:t>
            </a:r>
          </a:p>
          <a:p xmlns:a="http://schemas.openxmlformats.org/drawingml/2006/main">
            <a:r>
              <a:t>| 监听与首读顺序 | 先读后监听 / 先监听后读取 | 先建立监听，再发起首读 | 是否丢失首次事件 |</a:t>
            </a:r>
          </a:p>
          <a:p xmlns:a="http://schemas.openxmlformats.org/drawingml/2006/main">
            <a:r>
              <a:t>| 未返回时的状态 | 空列表 / 加载中 / 沿用旧值 | 显示加载中，不把空当完成 | 首次进入体验与测试 |</a:t>
            </a:r>
          </a:p>
          <a:p xmlns:a="http://schemas.openxmlformats.org/drawingml/2006/main">
            <a:r>
              <a:t>| 完成判定 | 调用返回 / 本地更新 / 系统回读一致 | 系统事实返回并刷新当前页面 | 验收证据与停止条件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**仍然是 OPEN 的高影响问题不能交给 AI 开发。**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**Before：只有现象，无法验收**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第一次进入为空，第二次进入正常。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**After：教学用 EARS 规格**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WHEN 首次进入权限页面，</a:t>
            </a:r>
          </a:p>
          <a:p xmlns:a="http://schemas.openxmlformats.org/drawingml/2006/main">
            <a:r>
              <a:t>WHILE 系统事实尚未返回，</a:t>
            </a:r>
          </a:p>
          <a:p xmlns:a="http://schemas.openxmlformats.org/drawingml/2006/main">
            <a:r>
              <a:t>THE SYSTEM SHALL 显示加载态，不得把空列表提交为完成状态；</a:t>
            </a:r>
          </a:p>
          <a:p xmlns:a="http://schemas.openxmlformats.org/drawingml/2006/main">
            <a:r>
              <a:t>WHEN 系统事实返回，</a:t>
            </a:r>
          </a:p>
          <a:p xmlns:a="http://schemas.openxmlformats.org/drawingml/2006/main">
            <a:r>
              <a:t>THE SYSTEM SHALL 在当前页面刷新，不要求退出后再次进入；</a:t>
            </a:r>
          </a:p>
          <a:p xmlns:a="http://schemas.openxmlformats.org/drawingml/2006/main">
            <a:r>
              <a:t>IF 超时或读取失败，</a:t>
            </a:r>
          </a:p>
          <a:p xmlns:a="http://schemas.openxmlformats.org/drawingml/2006/main">
            <a:r>
              <a:t>THEN SHALL 显示可重试错误，并保留诊断证据。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由规格直接导出三条测试：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测试 | 条件 | 可观察结果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T01 | 数据延迟返回 | 当前页面自动更新 |</a:t>
            </a:r>
          </a:p>
          <a:p xmlns:a="http://schemas.openxmlformats.org/drawingml/2006/main">
            <a:r>
              <a:t>| T02 | 事件早于首读完成 | 首次刷新不丢失 |</a:t>
            </a:r>
          </a:p>
          <a:p xmlns:a="http://schemas.openxmlformats.org/drawingml/2006/main">
            <a:r>
              <a:t>| T03 | 读取超时 | 错误态 + 诊断证据，不显示“空成功” |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进入真实工程案例前，必须交付下面四项可复查产物：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准入条件 | 必须回答 | 产物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事实时间线 | 首次进入、事件到达、数据返回、页面更新分别发生在什么时候？ | 只读勘察记录 |</a:t>
            </a:r>
          </a:p>
          <a:p xmlns:a="http://schemas.openxmlformats.org/drawingml/2006/main">
            <a:r>
              <a:t>| 最终事实源 | 哪个 API / getter 能证明系统状态？UI 与缓存只属于哪一层？ | truth-source 表 |</a:t>
            </a:r>
          </a:p>
          <a:p xmlns:a="http://schemas.openxmlformats.org/drawingml/2006/main">
            <a:r>
              <a:t>| 可执行规格 | `WHEN / WHILE / SHALL / IF / THEN` 是否完整？高影响 `OPEN` 是否关闭？ | `spec.md` |</a:t>
            </a:r>
          </a:p>
          <a:p xmlns:a="http://schemas.openxmlformats.org/drawingml/2006/main">
            <a:r>
              <a:t>| 第一张任务卡 | 唯一结果、Allowed / Forbidden、RED、Verify 与 Stop 是否明确？ | Task Card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**下一页进入真实案例：用真实文档、代码、测试和设备证据验证这四项。**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先让学员判断：USB 全局启用后，一台显式 deny 的键盘应该是什么状态？</a:t>
            </a:r>
          </a:p>
          <a:p xmlns:a="http://schemas.openxmlformats.org/drawingml/2006/main">
            <a:r>
              <a:t>答案：全局启用只是打开 L1；L2 仍然可以拒绝该设备。默认黑白名单只处理没有显式规则的新设备。</a:t>
            </a:r>
          </a:p>
          <a:p xmlns:a="http://schemas.openxmlformats.org/drawingml/2006/main">
            <a:r>
              <a:t>USB 存储模式不是第四层名单，而是一条并行类型策略。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case-materials/mdm/README.md</a:t>
            </a:r>
          </a:p>
          <a:p xmlns:a="http://schemas.openxmlformats.org/drawingml/2006/main">
            <a:r>
              <a:t>- case-materials/mdm/11-附录B外设课堂冻结规格.md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这页必须真的打开目录，不只念六个阶段。</a:t>
            </a:r>
          </a:p>
          <a:p xmlns:a="http://schemas.openxmlformats.org/drawingml/2006/main">
            <a:r>
              <a:t>强调每个阶段都有输入、生成文件和出口门；文档是下一次 AI Session 的外部记忆。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case-materials/mdm/README.md</a:t>
            </a:r>
          </a:p>
          <a:p xmlns:a="http://schemas.openxmlformats.org/drawingml/2006/main">
            <a:r>
              <a:t>- case-materials/mdm/00-外设管理证据状态总表.md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现场用 rg 从 PeripheralPage 追到 UsbGlobalPolicyService，再追到 DispatchService。</a:t>
            </a:r>
          </a:p>
          <a:p xmlns:a="http://schemas.openxmlformats.org/drawingml/2006/main">
            <a:r>
              <a:t>每轮扫描都要写下输出，不允许靠聊天记忆继续。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case-materials/mdm/01-资产同步与冲突清单.md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让学员任选一项冲突，说明如果不冻结会导致哪种代码误实现。</a:t>
            </a:r>
          </a:p>
          <a:p xmlns:a="http://schemas.openxmlformats.org/drawingml/2006/main">
            <a:r>
              <a:t>需求卡冻结的是可验证语义，不是接口名。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case-materials/mdm/01-资产同步与冲突清单.md</a:t>
            </a:r>
          </a:p>
          <a:p xmlns:a="http://schemas.openxmlformats.org/drawingml/2006/main">
            <a:r>
              <a:t>- case-materials/mdm/11-附录B外设课堂冻结规格.md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先比较失败模式，再落类和接口。</a:t>
            </a:r>
          </a:p>
          <a:p xmlns:a="http://schemas.openxmlformats.org/drawingml/2006/main">
            <a:r>
              <a:t>强调 desiredPolicy 与 activePolicy 分离：意图长期保留，执行态可能因全局禁用而暂时为 none。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case-materials/mdm/02-方案推导与决策记录.md</a:t>
            </a:r>
          </a:p>
          <a:p xmlns:a="http://schemas.openxmlformats.org/drawingml/2006/main">
            <a:r>
              <a:t>- security_tool/.../UsbGlobalPolicyService.ets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现场打开 dispatchUsbPolicy 和 buildUsbDeviceType，确认系统参数里没有 serial number。</a:t>
            </a:r>
          </a:p>
          <a:p xmlns:a="http://schemas.openxmlformats.org/drawingml/2006/main">
            <a:r>
              <a:t>判断 AI 对不对：看它是否主动要求同类型第二台设备作为反例。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security_tool/.../PeripheralDevicePolicyDispatchService.ets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表示 RFC 已经识别风险，但还没有设备级闭环证据。</a:t>
            </a:r>
          </a:p>
          <a:p xmlns:a="http://schemas.openxmlformats.org/drawingml/2006/main">
            <a:r>
              <a:t>Story 开始前必须引用这些不变量和已知风险。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case-materials/mdm/03-外设管理MVVM与策略RFC.md</a:t>
            </a:r>
          </a:p>
          <a:p xmlns:a="http://schemas.openxmlformats.org/drawingml/2006/main">
            <a:r>
              <a:t>- security_tool/docs/03-模块设计/外设管理组件设计说明.md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这页先纠正旧版路径：PeripheralPage 位于 views/peripheral/overview，三个可见区域位于 components/peripheral。</a:t>
            </a:r>
          </a:p>
          <a:p xmlns:a="http://schemas.openxmlformats.org/drawingml/2006/main">
            <a:r>
              <a:t>代码组织的目标不是迁就 AI，而是让人和 AI 都能从业务能力快速定位责任边界。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security_tool/entry/src/main/ets</a:t>
            </a:r>
          </a:p>
          <a:p xmlns:a="http://schemas.openxmlformats.org/drawingml/2006/main">
            <a:r>
              <a:t>- case-materials/mdm/14-文档先行与模块提交协议.md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现场从 handleConnect 开始逐跳打开代码。</a:t>
            </a:r>
          </a:p>
          <a:p xmlns:a="http://schemas.openxmlformats.org/drawingml/2006/main">
            <a:r>
              <a:t>页面不刷新时，先检查最早缺失的证据：RDB 是否写入、notify 是否触发、ViewModel 是否 reload。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security_tool/.../UsbDevicePolicyStateService.ets</a:t>
            </a:r>
          </a:p>
          <a:p xmlns:a="http://schemas.openxmlformats.org/drawingml/2006/main">
            <a:r>
              <a:t>- security_tool/.../PeripheralTraceMaintenanceService.ets</a:t>
            </a:r>
          </a:p>
          <a:p xmlns:a="http://schemas.openxmlformats.org/drawingml/2006/main">
            <a:r>
              <a:t>- case-materials/mdm/08-代码级调用链与课堂穿刺.md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让学员画出 suspend 第二条失败时的补偿方向。</a:t>
            </a:r>
          </a:p>
          <a:p xmlns:a="http://schemas.openxmlformats.org/drawingml/2006/main">
            <a:r>
              <a:t>全局恢复成功但部分设备 deny 重放失败，结果应是 PARTIAL，而不是伪造全部成功。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security_tool/.../UsbGlobalPolicyService.ets</a:t>
            </a:r>
          </a:p>
          <a:p xmlns:a="http://schemas.openxmlformats.org/drawingml/2006/main">
            <a:r>
              <a:t>- security_tool/entry/src/test/peripheral/usb-global-policy-service.test.ets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本页修复旧版编号错位：S2 是默认策略，S3 是首次连接，S6 是存储冲突，S7 才是还原。</a:t>
            </a:r>
          </a:p>
          <a:p xmlns:a="http://schemas.openxmlformats.org/drawingml/2006/main">
            <a:r>
              <a:t>现场随机抽一个 Story，要求学员说出 RED、主要修改面和独立验收点。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case-materials/mdm/04-Feature与Story拆解.md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伪代码评审看三个点：失败时什么不提交、成功写到哪个真源、系统结果用什么 Oracle 判断。</a:t>
            </a:r>
          </a:p>
          <a:p xmlns:a="http://schemas.openxmlformats.org/drawingml/2006/main">
            <a:r>
              <a:t>如果 Worker Session 需要改 View 或默认名单语义，应停止并重开 Story，而不是扩大 Diff。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case-materials/mdm/04-Feature与Story拆解.md</a:t>
            </a:r>
          </a:p>
          <a:p xmlns:a="http://schemas.openxmlformats.org/drawingml/2006/main">
            <a:r>
              <a:t>- security_tool/entry/src/main/ets/services/peripheral/interface-control/UsbGlobalPolicyService.ets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让学员判断一次改动属于继续、停止还是升级。</a:t>
            </a:r>
          </a:p>
          <a:p xmlns:a="http://schemas.openxmlformats.org/drawingml/2006/main">
            <a:r>
              <a:t>没有可证伪假设和独立 oracle 的循环，只是让 AI 反复改代码。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case-materials/mdm/05-Ralph迭代运行账.md</a:t>
            </a:r>
          </a:p>
          <a:p xmlns:a="http://schemas.openxmlformats.org/drawingml/2006/main">
            <a:r>
              <a:t>- case-materials/mdm/13-本地Session真实问题证据卡.md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这页要求现场展示一次 docs commit 在 code commit 之前，并在 Ledger 中填入两个 hash。</a:t>
            </a:r>
          </a:p>
          <a:p xmlns:a="http://schemas.openxmlformats.org/drawingml/2006/main">
            <a:r>
              <a:t>模块记录不是提交列表：它必须包含设计来源、allowed paths、测试、系统/实物证据和未关闭风险。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case-materials/mdm/14-文档先行与模块提交协议.md</a:t>
            </a:r>
          </a:p>
          <a:p xmlns:a="http://schemas.openxmlformats.org/drawingml/2006/main">
            <a:r>
              <a:t>- case-materials/mdm/04-Feature与Story拆解.md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这页训练证据分层：每向下一层，能推翻上一层看起来合理的结论。</a:t>
            </a:r>
          </a:p>
          <a:p xmlns:a="http://schemas.openxmlformats.org/drawingml/2006/main">
            <a:r>
              <a:t>还原按钮必须读取系统残留，不能只看本地 deny。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case-materials/mdm/13-本地Session真实问题证据卡.md</a:t>
            </a:r>
          </a:p>
          <a:p xmlns:a="http://schemas.openxmlformats.org/drawingml/2006/main">
            <a:r>
              <a:t>- case-materials/mdm/05-Ralph迭代运行账.md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让学员先给二态判断，再展示 getter 和挂载证据，迫使其改成三态。</a:t>
            </a:r>
          </a:p>
          <a:p xmlns:a="http://schemas.openxmlformats.org/drawingml/2006/main">
            <a:r>
              <a:t>PARTIAL_APPLIED 必须给出用户下一步，而不是吞掉异常。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case-materials/mdm/13-本地Session真实问题证据卡.md</a:t>
            </a:r>
          </a:p>
          <a:p xmlns:a="http://schemas.openxmlformats.org/drawingml/2006/main">
            <a:r>
              <a:t>- case-materials/mdm/06-测试验收报告.md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现场依次打开 usb_policy.json、runner.py、Flow Executor、Driver 和 Assertion。</a:t>
            </a:r>
          </a:p>
          <a:p xmlns:a="http://schemas.openxmlformats.org/drawingml/2006/main">
            <a:r>
              <a:t>要求学员说出每一层能证明什么、不能证明什么。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security_tool/scripts/e2e/cases/peripheral/</a:t>
            </a:r>
          </a:p>
          <a:p xmlns:a="http://schemas.openxmlformats.org/drawingml/2006/main">
            <a:r>
              <a:t>- security_tool/docs/04-测试文档/e2e测试/端到端测试框架设计.md</a:t>
            </a:r>
          </a:p>
          <a:p xmlns:a="http://schemas.openxmlformats.org/drawingml/2006/main">
            <a:r>
              <a:t>- User-provided image: codex-clipboard-6778939b-3ce1-44ae-baf5-06a00b13fb43.jpg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截图证明页面可见，不证明设备已经被系统拒绝。</a:t>
            </a:r>
          </a:p>
          <a:p xmlns:a="http://schemas.openxmlformats.org/drawingml/2006/main">
            <a:r>
              <a:t>若 system/physical oracle 不可得，Case 只能标 UNKNOWN/PENDING，不能因脚本执行成功给 PASS。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harmonyos-sdd-workshop-media/e2e/peripheral-policy-current.png</a:t>
            </a:r>
          </a:p>
          <a:p xmlns:a="http://schemas.openxmlformats.org/drawingml/2006/main">
            <a:r>
              <a:t>- case-materials/mdm/12-附录E外设验收手册.md</a:t>
            </a:r>
          </a:p>
          <a:p xmlns:a="http://schemas.openxmlformats.org/drawingml/2006/main">
            <a:r>
              <a:t>- security_tool/scripts/e2e/cases/peripheral/usb_blacklist.json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收口时让学员任选一行做反向追踪。</a:t>
            </a:r>
          </a:p>
          <a:p xmlns:a="http://schemas.openxmlformats.org/drawingml/2006/main">
            <a:r>
              <a:t>设备证据未补齐时，overall 不能给 PASS；这正是“AI 完成不等于交付”的最终落点。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case-materials/mdm/00-外设管理证据状态总表.md</a:t>
            </a:r>
          </a:p>
          <a:p xmlns:a="http://schemas.openxmlformats.org/drawingml/2006/main">
            <a:r>
              <a:t>- case-materials/mdm/06-测试验收报告.md</a:t>
            </a:r>
          </a:p>
          <a:p xmlns:a="http://schemas.openxmlformats.org/drawingml/2006/main">
            <a:r>
              <a:t>- case-materials/mdm/12-附录E外设验收手册.md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C:/Users/mu/Desktop/code/harmonyos-sdd-ralph-workshop/case-materials/gpu/01-问题与基线.md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本页只讲背景。CASE FACT：当前视频走 CPU/软件路径，用户感知卡顿。before 视频和 CPU/FPS 尚未绑定同一场景，因此性能结论保持 PENDING。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C:/Users/mu/Desktop/code/harmonyos-sdd-ralph-workshop/case-materials/gpu/02-大代码库认知地图.md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主画面只讲“收视频—解码—显示”的时序。具体函数名留在讲师材料中，避免听众先被符号淹没。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C:/Users/mu/Desktop/code/harmonyos-sdd-ralph-workshop/case-materials/gpu/03-跨平台实现调研.md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这页回答两个问题：为什么看其他平台，以及看完之后如何落到 HarmonyOS。共同步骤可以复用，平台 API 和线程/内存细节不能照抄。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C:/Users/mu/Desktop/code/harmonyos-sdd-ralph-workshop/case-materials/gpu/04-ADR-GPU-001-HarmonyOS硬解方案.md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主画面只讲检查、硬解、显示和失败回退。具体 owner、present 与释放契约保留在 ADR 和讲师备注中。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C:/Users/mu/Desktop/code/harmonyos-sdd-ralph-workshop/case-materials/gpu/05-最小能力穿刺计划.md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穿刺只证明硬解能否在 HarmonyOS 上跑通一次，并验证失败时还能回旧方案。它不等于性能优化完成。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C:/Users/mu/Desktop/code/harmonyos-sdd-ralph-workshop/harmonyos-sdd-workshop-media/gpu-validation-video-playback-contact.jpg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现有媒体只能证明远控画面与交互可见，不能单独证明硬解选择、失败回退或性能改善。硬解日志和回退证据未到齐时保持 PENDING。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C:/Users/mu/Desktop/code/harmonyos-sdd-ralph-workshop/case-materials/gpu/05-最小能力穿刺计划.md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穿刺让团队知道哪些边界已证实、哪些仍未知。AI 据此重排完整计划，人再冻结阶段目标和完成标志。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C:/Users/mu/Desktop/code/harmonyos-sdd-ralph-workshop/case-materials/gpu/tasks/README.md</a:t>
            </a:r>
          </a:p>
          <a:p xmlns:a="http://schemas.openxmlformats.org/drawingml/2006/main">
            <a:r>
              <a:t>- C:/Users/mu/Desktop/code/harmonyos-sdd-ralph-workshop/harmonyos-sdd-workshop-media/gpu-docs/doc-33-task-card.png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任务卡按结果切分，不按文件切分。每张卡写一个可观察结果、验收点、停止条件和证据命令。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C:/Users/mu/Desktop/code/harmonyos-sdd-ralph-workshop/case-materials/gpu/06-工程验收计划.md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验收点先于开发。每项必须写场景、标准、证据和失败处理；证据缺失则保持 PENDING/UNKNOWN。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C:/Users/mu/Desktop/code/harmonyos-sdd-ralph-workshop/case-materials/gpu/12-GPU讲课版简化叙事.md</a:t>
            </a:r>
          </a:p>
          <a:p xmlns:a="http://schemas.openxmlformats.org/drawingml/2006/main">
            <a:r>
              <a:t>- C:/Users/mu/Desktop/code/harmonyos-sdd-ralph-workshop/case-materials/gpu/06-工程验收计划.md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本页不是证明项目已全部成功，而是明确区分 READY、PENDING、UNKNOWN 和 NOT YET。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C:\Users\mu\Desktop\code\ppt\harmonyos-sdd-ralph-workshop\harmonyos-sdd-workshop-media\gpu-validation-video-playback-contact.jpg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左：before 视频槽位（`PENDING`；当前为空）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中：硬解路径待填证据链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```text</a:t>
            </a:r>
          </a:p>
          <a:p xmlns:a="http://schemas.openxmlformats.org/drawingml/2006/main">
            <a:r>
              <a:t>commit:</a:t>
            </a:r>
          </a:p>
          <a:p xmlns:a="http://schemas.openxmlformats.org/drawingml/2006/main">
            <a:r>
              <a:t>runId:</a:t>
            </a:r>
          </a:p>
          <a:p xmlns:a="http://schemas.openxmlformats.org/drawingml/2006/main">
            <a:r>
              <a:t>candidate path:</a:t>
            </a:r>
          </a:p>
          <a:p xmlns:a="http://schemas.openxmlformats.org/drawingml/2006/main">
            <a:r>
              <a:t>decoder identity:</a:t>
            </a:r>
          </a:p>
          <a:p xmlns:a="http://schemas.openxmlformats.org/drawingml/2006/main">
            <a:r>
              <a:t>frameId / output:</a:t>
            </a:r>
          </a:p>
          <a:p xmlns:a="http://schemas.openxmlformats.org/drawingml/2006/main">
            <a:r>
              <a:t>owner / matched EndFrame:</a:t>
            </a:r>
          </a:p>
          <a:p xmlns:a="http://schemas.openxmlformats.org/drawingml/2006/main">
            <a:r>
              <a:t>present: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右：现有可见媒体与验收矩阵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| 结论 | 当前证据 | 判定 |</a:t>
            </a:r>
          </a:p>
          <a:p xmlns:a="http://schemas.openxmlformats.org/drawingml/2006/main">
            <a:r>
              <a:t>|---|---|---|</a:t>
            </a:r>
          </a:p>
          <a:p xmlns:a="http://schemas.openxmlformats.org/drawingml/2006/main">
            <a:r>
              <a:t>| 源码存在 bridge→compositor→EndFrame 路径 | 源码锚点与调用链 | `REPO FACT` |</a:t>
            </a:r>
          </a:p>
          <a:p xmlns:a="http://schemas.openxmlformats.org/drawingml/2006/main">
            <a:r>
              <a:t>| 当前 arm64/HAP 构建通过 |  | `PENDING` |</a:t>
            </a:r>
          </a:p>
          <a:p xmlns:a="http://schemas.openxmlformats.org/drawingml/2006/main">
            <a:r>
              <a:t>| 真机实际选择 OHOS hardware decoder |  | `PENDING` |</a:t>
            </a:r>
          </a:p>
          <a:p xmlns:a="http://schemas.openxmlformats.org/drawingml/2006/main">
            <a:r>
              <a:t>| 某次运行可见播放与部分交互 | `gpu-validation-video-playback-16s.mp4` | `MEDIA FACT / UNBOUND` |</a:t>
            </a:r>
          </a:p>
          <a:p xmlns:a="http://schemas.openxmlformats.org/drawingml/2006/main">
            <a:r>
              <a:t>| 某次运行出现黑屏 | `gpu-failure-black-screen-13s.mp4` | `MEDIA FACT / UNBOUND` |</a:t>
            </a:r>
          </a:p>
          <a:p xmlns:a="http://schemas.openxmlformats.org/drawingml/2006/main">
            <a:r>
              <a:t>| CPU/FPS 与卡顿改善 |  | `UNKNOWN` |</a:t>
            </a:r>
          </a:p>
          <a:p xmlns:a="http://schemas.openxmlformats.org/drawingml/2006/main">
            <a:r>
              <a:t>| resize/后台/重连长稳 |  | `UNKNOWN` |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&lt;!-- VIDEO SLOT: harmonyos-sdd-workshop-media/gpu-hwdecode-after.mp4 --&gt;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![现有可见播放与交互关键帧](harmonyos-sdd-workshop-media/gpu-validation-video-playback-contact.jpg)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C:/Users/mu/Desktop/code/ppt/harmonyos-sdd-ralph-workshop/harmonyos-sdd-ralph-workshop.md</a:t>
            </a:r>
          </a:p>
          <a:p xmlns:a="http://schemas.openxmlformats.org/drawingml/2006/main">
            <a:r>
              <a:t>- C:\Users\mu\Desktop\code\ppt\harmonyos-sdd-ralph-workshop\harmonyos-sdd-workshop-media\anthropic\eval-quality-layers.png</a:t>
            </a:r>
          </a:p>
          <a:p xmlns:a="http://schemas.openxmlformats.org/drawingml/2006/main">
            <a:r>
              <a:t>[/Sources]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```mermaid</a:t>
            </a:r>
          </a:p>
          <a:p xmlns:a="http://schemas.openxmlformats.org/drawingml/2006/main">
            <a:r>
              <a:t>flowchart TD</a:t>
            </a:r>
          </a:p>
          <a:p xmlns:a="http://schemas.openxmlformats.org/drawingml/2006/main">
            <a:r>
              <a:t>    A[事实] --&gt; B[规格]</a:t>
            </a:r>
          </a:p>
          <a:p xmlns:a="http://schemas.openxmlformats.org/drawingml/2006/main">
            <a:r>
              <a:t>    B --&gt; C[任务]</a:t>
            </a:r>
          </a:p>
          <a:p xmlns:a="http://schemas.openxmlformats.org/drawingml/2006/main">
            <a:r>
              <a:t>    C --&gt; D[RED]</a:t>
            </a:r>
          </a:p>
          <a:p xmlns:a="http://schemas.openxmlformats.org/drawingml/2006/main">
            <a:r>
              <a:t>    D --&gt; E[最小 Diff]</a:t>
            </a:r>
          </a:p>
          <a:p xmlns:a="http://schemas.openxmlformats.org/drawingml/2006/main">
            <a:r>
              <a:t>    E --&gt; F[系统证据]</a:t>
            </a:r>
          </a:p>
          <a:p xmlns:a="http://schemas.openxmlformats.org/drawingml/2006/main">
            <a:r>
              <a:t>```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**可选收束主视觉（PPT 制作时与上方 Mermaid 二选一）**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![质量的瑞士奶酪模型：自动评估、人工审阅和真实运行共同拦截缺陷](harmonyos-sdd-workshop-media/anthropic/eval-quality-layers.png)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&lt;sub&gt;讲师读图：任何单层检查都有孔洞。映射到本课就是测试、构建、日志、getter、截图/视频与同伴 Reviewer 叠加；只有多层证据对齐，才允许 PASS。图源：Anthropic《Demystifying Evals for AI Agents》。&lt;/sub&gt;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下一次拿到复杂需求，只问七个问题：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哪些词会让实现分叉？</a:t>
            </a:r>
          </a:p>
          <a:p xmlns:a="http://schemas.openxmlformats.org/drawingml/2006/main">
            <a:r>
              <a:t>2. 最终真相在哪一层？</a:t>
            </a:r>
          </a:p>
          <a:p xmlns:a="http://schemas.openxmlformats.org/drawingml/2006/main">
            <a:r>
              <a:t>3. 哪些不变量绝不能破坏？</a:t>
            </a:r>
          </a:p>
          <a:p xmlns:a="http://schemas.openxmlformats.org/drawingml/2006/main">
            <a:r>
              <a:t>4. 本轮只允许 AI 改哪个边界？</a:t>
            </a:r>
          </a:p>
          <a:p xmlns:a="http://schemas.openxmlformats.org/drawingml/2006/main">
            <a:r>
              <a:t>5. 怎样先制造一个可解释的 RED？</a:t>
            </a:r>
          </a:p>
          <a:p xmlns:a="http://schemas.openxmlformats.org/drawingml/2006/main">
            <a:r>
              <a:t>6. 最早异常证据在哪里？</a:t>
            </a:r>
          </a:p>
          <a:p xmlns:a="http://schemas.openxmlformats.org/drawingml/2006/main">
            <a:r>
              <a:t>7. 什么证据满足后，本轮必须停止？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**一分钟迁移题**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&gt; 权限页面第一次进入数据为空，第二次进入正常。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每组必须用七问给出：一个最小只读勘察任务、一条可证伪假设、一项禁止修改范围和一个最终事实来源。不得直接回答“加延迟”或“页面初始化问题”。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c24e61d7f74b9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9cf90a0b2df4c2d" /><Relationship Type="http://schemas.openxmlformats.org/officeDocument/2006/relationships/slideLayout" Target="/ppt/slideLayouts/slideLayout1.xml" Id="R46c179b935114b0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6c179b935114b0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cfd01fcb3f41ad" /><Relationship Type="http://schemas.openxmlformats.org/officeDocument/2006/relationships/image" Target="/ppt/media/image.png" Id="Rac0af19fb97a4dc8" /><Relationship Type="http://schemas.openxmlformats.org/officeDocument/2006/relationships/notesSlide" Target="/ppt/notesSlides/notesSlide1.xml" Id="R43b42444cf264fc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5792e8d84f41e4" /><Relationship Type="http://schemas.openxmlformats.org/officeDocument/2006/relationships/notesSlide" Target="/ppt/notesSlides/notesSlide2.xml" Id="Rb8b0ed16d0154ba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a3fcb45e5e4a4b" /><Relationship Type="http://schemas.openxmlformats.org/officeDocument/2006/relationships/image" Target="/ppt/media/image2.png" Id="R65277b4cfa8e4686" /><Relationship Type="http://schemas.openxmlformats.org/officeDocument/2006/relationships/notesSlide" Target="/ppt/notesSlides/notesSlide3.xml" Id="Rf2cc537305344cc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858342989b449f" /><Relationship Type="http://schemas.openxmlformats.org/officeDocument/2006/relationships/notesSlide" Target="/ppt/notesSlides/notesSlide4.xml" Id="R88ca75efbaac479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5170322da94bb0" /><Relationship Type="http://schemas.openxmlformats.org/officeDocument/2006/relationships/notesSlide" Target="/ppt/notesSlides/notesSlide5.xml" Id="R8a487520e08643b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d6bcd2a06f455f" /><Relationship Type="http://schemas.openxmlformats.org/officeDocument/2006/relationships/notesSlide" Target="/ppt/notesSlides/notesSlide6.xml" Id="Ra2e885a533e4431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b067dd430b41b6" /><Relationship Type="http://schemas.openxmlformats.org/officeDocument/2006/relationships/notesSlide" Target="/ppt/notesSlides/notesSlide7.xml" Id="Rcf78665336274ec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5e69e1cd6c4562" /><Relationship Type="http://schemas.openxmlformats.org/officeDocument/2006/relationships/notesSlide" Target="/ppt/notesSlides/notesSlide8.xml" Id="R6d66ee04d0ce4df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a0d3faa6c94512" /><Relationship Type="http://schemas.openxmlformats.org/officeDocument/2006/relationships/notesSlide" Target="/ppt/notesSlides/notesSlide9.xml" Id="R35cd6e5df0984eb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b1eafe91724dae" /><Relationship Type="http://schemas.openxmlformats.org/officeDocument/2006/relationships/notesSlide" Target="/ppt/notesSlides/notesSlide10.xml" Id="Rbfab084d893f47b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15876f514c4499" /><Relationship Type="http://schemas.openxmlformats.org/officeDocument/2006/relationships/notesSlide" Target="/ppt/notesSlides/notesSlide11.xml" Id="Rccca5c2b258e421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d18f6ce1ca4380" /><Relationship Type="http://schemas.openxmlformats.org/officeDocument/2006/relationships/notesSlide" Target="/ppt/notesSlides/notesSlide12.xml" Id="R1404d746782b4a5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addd7ee218497f" /><Relationship Type="http://schemas.openxmlformats.org/officeDocument/2006/relationships/notesSlide" Target="/ppt/notesSlides/notesSlide13.xml" Id="R78f20e51de5b436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000c4900ec460e" /><Relationship Type="http://schemas.openxmlformats.org/officeDocument/2006/relationships/notesSlide" Target="/ppt/notesSlides/notesSlide14.xml" Id="Rd25283b890bf482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359fb7e1b14143" /><Relationship Type="http://schemas.openxmlformats.org/officeDocument/2006/relationships/notesSlide" Target="/ppt/notesSlides/notesSlide15.xml" Id="Ra1e5b226b2ac4d8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b372ae70ef4e1e" /><Relationship Type="http://schemas.openxmlformats.org/officeDocument/2006/relationships/notesSlide" Target="/ppt/notesSlides/notesSlide16.xml" Id="R7474c82365b54c9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fe20e31b424bc3" /><Relationship Type="http://schemas.openxmlformats.org/officeDocument/2006/relationships/notesSlide" Target="/ppt/notesSlides/notesSlide17.xml" Id="R42d1b3f14d544ab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5988b9534f4bc6" /><Relationship Type="http://schemas.openxmlformats.org/officeDocument/2006/relationships/notesSlide" Target="/ppt/notesSlides/notesSlide18.xml" Id="R75cfd5e919cf4c0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3dec0c8fc94b3b" /><Relationship Type="http://schemas.openxmlformats.org/officeDocument/2006/relationships/notesSlide" Target="/ppt/notesSlides/notesSlide19.xml" Id="Rc15e2dad66884af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27a8b5562247ba" /><Relationship Type="http://schemas.openxmlformats.org/officeDocument/2006/relationships/notesSlide" Target="/ppt/notesSlides/notesSlide20.xml" Id="R5830e7bd3e2645f1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2c795092f2440f" /><Relationship Type="http://schemas.openxmlformats.org/officeDocument/2006/relationships/notesSlide" Target="/ppt/notesSlides/notesSlide21.xml" Id="R858073e4794c43d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58be8acb794e37" /><Relationship Type="http://schemas.openxmlformats.org/officeDocument/2006/relationships/notesSlide" Target="/ppt/notesSlides/notesSlide22.xml" Id="R7477220a2276462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9dcbaadfd04993" /><Relationship Type="http://schemas.openxmlformats.org/officeDocument/2006/relationships/notesSlide" Target="/ppt/notesSlides/notesSlide23.xml" Id="R0a5362e1ffeb4c59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d9606153ef4bf6" /><Relationship Type="http://schemas.openxmlformats.org/officeDocument/2006/relationships/notesSlide" Target="/ppt/notesSlides/notesSlide24.xml" Id="Rfa52cf3cddef4244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5a30d32bbf4487" /><Relationship Type="http://schemas.openxmlformats.org/officeDocument/2006/relationships/image" Target="/ppt/media/image.jpeg" Id="R2fde64e749d34e2b" /><Relationship Type="http://schemas.openxmlformats.org/officeDocument/2006/relationships/notesSlide" Target="/ppt/notesSlides/notesSlide25.xml" Id="R4422363f726c4614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2c4b494809411f" /><Relationship Type="http://schemas.openxmlformats.org/officeDocument/2006/relationships/image" Target="/ppt/media/image2.jpeg" Id="R3f7cb98f6c3e4092" /><Relationship Type="http://schemas.openxmlformats.org/officeDocument/2006/relationships/notesSlide" Target="/ppt/notesSlides/notesSlide26.xml" Id="Rb13958c1b3fb4d00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c17c7b89964280" /><Relationship Type="http://schemas.openxmlformats.org/officeDocument/2006/relationships/notesSlide" Target="/ppt/notesSlides/notesSlide27.xml" Id="Rfec398010c0d4ee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7e1ccf3da64552" /><Relationship Type="http://schemas.openxmlformats.org/officeDocument/2006/relationships/image" Target="/ppt/media/image3.jpeg" Id="R1739e5f6b15a4178" /><Relationship Type="http://schemas.openxmlformats.org/officeDocument/2006/relationships/notesSlide" Target="/ppt/notesSlides/notesSlide28.xml" Id="Rb24f0a9b34ba4d91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572360aed5483a" /><Relationship Type="http://schemas.openxmlformats.org/officeDocument/2006/relationships/image" Target="/ppt/media/image3.png" Id="R40762b2e1ccd4f22" /><Relationship Type="http://schemas.openxmlformats.org/officeDocument/2006/relationships/notesSlide" Target="/ppt/notesSlides/notesSlide29.xml" Id="R792c8a4983f34241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68492c49bd4a8f" /><Relationship Type="http://schemas.openxmlformats.org/officeDocument/2006/relationships/image" Target="/ppt/media/image4.png" Id="R52c60d9cba824ba2" /><Relationship Type="http://schemas.openxmlformats.org/officeDocument/2006/relationships/notesSlide" Target="/ppt/notesSlides/notesSlide30.xml" Id="R935e1ded50c34514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4684c46d4b42b6" /><Relationship Type="http://schemas.openxmlformats.org/officeDocument/2006/relationships/notesSlide" Target="/ppt/notesSlides/notesSlide31.xml" Id="R703a5e58baf0435f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c6253d6882414f" /><Relationship Type="http://schemas.openxmlformats.org/officeDocument/2006/relationships/image" Target="/ppt/media/image5.png" Id="R672036e09f16473d" /><Relationship Type="http://schemas.openxmlformats.org/officeDocument/2006/relationships/notesSlide" Target="/ppt/notesSlides/notesSlide32.xml" Id="Rca35d56f77fe4f1a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d385b1dad64348" /><Relationship Type="http://schemas.openxmlformats.org/officeDocument/2006/relationships/image" Target="/ppt/media/image4.jpeg" Id="R81ce2173e77a47bc" /><Relationship Type="http://schemas.openxmlformats.org/officeDocument/2006/relationships/notesSlide" Target="/ppt/notesSlides/notesSlide33.xml" Id="R1808498e4b8d4141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81652095414d24" /><Relationship Type="http://schemas.openxmlformats.org/officeDocument/2006/relationships/notesSlide" Target="/ppt/notesSlides/notesSlide34.xml" Id="R6c90653f012e4957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ef5d7476314f55" /><Relationship Type="http://schemas.openxmlformats.org/officeDocument/2006/relationships/image" Target="/ppt/media/image6.png" Id="R0c7687a08c5440ac" /><Relationship Type="http://schemas.openxmlformats.org/officeDocument/2006/relationships/notesSlide" Target="/ppt/notesSlides/notesSlide35.xml" Id="Ref129cda0f6842ab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2f5944abc946fb" /><Relationship Type="http://schemas.openxmlformats.org/officeDocument/2006/relationships/notesSlide" Target="/ppt/notesSlides/notesSlide36.xml" Id="Rf8463416099e4643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1598d1eeee4784" /><Relationship Type="http://schemas.openxmlformats.org/officeDocument/2006/relationships/notesSlide" Target="/ppt/notesSlides/notesSlide37.xml" Id="Rdd9020b7de574691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b8120014884676" /><Relationship Type="http://schemas.openxmlformats.org/officeDocument/2006/relationships/image" Target="/ppt/media/image5.jpeg" Id="R6434373a64c14cfc" /><Relationship Type="http://schemas.openxmlformats.org/officeDocument/2006/relationships/notesSlide" Target="/ppt/notesSlides/notesSlide38.xml" Id="R0b320fef77ea49fe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3516f8a5734ce3" /><Relationship Type="http://schemas.openxmlformats.org/officeDocument/2006/relationships/image" Target="/ppt/media/image7.png" Id="R4bc78416eb5749c0" /><Relationship Type="http://schemas.openxmlformats.org/officeDocument/2006/relationships/notesSlide" Target="/ppt/notesSlides/notesSlide39.xml" Id="Rb93964c968684ce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54E06D2-31D6-475F-9B0B-C53989107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5143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1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HarmonyOS 复杂需求工程化实践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2DA694-E65E-46F5-A828-A9EA8B6B6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00250"/>
            <a:ext cx="4953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让 AI 不只是“写出代码”，而是完成可解释、可验证、可停止的一轮工程闭环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934442-F286-4625-B2E3-0CF7B40A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4325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3133A9-F69F-4EBD-9347-F3D06946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81350"/>
            <a:ext cx="47815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课程从一个人人都见过的现象开始：页面第一次进入为空，第二次却正常。先学会找事实，再进入两个真实工程案例。</a:t>
            </a:r>
          </a:p>
        </p:txBody>
      </p:sp>
      <p:pic>
        <p:nvPicPr>
          <p:cNvPr id="30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0af19fb97a4dc8"/>
          <a:srcRect xmlns:a="http://schemas.openxmlformats.org/drawingml/2006/main" l="10625" t="0" r="1062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53125" y="952500"/>
            <a:ext cx="5667375" cy="4048125"/>
          </a:xfrm>
          <a:prstGeom xmlns:a="http://schemas.openxmlformats.org/drawingml/2006/main" prst="roundRect">
            <a:avLst>
              <a:gd name="adj" fmla="val 2824"/>
            </a:avLst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358F46-EEFE-4F90-9B29-FDC192E67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952500"/>
            <a:ext cx="5667375" cy="4048125"/>
          </a:xfrm>
          <a:prstGeom xmlns:a="http://schemas.openxmlformats.org/drawingml/2006/main" prst="roundRect">
            <a:avLst>
              <a:gd name="adj" fmla="val 282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B99B91-2F40-4BB7-B4E9-3E3268131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67300"/>
            <a:ext cx="5191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核心不是一次 Prompt，而是持续澄清目标、约束边界，并让每一步都能被证据推翻。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9A8C34-9593-4D16-ABDD-5D57C075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9813BA-70E2-453C-8B51-99EEBD2A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现象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915CFC-64A1-4548-90C8-2D189C4E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93EB35-6820-4A3B-9BC5-8FD65D8B2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85F055-8435-4C99-B28F-7CB1A338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EB34C4-AEF8-4B4F-A918-9AC24BADB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规格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D3E3743-2FD4-481B-A58F-A92505CF2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21E7EE-5F52-4899-979C-994CE0A6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75C9516-BC3F-4009-87CA-DE8FEE972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D8D213-9AE7-42D0-B3FF-FEAAFDE3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改动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8684D2-720E-406B-8A63-E8549711B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715000"/>
            <a:ext cx="1714500" cy="523875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34A8F4-86B0-419E-A8EB-5945EF6E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772150"/>
            <a:ext cx="15621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</a:t>
            </a:r>
          </a:p>
        </p:txBody>
      </p:sp>
      <p:cxnSp>
        <p:nvCxnSpPr>
          <p:cNvPr id="320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2860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21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41529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22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0198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23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78867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24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9753600" y="5976938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DFAD5A-1D55-4875-B0CF-74BCDE0C7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4861605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8561A2A-E6D6-45A6-A5EF-D7B77BE2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106498-66E5-41F1-AC3A-DE23BD139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别急着改代码：先解释“第一次为空，第二次正常”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243E87-55F1-41AC-8AEE-309F84F14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561238-AB06-4C49-B582-E39DEE933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BB994A-D801-4C4B-952C-C324C33C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15C2BA-A7F2-4D41-A6A4-266117DA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6737F0-C1ED-4FE6-81DD-29E7590D7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28725"/>
            <a:ext cx="10687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“权限页面第一次进入数据为空，退出后第二次进入却正常。”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5AA486-0133-4F84-8A84-58B5C0BDB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95500"/>
            <a:ext cx="590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这句话只描述了现象，至少存在四种完全不同的实现原因：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58C9F9-8B4F-4B25-9EAA-404E535EA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19375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86D694-48CC-465B-8E85-C6918A90D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76525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 数据尚未返回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页面先渲染，异步结果稍后到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CDAA71-FCE1-49A0-9A8B-A4CE8E293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619375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24AC4A-4032-4235-BA16-598B5EAF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2676525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  监听注册太晚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第一次事件已错过，第二次复用状态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3A62DD-271B-4750-9DDA-DD073711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4750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F5ACCE-987E-4FF7-8A5F-7ECB3CE05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  缓存或单例残留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第二次读取的是上一轮结果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A6A54F0-8330-4783-AC13-7B52A077C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714750"/>
            <a:ext cx="49530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A3880D-21DD-4754-AD93-2E591AF34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3771900"/>
            <a:ext cx="4800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  刷新链没有触发</a:t>
            </a:r>
          </a:p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事实已存在，但 ViewModel 没收到通知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7724CB-639F-4A99-9E4D-AFAAA698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7DABC7-A4E9-4D2B-B625-90F9394A1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稳定复现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6B933D-4767-43E9-94FD-61E400DF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846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5DFEFBA-FD0F-41B2-8E0F-FB84C37EC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466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画时间线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71D2033-FDA8-4FFA-A2EA-82156B345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730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49341C-29CC-45E1-83B9-E762D4B65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350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确认事实源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CDCF51-35AE-4778-AB0E-01B169985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614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D91A28-A147-4237-B62F-1431B81A7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234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定位最早异常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B88269E-B61D-4148-A4F3-77631400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4985" y="5095875"/>
            <a:ext cx="1977390" cy="64770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A6771A-28D9-4155-AF72-9B14446C9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1185" y="5153025"/>
            <a:ext cx="182499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只改一个边界</a:t>
            </a:r>
          </a:p>
        </p:txBody>
      </p:sp>
      <p:cxnSp>
        <p:nvCxnSpPr>
          <p:cNvPr id="390" name=""/>
          <p:cNvCxnSpPr>
            <a:stCxn xmlns:a="http://schemas.openxmlformats.org/drawingml/2006/main" id="17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78701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91" name=""/>
          <p:cNvCxnSpPr>
            <a:stCxn xmlns:a="http://schemas.openxmlformats.org/drawingml/2006/main" id="19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493585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92" name=""/>
          <p:cNvCxnSpPr>
            <a:stCxn xmlns:a="http://schemas.openxmlformats.org/drawingml/2006/main" id="21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708469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93" name=""/>
          <p:cNvCxnSpPr>
            <a:stCxn xmlns:a="http://schemas.openxmlformats.org/drawingml/2006/main" id="23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9233535" y="5419725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265AA0-3F79-456D-81A2-36E1E772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953125"/>
            <a:ext cx="57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F5712A6-EF8B-41B6-B1A3-273CCE033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3575" y="5991225"/>
            <a:ext cx="8496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不能直接回答“加延迟”。先证明第一次和第二次究竟差在哪一个事实。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A227A1F-86F2-46E8-BD3A-6D00561B2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9469203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8BF84DA-50B3-444D-89FA-4055FE21F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B643AC-D5A4-4D1B-B797-0123C1176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 每轮只做一个可证伪闭环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0CC041-F2EC-4D8E-8E26-FDE7EDDE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1550C7-117C-472D-9F74-3CFDA77F9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0B94F2-10B4-4F49-A6F0-92ACC860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864820-116F-4382-B33D-78816E61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BCA8E9-3853-4F93-B209-B039AF22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Task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本轮唯一结果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9D1E9B-DA90-4F8F-B069-4C03E9154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29A154-690D-43DC-8258-A38D0F928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可解释失败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202881-9D41-4F8C-BC60-99E4FF62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D11A94E-A727-4811-ADBF-926D577F5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 Diff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F3EA45-1705-4F92-BA13-4890EF4DF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1762125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E9D33F-6BBD-4E76-89FA-062EAE30A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19275"/>
            <a:ext cx="1466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窄测与回归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0CD992-6D2C-4284-98A3-F0561B429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62125"/>
            <a:ext cx="18097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138554-FC45-4B75-A830-F56DCF84B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19275"/>
            <a:ext cx="16573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Evidence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日志与系统事实</a:t>
            </a:r>
          </a:p>
        </p:txBody>
      </p:sp>
      <p:cxnSp>
        <p:nvCxnSpPr>
          <p:cNvPr id="312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3812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13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4767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14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5722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15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8667750" y="210502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7C66FD-B62E-4C48-AA99-D60F0DD87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143250"/>
            <a:ext cx="20002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06104D-2C5E-4164-BE80-C8106DA5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00400"/>
            <a:ext cx="1847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停止条件满足？</a:t>
            </a:r>
          </a:p>
        </p:txBody>
      </p:sp>
      <p:cxnSp>
        <p:nvCxnSpPr>
          <p:cNvPr id="318" name=""/>
          <p:cNvCxnSpPr>
            <a:stCxn xmlns:a="http://schemas.openxmlformats.org/drawingml/2006/main" id="14" idx="2"/>
            <a:endCxn xmlns:a="http://schemas.openxmlformats.org/drawingml/2006/main" id="20" idx="3"/>
          </p:cNvCxnSpPr>
          <p:nvPr/>
        </p:nvCxnSpPr>
        <p:spPr>
          <a:xfrm xmlns:a="http://schemas.openxmlformats.org/drawingml/2006/main" flipH="1">
            <a:off x="9239250" y="2447925"/>
            <a:ext cx="809625" cy="1057275"/>
          </a:xfrm>
          <a:prstGeom xmlns:a="http://schemas.openxmlformats.org/drawingml/2006/main" prst="bentConnector5">
            <a:avLst>
              <a:gd name="adj1" fmla="val 0"/>
              <a:gd name="adj2" fmla="val 21622"/>
              <a:gd name="adj3" fmla="val 71765"/>
            </a:avLst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cxnSp>
        <p:nvCxnSpPr>
          <p:cNvPr id="319" name=""/>
          <p:cNvCxnSpPr>
            <a:stCxn xmlns:a="http://schemas.openxmlformats.org/drawingml/2006/main" id="20" idx="1"/>
            <a:endCxn xmlns:a="http://schemas.openxmlformats.org/drawingml/2006/main" id="6" idx="2"/>
          </p:cNvCxnSpPr>
          <p:nvPr/>
        </p:nvCxnSpPr>
        <p:spPr>
          <a:xfrm xmlns:a="http://schemas.openxmlformats.org/drawingml/2006/main" flipH="1" flipV="1">
            <a:off x="1571625" y="2447925"/>
            <a:ext cx="5667375" cy="1057275"/>
          </a:xfrm>
          <a:prstGeom xmlns:a="http://schemas.openxmlformats.org/drawingml/2006/main" prst="bentConnector4">
            <a:avLst>
              <a:gd name="adj1" fmla="val 4034"/>
              <a:gd name="adj2" fmla="val 78378"/>
            </a:avLst>
          </a:prstGeom>
          <a:ln xmlns:a="http://schemas.openxmlformats.org/drawingml/2006/main" w="19050">
            <a:solidFill>
              <a:srgbClr val="E26852"/>
            </a:solidFill>
            <a:prstDash val="dash"/>
            <a:tailEnd type="arrow" w="med" len="me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2D75AD-99A5-4708-9FF0-F38474D91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385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否：回到 Task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10C046-6EA2-409A-B701-7CD819085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33528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是：提交结果</a:t>
            </a:r>
          </a:p>
        </p:txBody>
      </p:sp>
      <p:pic>
        <p:nvPicPr>
          <p:cNvPr id="3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277b4cfa8e4686"/>
          <a:stretch xmlns:a="http://schemas.openxmlformats.org/drawingml/2006/main"/>
        </p:blipFill>
        <p:spPr>
          <a:xfrm xmlns:a="http://schemas.openxmlformats.org/drawingml/2006/main">
            <a:off x="666750" y="4429472"/>
            <a:ext cx="4000500" cy="1666181"/>
          </a:xfrm>
          <a:prstGeom xmlns:a="http://schemas.openxmlformats.org/drawingml/2006/main" prst="roundRect">
            <a:avLst>
              <a:gd name="adj" fmla="val 6486"/>
            </a:avLst>
          </a:prstGeom>
        </p:spPr>
      </p:pic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189DC4-9B18-420E-9226-CEE36D761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81500"/>
            <a:ext cx="4000500" cy="1762125"/>
          </a:xfrm>
          <a:prstGeom xmlns:a="http://schemas.openxmlformats.org/drawingml/2006/main" prst="roundRect">
            <a:avLst>
              <a:gd name="adj" fmla="val 648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D88417-9AA6-46A0-BDE6-9A7E25FB2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381500"/>
            <a:ext cx="6286500" cy="1762125"/>
          </a:xfrm>
          <a:prstGeom xmlns:a="http://schemas.openxmlformats.org/drawingml/2006/main" prst="roundRect">
            <a:avLst>
              <a:gd name="adj" fmla="val 7568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79237E1-5EE3-4BF6-82E3-18F159D0C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495800"/>
            <a:ext cx="598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progress.md（外部记忆）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A4D76A-DA34-4C5E-8CFC-C8CC15DAF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7815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54ED46E-B2FD-4355-8E5B-70C0227AF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857750"/>
            <a:ext cx="5981700" cy="1171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task_id / red_reason / diff_scope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verify_commands / evidence / verdict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4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next_task / stop_reason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26676FD-9E02-4CC3-A422-12F51309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9062721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EBCB931-0CA6-4BAD-848D-2C9A73ED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01 课程地图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208FF9-C1B8-45E2-841F-D2E9039CE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复杂问题先拆成五层，两个案例都沿这条链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EDC01C8-7D18-4FAE-9BF2-8360F652B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390E6-ECAC-40FF-B527-755CE0B77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C6F825-41F8-40EA-B1F4-B687140D2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37AF33-D430-44A0-9CF2-380ACE91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C8532D-6C99-4131-8B76-B803F8CCD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触发事实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发生了什么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251D4B-0783-44CD-8540-2369C2A7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035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12EAEA2-ACAB-4A90-BEC3-09BCC36B4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55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稳定快照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此刻真实状态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265DC6-13B7-47E7-842D-896927594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158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EE331C-BA51-4CAF-8237-E728BAF8D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778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目标状态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应该变成什么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C1BB40-3D12-490D-AE71-CA29FE42C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281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2DF1DF-6D1F-40ED-B0F4-D6943743D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901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执行结果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系统实际做了什么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7193147-5A71-41A7-BFE3-DA544B3E8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4045" y="1238250"/>
            <a:ext cx="206883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B5CCDD-7101-4DF2-8D5C-AFF94AF53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0245" y="1295400"/>
            <a:ext cx="191643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最终是否一致</a:t>
            </a:r>
          </a:p>
        </p:txBody>
      </p:sp>
      <p:cxnSp>
        <p:nvCxnSpPr>
          <p:cNvPr id="285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68795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86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90918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87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713041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288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351645" y="1657350"/>
            <a:ext cx="152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4345E3-DDB2-4DA9-B13F-B97DCA1B2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24125"/>
            <a:ext cx="17373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6806AF-07D1-498E-8493-F59D3E3EE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571750"/>
            <a:ext cx="15849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6A6E0D-B5C0-48BA-84D5-243D1A32B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2524125"/>
            <a:ext cx="521208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A46992-FE90-4680-B72B-55AAFBDF5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2571750"/>
            <a:ext cx="505968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必须回答的问题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9CF611-5F15-4430-A765-24ADC664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2524125"/>
            <a:ext cx="39090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353A0F9-3B13-453A-B3ED-9C67B90B1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2571750"/>
            <a:ext cx="37566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可验证对象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578A26-3AAD-41C4-B1D6-733FE0793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2417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D8D1D8-4E8B-4A84-8BC3-B96F6C031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7180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触发事实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239371-E442-45D1-96FA-BB5A9B3D2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292417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CDA364-76F7-42A7-B0AC-99AFA7A5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297180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这轮变化由什么事件或操作开始？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FBD21B1-F2DD-463F-BCF7-4A00693B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292417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073612A-DEFE-4273-85B2-2989D2F67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297180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事件源、时间戳、参数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AC46E3B-C7EC-419E-B5EB-A7A57AFC1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7090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985496-BAF2-459A-8D45-542EF2E5F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34715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稳定快照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A773EF-BE05-4C16-8854-D524A55B7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3387090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8A4F79-5B8A-4205-A399-B7FDF804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3434715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执行前的完整事实是什么？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25B5CEE-B0EB-4704-878D-ED32EEF0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3387090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6B07A3-9583-4F83-87F1-50B117941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3434715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getter、列表、版本号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373122-EF52-43CC-8931-31F285EED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5000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47F5B5-AAFA-4C29-BF14-6531723E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89763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目标状态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E5FC1F8-2FED-43BD-9210-153303254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385000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199E804-4EEA-40CD-8253-854B1A8DE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389763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需求冻结后的期望结果是什么？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1CCAE79-B7C2-48E4-A0A7-3871EC436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385000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1BACCD0-E77D-4123-A814-814F001C6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389763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spec / ADR / 不变量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ED93AA6-C537-4AFC-9D79-3E3C864C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12920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5D83AAC-3684-4023-B169-123E68B67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60545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执行结果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AC97E05-DBC8-4443-B158-5411461E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4312920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63AD665-69E5-4931-8760-DF286820F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4360545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哪些写入成功、失败或需要补偿？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E5B53E6-FF68-4CE3-83CE-064A1C330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4312920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A948757-FDFB-4C14-A988-BB85EE47F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4360545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返回值、映射、事务边界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4F74CC1-A897-4816-A0BF-19E195921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75835"/>
            <a:ext cx="17373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63588D6-CF5E-480C-B824-EE3856BD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23460"/>
            <a:ext cx="15849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37692E5-5969-4E62-8AF1-60E55CF42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4110" y="4775835"/>
            <a:ext cx="521208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4A0CA4D-29ED-47CF-A360-532D321E4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80310" y="4823460"/>
            <a:ext cx="505968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最终事实是否与目标一致？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9B4969D-4A5E-445F-927C-7906D628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6190" y="4775835"/>
            <a:ext cx="3909060" cy="4629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4DF82D6-DC62-4E82-80C3-DE3DC2E09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2390" y="4823460"/>
            <a:ext cx="3756660" cy="3676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回读、日志、截图/视频、性能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CEBB1C0-B3BC-41E1-83AC-B39837921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76875"/>
            <a:ext cx="51435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E0CD891-0FD5-4CC4-894A-7CB9B2328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388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案例一：多账号状态同步、失败补偿与 UI 事实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F30E8A51-6CD2-4910-9ED8-835B67D8B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476875"/>
            <a:ext cx="51435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BFFA6DA5-9740-4C73-BFAA-1818315A2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6388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案例二：FreeRDP 卡顿路径、硬解穿刺与同帧证据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6FEC072-E581-4BCA-9D6C-A210605E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19544013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A3B6FB-C64B-4EC3-8A70-F0C1096B0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D786B4-BE94-481C-BF0A-527ABED38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同一个现象，至少有四个事实边界不能靠猜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0EB80C-2F9C-4138-99AA-69695661A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70E28F-1DB5-4BBA-B57F-ECA4C4906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AD3A18-22B1-4A69-848F-1A1C6CA58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574941-2D52-4128-B715-7449E120D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571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E3116A-AF84-4C14-BA1B-8D7805E5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228725"/>
            <a:ext cx="10687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“权限页面第一次进入为空，退出后第二次进入正常。”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FE6CC3-DA82-41EB-BD9D-839BE989A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这句话只描述了现象，没有告诉我们下面四个事实。任何一项靠猜，都会走向不同实现。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B173A6-0FD4-454D-A68C-51A00DC13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2A9A21-8679-4150-B730-72A7D6102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数据来自哪里？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6126D9-0AD3-4CAB-9EA2-DF162A366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5AD247-07EA-4629-BF38-CF3840501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页面缓存 / ViewModel 内存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业务 API / 系统 getter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FFCE9A-573D-422A-89CA-66CC9C47A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6FA476-1807-4FD5-A73C-818F8D36E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什么时候开始监听？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321C14-B161-4090-8932-B8E39725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B8DC5B-BB1F-410A-B0CD-E79CAA1DB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页面创建前 / 页面创建后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首次读取前 / 首次读取后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39F24B-CE43-4478-9585-7457E480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272142-52EF-4978-9C73-EC481D8FA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3  什么时候算完成？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DEB18D0-92EB-4BBE-BEA1-6D44C3BA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371828-F219-44BE-AF2D-E9CD8C86F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调用返回 / 本地状态更新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系统回读与页面一致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EE088A-A6C4-48B9-B066-91033FD9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67000"/>
            <a:ext cx="2476500" cy="2238375"/>
          </a:xfrm>
          <a:prstGeom xmlns:a="http://schemas.openxmlformats.org/drawingml/2006/main" prst="roundRect">
            <a:avLst>
              <a:gd name="adj" fmla="val 5957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ED73E9-C516-4D59-B8DF-03F6C18D2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78130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4  失败时页面展示什么？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7A1A16-6892-4B8E-9426-DC16E9F2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67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6195B93-E8D0-45F3-82F1-C3F66EF8F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333750"/>
            <a:ext cx="2095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空列表 / 旧状态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加载态 / 可重试错误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08ADC7F-CE1A-4DB6-B110-DA8429026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5381625"/>
            <a:ext cx="5715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B095B50-4291-41A1-A263-4A5EED15B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5419725"/>
            <a:ext cx="9639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四个答案会改变监听顺序、状态模型、回归测试和最终证据。所以下一步不是设计，而是把分叉变成选择题。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ABD2FE-ED1E-40A0-9633-D49B8E80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1303908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5ACA117-30D5-4E95-A16A-BEF3EE455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A6B595-9C38-43A1-A842-3D8F49F59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AI 先把分叉列完整，人再冻结本轮语义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F6DCB9-1E75-412D-99D3-60E94FCC7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31C2CE-39C0-43B5-A50D-74F77C899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FBAD85-D2B1-49A4-8F53-95F7F4B2D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E6327A-5D2D-4C87-97AA-8A0F7781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AI 的职责：列出互斥答案、工程影响和危险假设。人的职责：关闭高影响 OPEN，冻结业务语义。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6A3CE5-2633-4797-A2AB-45922B88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176784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8351D6-F5CD-43FB-8034-E5BBEBF6A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57375"/>
            <a:ext cx="161544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待决策项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6AEF01-0661-48BB-8864-C4A8216B2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1809750"/>
            <a:ext cx="320421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C069E0-9D31-4BC7-A7C4-E1AD5A67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1857375"/>
            <a:ext cx="305181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AI 列出的互斥答案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713705-8CB6-42AB-8FC5-23E985E9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1809750"/>
            <a:ext cx="342519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0C998B-B3FD-4946-A79B-82E7D9E35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1857375"/>
            <a:ext cx="327279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本轮冻结答案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DA870F-ED1E-4F2C-87CE-39B11678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1809750"/>
            <a:ext cx="26517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11C54F-5A22-45D5-A3AE-F72E1AAA3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1857375"/>
            <a:ext cx="24993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直接影响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F4509A-7495-40C8-8E5F-D0E6A1D7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09800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AE0D02-E75C-4BB7-886B-B6EC36208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257425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最终事实源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9DB1D4-4B93-47B3-A7F3-B17554BED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2209800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7A1476-573C-4702-A7E1-E7EFDED6B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2257425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缓存 / ViewModel / API / 系统 getter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67EFD39-A3F1-43ED-B0DA-B07BC4CC0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209800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09C49F-C324-4C15-80A2-C6419D829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2257425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getter；ViewModel 只缓存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BEA4C81-7F9F-45F2-A360-8195FF26F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2209800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77B450-ECF1-4CCC-A988-8CE241829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2257425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状态所有权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5BC1F9A-BA13-474D-89F3-843FD26E3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67038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9381CE-693A-4BF5-9731-40F16BB26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14663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监听与首读顺序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F4225F-E8C7-4A2F-9C20-98B23CD9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2967038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74D7A40-AE16-42DE-8AA1-F09AA77F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3014663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先读后监听 / 先监听后读取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C45B82-18FC-495A-A51E-8FA99C8C0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967038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E66527D-0C8F-49A7-994A-0342BA89A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014663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先建立监听，再发起首读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2C7E1A-E312-46B9-862A-57A1737B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2967038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A2CD95-5E40-44DE-BCAE-A402BAD6A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3014663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是否丢失首次事件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4E4F35D-ECCB-4F16-8A80-3156B4F9C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C398F5-5155-4056-A4D3-0454AC16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71900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未返回时的状态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955D6F-109D-4D1B-9E9F-B88E54559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3724275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F378E6-8B21-42B8-B12C-0EA75E6CF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3771900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空列表 / 加载中 / 沿用旧值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D8EFCAD-CC5E-487C-8869-79CCC6CE4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724275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5D956F1-6D67-41E1-9472-25D86BC88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771900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显示加载中，不把空当完成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D76468D-A14A-4893-8A33-5EFA8C1F6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3724275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A332721-2A94-4FBB-B943-2F9535877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3771900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首次进入体验与测试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68E33B2-1790-41E4-B0BE-F943F1310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81513"/>
            <a:ext cx="176784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D2AE967-AAA0-4748-A83B-7259C2662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29138"/>
            <a:ext cx="161544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完成判定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67B1920-D1D4-4F9F-A380-FDCDD40EE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9340" y="4481513"/>
            <a:ext cx="320421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B2FF4A-6897-4FE7-B969-5B63A3EB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5540" y="4529138"/>
            <a:ext cx="305181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调用返回 / 本地更新 / 系统回读一致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12C9508-DFFF-442E-ADDA-BD1AAC13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4481513"/>
            <a:ext cx="342519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21056E0-5A00-4742-9B59-0829BF86C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529138"/>
            <a:ext cx="327279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系统事实返回并刷新当前页面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97BBE05-2F2F-4F8F-9C40-44116FAB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8740" y="4481513"/>
            <a:ext cx="2651760" cy="7572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6368D40-DFF9-49BF-A9C4-ECCEE0547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4940" y="4529138"/>
            <a:ext cx="2499360" cy="6619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验收证据与停止条件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CB34358-17FB-4088-BFC7-FBE42C34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5721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DB68583-C762-4FD4-BAD7-6E0ECC49B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610225"/>
            <a:ext cx="9163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仍然是 OPEN 的高影响问题不能交给 AI 开发；“AI 给了一个答案”不等于“产品语义已经决定”。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C2FD1F3-B736-469B-8C25-B7AE147D7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299026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EDC530-AA49-4D4E-AFCF-146BBF841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DA82C1-ABDB-445D-9F6E-B0F871BC4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冻结后的答案，要改写成可以直接生成测试的规格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805F91-900D-4A03-A589-F5257758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3D88E6-77B3-43AE-B86C-B88B2087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8B2941-B257-40C0-8C6A-1221F7C08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1F274E-2799-49B8-A30C-CA07EA0A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3143250" cy="3429000"/>
          </a:xfrm>
          <a:prstGeom xmlns:a="http://schemas.openxmlformats.org/drawingml/2006/main" prst="roundRect">
            <a:avLst>
              <a:gd name="adj" fmla="val 4242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0536FB-7F1E-4AE0-A73C-BAB2AE785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304925"/>
            <a:ext cx="2838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Before：只有现象，无法验收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DA27E6-EE15-45FA-A1B5-71BE5EDA4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5906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53E646-16C8-429C-BAAC-85AF4DDB3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95500"/>
            <a:ext cx="247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第一次进入为空</a:t>
            </a:r>
          </a:p>
          <a:p xmlns:a="http://schemas.openxmlformats.org/drawingml/2006/main">
            <a:pPr algn="ctr"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第二次进入正常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616E0A-FB96-417C-882D-765FEFE10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286125"/>
            <a:ext cx="200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0741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缺少：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触发条件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等待状态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完成标准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失败分支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A36BF65-C1EE-44AA-A011-C4E7AF3D7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190625"/>
            <a:ext cx="7334250" cy="3429000"/>
          </a:xfrm>
          <a:prstGeom xmlns:a="http://schemas.openxmlformats.org/drawingml/2006/main" prst="roundRect">
            <a:avLst>
              <a:gd name="adj" fmla="val 3889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B3333D-2E76-4F61-9AA9-DD6135EA12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304925"/>
            <a:ext cx="702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After：教学用 EARS 规格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1E7719-B1A3-408F-B92D-F52A95E94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5906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340E8D-DFC6-4953-ACFF-B8C70033E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6668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D97D32-5B02-475A-B644-0BBC56736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16668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首次进入权限页面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9E6E5B-8FBB-459F-99B9-BAC2C49C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1240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WHILE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77D8377-7310-42C1-B222-51B4DF929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1240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系统事实尚未返回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544FEB-0FBA-44A5-A525-E52F70FF4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5812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SHALL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A56E56-D5D3-4C28-8305-8070D511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25812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显示加载态，不得把空列表提交为完成状态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BEE470-F56F-45AA-B70A-A72D8FAC7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0384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WHEN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C57594-6508-44FF-8D1B-D3D0B6D9E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0384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系统事实返回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0F0089-0CE8-438D-9B6F-B8135A8A9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4956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SHALL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2605C6-7AF1-4494-A12E-A33AEF397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4956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在当前页面刷新，不要求退出后再次进入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C2490F-4266-4ABA-B3ED-C3D41659A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3952875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IF / THEN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2F9673-52FC-4652-9E7C-F62F1D508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0" y="3952875"/>
            <a:ext cx="542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超时或读取失败 → 显示可重试错误，并保留诊断证据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A2BAFE-C0BB-4738-98AB-ED26C837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55FB73-DC5F-4060-9A22-426B1209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T01  延迟返回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当前页面自动更新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F23352-19DA-4AB2-946D-1EA3FEF35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ECC562-E8B5-4782-BB8B-1E2FF027D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T02  事件先到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首次刷新不丢失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3DA6851-D49A-42CA-9C25-84B293078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91125"/>
            <a:ext cx="3143250" cy="74295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C2E3286-9404-4929-A673-61CB7DDF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248275"/>
            <a:ext cx="29908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T03  读取超时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错误态 + 诊断证据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E1F6846-2E68-48C4-B76C-A486896DC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210804690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A6A142B-0CBC-4163-9A3E-BE436F58D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02 需求与规格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98EDA7-BED7-4600-87D2-62C240A75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满足四个准入条件后，才进入真实工程案例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CF100F-FC7E-441E-817E-94A20C641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3651F0-3424-47C0-894F-0CE756EC6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C8F849-ADAA-4C7F-8BA7-2FD8E1326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39E9D9-173D-4401-9296-EB87ECAB1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62050"/>
            <a:ext cx="10858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前四页建立方法，第 5–7 页完成澄清。进入真实案例前，必须交付下面四项可复查产物。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FBCBF1-8B8E-4EB9-A5DB-130FA3FA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2EC7A6-ABCD-4EB6-993B-D623EF77A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事实时间线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9AB3EEC-151F-4089-8491-41E87E41B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FF73BC-CACE-4D99-A99D-20C92D8D9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首次进入、事件到达、数据返回、页面更新分别发生在什么时候？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D1BF66-E53A-49BB-AD14-5969244D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438CA0-C226-4F18-A9CD-5D8CDD222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最终事实源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55537D-12B9-435D-BAF5-CC55CBD7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B748D7-1ED3-4479-B523-42C45D355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哪个 API / getter 能证明系统状态？UI 与缓存只属于哪一层？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6AF715-13B9-4268-A300-EA25DFD8A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41729C-6830-4479-AB46-263335A69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3  可执行规格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D37A3E-56A3-49D7-B3A9-CFA47AC2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43AD17-EE39-4EFD-9995-22FD751E7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WHEN / WHILE / SHALL / IF / THEN 已写清；高影响 OPEN 已关闭。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9E1763-9ED7-4579-803B-983CFD3A2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000250"/>
            <a:ext cx="2476500" cy="2619375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1A02AC-5F71-4DF3-B7B8-28EF83633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1145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4  第一张任务卡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9FD49D1-8FB6-4B09-ADFB-92270BF65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AC475F-00E5-4808-8613-9234D8F23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809875"/>
            <a:ext cx="205740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唯一结果、允许与禁止范围、RED、验证命令和停止条件已明确。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719CDC2-27C2-4E21-9779-87A4FE9F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286375"/>
            <a:ext cx="5715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0F921B-D5A6-4419-ADFC-F93CE8C6B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7325" y="5324475"/>
            <a:ext cx="9448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下一页进入真实案例：用真实文档、代码、测试和设备证据验证这四项。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86E07F4-B011-43CF-BBC5-6FC24894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34524956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ECE0BD3-2319-4077-BAB2-AB22A53C7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BB51B3-91D4-4CE8-8E72-A2CBE51D9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E26465-7450-41B0-973E-2836FD965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外设管控：真正复杂的是规则叠加，不是做几个开关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B202B9-A61C-442A-995A-6EE00C5CB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接口总控、设备规则、默认规则和存储模式来自不同作用域，必须先冻结优先级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82F8A4-84E4-4731-9465-AD31257E9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59DD74-46AC-4C3C-B1A1-67751A990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真实业务场景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91FC61-FBC7-4DBF-B0CC-3384EDC05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D5AD43-F792-4264-861D-D1BABE01B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333375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343B72-CB56-4C24-AAF8-20B196AC1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42E1C1-819A-4F72-A775-F28BB25FE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8192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设备不断变化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749059-36FD-4DD9-9EBF-95FF234A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152650"/>
            <a:ext cx="30480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键盘、鼠标、U 盘、网卡随时插拔；应用需要识别设备、记录在场状态，并保留下一次接入的策略意图。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D053BA-14DD-4FDC-8994-D7A00303D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24250"/>
            <a:ext cx="3333750" cy="1638300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9F9F90-FBA7-48CF-8064-2FD8E16C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2EDE25-91CC-420D-A0DE-FD1EBE20E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480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系统能力有边界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2EAB94-221D-48BF-BD7F-DAC804795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981450"/>
            <a:ext cx="30480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应用按 SN / fingerprint 管理；HarmonyOS MDM 实际下发可能只有 baseClass。拒绝一台 HID，可能影响同类设备。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DB3331-572F-4847-95E4-5699D6837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冻结后的判定顺序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6500C2-C705-421C-B634-846986D0A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A53EEF4-D977-44E8-AFED-3BD0F5BE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954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6DB611-AEED-462C-91FC-D64AABF82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811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L1 接口管控（最高）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9633F0-CCC2-4ECB-AF6D-B3387BF86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383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全局允许 / 禁止所有 USB 设备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1425E70-765C-4BD3-B05F-CAF93FFA8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4479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↓ 允许继续判断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C3D205-07A8-4D5B-B0C1-82D892BD2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7241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5413DE-1E2B-4950-897A-233139A6D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8098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L2 单设备显式规则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D5A404-5D2B-4C1D-8EF2-620A95BC9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670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该 fingerprint 已配置 allow / deny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4CFDB1-D2EC-4168-A821-13236E524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4766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↓ 没有显式规则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555F52-5AE9-4EB8-AFFD-5B8FF815D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3752850"/>
            <a:ext cx="371475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98483D-94A0-4996-8476-AABBA81D5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385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L3 默认黑 / 白名单（最低）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D5A026B-ADA3-4420-914E-2EBEE2560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095750"/>
            <a:ext cx="3524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只兜底第一次接入的未配置设备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21F54D0-1385-45DD-A15C-FBD0551B8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743450"/>
            <a:ext cx="3714750" cy="838200"/>
          </a:xfrm>
          <a:prstGeom xmlns:a="http://schemas.openxmlformats.org/drawingml/2006/main" prst="roundRect">
            <a:avLst>
              <a:gd name="adj" fmla="val 13636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619341B-CF10-455D-A5A0-6EE9D011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857750"/>
            <a:ext cx="3409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并行策略：USB 存储模式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E1E35E-55DE-456F-9FF6-85BA3558E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5143500"/>
            <a:ext cx="3409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读写 / 只读 / 禁止访问，会覆盖存储设备最终可用性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7EE248-CA64-406E-ACAB-F5B073F11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3144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三种最容易误判的“完成”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8C5542-F398-498E-8FA9-E0C9A6AD7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15811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BF96B2-427B-4C9C-A4A0-38D7CF5C9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6954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B3DEE0E-B3A7-45AE-8C8D-0F1F74DC8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097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D12F701-B58C-4E69-86EF-EA9D45607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8192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误判 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B0F3921-86DE-44C3-8FF8-BAC1239E2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1526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全局启用 ≠ 所有设备最终允许；显式 deny 必须重放。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FA5AE86-A488-4957-8EB6-AE93B36CF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908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D781E4-7580-4E6D-AA5A-A0C3B9666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1051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030B542-5422-42ED-B3CD-19DAF147F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1146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误判 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B54944E-1525-431A-99F2-CC456C53A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4480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allow ≠ EDM 没有历史类型级 deny 残留。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2DC9D52-BBA1-42A8-9594-E6A85A86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286250"/>
            <a:ext cx="3257550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68585AF-1E08-47FE-9167-DC3C5DA2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005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3D9F6CF-450B-411F-BC75-2BC499EE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4100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误判 3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A16E21F-392B-420C-86CD-043D95063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743450"/>
            <a:ext cx="2971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返回失败 ≠ 策略完全未写入；还要回读与观察运行态。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7BA4FCD-FA6B-48A7-93E5-67F2FA1FF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48350"/>
            <a:ext cx="10953750" cy="4000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5072CF4-90D1-4FF3-956E-142EC849B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905500"/>
            <a:ext cx="10648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6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6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课堂主线：先定义规则和证据，再让 AI 逐层实现；否则“能点”很容易被误判为“已交付”。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7D5A068-AA97-49C4-ABD4-F289B5151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真实规格：case-materials/mdm/README.md；11-附录B外设课堂冻结规格.md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40402D4-D75D-4EDC-98C7-8E2F45DCC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7F891B2-41E1-4FAD-B7AA-A7F3DE22D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200870636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6081FF5-27D4-4200-A567-A8D5CB879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92F277-114C-47C6-BD15-296D6A063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9D6309-7711-44C7-8338-4B124F8A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这不是一段 Prompt：六个阶段各生成一份可复查文档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402389D-DE08-4499-958E-D84E1D1D7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下一阶段只能引用已经冻结的事实；没有文档出口门，就不允许继续写代码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688245-926F-49F4-BBE9-A0C75CA1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414EE2-50C8-4696-B598-3C662920E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5255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527C7C-6B5C-453A-B210-D8F55BC1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48590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394B64-19B5-4D67-BA95-78C658641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1 资产同步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12A528-C648-40E8-AEB3-487ECE42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669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01-资产同步与冲突清单.md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8FC97B9-860E-46C8-83A1-2E945CB32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6695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生成：来源坐标 / 术语 / 冲突 / 未知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08FEE1-3071-454A-A9B2-0CA8732B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1462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A67879-955E-4E91-B70E-00E43988D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5272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Gate：关键需求可追到原图、设计、代码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AB1CCA-B332-40EB-8564-F6590CD2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5255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25ADCDA-84A7-4916-9723-BAF351F9B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48590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C9A576-41B2-4CBA-8950-22A9EC67B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149542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2 方案推导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B4A76A-B8C1-4794-BC5C-E6D4DE849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18669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02-方案推导与决策记录.md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B1FE60-F7BD-40FD-B9F1-03A55F0A5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6695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生成：备选方案 / 失败模式 / ADR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E95A7F-491B-467D-BF8E-301FE1128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1462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F4E38C-7892-44A8-92C8-B3F6C4D58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75272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Gate：优先级、真相源、失败语义冻结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617E786-5B32-40E9-9E15-A20A3A6A5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35255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FF8E7A-68F2-464B-A73D-502F5B135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48590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BCE033-10F8-4651-8208-E89C1F62C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49542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3 架构 RFC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15631C-F2C1-4183-80E4-D4A162293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86690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03-外设管理MVVM与策略RFC.md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67877B6-CD9C-4B2D-9EEB-3B9415AB2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6695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生成：状态模型 / 服务边界 / 时序 / 风险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1ED1A1C-980A-412E-B4CE-8187E0B93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71462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2C24CD-41B9-48F0-8898-609A6D4C3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75272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Gate：Story 不再重新猜系统结构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8DEAB0-824A-4479-ADAD-B6E3883C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2900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97EA07D-44E5-4045-9094-F9C5F9C15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6235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0E9802-B6B1-4929-B275-5420D97F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4 Story 拆分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593D4BB-0099-4523-96FF-1279EDE08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433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04-Feature与Story拆解.md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0D519A-3C0A-48AE-8140-807B2029E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4340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生成：8 个 Story / Worker Packet / AC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0C6334-F923-4E3C-942F-9E353D480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9107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D9FF69-DA1E-446A-8F6C-AC7D5D275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291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Gate：每个任务可单独制造 RED 和验收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F4E9130-20EA-4FC7-BFD4-E8110A3C3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42900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E59CEDE-9F38-46FF-9541-C766192B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56235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0C46D2-FF94-47C2-87B0-05630DCD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57187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5 Ralph 迭代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AB5A3E-5D59-4EA5-BEB4-0D25F99DA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9433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05-Ralph迭代运行账.md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5E78674-CB58-42E6-92A5-142A4252B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34340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生成：15 轮问题 / 假设 / 修正 / oracle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9420BEE-A1C6-4CAA-8475-5390B4CB6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79107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F644760-E39C-4523-A573-228C92CC1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8291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Gate：每个反例固化为新不变量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EA16266-06D8-4AAE-83F0-DFA9AE74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429000"/>
            <a:ext cx="34861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B5C585-68B6-4F5B-9166-49E6BF852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62350"/>
            <a:ext cx="1314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6C32987-232A-476C-89F2-86CD149B1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571875"/>
            <a:ext cx="1200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6 测试验收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C9C662F-B44B-44DE-A775-EC0D44310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943350"/>
            <a:ext cx="3181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9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9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06-测试验收报告.md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AB46A6D-E6DA-4011-A991-C38E79659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43400"/>
            <a:ext cx="3181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生成：UT / E2E / 系统回读 / 实物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7BA059B-F9AA-4BD5-AAC1-0A2CAE90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791075"/>
            <a:ext cx="3181350" cy="3048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AA9EBF0-CC61-4A73-9EEF-6AEA0B08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829175"/>
            <a:ext cx="3067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07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7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Gate：PASS / PARTIAL / FAIL / UNKNOWN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BF9C088-F65A-406B-AC3E-CD981921B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00700"/>
            <a:ext cx="109347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58C8647-D9F3-4313-BC0B-E41B3C2EF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724525"/>
            <a:ext cx="19526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Consolas"/>
                <a:ea typeface="Consolas"/>
                <a:cs typeface="Consolas"/>
              </a:defRPr>
            </a:pPr>
            <a:r>
              <a:rPr sz="1088" b="1">
                <a:solidFill>
                  <a:srgbClr val="7256D8"/>
                </a:solidFill>
                <a:latin typeface="Consolas"/>
                <a:ea typeface="Consolas"/>
                <a:cs typeface="Consolas"/>
              </a:rPr>
              <a:t>case-materials/mdm/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F171442-A114-434D-889F-037570567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5724525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01 → 02 → 03 → 04 → 05 → 06；所有问题证据汇总到 00，Session 反例汇总到 13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1F0ADFA-CCE9-4EB0-BEA2-CF3EA6CA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真实目录：case-materials/mdm/README.md；证据总表：00-外设管理证据状态总表.md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DA47E72-2FED-4A66-A64E-2738B03A9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4DEF042-B797-4FE8-BF7D-C685F9527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1606176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52C7254-362B-4A20-ACED-1C5614E82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3790CC-23E2-40B0-950A-32F08425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446627-5C8C-4A72-BDE7-67A0A77EC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资产同步要少读但读到真源：五轮扫描把需求追到系统调用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5D947D-35B0-4587-9B6D-4E6F3C671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不是把整个工程塞进上下文，而是每轮只回答一个问题并生成索引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46C06D-7784-4F2C-8675-0EA69C548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7E6322-273A-4659-BA1B-3D04AD4EE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85E3FC-B4AC-4526-96E3-47EDE3062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R1 入口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1F09A7-1689-4DD2-B4FA-25B307362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PeripheralPage.ets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页面有哪些 Tab、按钮和可见状态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D355AA-7B97-4932-BEA3-CC545F0B4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8E8E19-DCF2-4FF0-8465-F3A890897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0A936B-06B0-4227-B6C9-E61B79AD4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R2 状态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79D9BF-FA54-417B-9F8A-9824900E0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PeripheralViewModel.ets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谁协调接口、记录、名单刷新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85B8F9F-FD05-4146-9401-34EB0461B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74BB8C-958B-41C3-B966-1571689B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BC1543-2D2E-46B8-972F-E45E9D9AD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R3 规则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001BFC-27D8-41B2-898E-87D035597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UsbGlobalPolicyService.ets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全局禁用/恢复如何补偿与重放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A98CE3F-27A4-47C0-AA7B-81E9FC15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4BE744-E64E-4E19-ADC0-5EE67A1B6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52E499-5ADB-49D1-A88C-382F3AE6C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R4 系统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F3AEEE-D4D2-41D8-8D3B-46F55312F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DispatchService.ets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实际按 baseClass 下发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AA31E67-C41A-4707-AAD0-155173CF0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17240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C683CA-EBC2-45EB-88E3-3E4A1AE39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09700"/>
            <a:ext cx="20002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E05507-14B8-4A8B-B72A-1DB880684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495425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R5 证据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C0206BE-C5DB-478C-BA63-8652D20EE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752600"/>
            <a:ext cx="1809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test/peripheral + e2e/cases/peripheral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现有 oracle 与仍缺真机证据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CE2DF6-9DF8-475E-89B5-8EC825604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四条真实数据链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5B537CB-116D-4655-BD95-3CCB28AD4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90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F81E4F-59B8-4BDD-BC51-2345C81E5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2420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2275EF-AFF9-4F68-BCBA-7DBC4D912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3372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接口总控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BE5E4DA-CD41-4F71-89E2-A8ACF8E14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13372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UI → Interface VM → UsbGlobalPolicyService → restrictions usb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0D31E24-94F5-445F-8BE4-E6861FEAE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12420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E9AE0-EC76-48C3-AD85-DF027104F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13372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全局门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64A55A-3126-450A-AAFC-6166A8294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7665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A4C0CB-1067-4763-8B45-9704C89FE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8617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默认规则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D4AD90D-6381-4CB4-BBC1-4CDEE1A0C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68617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Preferences → handleConnect → allow/deny intent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F60D3A-3373-41FD-A9C1-57D7FD3D6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67665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63677C-DAE8-4740-8B37-64869430C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368617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首次兜底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4F6BD51-AF45-4FB0-8A6D-06E7D3889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2910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303E947-B2EA-45BE-B6F1-5E6592BF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3862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单设备规则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26EAA38-8285-45DA-9EF6-39922232B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23862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 → Policy State → Dispatch → baseClass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6914EAB-135D-4EBA-AC4E-5385AC826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22910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760559F-823E-4A28-82BC-CB9FE6B67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23862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显式意图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818CC88-8111-45A7-A7FE-F47F555B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2001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B11A727-7A10-4BD5-8104-0FCDED760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91075"/>
            <a:ext cx="1085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连接记录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1979341-D2E4-4F57-A891-F1B04C5C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791075"/>
            <a:ext cx="7086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82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82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ATTACHED/DETACHED → Pipeline → Trace RDB → notify → UI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69649C3-0025-4018-B21B-5B93677D3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781550"/>
            <a:ext cx="16954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0A62203-9F6F-4B38-A885-5A475DF0F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791075"/>
            <a:ext cx="1581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事实时间线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0253DEF-F5A4-4BB4-8ABB-81909146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1093470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F4FA895-1B89-40D8-995C-DB7C45F89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72125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本阶段生成 5 个文件对象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9AE98FD-3F28-4F9C-AF4A-9CF0841E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5543550"/>
            <a:ext cx="817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275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scope-map · requirement-card · conflicts · evidence-index · unknowns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A0E02DF-0A64-4653-BD44-C670C5C75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47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352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Exit：关键链路都有代码锚点；系统能力不确定项进入最小穿刺，不让 AI 靠猜。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9911E29-8863-4CA5-B1B2-8E8848CB0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生成产物：case-materials/mdm/01-资产同步与冲突清单.md；代码证据：08-代码级调用链与课堂穿刺.md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59A2363-46D8-4276-99C8-3B41612B9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25B8559-8473-448D-880B-CA0DDBCE8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49150332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D7B13CDA-F3B7-4FBF-8EE2-29F633D74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915C28-4903-45A8-98A2-7601B6550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DAED9E-F39D-493E-A4DC-03BA81A23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冲突不是噪声：它决定需求卡里必须冻结哪些语义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BBF96A-2527-4F6C-897D-5B3F1F3A6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先把“看起来都对”的表述并排，再让证据决定口径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3E125F-0EFF-411C-A9CB-57E80EC05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68209C-FDC6-4929-BD4C-2783D41CD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832C52-460E-4207-AA6B-526B149BA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70D994-F056-4D4C-9589-2371EFA66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C1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6E17BC-840B-4837-A034-C03FE0FD3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接口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A9F6A0-D084-4F42-A5AD-80814FD0B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全局 restrictions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0D63BB-2E53-42E1-90AE-0072785BC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不是默认名单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C5EE58-302D-4529-B5D4-3FCE721A3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7C0B80-05E7-41A3-9210-3C23C29F0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54E17C-FA35-49B0-A257-22133C841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BA8D18-9E37-48C5-8EDC-517CDBD0A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默认白名单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5728E0-5847-4906-B6C1-6D475788C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只兜底新设备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E9B1F4-C445-489D-B2D0-DE4AF8185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不批量写 allow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815BC3-F4CD-447A-92AC-7A3D0B2B4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39065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A5AABE0-06E9-4ED7-B4C1-33299CF71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150495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063F81F-8745-42B6-B6DC-333757909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51447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C3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0B5747-B7F5-4070-A7FA-D33CAB600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50495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设备身份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95EBF5-46A0-4DED-8376-7B6BDC106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7716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SN / fingerprint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034F1E-0340-4D26-8B70-C2FE3C5D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00025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系统执行却是 baseClass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E99306-D354-4AF4-9C1B-DE2EF0913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3FC039-60DE-4B4C-B3F3-680810D6E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03CCFA-7D1F-4802-9E65-26B6C1DBB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EC7A31-70B0-4557-B44D-AA6D411B0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还原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0A672AB-31ED-40B2-89DD-0916D71B9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清 EDM + 保留卡片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F341B7A-F423-4B04-A269-5E9C601D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不是删除记录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3B03D48-E830-4E9C-85E8-904774460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3788A1-5456-4BF7-A9F1-1CEC35ED2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FF9D22-975A-4474-A533-DB067EFAB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C5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3BB7536-4D47-40EA-A1DA-1E24CFEF1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error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831365C-7377-4BC4-AE85-C377083C2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可能部分生效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DA11BB8-6DDC-4891-A2FC-DA837F5B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不能直接回滚 UI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7607A56-29AE-4CDA-A477-103458751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514600"/>
            <a:ext cx="3486150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47086D-C6A2-4763-892D-C0B7F0FAA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628900"/>
            <a:ext cx="495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B9C19A0-3811-4D36-9B98-EA9A8347D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38425"/>
            <a:ext cx="381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C6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905D2AA-A94E-4740-9D15-91EDD524A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628900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B62AF32-610B-434A-98AD-D2D5F801B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8956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871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运行态事实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3F581E7-0D07-4781-ABF4-55440EFF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124200"/>
            <a:ext cx="2571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≠ 不能只依赖历史事件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907FF50-1084-4EFF-88B7-49AE4CEA6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90950"/>
            <a:ext cx="6858000" cy="224790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0C3CB77-DA90-4DB7-9391-4165EC931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886200"/>
            <a:ext cx="6591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01-资产同步与冲突清单.md → Requirement Card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DD54C92-B28D-49A1-AB3A-EF9B3748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397319C-3B13-4563-BBB7-54972C011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48150"/>
            <a:ext cx="65913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844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requirement_id: PER-USB-PRIORITY-001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source: 外设需求 + 模块设计 + 当前代码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rule: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L1: global interface gate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L2: explicit fingerprint allow/deny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L3: default allow/deny for unknown device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parallel: usb_storage read_write/read_only/disabled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oracles: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UI state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local policy state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EDM readback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physical behavior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13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status: FROZEN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CE0EA3D-025F-40BF-BDD6-BE3B300F3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790950"/>
            <a:ext cx="38862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8D843FA-F1CA-48F0-8F57-670E2E624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9052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2920B3F-944B-4816-A568-743CF350E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9147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进入方案前必须回答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BBD71ADC-6A32-4260-8369-71CBCBF5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248150"/>
            <a:ext cx="3600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谁是真相源？哪层优先？错误时保持什么？系统调用粒度是什么？需要什么独立 oracle？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9534537-C890-43CD-A55B-46BD234F1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991100"/>
            <a:ext cx="3886200" cy="1047750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1F5764C-89C2-45E5-9284-2C89CAF75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1054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174E910-05B0-4371-AD75-DC0E07EA7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149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Exit Gate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EBE7E27-740C-4CCC-8F60-95F72C678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5448300"/>
            <a:ext cx="3600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冲突有决策；未知有负责人和穿刺；需求卡能追到代码与测试。否则停在资产阶段。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DECD452-573D-46D2-B061-107CF2D1D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真实产物：case-materials/mdm/01-资产同步与冲突清单.md#冲突清单；11-附录B外设课堂冻结规格.md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627DEC0-A647-48D2-B5FA-AA7C441D2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82785D5-7146-4D6A-96B1-12C136BDA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8346130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E568969-3BC3-4280-AE28-F32EC122C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75998A-5544-4382-8045-A3A4FD087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FF4824-7E84-4AA2-B336-624195FB5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方案推导先比较失败模式：为什么不能把所有规则塞进一个 ViewModel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48F532-8944-44B8-A6A6-EEE9DDBA7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最终选择分层状态 + 编排服务，因为它能表达优先级、补偿和可验证边界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C5FCB2-A4D4-4E73-9C53-EB63E3474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A22533C-83DC-46A7-A946-63C941B77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CD0384-45BC-498F-9D75-47A023C8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 页面直接调 MDM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DE34B1-2E15-45E6-AFF5-4F1FCCA82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状态和副作用耦合；切页后难回放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C2E08F-CEDD-45F2-9D58-A02A07EDD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B004E1-3CBA-434B-95B4-2410FDB77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73252D3-EC49-48D0-8A22-5443572C2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613554-99BF-45DB-B4C1-63BC3F39E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 只存最终 allow/deny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504391-D7D7-48B7-9BDF-187C12E2F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丢失 desired/active/present，无法恢复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16396C-5E67-402A-9D1B-11F901D4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04491A0-9D15-4A87-9F21-F51E056D9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9BED71-CFFD-41ED-8169-94AA0B31A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B6AD18-31A5-49F9-9B9B-6E0435BD6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 默认策略覆盖一切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BFF533-4132-42BA-B6C6-36704B3B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显式设备规则失效；历史配置漂移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359A88-2538-4AED-ABDB-B7F402E51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9C451C-F5DE-4D44-BF94-D75C361D9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拒绝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F0CD96-055B-405F-9797-74E95A9C7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390650"/>
            <a:ext cx="25908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AE7354-061C-481D-85FC-49FA2B25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504950"/>
            <a:ext cx="2362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 状态服务 + 全局编排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277E9A-02C8-48C9-B18B-98BF68C94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838325"/>
            <a:ext cx="23241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可分层、可补偿、可独立测试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755C28-6195-437A-A855-AAD933664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20980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1AAAE9-049D-4569-906C-3F1B0859F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21932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选择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44D520-FC44-465A-AAC6-AC835B7BB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857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决策后的判定函数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86D5F47-4303-4C72-B138-3A21EFFA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242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832020-0F05-4FFD-9723-E0DF2A763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0"/>
            <a:ext cx="5600700" cy="259080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2F98A8F-B42C-4676-9607-1584AAD5C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337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ADR-PER-USB-001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66AF342-6A64-4038-BBA1-46E386EA6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004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CBE470-D4DD-4A83-86B2-8D2C33417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95700"/>
            <a:ext cx="5334000" cy="2038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9660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(globalUsbDisabled) return DENY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const explicit = policyState.find(fingerprint)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(explicit) return explicit.desiredPolicy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return defaultUsbPolicy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parallel override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(device.isStorage &amp;&amp; storagePolicy === DISABLED)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DENY_STORAGE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activePolicy is execution fact,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6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6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desiredPolicy is long-lived intent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400FB1-2151-432D-B07F-C4AA69647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5124450" cy="259080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3CF799F-16F3-4A0A-8111-232030F4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718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四个设计决策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572A328-E06D-4BE7-90D5-C7F5C94B2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6385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E9309D0-0BAB-4B2F-BE0A-E92253486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909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A43111A-4C38-491A-B78D-26E65C12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8004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真相源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F12D1D-015B-482D-A61A-303A37684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810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intent 在 Policy State；执行结果看 EDM/readback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1B035A7-E709-420E-A791-CF03C273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2481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8A87BC5-3FB2-4532-8F79-964FEC812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576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所有权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2E192BF-45C4-48C6-A713-78078A053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2672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Global Service 编排总控；State Service 管设备意图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CF2DC4-1D08-4845-B047-0C9A55285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053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A03FEB1-1314-46CB-A2B3-635E38A9E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7148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失败语义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D4435F6-9BDE-4B64-A5BE-03057312C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724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成功 / 部分生效 / 失败 / UNKNOWN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0BAE095-FC86-4F23-B035-9A3C37C79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162550"/>
            <a:ext cx="952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05C728D-1566-4D4B-A6C5-3F7DE988D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172075"/>
            <a:ext cx="838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停止条件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DC6C242-CC5C-4EE8-B897-DAFC1ABF5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51816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系统粒度不足时升级产品口径，不继续猜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945AD1F-70B0-45D4-949A-344F8A318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真实决策：case-materials/mdm/02-方案推导与决策记录.md；代码入口：UsbGlobalPolicyService.setDisabled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1E9D186-304A-4DCB-8295-3A23E9F74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FD1CA95-63F5-4273-83D4-E8BB9F18A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67634789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B9F2FAB-C02E-413E-991B-2B54AD340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ACDC24-2572-4F59-B309-9F294DC42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A47F3E-6906-4736-98D6-5370B1F14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最小能力穿刺改变了架构：应用管理“设备”，系统却可能只执行“类型”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0CD7C63-F906-47D6-9585-208D2A56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先验证 MDM API 的真实粒度，再决定能不能承诺单设备隔离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D95E3D-7F71-4C37-8EA1-C4814D53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FEF76E-2EDC-46CE-A68A-805CFB121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应用侧身份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B23B45-C569-4C89-A72D-FB39438B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2BCBED-3140-4E1F-82E7-545F33396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3181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C899F2-5796-41F2-B958-107071D6A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38325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fingerprintKey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EDF835E-DFAB-4AF7-AED3-1A4D622B7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299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serialNumber 优先；缺失时使用 vendor/product/class 等弱指纹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7656F9-F573-47BC-BD36-BB065A9AD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903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22B60B-677D-43D3-9A86-0376FC6FA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Dispatch 转换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F5974E-7999-47EE-82BB-42004E66F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62CA2A-0649-49AA-8252-B81D2B9AB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752600"/>
            <a:ext cx="31813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0E033E-0CEC-40E4-8C05-BC4E16FA1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38325"/>
            <a:ext cx="2990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resolveDeviceType(baseClass)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F7682D-4361-487F-9C8B-9F89E2A3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095500"/>
            <a:ext cx="29908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把业务设备映射成 MDM UsbDeviceType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BE15C8-5738-4C7D-8A3C-32F875488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038350"/>
            <a:ext cx="342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903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25CDAE5-9865-41EB-AB41-4941EACA1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371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系统侧执行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D6A648-7712-4CC9-8D2E-1F2B7FC1D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638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D57A23-713A-47C4-B6DA-DB45CB00B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752600"/>
            <a:ext cx="3543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D4B34DA-93AB-4BDB-BE20-F06D4563F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38325"/>
            <a:ext cx="3352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addDisallowedUsbDevices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AD868F-04E0-4F82-8FBE-2A62063BC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095500"/>
            <a:ext cx="335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baseClass / subClass / protocol；没有 SN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491342-501B-449C-9311-90C94CC7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86100"/>
            <a:ext cx="5334000" cy="278130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0E980D-9913-47F6-A77F-F5E685DF8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81350"/>
            <a:ext cx="5067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PeripheralDevicePolicyDispatchService.ets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914371-CC8E-45DC-94CB-D92B99CD1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480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5431448-0A0B-4929-B6E3-91CFA44C8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43300"/>
            <a:ext cx="5067300" cy="2228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dispatch(request)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dispatchUsbPolicy(request)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buildUsbDeviceType(deviceType)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{ baseClass, subClass: 0, protocol: 0 }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→ add/removeDisallowedUsbDevices()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business records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fingerprint=A, desired=deny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fingerprint=B, desired=allow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system execution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baseClass=3 deny  // may affect A and B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9F4DE8B-2091-4028-9CE4-5F966FC1F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086100"/>
            <a:ext cx="5353050" cy="2781300"/>
          </a:xfrm>
          <a:prstGeom xmlns:a="http://schemas.openxmlformats.org/drawingml/2006/main" prst="roundRect">
            <a:avLst>
              <a:gd name="adj" fmla="val 41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7A2A635-7F12-4155-8577-69753A277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2385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穿刺后新增的验收条件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2E9D4A-A077-4F9F-BD9F-E85E912E7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5052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A7D3D5D-E867-4D33-AEE3-7D103EF27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38550"/>
            <a:ext cx="4972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D648029-24CB-4C03-B78C-8991CB2D1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528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D88CAE-81CB-4974-8033-DDB582CFA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7623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反例设备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10B771C-6FF4-435C-B074-FB5B432C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4095750"/>
            <a:ext cx="468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必须准备两台相同 baseClass 的设备；单台测试不能证明单设备隔离。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6AA2C54-A5D6-4E3D-94A4-1BF0EA215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572000"/>
            <a:ext cx="49720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1136540-78A7-4E2B-A3EB-49AF789F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863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600F09-1ED4-43F2-B2FB-67E7F2EE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6958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产品边界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F123808-7FEF-4AA1-A2C6-0B6F67200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86525" y="5029200"/>
            <a:ext cx="4686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0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若平台无更细 API，规格必须写成“类型级阻断”，不能让 AI 伪造精确能力。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443B188-1D22-4DE4-9EDD-FFAEB92EE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505450"/>
            <a:ext cx="4972050" cy="36195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7B6C94A-F080-4979-B4AF-0CB9452C6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5562600"/>
            <a:ext cx="4743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这一步的价值：一条 API 事实推翻一整套错误架构。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8E498A7-55EF-4A41-800A-C5B865345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源码：PeripheralDevicePolicyDispatchService.ets:61/157；验收：PER-USB-SAME-CLASS-001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BC53816-A06D-4431-B0CF-AD1BE2208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3A32F60-6459-426C-8464-17668D7DF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14409593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8DFEBD2-D76F-4FF1-8B9A-6CB49E6E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FD4F76-C32F-4466-AB03-BC67E42B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7E81AB-86E5-4C0F-8990-9E416BD71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RFC 要冻结状态、职责和失败语义，避免每个 Story 重新发明规则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5B4008-C2F8-4402-9B32-16430C75C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核心不是类图，而是 desired / active / present 三个状态如何变化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B9AFA0-3DF3-4207-9003-FD484CEEC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0D8AB25-5624-4A71-8965-3A22C63BC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4210050" cy="4476750"/>
          </a:xfrm>
          <a:prstGeom xmlns:a="http://schemas.openxmlformats.org/drawingml/2006/main" prst="roundRect">
            <a:avLst>
              <a:gd name="adj" fmla="val 271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2E64D8-259D-4E86-89F8-84233F4D1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3943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03-外设管理MVVM与策略RFC.md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BD0EA8B-6093-4B0B-821C-F91961BA5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35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5948E2-82D5-4859-9B0D-B7E06FF15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3943350" cy="3924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UsbDevicePolicyStateRecord {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fingerprintKey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baseClass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desiredPolicy: allow |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activePolicy: none |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present: boolean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updatedAt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invariants: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globalDisabled =&gt; activePolicy = 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explicitPolicy &gt; defaultPolicy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detach keeps desiredPolicy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restore clears EDM before local allow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trace != policy truth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success | partial_applied |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2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2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failure | unknown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C751D2-3D6B-458F-85D6-CD3B2808F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3906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状态为什么要拆成三列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5E511C-C513-480C-8698-956FAF150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573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5CB55-2F1F-4842-B8D6-EC06BFF0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93E820E-012F-44B7-A6CA-CCC3C35F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86894A1-A1D1-4841-922B-2FBA9ECFB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desired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69FC6F-093B-4101-BA69-65B8BE8A8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长期意图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拔出后仍保留；全局禁用不改写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5D8C63-A533-4418-9A8C-006FDA5D0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0017BE-0855-4A76-8D61-12E3D85FA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342D6A-D7A0-4438-9106-0B5AF5204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active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C70BF6-9C10-4E3D-AC67-3C9BACA33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系统执行态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全局禁用时可暂挂；恢复后重放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516FCA3-F5C1-44B7-80BB-E558633E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1790700"/>
            <a:ext cx="19812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95A774-5A3F-41D8-ABEE-2AFE8E149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19050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44745F9-1437-4F29-8728-FFA507145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9145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present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1F129DF-6492-47CD-97A1-192A13F04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2247900"/>
            <a:ext cx="16954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当前在场态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决定能否立即操作；需要启动对账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9E72F9F-8D46-42E4-8A3F-EAAD7A220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486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RFC 主动暴露的 OPEN 风险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A3C3A08-5608-4A02-AEE2-47683F1F8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752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655F2D-3A86-4C42-B881-9C25730A6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9052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730C62-9423-44E1-9390-6CCA57B5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9147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224D26-4E50-4A43-9393-997C62B2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052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Trace notify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2E3588A-85B5-43E0-AB96-708BD69AC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052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写入成功但维护失败时，当前 Tab 可能不刷新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4E66D2-8743-497A-B87B-E702F1D31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624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F4C6EB1-ED00-4B98-ABAD-3F94EA51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3719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FBA094E-EA53-483F-8384-07695948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3624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 对账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D7596C3-EBB3-44CE-BED4-3A67565E9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3624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应用不在场时错过 detach，RDB 可能残留 true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F9CB15A-AD7A-462C-A84E-7EFB98B9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8196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4EC0EBA-C010-4FA4-B5AC-414E376BA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8291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3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B003745-D833-4E0B-807E-FD149020B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8196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clear-all 不一致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74F6795-3F53-4857-8E5B-B1144941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8196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系统清理成功、本地 upsertAll 失败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85CF58-82BC-443B-8BB5-173511D89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5276850"/>
            <a:ext cx="8763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569D096-7348-446F-913E-156A90DBF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52863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OPEN 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8A15431-7FAE-4371-A565-F6E7708E7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52768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baseClass 扩大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49268D8-8AE2-446A-A6F2-0AF364E0F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27685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显式设备意图与系统执行粒度不一致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EBFA6EB-5298-4E96-AD1A-207EBF343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 RFC：case-materials/mdm/03-外设管理MVVM与策略RFC.md；模块设计：docs/03-模块设计/外设管理组件设计说明.md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58C4BBE-C5D5-4B46-8461-B2BD61098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C46C79D-ADB3-4531-A039-889C67FFD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214542302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72B50E3-6373-406B-9A82-D3AB2B0F6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E0A9C5-BC8D-4794-8495-11C17233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C3EDD4-2A05-4DC7-8587-2808BF50E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代码组织要让 Story、目录、类名和测试说同一种语言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F1EF1A-88B2-4A4A-A879-7F347FE4F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下面是 security_tool 当前真实路径；AI 先读责任骨架，再进入局部实现，避免把整个模块塞进上下文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0E3B7A-ADD9-4F08-AD58-0CD41B92D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AB41942-7A68-4772-9D51-CF5E57713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真实代码树（已核对）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1ADC2E-82D8-4D08-A20E-D3A889FEF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286046-5ED8-49F4-A624-F017D156A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33550"/>
            <a:ext cx="5810250" cy="428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FB83BF-084B-44F0-BE69-CDFA13B32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28800"/>
            <a:ext cx="5543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security_tool/entry/src/main/ets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A99B1A-4BF1-47C3-8274-1FEB582F2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76197F-AFC7-435C-A463-6404DD776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90750"/>
            <a:ext cx="5543550" cy="3733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views/peripheral/overview/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PeripheralPage.ets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components/peripheral/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interface-control/InterfaceControlTab.ets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device-policy/PolicyList.ets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connection-record/DeviceRecordList.ets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viewmodels/peripheral/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overview/PeripheralViewModel.ets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interface-control/InterfaceControlViewModel.ets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device-policy/PeripheralPolicyViewModel.ets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connection-record/PeripheralRecordViewModel.ets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services/peripheral/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interface-control/UsbGlobalPolicyService.ets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device-policy/UsbDevicePolicyStateService.ets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device-policy/PeripheralDevicePolicyDispatchService.ets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device-policy/UsbDevicePolicyStateRepository.ets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connection-record/PeripheralConnectionRecordPipeline.ets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connection-record/PeripheralTraceMaintenanceService.ets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68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68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connection-record/PeripheralTraceEntryRepository.ets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AE8E6F-BCD7-481B-ACC3-6FD3A8897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AI 的阅读与修改顺序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77D0D5-F009-4B6A-A015-4ABE158DA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CF0726-370C-4772-9DCF-96B6952EA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2860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4E52F75-F33F-4128-B384-23133BCB5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3241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BE601E-6491-41A1-806C-17624D8CF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73355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331AD1D-2116-454E-879B-16A16D1A4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73355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ECF0DEA-ABE9-4056-B755-AD8C6038E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859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1 规则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7914C5-CAD7-4375-84EC-21F050460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80022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模块设计 + RFC + Story 伪代码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DD3D6A-6DBD-4763-8E43-F25A668D9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2882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先知道不可改变的语义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1CC4ECB-2194-4EB7-8CC2-452C0E0F2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06705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D2ACBF-EB9C-472C-93D2-97783A63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0515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2D0820-9A81-4785-9082-C53E4C652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51460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ED45FD-A7AC-4D24-AB9B-0C0FEF984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51460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7C3F48-6311-4C34-A9CC-2B3F185BD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670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2 入口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BB574D-7F22-4E80-8ACA-BE31D1704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58127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View → Parent VM → Child VM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CAE7FAD-2832-472E-826A-DD546DB2C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80987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只找公开用例，不先钻工具类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1F24E20-7817-4F4B-9FFF-71B570894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38481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E5F797-BFE9-40D9-84F6-8435D547F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862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079909-1655-4D0B-9070-FA23DE2FF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29565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7CDF0E-972C-42AE-9B97-536EEB33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29565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C2B896A-08F3-48D8-8E44-7102631C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4480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3 能力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2ED67A3-5DAB-47D8-9BB5-EE50BDF2F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36232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interface-control / device-policy / connection-record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73F52BD-8005-448A-BD0F-86D08E816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9092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一次只进入一个能力目录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D22E4EE-BA1F-42D5-91D3-C825B52C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62915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92CC878-E12F-47D9-88A2-186FC641E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66725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3AF40F7-334B-4682-8B44-31DCA864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7670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837D42B-5826-4113-9E7C-76E284D1E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07670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BBBD19A-D269-465C-B4D4-525190C9E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2910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4 副作用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F2403F5-7FFB-4856-99AA-4C84B794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4337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Service → Dispatch → Repository / MDM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C20AE05-E164-448E-90A9-A958BEF15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37197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事务、系统适配、持久化分责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7250972-976C-4BE2-A2F7-E5481D2BE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57750"/>
            <a:ext cx="48958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9F104E4-A9A8-4062-A0FF-E6A973DBA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857750"/>
            <a:ext cx="8001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5565D29-DCA1-4ED6-8FDB-A8D49A276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010150"/>
            <a:ext cx="685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5 证据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204C000-FB52-442A-8A34-C3CCC3E50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924425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30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30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同名 test + E2E + readback / device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CEDC59B-74FD-4A73-811A-658A582C5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153025"/>
            <a:ext cx="3810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7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改动必须回到独立 Oracle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4B551EC-6509-4DD5-A7F8-42659AB4F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753100"/>
            <a:ext cx="4895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21BFD85-0118-40F4-87CF-697FC015E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781675"/>
            <a:ext cx="4629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4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检查：Story 术语 = 目录名 = 类职责 = 测试入口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0114BCB-08AA-4024-B7DC-882774799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路径核对：security_tool/entry/src/main/ets；协议：case-materials/mdm/14-文档先行与模块提交协议.md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A43B266-CA41-4846-9954-700BA6461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666490B-0644-4CA0-A575-A9CB21195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960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4969891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D53D893-3DFA-424F-994C-19F5DC8EC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712620-B9F5-480E-A6EC-111ED96C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082737-CD1B-48F4-9788-8008D10EA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设备接入调用链：先识别和判定，再下发、持久化、发布事实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A9E9A6-1386-4104-9AC2-AAA08BCEE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每一跳都有输入、输出和失败语义，才能判断 AI 改对了哪一层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331467-D9F7-4025-A84B-11DFC40EF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EDD1D0-C069-4E7B-A8A7-206FAA60E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4F3844-AB57-49EA-9591-75E76D20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USB Event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CDB31D-9818-43B3-89C2-F712AA257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B7D0CA-0B80-4919-B127-585BDDAC4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FE3E2E-3201-4135-A850-E0E33F363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Pipeline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CE458B-6DB3-48A5-8BBF-A827F787A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EFDF18-9736-41A7-980B-E06AA414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907F2A-C65F-4DC0-B32D-4C12D6A4B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Identity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C03450-8285-45D0-90DE-4EFA4AED0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692F97-0E71-435C-9529-EA73B5DBB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8D322D8-8592-49A3-80F7-9C057DC10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State Service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B239C3-3DA7-443A-847D-C3A8C833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66BF56-F526-4F6D-96B7-10175AA37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BA0FCE-3087-44EC-9CBC-3960F348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Dispatch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D5A6E3-AEB9-4D2C-B97F-21BF4BB86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BCC591-3925-4F6A-94ED-AD2F8F2C4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352550"/>
            <a:ext cx="1619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52599B-6DDA-43B8-9709-31D3464BB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1362075"/>
            <a:ext cx="1504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RDB / UI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17F6B4-FDBF-473F-A9BD-334C7D240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48950" y="1676400"/>
            <a:ext cx="19050" cy="3695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B05D477-6943-4C64-81F2-1970D8E48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18669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BE6A7F-6E6E-40F0-A930-D6CFD7C30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225" y="17145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D96AEC-0295-47BC-995D-7795E214F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16478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ATTACHED payload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DC93FCA-25A0-4D5F-97F1-284D4F40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34315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92A39DB-10D5-402D-9FA1-AF47BCFE3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1907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098517-8012-4E66-82E1-4F7C12F2B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1240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843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resolve(serial / fingerprint / baseClass)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4AA9134-7688-400D-B73D-01046E833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8194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EC08C03-A8FA-4A84-93CC-B2DF3C97A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26670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A393501-69D1-47AD-8B5C-E53AC9547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4450" y="26003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7924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handleConnect(identity, defaultPolicy)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DAC1E12-3E15-4FFA-A606-DB3D501CD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29565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5FBADDC-2C6F-4299-919D-F52110484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3925" y="31432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F71B16E-2AA3-4B52-B40B-B2D3CFF1B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07657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8046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explicit? else default; deny → dispatch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8E9E94B-D9B2-43F1-A009-FBE86C41F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7719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F9C78F1-D408-4987-98DF-32C3631A8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6195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←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00E44A2-31A3-4BD7-8CA3-89B24535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552825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success / conflict / error code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CAE6D88-7280-4F8E-A5F6-7D9F59114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48150"/>
            <a:ext cx="373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09A5FD8-0CC0-464A-8B86-F2048B476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09575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0334150-B775-4263-B9FE-60079706F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4029075"/>
            <a:ext cx="3581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save desired/active/present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725CE88-7CC1-4BF4-90DC-5343BAE8A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724400"/>
            <a:ext cx="7467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B82A8C5-A365-4E13-A601-DBDC92B3C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0825" y="4572000"/>
            <a:ext cx="238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491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87921BA-6CEB-4576-AED9-039AA76C2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505325"/>
            <a:ext cx="7315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4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append Trace → notify → reload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C5EA03D-4A20-4F43-B5AE-EF1098B08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43550"/>
            <a:ext cx="109918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161784C-6495-4A54-A936-5E5572D9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三条独立 oracle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F0E31E4-C6D5-4293-95CD-7A38441CD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629275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Policy State：desired/active/present  ·  EDM：disallowed type 回读  ·  Trace/UI：同一时间线可见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8711F46-0452-4927-8CF9-011A39B70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源码：UsbDevicePolicyStateService.handleConnect；TraceMaintenance.appendEntries；PeripheralViewModel.refreshTraceDrivenData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FDC8CFF-2F31-4A1C-A88B-635EAAA20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04A59AD-DFE8-4CA1-8214-7E5271C25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85351648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C30F1713-3707-4951-A1D7-FD8D32D9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064AAE-16D4-4944-A763-DB4E10FBE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140A56-24B8-4470-B4B7-0A5446AA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全局禁用/恢复是一笔事务：先挂起设备规则，失败时补偿，恢复后重放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6CDA28-5329-44D7-B981-B0017D082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只调用一次 restrictions.setDisallowedPolicy，会破坏已有显式 deny 的真实执行态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7248B4-66D7-4997-BF38-7ABC373BD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5F131B-720A-4B40-A4A6-6665361B4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禁用 USB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E291A6-A41A-47F4-8CCB-49029D53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776CC8-18D2-426A-827B-DE8CA697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A87363F-E012-4BB0-AE04-F8B1DF2A1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1 Snapshot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E41EF3-3689-4C9A-9467-4A0402E8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读取 present + active deny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C50CC1-5E42-478E-9B73-9C8D186A7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9716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3140CF-A270-44C6-891B-16025B5D6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FFBD3E-18B5-4259-9838-E26FE6FB2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2 Suspend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2EBE42-B334-412E-8684-E15E77BCE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逐条 remove 类型级 deny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C2E4EB-F329-4224-A277-E241F1CF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9716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D77A2DF-9890-429C-9A08-E3C0719AF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88A11A-3178-4441-8AA3-F1E3AEE82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3 Global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2726884-9590-4E8C-AB75-2731FC651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restrictions usb = disabled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D744C4-FA42-4C33-A7D1-1510D1D4F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9716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004E3B1-D15D-4D4F-989F-37B5E0CED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335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2DB78E-979B-4B6F-BD7E-A4FA36732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8192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4 Commit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3EB5AC-2F73-439E-A5A0-14206F41A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764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desired 保留，active → none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0E28191-4650-4C7E-873E-EFC3622C9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105727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9DE87D-62FB-4CE5-A9C9-6F43279E4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10267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6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65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任一步失败：compensateSuspendedPolicies() 把已移除的 deny 重新下发；不能留下半禁用状态。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618B9E-9819-434B-B863-7355BC2C2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486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恢复 USB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17BB45-A775-4BA5-B7DF-8C1D49A3E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52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C7C854B-0747-4DB5-A9D3-707E3F3DB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068754E-232D-4A97-BE22-3F7541F63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1 Global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5404FD3-E1C3-43BD-8E83-24DD4996A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restrictions usb = enabled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733069-6772-485C-860D-0F21B5E3F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1052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1E7BB90-3F33-4C1A-8CB2-566C360E4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2A3773E-B228-4142-86D6-FD429005F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2 Re-enumerate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2F959C5-1808-428E-B4C8-DF794D0DD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有界重试读取在线 USB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39F095C-FFC0-46F8-B318-540F75554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1052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0A448E4-9729-462E-BB0A-80EB5BF10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2E8DFCD-13B0-47F5-BF68-390712C16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3 Replay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08BEF76-CAB7-43F1-AB4B-3FC81BE14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present &amp;&amp; desired=deny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2B6EAEA-35FA-4455-8D63-98BA68B54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1052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DE17AA0-1907-477F-A48F-62D89F985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8671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73ECC40-FE7E-429B-A3CA-82866F333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39528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4 Report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BBFF8F-261A-4E97-A8F5-2C9B9556C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2100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成功 + 部分重放告警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972C9AB-A645-40AA-ABAE-E5CB0C618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933950"/>
            <a:ext cx="590550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15E0F66-953E-449F-A4BF-CA23905C4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029200"/>
            <a:ext cx="563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UsbGlobalPolicyService.setDisabled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0144AB1-8E6B-4F26-B2FC-17A0A937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959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7FBAB170-D4DF-4932-B612-8C293838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391150"/>
            <a:ext cx="5638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disable: suspend → global set → compensate on failure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enable: global set → restorePresentDeniedPolicies()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99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9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partial restore: warn + keep retry evidence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045FB9E-B0EF-437A-A220-080B35B68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933950"/>
            <a:ext cx="443865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28E250D-14A0-440A-A0DC-C1525F535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50482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1C419E9-D66F-4385-9279-8E25B6204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577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怎么判断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977BC0D-9BE1-4FFF-969A-26F72AF0A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5391150"/>
            <a:ext cx="4152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UT 验证调用顺序和补偿；真机还要看 restrictions 回读、EDM 类型规则、同类设备和实际可用性。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DD44F17-0F3A-45B7-A401-07D6DB255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源码：UsbGlobalPolicyService.ets:18–49；UT：usb-global-policy-service.test.ets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D723848-D5D7-4205-AEEB-83A389030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144FACE-05E6-4B26-94EF-F1DA50261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24118884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296D2624-6F52-4EED-B19B-2065FC7E9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338218-13FC-4E82-B60C-8B85F22D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5EE044-2901-4DEB-A78C-4FA66E12B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Story 编号必须和文档一致：八个能力各自有 RED、伪代码和 Done 证据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5DDDFE-0EED-436E-9B83-E52D55943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本页按 04-Feature与Story拆解.md 重新核对；不再用近义词替换导致 S2/S3/S6/S7 错位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686B6D-DC70-4E14-AA6F-2C5FF1B0A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668132-3863-4966-BF78-8EC2D0B71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权威 Story 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82E0EA2-7726-4816-AA96-19CD4BED9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AB65C6-CB61-403C-84DD-0B5AAECBA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33550"/>
            <a:ext cx="5905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7C79D0-F228-433D-886D-EA793746D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90700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ID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1310AE-8951-4806-8D00-2D97E9F8E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733550"/>
            <a:ext cx="2133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077543-5D57-4662-BA94-A17A8E57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2057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9A9049-C7A6-486B-8D96-957B15E7F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733550"/>
            <a:ext cx="2286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E84AA2-93CA-42D4-B569-538C1D6E6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790700"/>
            <a:ext cx="2209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主要修改面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F0DB88-6877-43A7-8995-294744A71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733550"/>
            <a:ext cx="17907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EB2F29-D773-45BD-AAF8-4BE03767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17907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独立验收点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2D673F-B80C-4569-8BB0-9796B37FF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57400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55A3CC0-A12F-4AC6-966C-60FD5296F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14550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8D819B-4AE0-4DD7-B433-A2E526ADF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057400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41DD44E-F29A-4945-88D4-BEEE24885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114550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身份与状态真源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86A6CA-BE6F-40D8-B64D-B016EF621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057400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2A29B3-3439-402B-BB19-D552CCD75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114550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Resolver + State Repo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EC9E74-AD61-4F31-AA50-B0F4393FA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057400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B6CA96-56AC-45C6-ADED-9833502CD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114550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指纹/在线态/意图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D3A19B1-F3B6-4ED1-9DF8-90EF782F0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505075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B11F710-5F9C-4EDD-81BE-6EB87A1C6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6222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A211A78-4967-4CDB-AB36-783E5F4F9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505075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FBD804-4C49-4A08-9A68-033EE75D8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562225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默认 allow / deny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A7F0E6-08A3-45DE-9516-D2A750247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505075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6383792-F72D-4C2F-9169-E04206C5B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562225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Preferences + Policy VM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EA14DF7-3D71-440E-B51B-4794598F6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505075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3E0BF2-AB8B-422C-81EF-26053B2E7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562225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只影响未配置新设备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1788C1A-7C8E-4CF6-BEDC-275822B72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952750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E5F3AB7-69D4-4C3F-B6AC-8A4E49F72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09900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S3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0E14182-B75D-4375-B961-A946E5831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952750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AFEF69E-BF81-46FC-A1A6-898C84E4B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09900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首次连接策略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E3855A1-817B-4CD8-A621-2ABB0F6DC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952750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7C95523-E4C9-41F9-B703-E125ECD2C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009900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Consumer + State Service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7F1C1B8-0AE8-4C45-8383-6CB28BA17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52750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A5A6D9D-1362-4CC0-8256-D3D876733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009900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成功后才建黑名单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47B08DD-5FA4-40D2-98D1-5940A99F7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400425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D358DDD-FDD5-43BD-8707-4F6F6E5A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5757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S4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3B738D8-825B-4E8B-A4A0-0B355CF37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400425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B09DC1F-4AAA-4DB9-9BD2-93C53FE73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457575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在线动态黑白名单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D9FCB35-8580-4397-BFE5-F7186264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400425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D3A674B-A817-495C-B8A9-B7146236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457575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PolicyList + VM + Dispatch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ADC47B8-2FE9-4B40-B20B-BEE262DEF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400425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0E1A370-289F-42D5-B4F2-82AD3E15E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457575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失败保持旧状态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E5C39C4-F9D0-49EA-B1C5-F8ACE9ABE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48100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93F1C1A-3B2F-4B47-A957-6DCFA55FC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S5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9CCF5A6-AABE-4CB8-B36C-63A42EA40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848100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2569156-A964-4701-8F05-2B95DC1A3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905250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 全局禁用 / 恢复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C81D5D6-0336-400F-BDBB-776D86873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48100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D9F49A1-72CE-4ABA-B361-B800C10BB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905250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Global Service + Interface VM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FDFB933-3DAC-40DF-97BB-8E67E4296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848100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194FE03-5CDE-4A65-ABCF-48C77C96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905250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挂起/补偿/重放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86A3F23-E5EF-450C-9AD0-175A2484A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95775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4E52770-E9ED-410D-8038-3A4F56394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292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S6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D6C7686-844F-4BF9-8AD5-4F2F7815E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295775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7874EEA-7767-4267-9873-130B7BEAE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52925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存储策略冲突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270210BD-F816-47C2-A578-3AADC89D2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295775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4F56394F-8E33-4D13-9281-3C28CF3C0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352925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Interface/Policy VM + Dispatch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4FB4E0A-97C6-437C-85D6-505A9ABB9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295775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595F52DC-A8DD-4EA0-B3AC-19349A99B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352925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9200010 / PARTIAL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B7EDAEC-CD28-441D-996C-2928D6625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743450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A12305D-563E-4ACE-BC1D-AEA08D4B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00600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S7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69A3ED7-DAD9-4E28-8C6C-230836519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743450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63DEB88-7F53-4BF9-AFCA-29C19AAC1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00600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还原与系统残留清理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4443FA27-13C1-4A1A-AD38-1AF46973C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743450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A0B63443-A385-41CC-A314-E9B01C5C2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4800600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State Service + Dispatch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99923F3-3595-4D4A-ACCA-E3D5EBEFB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743450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D4A4214-A0DA-4BF2-A597-48304430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4800600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先清 EDM 后改本地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4DE8CA20-3ED1-41F7-B58B-E267BC53C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191125"/>
            <a:ext cx="59055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800ECE6-816B-47F0-974D-B9E5AA339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48275"/>
            <a:ext cx="476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3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S8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615C707-5246-41B8-A488-6E04CF4E4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5191125"/>
            <a:ext cx="21336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9DAAAF8B-16BB-4AE4-86E9-782FE3DCF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248275"/>
            <a:ext cx="20193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证据闭环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3A3FF38-748E-4B78-A1E9-1E2E32328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5191125"/>
            <a:ext cx="22860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A3CCB2A9-BFAF-475D-99F5-A859CA590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248275"/>
            <a:ext cx="21717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UT / E2E / Device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310D7ED0-C4E8-45EC-A254-CCAC2FD50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5191125"/>
            <a:ext cx="1790700" cy="447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57F7330-AFE6-47E1-BF95-8133BB20B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248275"/>
            <a:ext cx="1676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D1–D7 分层判定</a:t>
            </a:r>
          </a:p>
        </p:txBody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970B70D-6515-4F76-9E92-4BC500560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依赖关系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72DEFDCE-72D7-42ED-9CAB-FBD109838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E58FB98D-9BA1-40DA-8977-F92AA6333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479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691EF497-5DD2-4456-92ED-89B674D40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76500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96E1282-7559-4FEF-9407-49C146193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16EFB379-4193-4D5B-BA88-C1D82F6AB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5908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21D2F1F2-A1A8-4D68-84E3-8667FB222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22479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A5E84B15-A5A2-498E-9D3B-31C4540C5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B693F9C-763A-46D8-B8B4-4B095F89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0"/>
            <a:ext cx="190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A28DFEA8-6ABF-4F5C-8697-F69575F47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5908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E048ECC-2714-45E5-A8B3-3DE6E456D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200400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D05CDB47-577C-4E8C-AFA3-E95AEA482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19475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5ADDFAB5-E2D3-4913-B79C-199102BD5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419475"/>
            <a:ext cx="190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3B14B65D-85D9-4862-8090-720681DE1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52425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F5370FA8-666A-4F78-B5EC-5BB855420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33850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BD9D608-5D3B-454C-AB43-F1DF4C90E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371975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53358F55-CDB7-4974-AB49-BCE6505C6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371975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7F235B3D-2EC0-49FD-9563-3037B88CE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4958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6F44760D-5628-4577-821F-CE733F70D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133850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8A6FF9B6-FAFC-424D-821D-BC3E6D72A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371975"/>
            <a:ext cx="11239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4B569CDD-8ACA-46F6-9160-6E14EE081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4371975"/>
            <a:ext cx="1905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32B3B7AF-BB92-408C-8A32-74D6ADC3A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44958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E5AD0133-DEC3-4E64-9114-223862F6C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51054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ECD79A09-83C8-458A-A77C-90B676800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52959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FDAECB31-6AAF-406D-AB7E-67B184167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52959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5EC49F36-6099-4F0E-B449-9913FFD15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53721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F1716CF8-0818-440B-A95B-D5A2C3DA3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1054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5816F82C-4091-4F82-A724-1168C888F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95900"/>
            <a:ext cx="190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04285808-BDBB-46B9-B275-C60CE693B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95900"/>
            <a:ext cx="19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9A193C57-6843-4837-BAD8-CA3EC011F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372100"/>
            <a:ext cx="209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2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▼</a:t>
            </a:r>
          </a:p>
        </p:txBody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CBD31EB0-DFD0-4DA0-9B3A-C606CF0CA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734050"/>
            <a:ext cx="685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11430">
            <a:solidFill>
              <a:srgbClr val="64748B"/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BFEA7EA6-5BC2-4AD0-BCE3-18817C82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63880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◀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9E8AC72A-35C8-429F-8097-3A7F606B7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7526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A8A2BBA7-DA69-460B-9CA2-A3496A802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8764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S1 身份/状态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94FB185A-64BF-4090-9F6F-65E089AF6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7526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BFB80A3D-E41B-4AD3-8A85-8964F1F7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8764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S2 默认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1D4048FD-42FC-41A0-939A-F252484A2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7051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381D2E45-8E3D-4C4B-B580-47D97FF2F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8289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S3 首次连接</a:t>
            </a:r>
          </a:p>
        </p:txBody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5C575C15-D33A-4132-B936-A3447E0DD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63855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295C7201-3E1D-4E49-B8F8-355F0007E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76237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S4 动态规则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3E2B46DE-A1C9-4739-805A-DBC56A36A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6101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EAE18A38-42D6-47DD-8645-9C892F89E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7339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S5 全局事务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F6627D99-7495-471E-B5C1-DF0184801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46101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DEEEE"/>
          </a:solidFill>
          <a:ln xmlns:a="http://schemas.openxmlformats.org/drawingml/2006/main" w="11430">
            <a:solidFill>
              <a:srgbClr val="C94747"/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902EAA50-CBE7-456C-9BE6-F28EB7DEA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47339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C94747"/>
                </a:solidFill>
                <a:latin typeface="Microsoft YaHei"/>
                <a:ea typeface="Microsoft YaHei"/>
                <a:cs typeface="Microsoft YaHei"/>
              </a:rPr>
              <a:t>S6 存储冲突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D2266B9A-5C31-4F9B-AC8B-5172FE930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4864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BD162E87-7C66-4B22-9C07-0732FEE2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56102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S7 还原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CA87D8FB-AF8C-427A-96C6-228228D4E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486400"/>
            <a:ext cx="15621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CB925302-DD33-4666-A936-53A1E58FA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5610225"/>
            <a:ext cx="1409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S8 证据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FC328ED4-5D75-48BE-B1DB-F410DC8FA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6057900"/>
            <a:ext cx="3714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13ED418C-8A08-4F94-AAD1-05A2D9DA9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6076950"/>
            <a:ext cx="3486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8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每个 Story 的伪代码见 04 §4.9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5358ECB6-1A23-48EE-A8B5-91EC52547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权威来源：case-materials/mdm/04-Feature与Story拆解.md §3、§4.9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EC90F26B-DAF7-4A60-998C-1C9EB92A6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A94610B3-D668-44CD-9046-1B5D66847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960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738003839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87257C3-8959-4351-9EBF-A2DF3CD17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2E3D13-FE56-4B47-83E1-2081CD911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7E59D0-6CB0-48AC-B5C4-4F97285D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Story 必须写到伪代码：先冻结提交顺序和失败分支，再映射到 ArkTS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A90E16-2ABC-4482-8AF0-CBB31DBE7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示例 S5：伪代码与 Worker Packet 使用同一组真实类、RED、allowed paths 和停止条件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6D8CF6-FA65-4D43-87D4-093743F54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F8DF99-A2FB-46E1-8D08-BB827CDD1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6819900" cy="476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836B77-0358-4541-A27F-54DBB7AA7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6553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04-Feature与Story拆解.md §4.9 → S5 伪代码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A606F0-1342-4AE1-8435-1B879E880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42C1AD-C971-4280-B6C1-AE28DCB21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6553200" cy="421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setGlobalUsbDisabled(disallow):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if disallow: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snapshot = states where present &amp;&amp; active ==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suspended = suspend(snapshot)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if suspended failed: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compensate(suspended)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return FAIL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result = restrictions.set("usb", disabled)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if result failed: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compensate(suspended)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  return FAIL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commit active = 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keep desired unchanged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  return SUCCESS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result = restrictions.set("usb", enabled)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if result failed: return FAIL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online = boundedReEnumerate(500ms, then 1000ms if empty)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replay deny for online where desired == deny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SUCCESS or PARTIAL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098734-9919-4944-B8C4-BD692A62D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3906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Worker Packet 约束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01C237-311A-460B-A971-082B3BD21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6573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BC9B70-4B0A-4AEC-84DC-D6C62E26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716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CC2AFE-6CB3-46F0-BCBD-95DB5C982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17716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40D977-6AB4-4798-A0BA-79E625343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9240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D42CE8-E51B-408E-BEEC-2CB0C0BC3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478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RFC §7 + Story S5 + progress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0D3D49-2BCA-4E87-A8B0-F0A849866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574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80C906-5C56-4936-82F5-E4E464424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574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232ADB-CDDB-4AFC-95DA-108831ACE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6098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46CB54-81F0-4711-9E5B-8AEA314E0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5336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第 2 条 suspend 失败 → 第 1 条必须补偿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3FDAEE-C9BC-44F8-AF26-116CF47F4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432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EBAE3A7-D140-41A6-9089-292831017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1432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5990D5-7FD9-47F4-A47A-29422F69C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2956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ALLOW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50B8FD-46A2-4CFF-928E-3950CBFF4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2194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UsbGlobalPolicyService / StateService / 对应 UT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39110D5-EF79-4FE3-A849-CBEE3E828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290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5AED1C2-883B-4336-B25D-0D0CE50E8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290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D08AFD0-DB30-40A0-B7C1-1D5D18B52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814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FORBID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1D0E91-C65C-46F5-BF72-9982A92C8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9052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不改 View；不改默认名单；不新增 global 镜像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FC6AA00-78EE-4D09-B1FD-9D4111666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5148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8266DD-6CC0-43DA-A657-28494534B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5148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2EA350-C8D0-4A69-88C5-00B5BD3E4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6672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DONE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E045E5-1629-4160-BD01-E56E05E67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5910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顺序 UT + restrictions 回读 + 实物；缺失标 PENDING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59492A-AAE8-4F91-8F3B-242F35CB4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200650"/>
            <a:ext cx="382905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BB5CA6D-37DB-4CA5-8009-870929EB1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200650"/>
            <a:ext cx="685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018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FF1810-AD18-451B-8687-B9CE9722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5353050"/>
            <a:ext cx="609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STOP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CB7C03A-715C-47D5-BB01-4150245EB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27685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5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需要越界或平台粒度需产品决策 → NEEDS_REPLAN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5AA70EE-00B4-4F80-A734-383C3F618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5943600"/>
            <a:ext cx="38290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3E1672B-B654-487D-85CD-F4BB8B266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5972175"/>
            <a:ext cx="3562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1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1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代码提交只实现伪代码，不重新发明规则。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4D07D21-3F7D-4E3A-AFE8-81AFCEBFA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伪代码与 Packet：case-materials/mdm/04-Feature与Story拆解.md；实现：UsbGlobalPolicyService.ets:18–49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F01F2EB-10F1-4F44-AD25-229B5915F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387FBAB-328B-478E-90CE-DCB8ACC5D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960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0049581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D2C2C06-6E14-4AF7-8962-7BAFB73D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2F2AEC8-45C4-4CFD-AD2E-9E7DB22A9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DFBE1F-99D8-4DFB-9EA1-85A74521E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Ralph 一轮只收敛一个未知：失败必须变成证据、规则和下一轮入口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140EBE-B707-46CE-8404-03E46CDD6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循环不是“继续改”，而是 READ → RED → 最小修改 → 独立验证 → 写回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BE52A6-4121-4099-B6F9-474174C9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BAD7A6-25EE-4ADB-80EE-973428394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028700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B45D3C-2AB4-4F9A-B4F1-9CAC82EC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114425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READ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9B24A6-C2E6-4CA7-B1A0-65191373F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37160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RFC + Story + progress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294F79-02EF-4E8C-80E8-58DC2EFBA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4218" y="193357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CD9C3E-B930-40F0-84B6-C75CDD25F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201930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HYPOTHESIS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9053A5-70A4-4DA0-ABC0-788D8EBE8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227647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写一个可证伪假设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43A403-B9AC-4604-863C-9A172DA2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4218" y="374332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BD8C8F-CA8A-4A32-BBFA-F56A295E4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382905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E83E7D-F139-430D-88EF-66DF657D6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9468" y="408622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用独立 oracle 制造失败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CE4A7B-0D11-4354-A5BB-E290F7E87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648200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02FCEE-5B98-4BA5-9A5E-63884368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733925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MIN DIFF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30A833-3FE6-49C9-BE02-D494A6D2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991100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只改 allowed scope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683A55-9D5A-43E6-84CC-0B549CE54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882" y="374332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A89D4CC-CC0F-401F-94C0-E04E67FDD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382905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VERIFY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7E3AA8-AF10-45D1-8E57-5D46554D5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408622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UT → E2E → readback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EC327D-8F02-4A48-A1A2-E6188D805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4882" y="1933575"/>
            <a:ext cx="19812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9ABF97-B7C8-407A-A594-E190687B6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2019300"/>
            <a:ext cx="1790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RECORD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613C50-0069-496A-8F0A-4D772E48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132" y="2276475"/>
            <a:ext cx="1790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结论 / 证据 / 下一轮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F06F01-B8BF-41A5-B7FC-B45DC70E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2781300"/>
            <a:ext cx="2247900" cy="1104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4AC8DD-E028-4526-8084-577AFBBC6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952750"/>
            <a:ext cx="18288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一个未知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一个 Oracle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一个 Stop 决策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6F68DF6-422D-4DC0-B4D9-99145FDE0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1676400"/>
            <a:ext cx="2857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E31148-1C20-4BFE-98EC-37DC1891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7907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5DEBDB-3F4C-4595-BCFE-362DD62BB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8002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继续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A4FB41F-C4BC-4279-8E53-5D0A98BC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1336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出现新反例；当前失败仍在范围；下一步能推翻假设。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3861CEB-E036-4F95-9095-52651B7FE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086100"/>
            <a:ext cx="2857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B2EDD17-42FE-4DC9-84C0-D04B35E59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2004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DA32022-8BE5-40F7-A57E-DA93253C8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2099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停止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9E82A30-7AE4-4164-BF7D-3D598E88D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35433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AC 已满足；同一失败无新证据；需要越界。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69C2A94-DA77-4889-8887-4AD965803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495800"/>
            <a:ext cx="28575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2066D89-AF5C-4314-894F-60B0947CD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61010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776D231-960B-4596-A846-FE1512A29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61962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升级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2540DCF-0C60-435E-A847-10584F4E3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4953000"/>
            <a:ext cx="2571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需要真机、系统 readback 或产品口径；标 UNKNOWN/PENDING。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04FB058-46F9-43C2-8FAE-F884618B1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753100"/>
            <a:ext cx="742950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905CAD0-840A-4788-9E0F-B375208CC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9775"/>
            <a:ext cx="7162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53" b="1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953" b="1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progress.md：round · hypothesis · action · command · result · evidence · gaps · next · stop_reason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E34E5A9-6671-482E-B779-405D45A69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真实运行账：case-materials/mdm/05-Ralph迭代运行账.md；Session 证据：13-本地Session真实问题证据卡.md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EA4F435-621B-4594-AC16-152514F28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848EC33-BA76-4433-B345-8DDEBA942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96578681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0DF2E23-2623-4961-AC88-FC06110C6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F4F45A-F7FD-41C7-BD59-79F45FA37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6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655856-AE9D-479A-943B-0D9D04416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先改文档再提交：每个模块必须留下一张可反向追踪的 Change Ledger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DFC26A-1C86-491C-92B3-7E9588CAC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文档提交冻结契约，代码提交实现契约；新反例出现时先回写文档，再开启下一轮代码修改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07FCB5-A5E7-4EC7-924C-66E09E6FF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2EBD0F-5EA9-4478-BD11-AE134FEC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模块修改时序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2D0F7E-0E0D-4A8F-9030-974BEC204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D7E284-3256-49E6-A187-F9313F2FA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FE410D-3513-47DC-9F3B-4E253081E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0689C6-B350-4FBC-83A5-D2C3E8D06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963EC5-7506-40FE-B2E1-0674C7B84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5AB29E-4287-4C2B-ACDB-85ED92C75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4AA01A-AEE7-4F32-9180-88A23C40A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1924050"/>
            <a:ext cx="19050" cy="2647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C97F25-59A1-44C4-A5D2-923330268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19075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60238E-B7EF-432F-8567-D1733B834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09550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077935-5B0A-45F9-87BC-AF909069C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7167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 更新规则/状态/验收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574001-9FBC-4060-BC71-462C1A5F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59080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685254-D5A2-4800-88D6-128F0FA07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49555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1AFC42-1BB0-450E-A68E-F96481E88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37172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 写伪代码、RED、AC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576D42-8A35-4C15-9E80-3BACF26ED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90850"/>
            <a:ext cx="9810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018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31D537-BB2B-4521-954B-03A7923C3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89560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036519-5780-496F-B282-727410B10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771775"/>
            <a:ext cx="96964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 docs(module): freeze contract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B59A098-A1E8-4823-B407-F2EF0A92F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1100" y="339090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266CB6-937E-459A-AA9D-8EF0E0E47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29565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B06F97-DF2B-46B7-82D4-674C6C558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17182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 冻结 Packet → 最小 Diff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4EBD24-7455-44E1-A368-73BDA0C09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9095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B183AD2-CC48-4D6A-A37C-348ED8EDE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69570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FEEC08-2BAA-4666-B677-F51A8E13C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357187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5 RED → GREEN → readback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8C135F0-17B2-4EE0-AD7D-2DC7AADAF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191000"/>
            <a:ext cx="19621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9018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1268209-15AF-4B8F-9F13-EF7C9DBA9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095750"/>
            <a:ext cx="152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7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▶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30BD07-C2C8-4A86-A0F5-7164C0C76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971925"/>
            <a:ext cx="18478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1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6 code commit + evidence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2D7510B-CC12-4CD3-BEA4-BF56F6E7A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FEA0173-AE15-437F-AD07-DF7AC7B81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人 / Reviewer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B30BD46-62B5-45FA-B4D1-60F44BDBC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C9B6ABD-41CB-4295-8CE9-05E9C7DD5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模块设计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CA39472-637F-423D-946A-1E628DA0D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69DE96-A63D-4797-B6E2-5E4073ED1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Story / 伪代码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566A3D1-EBF6-41C9-A8ED-36393DE25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C2D088D-D6E7-47B2-B576-A89CDABA0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AI Session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3F3D583-1498-436A-946F-E19232CD9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E3304E6-B152-4032-947C-865891126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Test / Device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216CF67-E7BB-400A-9B77-CED2DD6C7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1581150"/>
            <a:ext cx="14859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950222A-2FB0-4C9E-88BE-430C5943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1657350"/>
            <a:ext cx="1371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Git / Ledger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FE85B04-5F33-4656-A7EE-C90404343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4514850"/>
            <a:ext cx="77343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8284E89-6957-41D0-BD10-C7001AA51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4543425"/>
            <a:ext cx="7467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88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新反例推翻规则：先更新模块设计 / Story，再产生下一次 docs commit；禁止只在 Session 里口头修正。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763E00A-E6E8-4202-96BF-EE59ADC0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9530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每模块记录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5360080-2479-4293-A7AD-C6C942277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2197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BC87590-8B9F-4A95-ADF2-6A5478DD0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14950"/>
            <a:ext cx="72009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700BE3AD-EE55-47D2-9C46-E65EFA14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10200"/>
            <a:ext cx="6934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Module Change Ledger（示例）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31A866DF-7B29-4FFC-96F7-AB29FE092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6769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262FB2B-D326-490B-A72D-570565DF9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772150"/>
            <a:ext cx="69342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882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8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module: peripheral/interface-control  story: S5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88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doc_commit: &lt;hash&gt;  implementation_commit: &lt;hash&gt;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88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tests: usb-global-policy-service.test.ets = PASS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88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88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evidence: restrictions=PENDING  physical=PENDING  verdict=PARTIAL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2B9127D-512C-4DD9-BF02-BC319A5FA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314950"/>
            <a:ext cx="350520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98388EDC-494B-4420-9F41-D285239B5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4102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01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提交顺序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1450219-F59A-4660-964D-3EFB9DD44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5657850"/>
            <a:ext cx="3181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① docs(module) 冻结契约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② feat/fix(module) 最小实现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2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③ test(module) 回写设备证据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21B3A788-D6AC-435D-8CAA-9C3DF82E7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完整协议：case-materials/mdm/14-文档先行与模块提交协议.md；Story 伪代码：04-Feature与Story拆解.md §4.9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E1586CD-D55F-4ED0-97E8-8E4209799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EE16CA7-D356-4C5A-9A7A-FA2DEB287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96050"/>
            <a:ext cx="1181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6000"/>
              </a:lnSpc>
              <a:buNone/>
              <a:def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67122296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8997A78-1447-4717-9DF6-A3C57CD73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6309171-5B64-4F68-92A1-9B17DC38D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28BD92-69C4-45D3-97CB-7EE5684AB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0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真实问题 1：页面已启用 USB，为什么改存储模式仍报 9200010？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AE41CE-FFFC-4457-A779-FA0D06335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从 UI 结论继续向下穿刺，最终发现 EDM 里残留了 baseClass=3 的类型级 deny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141017-C936-4649-9298-1BC73B9B5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1FC76F-33A9-43AB-99A7-F49DD687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71600"/>
            <a:ext cx="4648200" cy="2286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D565A8-E7EF-4A24-802D-CD1DDF1E4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668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设备 Session / EDM 证据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031E8A-CAF5-4C84-909C-8CE0EC1DF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335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7CF910-1DF3-420A-B1C3-52AB8296D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28800"/>
            <a:ext cx="4381500" cy="1733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UI: USB 总接口 = 启用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Action: USB 存储 禁止访问 → 读写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 error 9200010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EDM policy: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policy_name = disallowed_usb_devices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baseClass = 3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subClass = 0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protocol = 0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3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3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descriptor = INTERFACE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751985-B19F-41C6-AE6B-E66CBA2E3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3906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错误假设 → 真实根因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DDB46E-9107-44DA-BD70-09FB54995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16573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D4DB04-9CFD-4303-9F1B-940E794EE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F7EDF0-6E7D-46B4-9956-C4987BC15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页面 allow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CC9F6ED-B0FA-4FCB-B38D-84BD8CF40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只证明本地 intent / UI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8609C5-1373-47A4-896E-8F06DD61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8F7017-AA25-4885-B69D-99E22620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7809A0-6198-4383-BCEB-4889B4AF6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active=none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1A2C12-BBA8-4976-A4DC-2D63E76DE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也不能证明 EDM 已清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B005BE-36FD-446B-A1DF-F4F190425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C2072C9-2681-46DC-898A-EB25AAE10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8B2EF52-2C3E-49F9-8072-AAB1437AA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8273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EDM baseClass=3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1DE4A4-7AD1-4F95-8907-C2675B7D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历史 HID deny 仍在系统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47604A1-E3B2-4476-B4F4-560A36CAE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133600"/>
            <a:ext cx="152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311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3C2202-3972-4D27-9447-82839B445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1809750"/>
            <a:ext cx="135255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A2D6F6-216B-4D3E-A340-B9CE8DDF9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895475"/>
            <a:ext cx="1162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9200010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79E4C25-05BB-4A24-8872-4805994CF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152650"/>
            <a:ext cx="11620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存储策略与残留规则冲突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CF8DEFA-EF24-40A9-98CD-99536F021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943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修复协议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05AAA5-426D-453A-BE1B-9B45287F2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100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8A58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F978E2F-1992-469F-8C0B-DBF73828D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5D5E5EA-6476-4C05-9DA1-F4C103BF6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1 Read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31F4D14-7059-4F93-9C5C-3A4ABED0A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getDisallowedUsbDevices()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9C409C4-E87F-4DF6-895A-A24215C71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1F30DD-E26E-48EB-8FFD-59604D77F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ABD6BC7-A115-4146-9095-409262965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2 Clear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0CE7529-3D6B-43C9-B5BC-BA1E6D6F9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remove 系统类型残留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BD31344-9CC6-49C8-A854-C963D27E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1366C69-5DDF-45B0-B7D6-E29A44B3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5487FDE-09D6-4A92-901B-95B3BB3C8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3 Persist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17415DB-46F4-4021-8426-7E21FE8F7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local allow / active none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68EB0E6-C282-4EB1-B7FB-30834C414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720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B872F45-41D3-4A7C-BC28-BB5150295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324350"/>
            <a:ext cx="2400300" cy="8001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69B383D-82A0-4631-9962-88AAD0CB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41007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4 Verify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4C9B15D-CEA1-4E5F-8CF2-DC1BC04CF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4667250"/>
            <a:ext cx="2209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系统列表 + UI + 实物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C915FB6-0B16-46E0-9E90-0259442C4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391150"/>
            <a:ext cx="109156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3A7783D-4BA2-4B22-B021-960C6BEA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14975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新不变量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198C0B0-B710-4A68-AE70-50D5FF3C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476875"/>
            <a:ext cx="9315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allow ≠ Policy State active=none ≠ EDM 无 deny ≠ 设备最终可用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4BAC3E4-08EF-41EC-A4A1-F42D08954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真实证据：13-本地Session真实问题证据卡.md#9200010；05-Ralph迭代运行账.md#R11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58AFE09-77D0-4F67-942E-FE680303D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CFBF90C-DB4F-4327-93A2-D990C50B6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1353962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709B404-4D34-417C-9E9E-3B17327E3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AF813B-CCB2-464D-9040-9E3B46218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A1E8EA3-AFC9-4A3F-B555-01897EBD8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真实问题 2：API 报 9200007，但 getter 已经变成读写——到底算成功还是失败？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943A6-146F-4E17-B27B-34EE01C96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复杂系统不能只看返回码；必须把参数提交、运行态切换和最终行为分开判定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98194F-B625-49C2-8EF7-40D37801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9FD316-FFC4-4A6E-A6E0-7EFAF7404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52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同一次操作的证据时间线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5FCA0D-64E1-4610-AA58-3DD693FD8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192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61E6AE-E3D2-4E2B-998E-6C0202351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FD46FE-D0AD-446D-8E49-A4F94FBDC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T1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DB0BEE-7EEB-4CE2-9CFD-E3C210C2B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readonly value:false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目标参数已写入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0A11F5-51FD-4A18-80AD-C1C895808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BDF306B-DEB0-4F95-949B-CE0CDC051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BD91F2-48AB-4464-A749-C2E71FDAD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T2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244336-06DC-42FA-AC7E-30754E7B8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StorageManagerProvider::Unmount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开始切换运行态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2610B9-822B-4A18-8A42-BDF8D47D3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420517-9C5E-408C-B887-D12F5D0BF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E98D1F-30D0-4EF7-9EBB-61A891BC0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T3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977D08-CA8A-4694-95F0-05B223929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volume state=0 not allowed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卸载/重挂载失败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15D77CB-602C-409F-8F70-4E0FF00B4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85975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D57D24-82A0-4E23-8251-631CCC28F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752600"/>
            <a:ext cx="24003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6539D7-D171-4305-BF09-8B097F9D2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1838325"/>
            <a:ext cx="2209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T4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F6B841-C306-4508-BEAB-BAB25DC76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2095500"/>
            <a:ext cx="2209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error 9200007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整体返回失败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F563A6A-0029-4869-9842-68635596C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048000"/>
            <a:ext cx="52006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A33D3B9-AF38-4CA7-9137-E0128CA97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493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三态判定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A5AD7D4-9A6A-4B62-B184-2ED45624F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0995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0CA14E9-1D0A-47A3-8185-A01A51462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05200"/>
            <a:ext cx="493395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(apiSuccess &amp;&amp; getter === target &amp;&amp; runtimeOk)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APPLIED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(apiError &amp;&amp; getter === target &amp;&amp; !runtimeOk)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PARTIAL_APPLIED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if (getter !== target)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return FAILED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// PARTIAL_APPLIED user action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50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close file handles → replug device → verify mount mode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39BB204-B548-4BE5-B51D-97EBF8A9E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0861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四个 Oracle 分别证明什么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374625-236D-4E8D-AC55-59540DEDC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3528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8C82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C033BA5-F004-496E-86B7-4BE141B55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48615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0C09CE5-64B9-4D78-8D10-03D8B7561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49567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704ABFF-9CCE-4E15-9C65-AD6FDC872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4956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API result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41C4944-A900-433B-BF22-E8B158DF3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9567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调用链是否完整返回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2D53748-BBE8-442B-B264-7D6CB7DF3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96240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4F2F0E8-DCBA-4843-B195-6B37A90D4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97192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B388F54-2DB1-493A-A93F-CE617ED5F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719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getter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3C4142F-1E0A-42EC-BD2E-9F5E8C47A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97192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目标参数是否已经提交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09A4CD4-546F-4E19-B672-C45CFE573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43865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3141778-43B3-484D-B10D-9DFA39BA6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44817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A41A8DB-079B-40EA-AF36-3189A8CD7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44817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mount log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4AC50F2-F0F4-4DC1-9ED1-0CD90D620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44817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当前卷是否完成重挂载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188D662-7B2D-4BCA-8ED4-05EAF218E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914900"/>
            <a:ext cx="4191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7688445-DB27-4AD8-8A55-0682CDC69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24425"/>
            <a:ext cx="304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97B01E5-A9A4-4EDC-86F3-A045CC4E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9244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13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replug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3F24C3A-3277-4771-AF2C-0997CA10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24425"/>
            <a:ext cx="3200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53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下一次接入是否按新策略运行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8354CBC-DDF8-4249-9462-6EF00869E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429250"/>
            <a:ext cx="5410200" cy="5143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D357D02-2BE9-415A-9843-3FB91CB20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52450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9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8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错误修法：API exception → 无条件回滚 UI。这样会让页面与系统 getter 相反。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3AAE6D-CFE9-4C9D-ADBE-97CC24211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真实证据：13-本地Session真实问题证据卡.md#9200007；验收 AC-18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3FA93AB-6D5F-47CF-9255-D3ADA6827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1A25231-0BFB-49AD-BF3C-5EEE6463F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177959374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AED5606-4EAE-4B39-930A-CE2CB76DA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8A98E5-3E94-4AC0-A051-753EF6D5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E82CEA-3F98-4108-92BA-89A9ED89B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E2E 第一页：Case JSON 经过 Runner、MCP/HDC，最后留下四层证据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C74DAA-8DA9-4A81-9503-2E06563D9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工具调用成功只证明动作发生；业务结论还需要本地状态、系统回读和实物行为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81601B-E09D-43F4-9E99-EB9E8A22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de64e749d34e2b"/>
          <a:stretch xmlns:a="http://schemas.openxmlformats.org/drawingml/2006/main"/>
        </p:blipFill>
        <p:spPr>
          <a:xfrm xmlns:a="http://schemas.openxmlformats.org/drawingml/2006/main">
            <a:off x="1621070" y="1314450"/>
            <a:ext cx="8835560" cy="1809750"/>
          </a:xfrm>
          <a:prstGeom xmlns:a="http://schemas.openxmlformats.org/drawingml/2006/main" prst="roundRect">
            <a:avLst>
              <a:gd name="adj" fmla="val 631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069B48-EA5B-451B-BC87-A67F701C5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766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真实文件路线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8E2F17-855A-4CEE-A975-85EF95B30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54330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78D0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48FB22-75F7-4E68-B08E-8051FB2FB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1432E81-468B-4310-975A-3EB1E33E9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Case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DBF627-9061-46D9-9A88-9E5CF272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cases/peripheral/usb_policy.json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BB2AC1-B7AA-4E07-BF7C-DC24F3FAC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D65393-540A-4163-9288-4CCAFD685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57D7DF-5C3C-4528-86DD-E8244427C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Runner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356CD8-9785-4E50-869E-C7BAA7DBE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core/runner.py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99752D-92B2-405A-8D05-E40ADD18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02DFA4-9C42-4160-B184-6C80C9E5B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21A310-7BC6-4C4C-BD59-44BBCE930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Flow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B46064-07BB-47D7-B716-D076F5153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SecurityToolFlowExecutor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EF02605-5316-4C53-B8C1-8DD045608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A8AAF0-C347-4EC1-94E7-E1897391A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4E22F4-41FB-4223-A503-9F647B514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Driver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7D977D-40C7-4A9F-934E-943E4D74A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mcp_driver / hdc_driver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44E6106-7B4B-49B8-8A29-93B7E22F3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1C4E7DC-F792-44EA-B21C-C493831D0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2C5044-AB41-4B63-9790-C0455BCA4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Assertion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25DAB45-1213-4240-B4B1-C42C2AAA5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assertions/executor.py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9CC6B97-D09C-406C-AFA2-FC909B034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895725"/>
            <a:ext cx="19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29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90733E4-EE25-4B63-B4F9-FF887C60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3638550"/>
            <a:ext cx="173355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EF26816-8945-4AAC-A10F-5B6717187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724275"/>
            <a:ext cx="1543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Report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C73EEC0-A046-4291-B38A-8AC526FA2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981450"/>
            <a:ext cx="1543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CaseResult + artifacts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01559E-4C7F-4CE3-B2AF-08D9679C0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9CF1FF6-970F-472F-84CE-CB10C0FDF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F93F7D-D192-4338-A826-00C017A5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UI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C3A342B-E1A8-40B2-902A-C8F1C5EC5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页面状态 / 文本 / 截图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E168D4-4CB8-47EB-AB20-E4BD4424E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FC1E47A-3BAC-4187-9D68-268B593EA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9C4C83-276B-4BF1-A71B-049D3C5B2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Local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702DBB4-193A-4C65-ADD4-AD9A5954F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94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desired/active/present / Trace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6554B03-B29F-44AA-8397-A7C8A88AF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ED6052B-A5C6-4E17-9A2F-131DF646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D4EFCDD-EED4-44D4-9FB2-936AFE44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System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3A5E111-BA64-4041-B70D-6BACB0A69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restrictions / disallowed types / getter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FE07A4E-A5E3-46C2-80CA-5F5989D5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05350"/>
            <a:ext cx="257175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2FDCCD3-374C-40B9-9171-505AB5220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819650"/>
            <a:ext cx="1428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4E8256F-2700-4187-97B5-52AC8C554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829175"/>
            <a:ext cx="1314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Physical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80AD72F-BC10-4595-A365-D93C683BA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5875" y="5162550"/>
            <a:ext cx="2286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9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设备可用性 / 读写行为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7047590-A30D-44DA-848C-C34B13740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真实用例：scripts/e2e/cases/peripheral/*.json；框架设计：docs/04-测试文档/e2e测试/端到端测试框架设计.md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09ED392-C65A-47AA-AD1D-3430CE289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1E6FF78-3CBD-463D-A5CA-ABB618D96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518049000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24FCE7-9BF8-4DB0-BA5E-3AD96CBC3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5058FF-D50D-48FD-93CB-EDB35CEBA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62C6CC-E5D4-481E-A13B-DD71B422D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E2E 第二页：同一个 Case 必须写清预置、动作、四个 Oracle 和清理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40096E-F401-432D-A0B3-38EBD0122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示例：默认 deny 的新 USB 设备首次接入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EF681F-A1CB-4B3A-AAA0-8DAC66932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C77E88-8674-4567-B05D-AE03F99CF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52550"/>
            <a:ext cx="5829300" cy="4648200"/>
          </a:xfrm>
          <a:prstGeom xmlns:a="http://schemas.openxmlformats.org/drawingml/2006/main" prst="roundRect">
            <a:avLst>
              <a:gd name="adj" fmla="val 2459"/>
            </a:avLst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842444-3214-4098-AEBE-76A117093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447800"/>
            <a:ext cx="556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usb_blacklist.json → Acceptance Contract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515EA2-47E2-45A8-8EBE-99936090F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14500"/>
            <a:ext cx="514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D13807-8092-4D38-AA6C-D6F13051D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809750"/>
            <a:ext cx="5562600" cy="409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precondition: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admin: activated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global_usb: enabled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storage_policy: read_write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explicit_policy: none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default_usb: deny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action: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attach_new_usb_device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oracles: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ui: device appears in blacklist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local: desired=deny, active=deny, present=true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system: disallowed type is readable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physical: device cannot be used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cleanup: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clear_system_residual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  - restore_local allow/none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005" b="0">
                <a:solidFill>
                  <a:srgbClr val="172033"/>
                </a:solidFill>
                <a:latin typeface="Consolas"/>
                <a:ea typeface="Consolas"/>
                <a:cs typeface="Consolas"/>
              </a:defRPr>
            </a:pPr>
            <a:r>
              <a:rPr sz="1005" b="0">
                <a:solidFill>
                  <a:srgbClr val="172033"/>
                </a:solidFill>
                <a:latin typeface="Consolas"/>
                <a:ea typeface="Consolas"/>
                <a:cs typeface="Consolas"/>
              </a:rPr>
              <a:t>result: PASS | PARTIAL_APPLIED | FAIL | UNKNOWN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7cb98f6c3e4092"/>
          <a:stretch xmlns:a="http://schemas.openxmlformats.org/drawingml/2006/main"/>
        </p:blipFill>
        <p:spPr>
          <a:xfrm xmlns:a="http://schemas.openxmlformats.org/drawingml/2006/main">
            <a:off x="7091363" y="1352550"/>
            <a:ext cx="3971925" cy="2647950"/>
          </a:xfrm>
          <a:prstGeom xmlns:a="http://schemas.openxmlformats.org/drawingml/2006/main" prst="roundRect">
            <a:avLst>
              <a:gd name="adj" fmla="val 4317"/>
            </a:avLst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3FED73-C90D-47DE-845E-6AF6C938B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481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当前证据结论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69EC15-2380-42AE-A5BF-882BF3FA5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5148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644A"/>
          </a:solidFill>
          <a:ln xmlns:a="http://schemas.openxmlformats.org/drawingml/2006/main" w="11430">
            <a:solidFill>
              <a:srgbClr val="E7644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A36687-228F-45E4-BC80-2CA6096C8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910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页面入口 / 卡片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6783A1-3CAA-4B81-9EF5-02B1BEEE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5910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5B42D3-0503-4FAF-9367-E9AAD8D92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6005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CD54DC2-591C-4096-9B10-CA2A5215B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6005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E2E 可见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497341-9633-466A-9360-FF1459304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9530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本地状态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B12902-7FB4-4C21-9E9A-6FF6B778E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5300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284A78-CB48-46E2-A600-5DA5865D8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96252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PARTIAL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AE4DD24-AF51-4350-96C4-B764CC166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49625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代码/UT 有证据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4F03AF-6831-4EAF-A912-176C7BF0C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149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 readback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F95C73-385F-43F6-9C75-C7D0F1467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31495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06A021C-B256-46B4-9BA2-3D9CDEA6F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32447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B17B89F-9A67-4077-AA07-8680704E6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32447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待设备采集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423F22-3BEC-4B2C-8A10-0458842F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6769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同类第二台 / 实物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10DD92E-761A-4E3D-99BD-0852EA470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676900"/>
            <a:ext cx="10477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6548F83-8431-4805-AC25-D2FA1C27F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5686425"/>
            <a:ext cx="9334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8BFE1C1-9129-43CC-9B54-519B8CFE1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5686425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8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待现场矩阵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981A7F-2B22-446A-8257-07E8A8A32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真实截图：harmonyos-sdd-workshop-media/e2e/peripheral-policy-current.png；Runbook：12-附录E外设验收手册.md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2DE574-AA30-4B3A-931B-6EA94375D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CA32531-2553-478B-9EBB-63633CA14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RUN FACT</a:t>
            </a:r>
          </a:p>
        </p:txBody>
      </p:sp>
    </p:spTree>
    <p:extLst>
      <p:ext uri="{BB962C8B-B14F-4D97-AF65-F5344CB8AC3E}">
        <p14:creationId xmlns:p14="http://schemas.microsoft.com/office/powerpoint/2010/main" val="96931087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8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BA6AA0C-CAE8-4316-A6A1-6D56AEE07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714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E7644A"/>
                </a:solidFill>
                <a:latin typeface="Microsoft YaHei"/>
                <a:ea typeface="Microsoft YaHei"/>
                <a:cs typeface="Microsoft YaHei"/>
              </a:rPr>
              <a:t>03 MDM 案例｜真实交付链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E9F431-D6C1-405F-892E-89B85BAE1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171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BBCC0F-A003-446D-B524-5361C3B47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9100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MDM Checkpoint：交付的不是代码，而是一条从需求到设备事实的可复核证据链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73864D-84F9-4F36-9471-E1D113128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66775"/>
            <a:ext cx="1066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当前材料已能讲清方法、架构和真实问题；设备级最终矩阵仍诚实保留 PENDING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C8B881-BCB2-422C-B4F2-DD6F83D2F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52525"/>
            <a:ext cx="11163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E0EA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472635-9C7D-4816-9974-C6031DB67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252489-BE8F-4895-9814-6A7EE1F1E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需求卡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C8033A-3B7B-4249-9BDC-A0386FFB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667B4E-47E9-43DA-8900-1FFE2E27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07557E-0587-4321-9FFF-CBBB2605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5C7FD5-FB5A-4374-B215-6598B061E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冲突/ADR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CF310D-2EF6-40E8-87A0-D22984C0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06290B-DCC8-4424-86BB-C56BCB51D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8A146A-5D15-4A00-AB27-3A32238C0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93B76C-2A55-4A01-8593-937EFE722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架构 RFC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F3A801-5D87-4E30-9841-702985E11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DB9180-36A3-4806-B537-6AA2E005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F36993-A1A4-4EC9-8ECA-2677C6B3B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E0A45A-62A1-4CF7-83A8-770D54E3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Story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257D2C-5F05-4171-B0AD-FBC785E28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B4497D3-99EF-4621-8A5A-F4A273FD0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BC2CF0-F002-4A05-8B8D-6A0209169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3FD"/>
          </a:solidFill>
          <a:ln xmlns:a="http://schemas.openxmlformats.org/drawingml/2006/main" w="11430">
            <a:solidFill>
              <a:srgbClr val="2878D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1C85937-FB13-46A8-A0F3-A405341F1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878D0"/>
                </a:solidFill>
                <a:latin typeface="Microsoft YaHei"/>
                <a:ea typeface="Microsoft YaHei"/>
                <a:cs typeface="Microsoft YaHei"/>
              </a:rPr>
              <a:t>Ralph 账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FEB17A-4ECC-4917-9E86-82DECB7B6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48C7640-BC3D-46E5-9800-CACF4996B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A09F9D0-C199-499F-A9B6-BE545A35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8F6F3"/>
          </a:solidFill>
          <a:ln xmlns:a="http://schemas.openxmlformats.org/drawingml/2006/main" w="11430">
            <a:solidFill>
              <a:srgbClr val="24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5AE20CA-BD96-47C2-8FA0-417704AB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48C82"/>
                </a:solidFill>
                <a:latin typeface="Microsoft YaHei"/>
                <a:ea typeface="Microsoft YaHei"/>
                <a:cs typeface="Microsoft YaHei"/>
              </a:rPr>
              <a:t>UT/E2E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56BC52-2FEB-4C0A-B65C-3E0F3E06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可回读文件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89C4C6C-6258-40BC-A5AE-22E4CAA6F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1543050"/>
            <a:ext cx="2095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→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039B8F-B16E-42EC-BA71-A582A67CC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390650"/>
            <a:ext cx="1428750" cy="5715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8E5A7E9-7AD5-4226-85A4-963BC0CB7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476375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88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系统/实物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B12406A-61EF-45F8-8868-835A61592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7335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8046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863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最终事实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19E6439-7065-40C6-A86D-23AB19387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050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当前验收矩阵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E831269-D118-41A8-B0A9-2B9A95D2D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5905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256D8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2D28048-5341-4526-8A91-44A33C8CE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051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75EDD8E-3733-4944-A256-24A7BE253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527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规则与架构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EB63E4E-442B-48EF-8C9D-074D95273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27527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冻结优先级、状态和服务边界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DE85DEA-8B90-485B-969B-4DDF7AB41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7527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2949A0E-C813-407C-8EBC-F089CE222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27622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9B94A20-F00D-4E5E-9693-677C8127A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1432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3660834-9843-4B25-9DD9-289D55E8C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908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代码调用链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1F1CB51-C03D-4088-AFF6-AD9EC8CF6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1908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真实类、函数、Repository/MDM 映射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CF3A7D3-CF15-4DCB-8B51-5240FC420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1908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5A57676-D7F9-4E31-A4F4-B4217CE11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2004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01CF62D-AAB4-48FD-95ED-D94675696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814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712FE78-1388-4B6A-B29E-4D9503DEE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290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关键分支 UT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FABA453-05C4-467C-8AEC-5F9A0FAF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36290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全局补偿、设备状态、Dispatch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5964F5E-DE8A-4104-8394-209580C85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6290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D424A00-B43D-4773-AA9B-095FB3E0E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6385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PARTIAL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0FF8BBB-B639-4BD8-A020-32EE7D671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195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E70FCAA3-598F-46E4-80F1-8719DF05B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页面 E2E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FA66D39-B4F7-4729-8A37-FCBB8BE8A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671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外设策略入口与可见操作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071623E-BF16-41B4-9815-0F919B80E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671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EF"/>
          </a:solidFill>
          <a:ln xmlns:a="http://schemas.openxmlformats.org/drawingml/2006/main" w="11430">
            <a:solidFill>
              <a:srgbClr val="258A5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6537988-6674-4ACD-9D82-9EFF58370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0767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58A58"/>
                </a:solidFill>
                <a:latin typeface="Microsoft YaHei"/>
                <a:ea typeface="Microsoft YaHei"/>
                <a:cs typeface="Microsoft YaHei"/>
              </a:rPr>
              <a:t>PASS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5AFD884-E9B9-43AF-902E-6AE245B74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5770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4F8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576624F-8714-4354-AF5C-5181FA37F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系统回读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2BDD5F8-EC88-4852-81F2-E632E4F5E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50532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restrictions / disallowed type / getter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FDF30A5-EC51-4E11-A114-A2480D21F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0532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FE26A561-2E09-4595-940F-605F9B4C2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51485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5D6BA82F-8E39-4ACA-BD7E-195D2FAE6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895850"/>
            <a:ext cx="109347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7E0EA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BCBD699D-D34D-4B66-B3F1-6F915137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43475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实物矩阵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708D374-4A25-4F04-8942-8E2D37F59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943475"/>
            <a:ext cx="6762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45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同 baseClass 双设备、重插、离线对账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BC36B28-14C7-4CB2-8F21-76E18A0DC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943475"/>
            <a:ext cx="13335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437A47B3-DCC3-4A18-A1F6-E1043B8B4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4953000"/>
            <a:ext cx="1219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06C5B5D-B584-426D-B5F6-91DD79140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67350"/>
            <a:ext cx="109347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6DE"/>
          </a:solidFill>
          <a:ln xmlns:a="http://schemas.openxmlformats.org/drawingml/2006/main" w="11430">
            <a:solidFill>
              <a:srgbClr val="D9901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F3E48ED-6FB5-4B9A-9964-B5D9F6F5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816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D99018"/>
                </a:solidFill>
                <a:latin typeface="Microsoft YaHei"/>
                <a:ea typeface="Microsoft YaHei"/>
                <a:cs typeface="Microsoft YaHei"/>
              </a:rPr>
              <a:t>现场需补的 3 份素材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C1378CCF-D3E9-462F-AAA4-DED04FAA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5543550"/>
            <a:ext cx="838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① EDM 残留清理前后  ② 9200007 重插结果  ③ 同 baseClass 双设备影响面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185772F-B78D-4633-988E-588D3163A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67400"/>
            <a:ext cx="10515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rmAutofit fontScale="9645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6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判断标准：任取一行，都能反向追到 Requirement → RFC → Story → Code → Evidence。断链处就是下一项工作。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CFA846B6-73E2-4BE1-A758-F525D7EB7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620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88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证据总表：00-外设管理证据状态总表.md；验收：06-测试验收报告.md；12-附录E外设验收手册.md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507359E2-AC80-4D71-A3F4-1CA96FFC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6477000"/>
            <a:ext cx="12954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1EDFF"/>
          </a:solidFill>
          <a:ln xmlns:a="http://schemas.openxmlformats.org/drawingml/2006/main" w="11430">
            <a:solidFill>
              <a:srgbClr val="7256D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076241B-CAFF-4364-892A-5028C49C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9400" y="6486525"/>
            <a:ext cx="1181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7256D8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</p:spTree>
    <p:extLst>
      <p:ext uri="{BB962C8B-B14F-4D97-AF65-F5344CB8AC3E}">
        <p14:creationId xmlns:p14="http://schemas.microsoft.com/office/powerpoint/2010/main" val="1317896914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00DDFDB-5669-4E03-A0FD-9D325046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A16C1B-6420-4E5D-B4B7-DD05A3F17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案例背景：远控视频能播放，但走 CPU 时明显卡顿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82D7A5-DB0C-4CC0-8B1B-25834996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5FBDEC-FA57-40BF-99BF-D1B2C616D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057470-271E-4474-B4A2-48CA708BD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9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39e5f6b15a4178"/>
          <a:srcRect xmlns:a="http://schemas.openxmlformats.org/drawingml/2006/main" l="0" t="9426" r="0" b="942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23875" y="1143000"/>
            <a:ext cx="5810250" cy="3143250"/>
          </a:xfrm>
          <a:prstGeom xmlns:a="http://schemas.openxmlformats.org/drawingml/2006/main" prst="roundRect">
            <a:avLst>
              <a:gd name="adj" fmla="val 3636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D661C2-6709-4A4A-810D-AC6C03215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5810250" cy="3143250"/>
          </a:xfrm>
          <a:prstGeom xmlns:a="http://schemas.openxmlformats.org/drawingml/2006/main" prst="roundRect">
            <a:avLst>
              <a:gd name="adj" fmla="val 3636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C0AE64-9A7F-4668-83DB-ED98F61AE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285875"/>
            <a:ext cx="5048250" cy="40005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1E1A26-7BEC-4296-805E-6C180BB1F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1343025"/>
            <a:ext cx="4895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本地代码快照：2014 个相关源文件 · 约 559,355 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5BA509-884D-4061-BEA0-D5BEEAD48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143000"/>
            <a:ext cx="4953000" cy="40005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5E05237-6234-460F-89A5-8AAC13F2C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257300"/>
            <a:ext cx="4648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先把问题说清楚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E7AFB1-1492-487B-A67A-CB95D5FD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1A274B-2298-495D-9ACB-293E30809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66687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现象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1BA8FE-6AB4-4679-9E26-91E781A76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19250"/>
            <a:ext cx="342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6065"/>
          </a:bodyPr>
          <a:lstStyle xmlns:a="http://schemas.openxmlformats.org/drawingml/2006/main"/>
          <a:p xmlns:a="http://schemas.openxmlformats.org/drawingml/2006/main">
            <a:r>
              <a:t>远控视频能播放，但操作和画面不流畅。</a:t>
            </a:r>
          </a:p>
          <a:p xmlns:a="http://schemas.openxmlformats.org/drawingml/2006/main">
            <a:r>
              <a:t>现有截图只能证明“画面可见”。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90E7D67-3CB6-4B07-BD68-8300E0557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714625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已知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7F2425-1331-455A-821D-9F854445C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667000"/>
            <a:ext cx="34290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6065"/>
          </a:bodyPr>
          <a:lstStyle xmlns:a="http://schemas.openxmlformats.org/drawingml/2006/main"/>
          <a:p xmlns:a="http://schemas.openxmlformats.org/drawingml/2006/main">
            <a:r>
              <a:t>当前走 CPU / 软件解码，没有使用 GPU。</a:t>
            </a:r>
          </a:p>
          <a:p xmlns:a="http://schemas.openxmlformats.org/drawingml/2006/main">
            <a:r>
              <a:t>同场景性能数据仍待补齐。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5DCB4C-C611-4A74-B52F-A273199C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810000"/>
            <a:ext cx="85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9075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本案例目标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258934-B256-448C-97D8-477C0DA8B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762375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先证明 HarmonyOS 硬解能跑通，再根据穿刺结果拆完整工程任务。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3F029D-3F6E-4D77-8905-DE474A1A0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24375"/>
            <a:ext cx="5810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2C13C00-8CF4-4748-B7D0-92DCEC8A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648200"/>
            <a:ext cx="5429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76389"/>
          </a:bodyPr>
          <a:lstStyle xmlns:a="http://schemas.openxmlformats.org/drawingml/2006/main"/>
          <a:p xmlns:a="http://schemas.openxmlformats.org/drawingml/2006/main">
            <a:r>
              <a:t>BEFORE VIDEO · PENDING</a:t>
            </a:r>
          </a:p>
          <a:p xmlns:a="http://schemas.openxmlformats.org/drawingml/2006/main">
            <a:r>
              <a:t>待补：同设备、同片段、CPU / FPS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A97A4A-9723-4445-88CF-12B0C0F4B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369E93-4C5C-439A-9772-F5AB0DB83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播放卡顿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B7301D-607A-4E11-8B74-E9D23992F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67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CD9501-4FB3-4F28-B36F-BE3F67030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已知走 CPU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BC9809-E87A-4E9D-8925-8FA7A805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0F642A-5672-4F78-9F16-609C49C54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目标接入硬解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A77A271-9F52-4DB8-8D26-F808C9F2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572125"/>
            <a:ext cx="25146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9FB05C7-843E-46C6-9BEF-020E1318B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5629275"/>
            <a:ext cx="23622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先做最小穿刺</a:t>
            </a:r>
          </a:p>
        </p:txBody>
      </p:sp>
      <p:cxnSp>
        <p:nvCxnSpPr>
          <p:cNvPr id="413" name=""/>
          <p:cNvCxnSpPr>
            <a:stCxn xmlns:a="http://schemas.openxmlformats.org/drawingml/2006/main" id="21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332422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14" name=""/>
          <p:cNvCxnSpPr>
            <a:stCxn xmlns:a="http://schemas.openxmlformats.org/drawingml/2006/main" id="23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601027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415" name=""/>
          <p:cNvCxnSpPr>
            <a:stCxn xmlns:a="http://schemas.openxmlformats.org/drawingml/2006/main" id="25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8696325" y="584835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D30EA8-C39A-47E2-A104-4554BAE0A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42410887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89E40E6D-F082-43F4-81C5-E211685ED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8CD34AF-B2FA-45F7-B94D-EC3F1B6A1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面对 55 万行代码，AI 先追一条“视频从哪来、到哪去”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D35249-51AE-479A-ADF2-80F72B008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310E18-E939-4442-87AA-CC36A9C6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29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66B263-C962-4DF8-B7B5-90A5C0A9A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84C095-9EF2-4812-909A-16E9C59E8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3429000" cy="4762500"/>
          </a:xfrm>
          <a:prstGeom xmlns:a="http://schemas.openxmlformats.org/drawingml/2006/main" prst="roundRect">
            <a:avLst>
              <a:gd name="adj" fmla="val 38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5F5873-7C3E-4C1D-A25D-43CC3E99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573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五步找到主链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64F228D-50ED-466C-9DB5-0F8008145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E23099-E59E-453D-8758-1E0C54224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668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确定问题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C66AE5-F73E-454B-9ABD-F39EDB9D3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16383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卡顿发生在远控视频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C31F04-4526-47B7-812E-7676FA985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4792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2 搜索入口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BE57167-9A10-41D4-B469-FBD7589B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4193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只搜 video / decode / display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D22C48-1BC5-4114-BC10-EE00F1279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289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3 找到接收点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47B183-5201-4578-B45E-CDD68062A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2004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哪里收到视频数据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8E8575-9770-4A99-B870-45229B1FD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1002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4 继续向下追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54EA52-80B8-428A-9C40-F1623988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98145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哪里解码、哪里显示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58C5C15-6B11-44DD-B87C-334FF969F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91075"/>
            <a:ext cx="1143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5 形成地图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98D6C4-922D-46A2-923C-52F62DDD0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7625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记录文件、入口和未知项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D91235-0170-4CB7-8360-3DFAF9EE5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143000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54D93F-2D16-4538-BB29-93B9C0E84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200150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用户播放远程视频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25574C-16CC-42C8-9401-EB96CA67D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45456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BB3B72-D133-491C-A0CA-5321C0E5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802606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收到视频数据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5E1B0A5-D430-4446-B541-39D9718D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47913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D89288-AB2A-4F02-A440-1DBEC4FA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2405063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判断走旧方案还是新方案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C8480BB-B62E-46C7-8FAB-3572DD2D2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950369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5E0A95-8261-4F65-BC2F-594CCCBBA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007519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把数据交给解码器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DF2678-B33A-4F46-8A3A-2C92D32C4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552825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F8192C0-98B6-4675-869A-83122B699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609975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拿到解码后的画面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1B2F0A2-8E44-4BD1-84FA-4A4A261E1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55281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71FAA62-57CD-4B06-A806-F69FCC762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212431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把画面交给显示模块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5694E3-616A-42D6-A200-846AC933F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57738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375B3F2-A6DF-427F-9E44-21C4FFC74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814888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界面显示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F2CFDCB-46DD-4237-957A-0C7DA06E1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360194"/>
            <a:ext cx="4476750" cy="545306"/>
          </a:xfrm>
          <a:prstGeom xmlns:a="http://schemas.openxmlformats.org/drawingml/2006/main" prst="roundRect">
            <a:avLst>
              <a:gd name="adj" fmla="val 20961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8636C30-84B0-4922-8FAE-A7F9BAA9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5417344"/>
            <a:ext cx="4324350" cy="43100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记录成功、失败与下一步</a:t>
            </a:r>
          </a:p>
        </p:txBody>
      </p:sp>
      <p:cxnSp>
        <p:nvCxnSpPr>
          <p:cNvPr id="650" name=""/>
          <p:cNvCxnSpPr>
            <a:stCxn xmlns:a="http://schemas.openxmlformats.org/drawingml/2006/main" id="19" idx="2"/>
            <a:endCxn xmlns:a="http://schemas.openxmlformats.org/drawingml/2006/main" id="21" idx="0"/>
          </p:cNvCxnSpPr>
          <p:nvPr/>
        </p:nvCxnSpPr>
        <p:spPr>
          <a:xfrm xmlns:a="http://schemas.openxmlformats.org/drawingml/2006/main">
            <a:off x="6524625" y="1688306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51" name=""/>
          <p:cNvCxnSpPr>
            <a:stCxn xmlns:a="http://schemas.openxmlformats.org/drawingml/2006/main" id="21" idx="2"/>
            <a:endCxn xmlns:a="http://schemas.openxmlformats.org/drawingml/2006/main" id="23" idx="0"/>
          </p:cNvCxnSpPr>
          <p:nvPr/>
        </p:nvCxnSpPr>
        <p:spPr>
          <a:xfrm xmlns:a="http://schemas.openxmlformats.org/drawingml/2006/main">
            <a:off x="6524625" y="2290762"/>
            <a:ext cx="0" cy="57151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52" name=""/>
          <p:cNvCxnSpPr>
            <a:stCxn xmlns:a="http://schemas.openxmlformats.org/drawingml/2006/main" id="23" idx="2"/>
            <a:endCxn xmlns:a="http://schemas.openxmlformats.org/drawingml/2006/main" id="25" idx="0"/>
          </p:cNvCxnSpPr>
          <p:nvPr/>
        </p:nvCxnSpPr>
        <p:spPr>
          <a:xfrm xmlns:a="http://schemas.openxmlformats.org/drawingml/2006/main">
            <a:off x="6524625" y="2893219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53" name=""/>
          <p:cNvCxnSpPr>
            <a:stCxn xmlns:a="http://schemas.openxmlformats.org/drawingml/2006/main" id="25" idx="2"/>
            <a:endCxn xmlns:a="http://schemas.openxmlformats.org/drawingml/2006/main" id="27" idx="0"/>
          </p:cNvCxnSpPr>
          <p:nvPr/>
        </p:nvCxnSpPr>
        <p:spPr>
          <a:xfrm xmlns:a="http://schemas.openxmlformats.org/drawingml/2006/main">
            <a:off x="6524625" y="3495675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54" name=""/>
          <p:cNvCxnSpPr>
            <a:stCxn xmlns:a="http://schemas.openxmlformats.org/drawingml/2006/main" id="27" idx="2"/>
            <a:endCxn xmlns:a="http://schemas.openxmlformats.org/drawingml/2006/main" id="29" idx="0"/>
          </p:cNvCxnSpPr>
          <p:nvPr/>
        </p:nvCxnSpPr>
        <p:spPr>
          <a:xfrm xmlns:a="http://schemas.openxmlformats.org/drawingml/2006/main">
            <a:off x="6524625" y="4098131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55" name=""/>
          <p:cNvCxnSpPr>
            <a:stCxn xmlns:a="http://schemas.openxmlformats.org/drawingml/2006/main" id="29" idx="2"/>
            <a:endCxn xmlns:a="http://schemas.openxmlformats.org/drawingml/2006/main" id="31" idx="0"/>
          </p:cNvCxnSpPr>
          <p:nvPr/>
        </p:nvCxnSpPr>
        <p:spPr>
          <a:xfrm xmlns:a="http://schemas.openxmlformats.org/drawingml/2006/main">
            <a:off x="6524625" y="4700587"/>
            <a:ext cx="0" cy="57151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56" name=""/>
          <p:cNvCxnSpPr>
            <a:stCxn xmlns:a="http://schemas.openxmlformats.org/drawingml/2006/main" id="31" idx="2"/>
            <a:endCxn xmlns:a="http://schemas.openxmlformats.org/drawingml/2006/main" id="33" idx="0"/>
          </p:cNvCxnSpPr>
          <p:nvPr/>
        </p:nvCxnSpPr>
        <p:spPr>
          <a:xfrm xmlns:a="http://schemas.openxmlformats.org/drawingml/2006/main">
            <a:off x="6524625" y="5303044"/>
            <a:ext cx="0" cy="57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10069DE-9CB5-46BD-BFFF-D7BB4B242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1143000"/>
            <a:ext cx="2571750" cy="1619250"/>
          </a:xfrm>
          <a:prstGeom xmlns:a="http://schemas.openxmlformats.org/drawingml/2006/main" prst="roundRect">
            <a:avLst>
              <a:gd name="adj" fmla="val 823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A7566ED-DB95-4644-8DD1-893909D62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257300"/>
            <a:ext cx="2266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AI 每一步留下什么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81BCF5F-A286-4B41-B7EF-1AEA57CD2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DD1A2C8-F16A-4930-B1E5-6E02AF416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619250"/>
            <a:ext cx="1809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68056"/>
          </a:bodyPr>
          <a:lstStyle xmlns:a="http://schemas.openxmlformats.org/drawingml/2006/main"/>
          <a:p xmlns:a="http://schemas.openxmlformats.org/drawingml/2006/main">
            <a:r>
              <a:t>搜索词</a:t>
            </a:r>
          </a:p>
          <a:p xmlns:a="http://schemas.openxmlformats.org/drawingml/2006/main">
            <a:r>
              <a:t>命中文件</a:t>
            </a:r>
          </a:p>
          <a:p xmlns:a="http://schemas.openxmlformats.org/drawingml/2006/main">
            <a:r>
              <a:t>函数入口</a:t>
            </a:r>
          </a:p>
          <a:p xmlns:a="http://schemas.openxmlformats.org/drawingml/2006/main">
            <a:r>
              <a:t>下一步调用</a:t>
            </a:r>
          </a:p>
          <a:p xmlns:a="http://schemas.openxmlformats.org/drawingml/2006/main">
            <a:r>
              <a:t>还没确认的问题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8B77B25-7C21-410F-98F9-CB2BD585D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143250"/>
            <a:ext cx="21907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45E2A30-6A65-40BE-81DF-F17AC30C8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200400"/>
            <a:ext cx="2038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搜索不到 / 证据不足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0BDF295-9EE4-4842-9A29-01D8CF38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905250"/>
            <a:ext cx="2190750" cy="666750"/>
          </a:xfrm>
          <a:prstGeom xmlns:a="http://schemas.openxmlformats.org/drawingml/2006/main" prst="roundRect">
            <a:avLst>
              <a:gd name="adj" fmla="val 17143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1C38515D-B08E-4D94-BF10-3070E754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962400"/>
            <a:ext cx="2038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7222"/>
          </a:bodyPr>
          <a:lstStyle xmlns:a="http://schemas.openxmlformats.org/drawingml/2006/main"/>
          <a:p xmlns:a="http://schemas.openxmlformats.org/drawingml/2006/main">
            <a:r>
              <a:t>缩小问题</a:t>
            </a:r>
          </a:p>
          <a:p xmlns:a="http://schemas.openxmlformats.org/drawingml/2006/main">
            <a:r>
              <a:t>继续只读搜索</a:t>
            </a:r>
          </a:p>
        </p:txBody>
      </p:sp>
      <p:cxnSp>
        <p:nvCxnSpPr>
          <p:cNvPr id="665" name=""/>
          <p:cNvCxnSpPr>
            <a:stCxn xmlns:a="http://schemas.openxmlformats.org/drawingml/2006/main" id="46" idx="2"/>
            <a:endCxn xmlns:a="http://schemas.openxmlformats.org/drawingml/2006/main" id="48" idx="0"/>
          </p:cNvCxnSpPr>
          <p:nvPr/>
        </p:nvCxnSpPr>
        <p:spPr>
          <a:xfrm xmlns:a="http://schemas.openxmlformats.org/drawingml/2006/main">
            <a:off x="10334625" y="3638550"/>
            <a:ext cx="0" cy="2667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C84B4B"/>
            </a:solidFill>
            <a:prstDash val="solid"/>
            <a:tailEnd type="arrow" w="med" len="med"/>
          </a:ln>
        </p:spPr>
      </p:cxn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6525CC9-CFC2-4C49-9B30-BF05BE9B9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4762500"/>
            <a:ext cx="2476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输出是一张可复查的代码地图，不是“AI 已经读懂整个仓库”。</a:t>
            </a:r>
          </a:p>
        </p:txBody>
      </p:sp>
      <p:pic>
        <p:nvPicPr>
          <p:cNvPr id="6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0762b2e1ccd4f22"/>
          <a:srcRect xmlns:a="http://schemas.openxmlformats.org/drawingml/2006/main" l="0" t="32065" r="0" b="320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9239250" y="5381625"/>
            <a:ext cx="2190750" cy="523875"/>
          </a:xfrm>
          <a:prstGeom xmlns:a="http://schemas.openxmlformats.org/drawingml/2006/main" prst="roundRect">
            <a:avLst/>
          </a:prstGeom>
        </p:spPr>
      </p:pic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582CCF0-09EE-4164-A93D-5DC360A6F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381625"/>
            <a:ext cx="2190750" cy="523875"/>
          </a:xfrm>
          <a:prstGeom xmlns:a="http://schemas.openxmlformats.org/drawingml/2006/main" prst="roundRect">
            <a:avLst>
              <a:gd name="adj" fmla="val 2181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F1AA9F7-16BA-4510-8D4D-5029CD2AA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80429601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84D99AB-448D-491F-A221-85BE1AC20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DC9237-704A-4110-9FDB-E048C0BDF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跨平台调研：找共同步骤，不照抄代码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218426-F37E-4272-A064-95917C0D8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AD457E-3F5D-40D4-AEAA-73020786B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B34C33-3793-4964-90B3-00EF0DB24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41F83B-AD6F-48D3-B509-4407EAD86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21C53C-DD8D-4A3F-BA8C-0C6FF940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当前问题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27750B-3290-42C6-B8E3-0D24C5A34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E320F7-4EB7-4E01-AF57-BDC9A215D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看软件解码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B13CB5-980E-4ADB-BCDD-F1F20AF04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6641A3-4E99-4190-914F-C2A240EBC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看 Windows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6D88BE-72C3-459B-A5A0-B03837309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25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E84501-3B26-4DF9-AD47-5F5266E8B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7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看 Android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7A234F-4543-4009-822E-02DF2A0C7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29F681-49CB-4FF5-85EE-64A25A0E3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9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提取共同步骤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0B57B2-AA4A-4BD2-A4F7-3E97A96BD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7AE883-05A4-4430-A2E7-2C4EB9130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对照 HarmonyOS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E7A535-7552-4224-A238-01AC25702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1143000"/>
            <a:ext cx="14668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3D92AC-D804-4E23-B247-E5610094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1200150"/>
            <a:ext cx="13144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形成候选方案</a:t>
            </a:r>
          </a:p>
        </p:txBody>
      </p:sp>
      <p:cxnSp>
        <p:nvCxnSpPr>
          <p:cNvPr id="367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0859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68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6671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69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2482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70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8294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71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841057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72" name=""/>
          <p:cNvCxnSpPr>
            <a:stCxn xmlns:a="http://schemas.openxmlformats.org/drawingml/2006/main" id="16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9991725" y="1419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884B5D-3685-4B5D-BD6C-154B431CA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885950"/>
            <a:ext cx="1000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只复用“输入—解码—取结果—显示—失败回退”的步骤，不复制平台 API。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6FF40B-7E6A-40A4-8851-8AB65A6AA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28875"/>
            <a:ext cx="1809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2B7106D-55EB-41CB-8A7E-9BA76433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476500"/>
            <a:ext cx="16573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参考实现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3554EAE-A863-482F-85F5-6F8ACFA69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428875"/>
            <a:ext cx="195453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87131EA-29F7-46A0-BF36-1924AD804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476500"/>
            <a:ext cx="180213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能学什么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5FFB98-3B55-4C07-A0ED-A50812EC1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2428875"/>
            <a:ext cx="34747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D64FEE5-48E4-46FF-B1C9-1AC3DFF75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2476500"/>
            <a:ext cx="33223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不能照抄什么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D0C581-738A-4429-92E4-ACEB9D750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28925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FD0B75-4F94-4A2B-BC48-B41306A69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876550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FFmpeg / OpenH264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72CFE1F2-2D0B-48BE-A89A-B0D2FD6A3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828925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E0A1BE7-3E14-4DC2-98E7-C0B625B79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2876550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正确性与软件回退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45CCDAE-EE12-4327-84DB-9F0007E2D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2828925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71CF4AD-9625-40EF-A4BF-616A11C2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2876550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CPU 内存与线程模型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CE7AF12-8448-4FAB-BCBC-4FD5ACF27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383756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4138884-DF9E-4033-BBD8-353FCAA03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431381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Windows 硬解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CDB168-46D7-4381-97B2-33FE0235D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383756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E4793C2-5EE4-405F-AA74-A684F9933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431381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生命周期与失败处理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AFD8D9B-21A8-42B2-9597-5BDB7A2A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3383756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56A2CE1-6C38-471F-B87D-44B3AE58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3431381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Windows API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F72987E-DCD5-47BE-ACC3-AB4F2298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938588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17C4046-B1A3-49DD-80E8-69D8DC9DD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986213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Android 硬解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EE058F2-F9D0-4048-8D6C-CDAEA5662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3938588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311C881-78C9-446A-8B2A-86A6953B4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3986213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输入、输出、释放顺序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03F64EC-62BF-4520-8EEB-5ED0357FE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3938588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7B9B633-7625-46FF-8D98-5C055EE6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3986213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MediaCodec / Surface 细节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FEA3272-D0F7-4209-901C-F509E9BC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493419"/>
            <a:ext cx="180975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AC919343-1863-4E3E-8B1B-DDEFD89F0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541044"/>
            <a:ext cx="165735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HarmonyOS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1F6B8E4-6BEA-47F0-8E2B-E58D3364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493419"/>
            <a:ext cx="195453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A9A5230-CE9F-40DB-829F-D02C592C2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4541044"/>
            <a:ext cx="180213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最终要使用的平台能力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8BF3D63-A70C-4726-A2D1-289BF12FD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155" y="4493419"/>
            <a:ext cx="3474720" cy="55483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2FDEE4F-0F92-4036-A863-5BF68B94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4355" y="4541044"/>
            <a:ext cx="3322320" cy="4595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仍需最小穿刺验证</a:t>
            </a:r>
          </a:p>
        </p:txBody>
      </p:sp>
      <p:pic>
        <p:nvPicPr>
          <p:cNvPr id="40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c60d9cba824ba2"/>
          <a:srcRect xmlns:a="http://schemas.openxmlformats.org/drawingml/2006/main" l="4545" t="0" r="454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8048625" y="2428875"/>
            <a:ext cx="3571875" cy="2619375"/>
          </a:xfrm>
          <a:prstGeom xmlns:a="http://schemas.openxmlformats.org/drawingml/2006/main" prst="roundRect">
            <a:avLst/>
          </a:prstGeom>
        </p:spPr>
      </p:pic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1362721-2B33-47F4-A20E-8CD3D5A61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428875"/>
            <a:ext cx="3571875" cy="2619375"/>
          </a:xfrm>
          <a:prstGeom xmlns:a="http://schemas.openxmlformats.org/drawingml/2006/main" prst="roundRect">
            <a:avLst>
              <a:gd name="adj" fmla="val 436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6EA4C79-A6BF-40F5-A95E-9123CDC79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3816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BF28C1C-9E45-40FD-84C1-93B907408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419725"/>
            <a:ext cx="9734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调研输出：一份候选方案、风险清单和待验证问题。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ABEF880-7D98-4329-A1D5-9D82A23D2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68897317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61D0220-AB18-4746-8C6C-B42C5307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DF8E30-612E-4523-937E-EDA9D89D2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最终方案：保留旧路径，先让硬解跑通，再逐步替换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ED6D0C-5124-419B-8860-DCB0194A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C61B30-BB54-4E4D-8E62-9F7EEC17E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B8B46F-D94A-47E4-A2B4-4CD69BF1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8D10CD-8B75-44BE-A3B0-F26F28E8F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23950"/>
            <a:ext cx="11144250" cy="1190625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540141-D92A-4C50-BB8F-A59565846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38250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1  进入新方案前先检查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08BE12-706C-4D6C-AA0A-D585A2B0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240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DF2AFE6-04FA-4CD1-979B-A9EC3EE07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31D9F1-5772-4E6F-A937-A43C1BB3F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视频数据到达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2D0F4D-34B2-4006-A3FE-5776C8A5A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1FC387-C985-4EE4-AAA6-CFA85C19C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57775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检查设备能力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105FA2-C4B9-441F-9626-9FF77D86F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FC59CD-ADFB-41AA-9DB6-F1C5000E7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检查当前状态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76E441-8826-4E70-801D-43037E421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1552575"/>
            <a:ext cx="20097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CD3DE3-24DD-4F02-B67F-00ED0F74B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925" y="1609725"/>
            <a:ext cx="1857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可以进入硬解？</a:t>
            </a:r>
          </a:p>
        </p:txBody>
      </p:sp>
      <p:cxnSp>
        <p:nvCxnSpPr>
          <p:cNvPr id="679" name=""/>
          <p:cNvCxnSpPr>
            <a:stCxn xmlns:a="http://schemas.openxmlformats.org/drawingml/2006/main" id="9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4867275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80" name=""/>
          <p:cNvCxnSpPr>
            <a:stCxn xmlns:a="http://schemas.openxmlformats.org/drawingml/2006/main" id="11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6991350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81" name=""/>
          <p:cNvCxnSpPr>
            <a:stCxn xmlns:a="http://schemas.openxmlformats.org/drawingml/2006/main" id="13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9115425" y="180022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FCAF63-83D4-4A15-AE39-EF5AB59FF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19250"/>
            <a:ext cx="1809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条件不满足，就继续走旧方案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86622F2-69C0-4E40-A2EE-F56DE4323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524125"/>
            <a:ext cx="11144250" cy="1809750"/>
          </a:xfrm>
          <a:prstGeom xmlns:a="http://schemas.openxmlformats.org/drawingml/2006/main" prst="roundRect">
            <a:avLst>
              <a:gd name="adj" fmla="val 7368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31AF9AC-0D1C-4D89-B4A4-8AF34C5A1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638425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8C82"/>
                </a:solidFill>
                <a:latin typeface="Microsoft YaHei"/>
                <a:ea typeface="Microsoft YaHei"/>
                <a:cs typeface="Microsoft YaHei"/>
              </a:rPr>
              <a:t>2  新方案只做三件事：解码、拿到画面、显示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1ECA37-C56A-497C-8605-9FC7E7DD3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292417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A83B551-7AEF-491B-82CF-AAE555702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6BDD20-0261-421D-A367-396292200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082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收到视频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6CC7D6D-8077-46B3-AB03-078E9EAF7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925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B01F094-BB4F-4247-B044-9D4A95018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45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送入硬解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DE570A-502D-4FAC-9482-FC992040B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387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4CA15C-1612-4520-84C3-362603E96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007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拿到结果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5CD1A5-D67A-4F84-8DC3-2E915C6C8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0B1E931-631A-4E6E-9F4B-6B8C89D3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转为可显示画面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06FF8AB-37DF-43F2-A4E1-5D77DF18F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3125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88D7EED-054C-4756-B205-CC584432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9325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更新界面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AAB751-81FA-4348-8492-61BC1EFEB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7750" y="3143250"/>
            <a:ext cx="1349375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A7F6ACC-6B43-4285-AEA3-A110A1D37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3950" y="3200400"/>
            <a:ext cx="11969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记录结果</a:t>
            </a:r>
          </a:p>
        </p:txBody>
      </p:sp>
      <p:cxnSp>
        <p:nvCxnSpPr>
          <p:cNvPr id="698" name=""/>
          <p:cNvCxnSpPr>
            <a:stCxn xmlns:a="http://schemas.openxmlformats.org/drawingml/2006/main" id="24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406400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99" name=""/>
          <p:cNvCxnSpPr>
            <a:stCxn xmlns:a="http://schemas.openxmlformats.org/drawingml/2006/main" id="26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5508625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00" name=""/>
          <p:cNvCxnSpPr>
            <a:stCxn xmlns:a="http://schemas.openxmlformats.org/drawingml/2006/main" id="28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695325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01" name=""/>
          <p:cNvCxnSpPr>
            <a:stCxn xmlns:a="http://schemas.openxmlformats.org/drawingml/2006/main" id="30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8397875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02" name=""/>
          <p:cNvCxnSpPr>
            <a:stCxn xmlns:a="http://schemas.openxmlformats.org/drawingml/2006/main" id="32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9842500" y="3438525"/>
            <a:ext cx="95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9624F7-5F38-4414-88E7-2E0856B1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90875"/>
            <a:ext cx="171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先证明跑通，不同时做性能优化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3A6645F-DEFF-4068-8270-C4173F121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572000"/>
            <a:ext cx="11144250" cy="1190625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A6697A2-7585-4552-8DED-335487975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86300"/>
            <a:ext cx="10839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D89518"/>
                </a:solidFill>
                <a:latin typeface="Microsoft YaHei"/>
                <a:ea typeface="Microsoft YaHei"/>
                <a:cs typeface="Microsoft YaHei"/>
              </a:rPr>
              <a:t>3  新方案失败时立即回退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6A8D342-1A69-4918-9073-C6E4F4679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972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95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D7A4345-11EC-4B80-B2A4-189FE5350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6A7499C-66AA-43B0-A253-F375422C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新方案失败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3B5C413-6AA9-4337-BDE3-02071EB03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73BC4C6-BDD8-4DC4-A646-6B9C8A206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记录原因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E0FC679-D788-4F1F-BFE1-5E29D441A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018F287-1784-49D9-81AA-8EDF881B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切回旧方案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DD671E3-67D0-4A92-9432-810EE16E9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000625"/>
            <a:ext cx="192405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8A3EA10-B54B-4606-B04A-B05F6A22E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5057775"/>
            <a:ext cx="17716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应用继续可用</a:t>
            </a:r>
          </a:p>
        </p:txBody>
      </p:sp>
      <p:cxnSp>
        <p:nvCxnSpPr>
          <p:cNvPr id="715" name=""/>
          <p:cNvCxnSpPr>
            <a:stCxn xmlns:a="http://schemas.openxmlformats.org/drawingml/2006/main" id="45" idx="3"/>
            <a:endCxn xmlns:a="http://schemas.openxmlformats.org/drawingml/2006/main" id="47" idx="1"/>
          </p:cNvCxnSpPr>
          <p:nvPr/>
        </p:nvCxnSpPr>
        <p:spPr>
          <a:xfrm xmlns:a="http://schemas.openxmlformats.org/drawingml/2006/main">
            <a:off x="50673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16" name=""/>
          <p:cNvCxnSpPr>
            <a:stCxn xmlns:a="http://schemas.openxmlformats.org/drawingml/2006/main" id="47" idx="3"/>
            <a:endCxn xmlns:a="http://schemas.openxmlformats.org/drawingml/2006/main" id="49" idx="1"/>
          </p:cNvCxnSpPr>
          <p:nvPr/>
        </p:nvCxnSpPr>
        <p:spPr>
          <a:xfrm xmlns:a="http://schemas.openxmlformats.org/drawingml/2006/main">
            <a:off x="71247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717" name=""/>
          <p:cNvCxnSpPr>
            <a:stCxn xmlns:a="http://schemas.openxmlformats.org/drawingml/2006/main" id="49" idx="3"/>
            <a:endCxn xmlns:a="http://schemas.openxmlformats.org/drawingml/2006/main" id="51" idx="1"/>
          </p:cNvCxnSpPr>
          <p:nvPr/>
        </p:nvCxnSpPr>
        <p:spPr>
          <a:xfrm xmlns:a="http://schemas.openxmlformats.org/drawingml/2006/main">
            <a:off x="9182100" y="52482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817AEB5-F73F-463F-A3CA-65DE1CEB6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5953125"/>
            <a:ext cx="962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先保证正确和可回退，再谈连续播放、性能和长稳。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1F6609F-96E3-4FD1-AF29-8C81E8AA0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7057767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04AD4AA-8E70-46D0-9C89-93FAABDE6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668DF6-F38A-4558-8109-0CC14CF3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最小穿刺：HarmonyOS 硬解能不能跑通一次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D086F2-230E-47DC-9E0B-E0C196FB3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2B3A88-5B93-43E2-BA0C-6C221AE74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F1854B-877E-499D-8E8A-9CC99BD3C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901583-CA61-4F91-B247-70B9BDB3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838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AB55C1-9FF0-4E45-B1DE-6714170B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90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步骤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C1FE10-5F94-4174-9921-667A6B845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1143000"/>
            <a:ext cx="23622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4917F3-CE0E-4021-8D93-15709DC46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1190625"/>
            <a:ext cx="2209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只做什么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74125B-8D66-4A7E-A291-3A44AF07C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143000"/>
            <a:ext cx="2286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C19986-4ABB-4F4C-9442-A625BAD8A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190625"/>
            <a:ext cx="21336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通过时看到什么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018EE3-66EE-490D-8B26-1005F8DA6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143000"/>
            <a:ext cx="21336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38B7E1-4E73-4434-81FE-F10F7FC5B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190625"/>
            <a:ext cx="1981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失败就停在哪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C7F3BE-4F31-4D65-A1C9-EF96ACE5F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54305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076BF0E-D679-42D3-B1AC-6D085CC5A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59067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6B7E51-8380-4BBF-A529-460739923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154305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ABC8D6-3AF0-4663-8C46-E42593178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159067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新模块进入安装包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70F2EF-5215-42B8-82B7-851BE8DEF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154305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A8829C-68B3-4EFB-BD99-44CB014CF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159067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构建日志中可以找到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4874E9-8ED0-4AD2-857B-2EF42C2FB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4305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F7E252-BF50-49BE-A610-93FC1172F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59067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先修构建，不写解码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2CAC341-344A-4116-B1EF-7C434798B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1554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3E2AB38-9201-4635-AF99-BE164F826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46316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D1D07BE-A9D4-489D-AA42-DA7B40859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241554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4023A11-05B3-4396-9FC9-B3DB88681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246316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真机选择硬解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B8B01FF-D81D-459F-A6E5-61ABEE7E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241554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A1C31F-E51C-4036-9A7F-4298C1D1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246316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日志显示硬解名称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B4FD54-C0BA-4241-8BA5-096CE0A31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1554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C1A6EE-E242-49D3-A4B5-8C7E70E4D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46316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不支持就停止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2DA9298-2081-4A80-ABE0-272EA338D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8803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7E478D-01FC-4ACB-8BE8-9C9FED905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33565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9A02C23-B522-40D1-BEA1-3B20FA8A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328803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CDC5D66-CC38-4B5D-B714-7D642644E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333565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解码一个短片段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BF9311F-B08F-4877-AEAB-120534675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328803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4FA521C-E107-413B-8ED4-FD1CDAF16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333565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有解码结果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49EC94-1E40-4641-8FBD-19FA29548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28803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3147ED3-119D-4E8F-9EB1-D16BE316D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33565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没结果就停在解码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D439B53-27CD-4323-9F34-752CC5715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6052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1B2D85C-2477-442A-BF5D-E6CF7DCB0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20814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SP-04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0D6B2E9-8235-4574-99A1-658D617DC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416052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C1CE40E-59A7-4EAB-A8FF-E5F3E4C6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420814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把结果显示出来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8B0D77F-3840-46D1-BB4F-24BF41DA1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16052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BD95F98-856E-4F18-8167-42EEE0CD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420814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出现正确画面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B150B25-A188-43F1-B49B-8C7B14402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16052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05C9EB5-57A8-4B4D-A4F2-9B4A32BC9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20814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黑屏就停在显示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E5F38B0-7344-4D18-BC10-08D7ABEC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033010"/>
            <a:ext cx="838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17AFE48-D3A1-4541-B6AC-093FB180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080635"/>
            <a:ext cx="685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SP-05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B43F9B8-17CB-4517-A0F3-3E3C18127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" y="5033010"/>
            <a:ext cx="23622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064EC64-18EF-4487-898C-630DC469B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" y="5080635"/>
            <a:ext cx="22098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模拟失败并回退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75BB60A-8FC3-42D7-8E13-2044450DF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5033010"/>
            <a:ext cx="22860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CFCE84F-6437-41CC-AF03-AC5F8975D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0475" y="5080635"/>
            <a:ext cx="21336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旧方案仍可播放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7F29495B-4A2D-44D8-9B5C-9874DFECB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5033010"/>
            <a:ext cx="2133600" cy="8724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A9493CD-0F6A-4F59-8EBE-3730E73F4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5080635"/>
            <a:ext cx="1981200" cy="77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回退失败不进入开发</a:t>
            </a:r>
          </a:p>
        </p:txBody>
      </p:sp>
      <p:pic>
        <p:nvPicPr>
          <p:cNvPr id="1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2036e09f16473d"/>
          <a:srcRect xmlns:a="http://schemas.openxmlformats.org/drawingml/2006/main" l="4422" t="0" r="4422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8429625" y="1143000"/>
            <a:ext cx="3190875" cy="2333625"/>
          </a:xfrm>
          <a:prstGeom xmlns:a="http://schemas.openxmlformats.org/drawingml/2006/main" prst="roundRect">
            <a:avLst/>
          </a:prstGeom>
        </p:spPr>
      </p:pic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CF04B02-6F6F-47E3-91AF-7FE419C03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143000"/>
            <a:ext cx="3190875" cy="2333625"/>
          </a:xfrm>
          <a:prstGeom xmlns:a="http://schemas.openxmlformats.org/drawingml/2006/main" prst="roundRect">
            <a:avLst>
              <a:gd name="adj" fmla="val 4898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2D7C1388-42ED-4D55-B925-AD65D462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762375"/>
            <a:ext cx="3190875" cy="2143125"/>
          </a:xfrm>
          <a:prstGeom xmlns:a="http://schemas.openxmlformats.org/drawingml/2006/main" prst="roundRect">
            <a:avLst>
              <a:gd name="adj" fmla="val 6222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C83F5A4-551A-4502-AAC7-3120CBE2B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3876675"/>
            <a:ext cx="2886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穿刺范围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475048A-1BA2-4563-BC9A-2A6EFD29B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416242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8F4CA06-A203-4F1A-81B4-8FE502917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4238625"/>
            <a:ext cx="26193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r>
              <a:t>一个短片段</a:t>
            </a:r>
          </a:p>
          <a:p xmlns:a="http://schemas.openxmlformats.org/drawingml/2006/main">
            <a:r>
              <a:t>一次成功显示</a:t>
            </a:r>
          </a:p>
          <a:p xmlns:a="http://schemas.openxmlformats.org/drawingml/2006/main">
            <a:r>
              <a:t>一次失败回退</a:t>
            </a:r>
          </a:p>
          <a:p xmlns:a="http://schemas.openxmlformats.org/drawingml/2006/main">
            <a:r>
              <a:t>不做并发、性能、长稳</a:t>
            </a:r>
          </a:p>
          <a:p xmlns:a="http://schemas.openxmlformats.org/drawingml/2006/main">
            <a:r>
              <a:t>通过才拆完整任务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672C14C0-BFAE-4E4E-B518-F5A113B2A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52289411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931D2D-03F4-4C2A-8FC0-31443D67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5BE97B-BE97-4B0A-9BDC-68D060E5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穿刺结果先给截图：画面出现了，但还不能直接说硬解成功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2F46FB-F010-4E61-A59A-4F3E74C2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AB5061-AE26-4B93-A401-EB3F1C680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27D6B8-1602-4984-86C0-7A7354A6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ce2173e77a47bc"/>
          <a:srcRect xmlns:a="http://schemas.openxmlformats.org/drawingml/2006/main" l="28333" t="0" r="2833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 flipH="0" flipV="0">
            <a:off x="523875" y="1143000"/>
            <a:ext cx="4953000" cy="4762500"/>
          </a:xfrm>
          <a:prstGeom xmlns:a="http://schemas.openxmlformats.org/drawingml/2006/main" prst="round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9004C6-E373-4F3F-A88E-6024E850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4953000" cy="4762500"/>
          </a:xfrm>
          <a:prstGeom xmlns:a="http://schemas.openxmlformats.org/drawingml/2006/main" prst="roundRect">
            <a:avLst>
              <a:gd name="adj" fmla="val 24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717208-F3E0-4619-B7E2-FE303BF3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143000"/>
            <a:ext cx="581025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43A8B8-FA24-468F-8940-DEB773E6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25730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穿刺通过要同时回答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A4F234-CE8C-445A-8C77-2DF7A73CB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589599-8510-4340-8CF9-2640DA57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48424-FC32-454F-9DAE-52C08CBD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10E7AA-8599-4A80-9683-7832E686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600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应用能连接远程桌面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8FE908-2AC8-4976-90DD-EDF33A61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F80AB6-D4B9-44DD-A090-CD7A57ED0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FC0EEE-6F74-4404-987F-4A31C688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0288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视频内容能出现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0290B0-05B8-420E-A1D6-228C6B5E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A3BDC4-A94E-4AE5-BE67-1A29B2AEB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90F2E2-F189-48B7-A5EB-1747B16CD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4574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窗口与输入仍可交互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54A20D-7721-4EB5-B99E-F3C71F28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7F2CFF-36A4-4330-B479-A03C1CF6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022835-2ABF-416A-837C-58270548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8860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画面证据已归档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E64DBC-5542-41A6-A28A-45778BC1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E81FA8-BD8A-4836-8D65-EB5468CD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2DE0F2-701B-42B9-A052-AB2FB30E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3147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硬解选择日志到齐？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007F5F-1E80-4565-8591-AFB2E9E3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8FD730-69AC-42A9-93D2-F1A0E3DFE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3656B4-6296-4F18-97FC-140E229D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7433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失败回退证据到齐？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1AB29E-31F4-4917-AE56-A85B0E17D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3C6DB6-17B3-4C55-9CCE-6A256678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1F5DF3A-81F5-4725-B2AB-B2CDB23E9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1719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同一设备和版本已记录？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3DFD36-42C0-4EB0-A714-8848A4F5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B44121D-FCF2-4C3E-AE6A-AC5AA696B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67140F-C4C8-4C21-87ED-366B827D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6005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CPU / FPS A/B 已采集？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BAD0B19-5553-47C7-9EDF-733A85079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9ABFDA-0510-435D-AB51-416F58AE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9FD5ED-B4FB-42C5-B920-F44D3DBB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029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当前结论：仅画面 READY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8BD3DE2-50FB-416D-865A-7D2DAB19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76875"/>
            <a:ext cx="57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90416C-AD2A-41AE-B23C-E70899F6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514975"/>
            <a:ext cx="4781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78947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截图证明“画面和交互可见”；硬解日志与回退证据到齐后，穿刺才算完整 PASS。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8754D3C-3089-440E-B9B3-CC07B442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230826617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57861DBE-2DD2-49F5-AE20-1B2A678D8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76E62D-71E4-4CDA-B953-41A5C4B03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穿刺后：生成新计划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668E0D-DC3C-42B1-89F5-138FAD5D5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C41C4F-8998-4EED-9A82-0073A58BA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300D50-30A3-41BD-AB52-A918FCC49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580100-243E-4D55-8798-9B10F6473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2C74C3-193C-41FA-BD9B-31AE24E09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P0 固化穿刺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1C8E4F-788E-48F4-AC16-35737F006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A5BFA0-8277-4DEF-A7CC-6EE7452F8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065E93-023B-4BF8-A4EE-A4129DF9A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P1 接入真实视频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BD8FE7-4959-43F6-80F6-D5EA54F8D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5929E1-B705-489E-B6DF-FA22C390B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BBB311-654B-41C8-8EBC-E2FC03D01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P2 稳定与回退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DA9933-58DB-465C-B68F-F32457E76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0A28B6-3B1B-43B8-A5F7-24A0A38A7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6DC0A2-E75E-4DB5-8090-2A6A3B2ED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P3 性能验证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1AF492-0722-4D13-A8F6-06150618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B04B93-A605-463E-973F-0CC289B34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1190625"/>
            <a:ext cx="1619250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3F98C1-4607-4B7F-98E2-0470CCDD9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247775"/>
            <a:ext cx="14668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P4 证据交付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D770247-6B7F-42F1-B5CB-B62146633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0850" y="1695450"/>
            <a:ext cx="1905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D3D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832FBD4-6AD3-4889-B0B0-37A6D2963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9050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476DE9-1C62-4E6E-9E09-461D6D0C7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19050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553" name=""/>
          <p:cNvCxnSpPr>
            <a:stCxn xmlns:a="http://schemas.openxmlformats.org/drawingml/2006/main" id="21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1495425" y="1914525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645F996-7CB8-4E1B-B6AF-2D5F2203C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7145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保存代码、日志和截图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29B760-B420-44B9-B237-BD983B3C3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3336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3E42E1-4FFF-4BC2-90F2-CC9EC225F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3336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557" name=""/>
          <p:cNvCxnSpPr>
            <a:stCxn xmlns:a="http://schemas.openxmlformats.org/drawingml/2006/main" id="25" idx="1"/>
            <a:endCxn xmlns:a="http://schemas.openxmlformats.org/drawingml/2006/main" id="26" idx="3"/>
          </p:cNvCxnSpPr>
          <p:nvPr/>
        </p:nvCxnSpPr>
        <p:spPr>
          <a:xfrm xmlns:a="http://schemas.openxmlformats.org/drawingml/2006/main" flipH="1">
            <a:off x="1495425" y="2343150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82D372E-CE2F-4476-8B0C-9EFC96EDB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143125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确认还有哪些未知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FD191D9-5187-4D62-9424-FB8CF78DE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8098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89110C7-0533-4EA1-8988-1A4414861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280987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561" name=""/>
          <p:cNvCxnSpPr>
            <a:stCxn xmlns:a="http://schemas.openxmlformats.org/drawingml/2006/main" id="29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1495425" y="2819400"/>
            <a:ext cx="4552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BC91CB-0DC3-456A-BD40-6067C52AA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19375"/>
            <a:ext cx="428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接入真实视频并持续播放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309A147-A43D-4716-9367-882DE0B53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2385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BA31315-CC36-47CE-98E6-1E3CDD6A3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23850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565" name=""/>
          <p:cNvCxnSpPr>
            <a:stCxn xmlns:a="http://schemas.openxmlformats.org/drawingml/2006/main" id="33" idx="3"/>
            <a:endCxn xmlns:a="http://schemas.openxmlformats.org/drawingml/2006/main" id="34" idx="1"/>
          </p:cNvCxnSpPr>
          <p:nvPr/>
        </p:nvCxnSpPr>
        <p:spPr>
          <a:xfrm xmlns:a="http://schemas.openxmlformats.org/drawingml/2006/main">
            <a:off x="6067425" y="3248025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EFFA90D-38AC-4D6D-8922-E0A0B4997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80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补场景切换与失败回退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4ABD078-4180-43CE-AA1E-9783BA8CC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36671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91D3825-ED2E-49FA-8CF6-8399D079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3667125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569" name=""/>
          <p:cNvCxnSpPr>
            <a:stCxn xmlns:a="http://schemas.openxmlformats.org/drawingml/2006/main" id="37" idx="3"/>
            <a:endCxn xmlns:a="http://schemas.openxmlformats.org/drawingml/2006/main" id="38" idx="1"/>
          </p:cNvCxnSpPr>
          <p:nvPr/>
        </p:nvCxnSpPr>
        <p:spPr>
          <a:xfrm xmlns:a="http://schemas.openxmlformats.org/drawingml/2006/main">
            <a:off x="8353425" y="3676650"/>
            <a:ext cx="2266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77C8"/>
            </a:solidFill>
            <a:prstDash val="solid"/>
            <a:tailEnd type="arrow" w="med" len="med"/>
          </a:ln>
        </p:spPr>
      </p:cxn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5E03907-512D-4AE8-93F6-EA1DCA406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476625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做同设备 A/B 性能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C98A404-C998-4087-98C9-69EBA918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409575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C690DF3-3304-4632-BB60-84CDADC31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095750"/>
            <a:ext cx="19050" cy="19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573" name=""/>
          <p:cNvCxnSpPr>
            <a:stCxn xmlns:a="http://schemas.openxmlformats.org/drawingml/2006/main" id="41" idx="1"/>
            <a:endCxn xmlns:a="http://schemas.openxmlformats.org/drawingml/2006/main" id="42" idx="3"/>
          </p:cNvCxnSpPr>
          <p:nvPr/>
        </p:nvCxnSpPr>
        <p:spPr>
          <a:xfrm xmlns:a="http://schemas.openxmlformats.org/drawingml/2006/main" flipH="1">
            <a:off x="1495425" y="4105275"/>
            <a:ext cx="91249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E26852"/>
            </a:solidFill>
            <a:prstDash val="solid"/>
            <a:tailEnd type="arrow" w="med" len="med"/>
          </a:ln>
        </p:spPr>
      </p:cxn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8652B76-3BB5-489B-943F-D0F19584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905250"/>
            <a:ext cx="885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汇总回归、长稳和交付报告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BAF4E74-E32F-4F83-A006-CDAEAFC58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C5ACDA1-3FE4-4B7B-B047-56E7EF75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4102"/>
          </a:bodyPr>
          <a:lstStyle xmlns:a="http://schemas.openxmlformats.org/drawingml/2006/main"/>
          <a:p xmlns:a="http://schemas.openxmlformats.org/drawingml/2006/main">
            <a:r>
              <a:t>P0 固化</a:t>
            </a:r>
          </a:p>
          <a:p xmlns:a="http://schemas.openxmlformats.org/drawingml/2006/main">
            <a:r>
              <a:t>穿刺可以重复运行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97754F23-F0DA-4AE3-B2E2-3E0A89B9E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4A81010-DC7D-43AB-8535-1DDABB696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4102"/>
          </a:bodyPr>
          <a:lstStyle xmlns:a="http://schemas.openxmlformats.org/drawingml/2006/main"/>
          <a:p xmlns:a="http://schemas.openxmlformats.org/drawingml/2006/main">
            <a:r>
              <a:t>P1 接入</a:t>
            </a:r>
          </a:p>
          <a:p xmlns:a="http://schemas.openxmlformats.org/drawingml/2006/main">
            <a:r>
              <a:t>真实视频连续播放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DD9E0CC-6677-4EF3-A38E-3B4420BFF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62DE949-FF26-467F-8F01-B9633047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P2 稳定</a:t>
            </a:r>
          </a:p>
          <a:p xmlns:a="http://schemas.openxmlformats.org/drawingml/2006/main">
            <a:r>
              <a:t>切换场景不黑屏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9729AD54-AF19-494A-AA33-C0CAC70AF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9E0F723-6C64-498C-B248-E4EC04A99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P3 性能</a:t>
            </a:r>
          </a:p>
          <a:p xmlns:a="http://schemas.openxmlformats.org/drawingml/2006/main">
            <a:r>
              <a:t>有 before / after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7368E46-1877-425B-AE5C-23BFE770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810125"/>
            <a:ext cx="1905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1487309-DC51-4DF3-9A7F-DA210670B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4867275"/>
            <a:ext cx="17526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94115"/>
          </a:bodyPr>
          <a:lstStyle xmlns:a="http://schemas.openxmlformats.org/drawingml/2006/main"/>
          <a:p xmlns:a="http://schemas.openxmlformats.org/drawingml/2006/main">
            <a:r>
              <a:t>P4 交付</a:t>
            </a:r>
          </a:p>
          <a:p xmlns:a="http://schemas.openxmlformats.org/drawingml/2006/main">
            <a:r>
              <a:t>Reviewer 可以复查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5EEFE30-F1F0-4527-B27C-08615B55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953125"/>
            <a:ext cx="57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391DF79-6C97-4C57-9BCD-D7F33497C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5075" y="5991225"/>
            <a:ext cx="735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新计划来自穿刺真实结果，不是穿刺前凭空生成。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9E762508-D162-4E4F-A05B-B05FA6E3F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01020220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D931D2D-03F4-4C2A-8FC0-31443D67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5BE97B-BE97-4B0A-9BDC-68D060E56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把新计划拆成任务：每个任务只交付一个可验收结果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2F46FB-F010-4E61-A59A-4F3E74C2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AB5061-AE26-4B93-A401-EB3F1C680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27D6B8-1602-4984-86C0-7A7354A69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9004C6-E373-4F3F-A88E-6024E850D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4953000" cy="4762500"/>
          </a:xfrm>
          <a:prstGeom xmlns:a="http://schemas.openxmlformats.org/drawingml/2006/main" prst="roundRect">
            <a:avLst>
              <a:gd name="adj" fmla="val 24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717208-F3E0-4619-B7E2-FE303BF3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143000"/>
            <a:ext cx="5810250" cy="4762500"/>
          </a:xfrm>
          <a:prstGeom xmlns:a="http://schemas.openxmlformats.org/drawingml/2006/main" prst="roundRect">
            <a:avLst>
              <a:gd name="adj" fmla="val 2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43A8B8-FA24-468F-8940-DEB773E64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25730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七个任务，从接入到证据交付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A4F234-CE8C-445A-8C77-2DF7A73CB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589599-8510-4340-8CF9-2640DA57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48424-FC32-454F-9DAE-52C08CBD9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619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10E7AA-8599-4A80-9683-7832E686A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1600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T1 接入真实远控视频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8FE908-2AC8-4976-90DD-EDF33A610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F80AB6-D4B9-44DD-A090-CD7A57ED0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0478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FC0EEE-6F74-4404-987F-4A31C6883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0288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T2 连续播放短片段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0290B0-05B8-420E-A1D6-228C6B5E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A3BDC4-A94E-4AE5-BE67-1A29B2AEB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4765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E90F2E2-F189-48B7-A5EB-1747B16CD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4574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T3 暂停 / 恢复 / 窗口变化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54A20D-7721-4EB5-B99E-F3C71F28E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7F2CFF-36A4-4330-B479-A03C1CF6F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051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2F8F5B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022835-2ABF-416A-837C-58270548B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28860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T4 硬解失败自动回退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7E64DBC-5542-41A6-A28A-45778BC1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E81FA8-BD8A-4836-8D65-EB5468CDF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2DE0F2-701B-42B9-A052-AB2FB30E5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3147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T5 同场景 CPU / FPS 对比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007F5F-1E80-4565-8591-AFB2E9E3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8FD730-69AC-42A9-93D2-F1A0E3DFE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6237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3656B4-6296-4F18-97FC-140E229D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74332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T6 目标格式与交互回归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01AB29E-31F4-4917-AE56-A85B0E17D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53C6DB6-17B3-4C55-9CCE-6A2566785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1F5DF3A-81F5-4725-B2AB-B2CDB23E9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17195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T7 汇总日志、截图、视频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3DFD36-42C0-4EB0-A714-8848A4F5D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B44121D-FCF2-4C3E-AE6A-AC5AA696B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19625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B67140F-C4C8-4C21-87ED-366B827D7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4600575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每个任务只交付一个结果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BAD0B19-5553-47C7-9EDF-733A85079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F3F7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9ABFDA-0510-435D-AB51-416F58AED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48250"/>
            <a:ext cx="266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89FD5ED-B4FB-42C5-B920-F44D3DBB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029200"/>
            <a:ext cx="4572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不通过就不进入下一任务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8BD3DE2-50FB-416D-865A-7D2DAB190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76875"/>
            <a:ext cx="571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90416C-AD2A-41AE-B23C-E70899F67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5514975"/>
            <a:ext cx="47815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87303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任务不按文件切，而按“可验收结果”切；失败时只退回当前任务。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8754D3C-3089-440E-B9B3-CC07B442C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  <p:pic>
        <p:nvPicPr>
          <p:cNvPr id="8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7687a08c5440ac"/>
          <a:stretch xmlns:a="http://schemas.openxmlformats.org/drawingml/2006/main"/>
        </p:blipFill>
        <p:spPr>
          <a:xfrm xmlns:a="http://schemas.openxmlformats.org/drawingml/2006/main" flipH="0" flipV="0">
            <a:off x="523875" y="1143000"/>
            <a:ext cx="4953000" cy="4762500"/>
          </a:xfrm>
          <a:prstGeom xmlns:a="http://schemas.openxmlformats.org/drawingml/2006/main"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230826617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9821D27-9C8D-46E7-AC8E-BA49CB07F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509621-3167-49B8-897B-40BC24FDA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先写验收点，再让 AI 开发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535647-76CF-4742-A44E-A7EF05477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689946-7564-4A7F-AAAB-99E8AAB59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81FC0A-2C04-4EE5-A606-56DC7C7BC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ED5091-4B60-437C-8B5E-A2EC0B672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90625"/>
            <a:ext cx="13030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85B347-E776-431A-B223-4645C9B60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238250"/>
            <a:ext cx="11506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构建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263F5F-56B6-437C-A685-ACF8A4F2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190625"/>
            <a:ext cx="130302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441D77-427F-4110-BB94-D1AA4A0C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5970" y="1238250"/>
            <a:ext cx="115062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硬解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4B84F8-61F1-41DB-88F2-A9158653F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2790" y="1190625"/>
            <a:ext cx="173736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8F63D4-F971-4E11-B6B9-DED455EE3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1238250"/>
            <a:ext cx="158496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画面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58B79A-B1F8-4D19-AF5F-242278E56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190625"/>
            <a:ext cx="162877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097283-9FDA-412C-9E79-E8FBA437C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238250"/>
            <a:ext cx="1476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回退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83C750-F321-490B-88D3-D3BE96F30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190625"/>
            <a:ext cx="141160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DCEB86-A9B8-4717-B431-F12A3C01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238250"/>
            <a:ext cx="125920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性能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28DD83-C3F8-4213-9F96-0D9DB3788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0530" y="1190625"/>
            <a:ext cx="141160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9491C4-D5F1-4361-A7DD-3AA3109E7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730" y="1238250"/>
            <a:ext cx="125920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稳定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60CCF4-50F0-4ACE-9B08-EAF179658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2135" y="1190625"/>
            <a:ext cx="206311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10C59A-1A33-4068-81F1-A21EEEAB7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8335" y="1238250"/>
            <a:ext cx="191071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交付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94A4DC0-4E02-4FF8-8885-AFC3930D5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90675"/>
            <a:ext cx="130302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106140-31E9-4B0B-9905-AF09496D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38300"/>
            <a:ext cx="115062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模块进入 HAP</a:t>
            </a:r>
          </a:p>
          <a:p xmlns:a="http://schemas.openxmlformats.org/drawingml/2006/main">
            <a:r>
              <a:t>并可启动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CE59607-EF62-440C-BE63-97F678B5D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9770" y="1590675"/>
            <a:ext cx="130302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ACF68BD-4F63-434A-A304-A183E0F11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5970" y="1638300"/>
            <a:ext cx="115062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日志显示</a:t>
            </a:r>
          </a:p>
          <a:p xmlns:a="http://schemas.openxmlformats.org/drawingml/2006/main">
            <a:r>
              <a:t>硬解名称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089278-98FC-49C9-BF26-EF4CFEC28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2790" y="1590675"/>
            <a:ext cx="173736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4A33897-46E1-4B26-BDCC-7E99153FD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990" y="1638300"/>
            <a:ext cx="158496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短片段可见</a:t>
            </a:r>
          </a:p>
          <a:p xmlns:a="http://schemas.openxmlformats.org/drawingml/2006/main">
            <a:r>
              <a:t>且可交互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CF5ABCE-5807-4F4E-A5AE-3F95E5F9D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1590675"/>
            <a:ext cx="162877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D021C5B-245C-4902-AB34-ABAC41B32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1638300"/>
            <a:ext cx="147637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注入失败后</a:t>
            </a:r>
          </a:p>
          <a:p xmlns:a="http://schemas.openxmlformats.org/drawingml/2006/main">
            <a:r>
              <a:t>旧方案可用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2542929-BFCA-4EF1-ADDD-004C7E16C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1590675"/>
            <a:ext cx="141160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FA6167-887C-4053-852A-BDC474F6A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1638300"/>
            <a:ext cx="125920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同场景</a:t>
            </a:r>
          </a:p>
          <a:p xmlns:a="http://schemas.openxmlformats.org/drawingml/2006/main">
            <a:r>
              <a:t>CPU / FPS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4A33EE8-44B4-4E9C-AB0A-35053840D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0530" y="1590675"/>
            <a:ext cx="141160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AB4BAB-6A7D-4D7A-90CE-BAD908C35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6730" y="1638300"/>
            <a:ext cx="125920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切换与长稳</a:t>
            </a:r>
          </a:p>
          <a:p xmlns:a="http://schemas.openxmlformats.org/drawingml/2006/main">
            <a:r>
              <a:t>通过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A7262D-55D4-4910-B93F-92EA4EE52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2135" y="1590675"/>
            <a:ext cx="2063115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D3866A5-57BA-43BF-B4EC-15E8AF7D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8335" y="1638300"/>
            <a:ext cx="191071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证据完整</a:t>
            </a:r>
          </a:p>
          <a:p xmlns:a="http://schemas.openxmlformats.org/drawingml/2006/main">
            <a:r>
              <a:t>可复查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58A46A6-B1A4-4337-89A4-EEF04752F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05125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每个验收点都要写清四件事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75F43C2-FAB3-4F3A-8934-B83AF0B3F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CD2DF87-CAD6-428A-9E9C-6E4B9C3CC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场景明确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C67F7FD-968E-445C-8808-00F9CB2AF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41E2B28-4C02-4AA7-9957-05D693B98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通过标准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02650DC-CC8F-4120-B147-3D6D3F818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EA57BB7-A904-409C-AE7D-0801F30A0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证据类型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D2AFEF2-268B-4354-9DE4-83C8286B1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65FFE44-95A9-4D41-B40A-55D2F2855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采集方式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FC7297E-2BEE-44AE-9BA7-A8927E433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CC4B0D2-F958-4D57-B52C-4A36352C9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失败处理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235C32F-DB87-40E2-959D-5321ED4A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381375"/>
            <a:ext cx="1714500" cy="590550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5665C1F-5927-4C23-8A22-FBA60EC91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438525"/>
            <a:ext cx="1562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结论状态</a:t>
            </a:r>
          </a:p>
        </p:txBody>
      </p:sp>
      <p:cxnSp>
        <p:nvCxnSpPr>
          <p:cNvPr id="666" name=""/>
          <p:cNvCxnSpPr>
            <a:stCxn xmlns:a="http://schemas.openxmlformats.org/drawingml/2006/main" id="35" idx="3"/>
            <a:endCxn xmlns:a="http://schemas.openxmlformats.org/drawingml/2006/main" id="37" idx="1"/>
          </p:cNvCxnSpPr>
          <p:nvPr/>
        </p:nvCxnSpPr>
        <p:spPr>
          <a:xfrm xmlns:a="http://schemas.openxmlformats.org/drawingml/2006/main">
            <a:off x="23812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67" name=""/>
          <p:cNvCxnSpPr>
            <a:stCxn xmlns:a="http://schemas.openxmlformats.org/drawingml/2006/main" id="37" idx="3"/>
            <a:endCxn xmlns:a="http://schemas.openxmlformats.org/drawingml/2006/main" id="39" idx="1"/>
          </p:cNvCxnSpPr>
          <p:nvPr/>
        </p:nvCxnSpPr>
        <p:spPr>
          <a:xfrm xmlns:a="http://schemas.openxmlformats.org/drawingml/2006/main">
            <a:off x="42100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68" name=""/>
          <p:cNvCxnSpPr>
            <a:stCxn xmlns:a="http://schemas.openxmlformats.org/drawingml/2006/main" id="39" idx="3"/>
            <a:endCxn xmlns:a="http://schemas.openxmlformats.org/drawingml/2006/main" id="41" idx="1"/>
          </p:cNvCxnSpPr>
          <p:nvPr/>
        </p:nvCxnSpPr>
        <p:spPr>
          <a:xfrm xmlns:a="http://schemas.openxmlformats.org/drawingml/2006/main">
            <a:off x="60388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69" name=""/>
          <p:cNvCxnSpPr>
            <a:stCxn xmlns:a="http://schemas.openxmlformats.org/drawingml/2006/main" id="41" idx="3"/>
            <a:endCxn xmlns:a="http://schemas.openxmlformats.org/drawingml/2006/main" id="43" idx="1"/>
          </p:cNvCxnSpPr>
          <p:nvPr/>
        </p:nvCxnSpPr>
        <p:spPr>
          <a:xfrm xmlns:a="http://schemas.openxmlformats.org/drawingml/2006/main">
            <a:off x="78676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670" name=""/>
          <p:cNvCxnSpPr>
            <a:stCxn xmlns:a="http://schemas.openxmlformats.org/drawingml/2006/main" id="43" idx="3"/>
            <a:endCxn xmlns:a="http://schemas.openxmlformats.org/drawingml/2006/main" id="45" idx="1"/>
          </p:cNvCxnSpPr>
          <p:nvPr/>
        </p:nvCxnSpPr>
        <p:spPr>
          <a:xfrm xmlns:a="http://schemas.openxmlformats.org/drawingml/2006/main">
            <a:off x="9696450" y="3676650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420922A-740C-4AF2-952C-B195E58E4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333875"/>
            <a:ext cx="571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067B05F-0221-40A0-A1A4-96839DD0E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4371975"/>
            <a:ext cx="90678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缺证据只能写 PENDING / UNKNOWN，不能用“应该没问题”替代验收。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39541C3-ACF2-49C7-8ED8-E051FCBF8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143500"/>
            <a:ext cx="8382000" cy="904875"/>
          </a:xfrm>
          <a:prstGeom xmlns:a="http://schemas.openxmlformats.org/drawingml/2006/main" prst="roundRect">
            <a:avLst>
              <a:gd name="adj" fmla="val 147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DEB3E9F1-AF46-4283-A9EA-E97802CB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257800"/>
            <a:ext cx="8077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1677C8"/>
                </a:solidFill>
                <a:latin typeface="Microsoft YaHei"/>
                <a:ea typeface="Microsoft YaHei"/>
                <a:cs typeface="Microsoft YaHei"/>
              </a:rPr>
              <a:t>这页证明什么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124A553-2F58-43B2-8724-07978340D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5435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0C2C91E-C3CA-474D-A2FD-2E572AAFE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619750"/>
            <a:ext cx="790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证明团队已把“怎么判断 AI 对不对”写成可执行验收点，而不是口头判断。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10B007DC-A6A6-45A2-A9BE-DC18D95D3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25425517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D37859A-6379-4EFF-9F5F-F16F58F9C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9E3EC1-5BA2-4BD2-B1E4-336AA147E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最后只看这张表：哪些已证明，哪些还不能下结论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DEA694F-EE0D-4018-981B-42A4478C6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40C1AC-8666-4E26-8B84-963502A3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20DA06-20E8-424B-ADC8-F035F5E11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D256E2-15C5-444E-96AE-FCBA4267C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1123950"/>
            <a:ext cx="5715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6802B7-D8DA-4AEA-9AD4-D0E3AD872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" y="1162050"/>
            <a:ext cx="9829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截图、日志和性能数据分别证明不同问题，不能互相替代。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A89404-F3C9-4A50-A679-8DBFDD61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809750"/>
            <a:ext cx="189452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8C507C-78D0-4F31-A81C-6EC4754E0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857375"/>
            <a:ext cx="174212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需要证明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E671AD-0A0E-4B09-9D72-15B2F46C5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1809750"/>
            <a:ext cx="50149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04BFC49-2D12-4EEF-8AB6-6834AEC39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1857375"/>
            <a:ext cx="4862513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当前证据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319A9E9-59E5-4486-AA47-21E5F08A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1809750"/>
            <a:ext cx="4234815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5404A6-06BC-40AA-A74A-052DCD8A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1857375"/>
            <a:ext cx="408241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3F36E6-1AA5-4102-B165-1306F5C7D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20980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80D671-A0D3-48F1-A152-41D62FD59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25742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画面与交互可见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CD42BB2-7E08-4448-B790-D1298569F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220980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017339-95DF-47A7-A578-89CBCBCFE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225742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现有播放截图 / 视频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63B98C-76BD-482F-BAB3-1F02C26CA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220980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93405B-477F-46DA-AFD4-4BB563476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225742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READY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5B2FCAC-1F97-490C-AC33-DC5C9E0AC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4162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2829427-6FC1-4C46-9054-537BF0B76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288925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确实选择硬解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2141F79-D368-4326-8914-91E66E72E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284162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E540C4-BA8B-433A-84D7-0CD19FFA1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288925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缺少同一次运行的硬解日志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E9584D-E1B3-422C-8ECF-44251CA61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284162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A375B4-B4E7-4ED1-A8FB-E2FF538AB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288925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E8324E-9965-47BC-9B56-0DF26079D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7345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615BE0E-5FC1-4746-9A00-115B036A2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352107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失败可以回退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C5EC680-8C23-4154-82E1-C4CFF0024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347345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9336FC-47F8-4139-9A11-0A29154B0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352107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缺少故障注入记录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E2C5A66-A898-4DAD-B079-A29439A99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347345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06A454-3799-4FE3-A70E-86E5AF088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352107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4E7DDD3-514D-4253-A8AF-878B15758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0527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580BE69-1DB6-4714-812E-35AE63C04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15290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CPU / FPS 有改善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BA800E1-D9B2-4C01-B544-1F44281A2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410527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50C099-2A52-4435-A9E7-8E1B07DF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415290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缺少同场景 A/B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9893BE0-066F-46E9-82C4-98762F1E0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410527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5264EC3-E379-489F-8731-CDA773A29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415290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DC91C86-1858-4C19-AF88-19035C0B2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737100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F58F25F-3B9E-411E-A244-2FF5727FD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4784725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场景切换稳定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F4749B0-9C4B-4727-B9A3-518D6115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4737100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C9B214A-8F32-483B-9180-4CD5FB3C7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4784725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缺暂停、恢复、窗口变化矩阵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F0C5168-B18C-43FE-9A60-131B301B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4737100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848659F-7F51-402E-A39E-7A331038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4784725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D9B23DD-7391-47D3-9BD1-1F30AADC3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368925"/>
            <a:ext cx="189452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DABEA65-610F-4341-9A91-DC11523CC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416550"/>
            <a:ext cx="174212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可以工程交付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93EC6E8-8284-454E-96FE-4742DABD9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398" y="5368925"/>
            <a:ext cx="5014913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E67A7EC-18B4-46D9-9E11-3D2DBDC1A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4598" y="5416550"/>
            <a:ext cx="4862513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上述证据未全部到齐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2FC6D38-384F-4D48-B403-DBE2A7F3B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3310" y="5368925"/>
            <a:ext cx="4234815" cy="631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8ECDF98-741F-49FB-8045-B3482C6EE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9510" y="5416550"/>
            <a:ext cx="4082415" cy="536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NOT YET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31A8108-396C-408D-8393-0D526A92E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958828902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F85BADE-B62D-49AD-B0B5-68A033E56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51B0E1-5384-4BB9-87CE-DB33DF30D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当前证据能证明什么，下一步还要补什么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DFDDEC-3DF4-43D4-AD64-22DA5C7F2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7B144E-695E-42DF-A34E-A744C58D1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2D71E9-E4A8-4FD2-B1A8-6B93F1685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F07305-D803-4474-B882-EFA8EF7D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43000"/>
            <a:ext cx="2524125" cy="1571625"/>
          </a:xfrm>
          <a:prstGeom xmlns:a="http://schemas.openxmlformats.org/drawingml/2006/main" prst="roundRect">
            <a:avLst>
              <a:gd name="adj" fmla="val 8485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16B2AA-3295-49AA-8EF5-3AB2AF70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257300"/>
            <a:ext cx="22193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before 视频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944090-5FB7-48BC-9B2E-A56C785A6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154305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4B4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C8B694-91BF-437C-92DF-057E8728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714500"/>
            <a:ext cx="1952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当前为空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38A645-6FE1-4157-BAA0-25DE55342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00375"/>
            <a:ext cx="4095750" cy="2667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09DBA2-8679-4E0A-8A3A-876EFA7E3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114675"/>
            <a:ext cx="3790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7157B8"/>
                </a:solidFill>
                <a:latin typeface="Microsoft YaHei"/>
                <a:ea typeface="Microsoft YaHei"/>
                <a:cs typeface="Microsoft YaHei"/>
              </a:rPr>
              <a:t>硬解路径待填证据链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9FCFC4-4042-4ECE-908B-543F4A4F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400425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157B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759CC59-0B48-43E1-90B9-3F6E12B9E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476625"/>
            <a:ext cx="3790950" cy="2076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commit: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runId: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candidate path: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decoder identity: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frameId / output: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owner / matched EndFrame: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293247"/>
                </a:solidFill>
                <a:latin typeface="Consolas"/>
                <a:ea typeface="Consolas"/>
                <a:cs typeface="Consolas"/>
              </a:defRPr>
            </a:pPr>
            <a:r>
              <a:rPr sz="1125" b="0">
                <a:solidFill>
                  <a:srgbClr val="293247"/>
                </a:solidFill>
                <a:latin typeface="Consolas"/>
                <a:ea typeface="Consolas"/>
                <a:cs typeface="Consolas"/>
              </a:rPr>
              <a:t>present:</a:t>
            </a:r>
          </a:p>
        </p:txBody>
      </p:sp>
      <p:pic>
        <p:nvPicPr>
          <p:cNvPr id="9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34373a64c14cfc"/>
          <a:srcRect xmlns:a="http://schemas.openxmlformats.org/drawingml/2006/main" l="32143" t="0" r="3214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905375" y="1143000"/>
            <a:ext cx="3429000" cy="2000250"/>
          </a:xfrm>
          <a:prstGeom xmlns:a="http://schemas.openxmlformats.org/drawingml/2006/main" prst="roundRect">
            <a:avLst>
              <a:gd name="adj" fmla="val 5714"/>
            </a:avLst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4C7B81-8234-4FA9-928E-BF67FC52A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1143000"/>
            <a:ext cx="3429000" cy="2000250"/>
          </a:xfrm>
          <a:prstGeom xmlns:a="http://schemas.openxmlformats.org/drawingml/2006/main" prst="roundRect">
            <a:avLst>
              <a:gd name="adj" fmla="val 571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9778EA-8C63-4792-B872-F1EBAFD8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381375"/>
            <a:ext cx="2618899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0BDC58-C718-4616-9B6B-2E25394E9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429000"/>
            <a:ext cx="2466499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结论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16018F-1EBE-4F23-93E4-682C84CE6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381375"/>
            <a:ext cx="2484596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687AD4-47DA-4511-9495-36DACB289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3429000"/>
            <a:ext cx="2332196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当前证据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33B9A6-3085-466D-9EC4-878C7ECDF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381375"/>
            <a:ext cx="1611630" cy="3286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77C8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263702-7992-420E-A5EA-16E82AC97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3429000"/>
            <a:ext cx="1459230" cy="2333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判定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AFDD2F-8DE1-4BD6-89ED-966A4AA8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70998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7171C6-EB80-4A5F-8B05-30039A1DE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75761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源码存在 bridge→compositor→EndFrame 路径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7BF9F8-4D39-4004-A5B6-A72AF74E6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70998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461404-1752-4CB7-8A1A-C60C39D0C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375761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源码锚点与调用链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F48AE5-1AC7-46BD-BE19-E989D6087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70998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4948F5A-0C32-44AF-96CE-84CD95C3F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375761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230ABDD-0CD6-49BA-BC3F-CDF63FE80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3989614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B2EA722-8901-4B98-A5AF-B2EAC91B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037239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当前 arm64/HAP 构建通过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9CE8825-5454-48A7-9995-4F4413B85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3989614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5743CE-B3DC-4743-AB53-E344A133F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037239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待产出 build 日志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D418EB8-ABCD-4BE4-9D9E-271574783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3989614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191A5D-4E72-4076-923E-24B458549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037239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BEC5A74-6EF3-421D-88DD-2D5945870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269241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C3AD772-80D9-477F-B1FF-754D6DBE8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316866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真机实际选择 OHOS hardware decoder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F894573-F22C-4E94-A40A-5ED837412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269241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BDD782D-95B9-4E86-B1C8-D8EB4822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316866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待采集 decoder identity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14255CB0-2F4D-42D9-BE31-B6A281500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269241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DADD637-39EE-4A1C-92AC-09032E9C2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316866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18CAA6D-C7A0-42A7-8A92-9D67AF3A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54886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5621843-30E8-4A4B-AE1E-8B146593F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59649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某次运行可见播放与部分交互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87860A-D941-4B44-A7D1-66A430B42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54886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B2609F3-51EC-4F4A-931B-A420DFF89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59649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gpu-validation-video-playback-16s.mp4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A87C81C-37C2-4290-99C0-37ACB79A1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54886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1AAF621-1B4C-4A20-9221-408C04EFD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59649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 FACT / UNBOUND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1B9D8D9-DA88-4575-A5DE-C00BFF40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4828495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4259930-307D-4D48-AE3F-672C251A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876120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某次运行出现黑屏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60772BB-22D7-468F-8055-C49510260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4828495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13F3942-40DB-4148-8228-B8D2C9CFC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4876120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gpu-failure-black-screen-13s.mp4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A494D24-B4ED-43A7-AE37-C4CD3BC8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4828495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EB508C6-9537-47F4-95D9-B4998F871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4876120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 FACT / UNBOUND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317DD22-2BBF-4315-89BF-34AE0862D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108121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4081916-D38A-48EE-B564-F822425E6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155746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CPU/FPS 与卡顿改善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912E4D2A-CEA5-4C5B-A783-AA24D891F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5108121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BC70C450-A606-40E4-A38E-1C49191C7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5155746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待绑定同一 runId 的 CPU/FPS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04DEF24E-3667-4026-9636-C695BBAA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5108121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CBFFDD4E-59C1-4CF4-85F9-1F7C30611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5155746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C043A3D-7A35-4F69-B31F-CA4922CA1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387748"/>
            <a:ext cx="2618899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4603E77-5923-4C95-9AA3-49C1729B2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5435373"/>
            <a:ext cx="2466499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resize/后台/重连长稳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74D54DD-594A-42D7-804B-028F0C8EC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274" y="5387748"/>
            <a:ext cx="2484596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6D77C86-7B6C-4357-A5DD-01CDB105D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474" y="5435373"/>
            <a:ext cx="2332196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待执行 resize / 后台回归矩阵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BD8ED53-D7BF-4CB2-B67D-6A7F6B293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8870" y="5387748"/>
            <a:ext cx="1611630" cy="27962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8654C4E-0A8B-4953-ABB9-A92654BB9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5070" y="5435373"/>
            <a:ext cx="1459230" cy="18437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2FEFC5B-AF62-4A38-BCE5-FDDE1488B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143000"/>
            <a:ext cx="30480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FB1D9BB2-2BDB-4A8D-A442-2FBD2705E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666875"/>
            <a:ext cx="257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VIDEO SLOT · AFTER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gpu-hwdecode-after.mp4</a:t>
            </a:r>
          </a:p>
          <a:p xmlns:a="http://schemas.openxmlformats.org/drawingml/2006/main">
            <a:pPr algn="ctr">
              <a:buNone/>
              <a:def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C84B4B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5F17C6E5-640B-4DA9-89C1-C56595767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7D1AA3C-0732-411C-85BF-5F02EE7DC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REPO FACT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源码可证明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FA27577-FAE9-4DC7-94BB-BE78DE08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48075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451BD06-1677-4CD8-A174-EAE274080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MEDIA FACT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画面可见但未绑定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DBFDC77E-D9E7-4D72-98DF-A0BEA2C83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1B6A779-7A13-4163-BFFA-22DF93FA3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PENDING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证据待采集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C191196-6AB0-447E-A710-3F8519B3F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5857875"/>
            <a:ext cx="2390775" cy="45720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E26852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65462CF-798D-49FD-8C16-A0C10131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4425" y="5915025"/>
            <a:ext cx="22383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UNKNOWN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暂时不能下结论</a:t>
            </a:r>
          </a:p>
        </p:txBody>
      </p:sp>
      <p:cxnSp>
        <p:nvCxnSpPr>
          <p:cNvPr id="998" name=""/>
          <p:cNvCxnSpPr>
            <a:stCxn xmlns:a="http://schemas.openxmlformats.org/drawingml/2006/main" id="66" idx="3"/>
            <a:endCxn xmlns:a="http://schemas.openxmlformats.org/drawingml/2006/main" id="68" idx="1"/>
          </p:cNvCxnSpPr>
          <p:nvPr/>
        </p:nvCxnSpPr>
        <p:spPr>
          <a:xfrm xmlns:a="http://schemas.openxmlformats.org/drawingml/2006/main">
            <a:off x="3533775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999" name=""/>
          <p:cNvCxnSpPr>
            <a:stCxn xmlns:a="http://schemas.openxmlformats.org/drawingml/2006/main" id="68" idx="3"/>
            <a:endCxn xmlns:a="http://schemas.openxmlformats.org/drawingml/2006/main" id="70" idx="1"/>
          </p:cNvCxnSpPr>
          <p:nvPr/>
        </p:nvCxnSpPr>
        <p:spPr>
          <a:xfrm xmlns:a="http://schemas.openxmlformats.org/drawingml/2006/main">
            <a:off x="6038850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1000" name=""/>
          <p:cNvCxnSpPr>
            <a:stCxn xmlns:a="http://schemas.openxmlformats.org/drawingml/2006/main" id="70" idx="3"/>
            <a:endCxn xmlns:a="http://schemas.openxmlformats.org/drawingml/2006/main" id="72" idx="1"/>
          </p:cNvCxnSpPr>
          <p:nvPr/>
        </p:nvCxnSpPr>
        <p:spPr>
          <a:xfrm xmlns:a="http://schemas.openxmlformats.org/drawingml/2006/main">
            <a:off x="8543925" y="6086475"/>
            <a:ext cx="114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F83E15D-F112-4276-A613-66DD493DF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70761064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E149BD3-4376-4B1E-AD98-44FADA94D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0500"/>
            <a:ext cx="228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05 FreeRDP 实战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724BA7-E2F3-4FB2-B872-F7250BAFD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8625"/>
            <a:ext cx="103346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把方法带回项目，只保留七个问题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251875-7F5B-44FA-A2D4-06A1EDCB4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71450"/>
            <a:ext cx="628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E57918-AD78-40E3-BBCA-0C70C290B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257175"/>
            <a:ext cx="5143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5F6B7A"/>
                </a:solidFill>
                <a:latin typeface="Microsoft YaHei"/>
                <a:ea typeface="Microsoft YaHei"/>
                <a:cs typeface="Microsoft YaHei"/>
              </a:rPr>
              <a:t>39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4277A7-F582-40A4-90AD-7E90C5D0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33450"/>
            <a:ext cx="11163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736B55-D10D-47F4-BF7B-60D38940D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5FF"/>
          </a:solidFill>
          <a:ln xmlns:a="http://schemas.openxmlformats.org/drawingml/2006/main" w="9525">
            <a:solidFill>
              <a:srgbClr val="1677C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552F99-35AC-4C1F-A15E-F0FB1176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事实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87FD06-CE05-4015-A66D-54E2F4260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34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AF8F5"/>
          </a:solidFill>
          <a:ln xmlns:a="http://schemas.openxmlformats.org/drawingml/2006/main" w="9525">
            <a:solidFill>
              <a:srgbClr val="168C8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FD15FA-1367-4113-B948-C2F10F7BA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96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规格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5DE90D0-9BD3-40E5-89EA-16965A6FB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30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2EEFF"/>
          </a:solidFill>
          <a:ln xmlns:a="http://schemas.openxmlformats.org/drawingml/2006/main" w="9525">
            <a:solidFill>
              <a:srgbClr val="7157B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1EF0FF-B3B6-4DA5-876A-D31BDD5EB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92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任务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9F86B29-F984-47A3-BAC6-A2DED0900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26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CEEEE"/>
          </a:solidFill>
          <a:ln xmlns:a="http://schemas.openxmlformats.org/drawingml/2006/main" w="9525">
            <a:solidFill>
              <a:srgbClr val="C84B4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26EEFE-E856-4437-86FB-6C996449D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RED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3DF3FE-ADCD-4DD8-89A4-DDD542A8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22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FFF7E3"/>
          </a:solidFill>
          <a:ln xmlns:a="http://schemas.openxmlformats.org/drawingml/2006/main" w="9525">
            <a:solidFill>
              <a:srgbClr val="D8951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33A221-BEBB-4DE5-B6F1-BA746CD79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84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最小 Diff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4EE3CE-DA20-41DD-BCB7-FF4BBB46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875" y="1123950"/>
            <a:ext cx="174625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EBF8F1"/>
          </a:solidFill>
          <a:ln xmlns:a="http://schemas.openxmlformats.org/drawingml/2006/main" w="9525">
            <a:solidFill>
              <a:srgbClr val="2F8F5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B8B639-4D19-4EE5-A792-036693EE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8075" y="1181100"/>
            <a:ext cx="15938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系统证据</a:t>
            </a:r>
          </a:p>
        </p:txBody>
      </p:sp>
      <p:cxnSp>
        <p:nvCxnSpPr>
          <p:cNvPr id="302" name=""/>
          <p:cNvCxnSpPr>
            <a:stCxn xmlns:a="http://schemas.openxmlformats.org/drawingml/2006/main" id="6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2701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03" name=""/>
          <p:cNvCxnSpPr>
            <a:stCxn xmlns:a="http://schemas.openxmlformats.org/drawingml/2006/main" id="8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41497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04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60293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05" name=""/>
          <p:cNvCxnSpPr>
            <a:stCxn xmlns:a="http://schemas.openxmlformats.org/drawingml/2006/main" id="12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9089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cxnSp>
        <p:nvCxnSpPr>
          <p:cNvPr id="306" name=""/>
          <p:cNvCxnSpPr>
            <a:stCxn xmlns:a="http://schemas.openxmlformats.org/drawingml/2006/main" id="14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9788525" y="1400175"/>
            <a:ext cx="1333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5F6B7A"/>
            </a:solidFill>
            <a:prstDash val="solid"/>
            <a:tailEnd type="arrow" w="med" len="med"/>
          </a:ln>
        </p:spPr>
      </p:cxnSp>
      <p:pic>
        <p:nvPicPr>
          <p:cNvPr id="30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c78416eb5749c0"/>
          <a:stretch xmlns:a="http://schemas.openxmlformats.org/drawingml/2006/main"/>
        </p:blipFill>
        <p:spPr>
          <a:xfrm xmlns:a="http://schemas.openxmlformats.org/drawingml/2006/main">
            <a:off x="588778" y="2047875"/>
            <a:ext cx="4823194" cy="2714625"/>
          </a:xfrm>
          <a:prstGeom xmlns:a="http://schemas.openxmlformats.org/drawingml/2006/main" prst="roundRect">
            <a:avLst>
              <a:gd name="adj" fmla="val 4211"/>
            </a:avLst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2311B43-FF5E-4410-A70A-2681C6A82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047875"/>
            <a:ext cx="4953000" cy="2714625"/>
          </a:xfrm>
          <a:prstGeom xmlns:a="http://schemas.openxmlformats.org/drawingml/2006/main" prst="roundRect">
            <a:avLst>
              <a:gd name="adj" fmla="val 4211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1A93092-0E09-4F4A-BC9A-A8DC215CE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000250"/>
            <a:ext cx="5810250" cy="3238500"/>
          </a:xfrm>
          <a:prstGeom xmlns:a="http://schemas.openxmlformats.org/drawingml/2006/main" prst="roundRect">
            <a:avLst>
              <a:gd name="adj" fmla="val 41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62443B3-F549-476A-8E64-055D9608F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114550"/>
            <a:ext cx="550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E26852"/>
                </a:solidFill>
                <a:latin typeface="Microsoft YaHei"/>
                <a:ea typeface="Microsoft YaHei"/>
                <a:cs typeface="Microsoft YaHei"/>
              </a:rPr>
              <a:t>下一次只问七个问题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87218D-2B5B-45E9-9893-3BFD592CE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400300"/>
            <a:ext cx="6096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85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4A364A-C850-4E87-9FBE-5AA73EE62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524125"/>
            <a:ext cx="52387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1. 哪些词会让实现分叉？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2. 最终真相在哪一层？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3. 哪些不变量绝不能破坏？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4. 本轮只允许 AI 改哪个边界？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5. 怎样先制造一个可解释的 RED？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6. 最早异常证据在哪里？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7. 什么证据满足后，本轮必须停止？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FD6EA7-64CC-4B3C-AE92-18D84BDF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57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8C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9AC4648-825D-44CF-AAA6-1F51C9659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610225"/>
            <a:ext cx="9734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172033"/>
                </a:solidFill>
                <a:latin typeface="Microsoft YaHei"/>
                <a:ea typeface="Microsoft YaHei"/>
                <a:cs typeface="Microsoft YaHei"/>
              </a:rPr>
              <a:t>一分钟迁移题：权限页面第一次进入为空，第二次正常。给出只读勘察、可证伪假设、禁止范围和最终事实源。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42E0B43-4A81-4189-A24F-6E0327E8F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72250"/>
            <a:ext cx="7429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9525" rIns="19050" bIns="9525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750" b="0">
                <a:solidFill>
                  <a:srgbClr val="8993A0"/>
                </a:solidFill>
                <a:latin typeface="Microsoft YaHei"/>
                <a:ea typeface="Microsoft YaHei"/>
                <a:cs typeface="Microsoft YaHei"/>
              </a:rPr>
              <a:t>HarmonyOS · Spec-Driven Development · Ralph Workshop</a:t>
            </a:r>
          </a:p>
        </p:txBody>
      </p:sp>
    </p:spTree>
    <p:extLst>
      <p:ext uri="{BB962C8B-B14F-4D97-AF65-F5344CB8AC3E}">
        <p14:creationId xmlns:p14="http://schemas.microsoft.com/office/powerpoint/2010/main" val="18194354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2026-09-02T01:02:14.5100000Z</dcterms:created>
  <dcterms:modified xsi:type="dcterms:W3CDTF">2026-09-02T01:02:14.5100000Z</dcterms:modified>
</coreProperties>
</file>